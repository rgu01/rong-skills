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259" r:id="rId2"/>
    <p:sldId id="514" r:id="rId3"/>
    <p:sldId id="543" r:id="rId4"/>
    <p:sldId id="516" r:id="rId5"/>
    <p:sldId id="517" r:id="rId6"/>
    <p:sldId id="518" r:id="rId7"/>
    <p:sldId id="519" r:id="rId8"/>
    <p:sldId id="520" r:id="rId9"/>
    <p:sldId id="540" r:id="rId10"/>
    <p:sldId id="541" r:id="rId11"/>
    <p:sldId id="542" r:id="rId12"/>
    <p:sldId id="521" r:id="rId13"/>
    <p:sldId id="515" r:id="rId14"/>
    <p:sldId id="265" r:id="rId15"/>
    <p:sldId id="267" r:id="rId16"/>
    <p:sldId id="466" r:id="rId17"/>
    <p:sldId id="270" r:id="rId18"/>
    <p:sldId id="525" r:id="rId19"/>
    <p:sldId id="446" r:id="rId20"/>
    <p:sldId id="537" r:id="rId21"/>
    <p:sldId id="468" r:id="rId22"/>
    <p:sldId id="447" r:id="rId23"/>
    <p:sldId id="271" r:id="rId24"/>
    <p:sldId id="538" r:id="rId25"/>
    <p:sldId id="272" r:id="rId26"/>
    <p:sldId id="273" r:id="rId27"/>
    <p:sldId id="444" r:id="rId28"/>
    <p:sldId id="435" r:id="rId29"/>
    <p:sldId id="436" r:id="rId30"/>
    <p:sldId id="437" r:id="rId31"/>
    <p:sldId id="438" r:id="rId32"/>
    <p:sldId id="439" r:id="rId33"/>
    <p:sldId id="440" r:id="rId34"/>
    <p:sldId id="441" r:id="rId35"/>
    <p:sldId id="442" r:id="rId36"/>
    <p:sldId id="443" r:id="rId37"/>
    <p:sldId id="448" r:id="rId38"/>
    <p:sldId id="539" r:id="rId39"/>
    <p:sldId id="449" r:id="rId40"/>
    <p:sldId id="450" r:id="rId41"/>
    <p:sldId id="278" r:id="rId42"/>
    <p:sldId id="536" r:id="rId43"/>
    <p:sldId id="428" r:id="rId44"/>
    <p:sldId id="284" r:id="rId45"/>
    <p:sldId id="285" r:id="rId46"/>
    <p:sldId id="286" r:id="rId47"/>
    <p:sldId id="287" r:id="rId48"/>
    <p:sldId id="289" r:id="rId49"/>
    <p:sldId id="288" r:id="rId50"/>
    <p:sldId id="453" r:id="rId51"/>
    <p:sldId id="523" r:id="rId52"/>
    <p:sldId id="430" r:id="rId53"/>
    <p:sldId id="524" r:id="rId54"/>
    <p:sldId id="533" r:id="rId55"/>
    <p:sldId id="534" r:id="rId56"/>
    <p:sldId id="527" r:id="rId57"/>
    <p:sldId id="528" r:id="rId58"/>
    <p:sldId id="535" r:id="rId59"/>
    <p:sldId id="529" r:id="rId60"/>
    <p:sldId id="530" r:id="rId61"/>
    <p:sldId id="531" r:id="rId62"/>
    <p:sldId id="532" r:id="rId63"/>
    <p:sldId id="476" r:id="rId64"/>
    <p:sldId id="477" r:id="rId65"/>
    <p:sldId id="478" r:id="rId66"/>
    <p:sldId id="479" r:id="rId67"/>
    <p:sldId id="480" r:id="rId68"/>
    <p:sldId id="481" r:id="rId69"/>
    <p:sldId id="482" r:id="rId70"/>
    <p:sldId id="483" r:id="rId71"/>
    <p:sldId id="484" r:id="rId72"/>
    <p:sldId id="485" r:id="rId73"/>
    <p:sldId id="486" r:id="rId74"/>
    <p:sldId id="487" r:id="rId75"/>
    <p:sldId id="488" r:id="rId76"/>
    <p:sldId id="489" r:id="rId77"/>
    <p:sldId id="490" r:id="rId78"/>
    <p:sldId id="491" r:id="rId79"/>
    <p:sldId id="492" r:id="rId80"/>
    <p:sldId id="493" r:id="rId81"/>
    <p:sldId id="494" r:id="rId82"/>
    <p:sldId id="495" r:id="rId83"/>
    <p:sldId id="496" r:id="rId84"/>
    <p:sldId id="497" r:id="rId85"/>
    <p:sldId id="498" r:id="rId86"/>
    <p:sldId id="499" r:id="rId87"/>
    <p:sldId id="500" r:id="rId88"/>
    <p:sldId id="501" r:id="rId89"/>
    <p:sldId id="502" r:id="rId90"/>
    <p:sldId id="503" r:id="rId91"/>
    <p:sldId id="504" r:id="rId92"/>
    <p:sldId id="505" r:id="rId93"/>
    <p:sldId id="506" r:id="rId94"/>
    <p:sldId id="507" r:id="rId95"/>
    <p:sldId id="508" r:id="rId96"/>
    <p:sldId id="509" r:id="rId9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62D"/>
    <a:srgbClr val="D9D9D9"/>
    <a:srgbClr val="EEF2F2"/>
    <a:srgbClr val="FCF4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84795" autoAdjust="0"/>
  </p:normalViewPr>
  <p:slideViewPr>
    <p:cSldViewPr snapToGrid="0">
      <p:cViewPr varScale="1">
        <p:scale>
          <a:sx n="119" d="100"/>
          <a:sy n="119" d="100"/>
        </p:scale>
        <p:origin x="1410"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g Gu" userId="219162da-8991-468f-8bf5-2c162c57ad50" providerId="ADAL" clId="{AEE6592A-D03D-744C-8F9E-2EBEC35577AC}"/>
    <pc:docChg chg="modSld">
      <pc:chgData name="Rong Gu" userId="219162da-8991-468f-8bf5-2c162c57ad50" providerId="ADAL" clId="{AEE6592A-D03D-744C-8F9E-2EBEC35577AC}" dt="2024-12-16T12:00:06.290" v="8" actId="20577"/>
      <pc:docMkLst>
        <pc:docMk/>
      </pc:docMkLst>
      <pc:sldChg chg="modSp mod">
        <pc:chgData name="Rong Gu" userId="219162da-8991-468f-8bf5-2c162c57ad50" providerId="ADAL" clId="{AEE6592A-D03D-744C-8F9E-2EBEC35577AC}" dt="2024-12-16T12:00:06.290" v="8" actId="20577"/>
        <pc:sldMkLst>
          <pc:docMk/>
          <pc:sldMk cId="0" sldId="259"/>
        </pc:sldMkLst>
        <pc:spChg chg="mod">
          <ac:chgData name="Rong Gu" userId="219162da-8991-468f-8bf5-2c162c57ad50" providerId="ADAL" clId="{AEE6592A-D03D-744C-8F9E-2EBEC35577AC}" dt="2024-12-16T12:00:06.290" v="8" actId="20577"/>
          <ac:spMkLst>
            <pc:docMk/>
            <pc:sldMk cId="0" sldId="259"/>
            <ac:spMk id="18435"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07T09:46:38.151"/>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73C86-D772-4BAB-B64C-A724B51B7C6F}"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66B667-3960-4541-9918-B18F4F6573BB}" type="slidenum">
              <a:rPr lang="en-US" smtClean="0"/>
              <a:t>‹#›</a:t>
            </a:fld>
            <a:endParaRPr lang="en-US"/>
          </a:p>
        </p:txBody>
      </p:sp>
    </p:spTree>
    <p:extLst>
      <p:ext uri="{BB962C8B-B14F-4D97-AF65-F5344CB8AC3E}">
        <p14:creationId xmlns:p14="http://schemas.microsoft.com/office/powerpoint/2010/main" val="2255895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1</a:t>
            </a:fld>
            <a:endParaRPr lang="sv-SE"/>
          </a:p>
        </p:txBody>
      </p:sp>
    </p:spTree>
    <p:extLst>
      <p:ext uri="{BB962C8B-B14F-4D97-AF65-F5344CB8AC3E}">
        <p14:creationId xmlns:p14="http://schemas.microsoft.com/office/powerpoint/2010/main" val="26568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30722"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dirty="0">
              <a:latin typeface="Calibri" charset="0"/>
              <a:ea typeface="MS PGothic" charset="0"/>
            </a:endParaRPr>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100">
                <a:solidFill>
                  <a:srgbClr val="FFFFFF"/>
                </a:solidFill>
                <a:latin typeface="Gill Sans" charset="0"/>
                <a:ea typeface="ヒラギノ角ゴ ProN W3" charset="0"/>
                <a:cs typeface="ヒラギノ角ゴ ProN W3" charset="0"/>
                <a:sym typeface="Gill Sans" charset="0"/>
              </a:defRPr>
            </a:lvl1pPr>
            <a:lvl2pPr marL="769993" indent="-296151">
              <a:defRPr sz="3100">
                <a:solidFill>
                  <a:srgbClr val="FFFFFF"/>
                </a:solidFill>
                <a:latin typeface="Gill Sans" charset="0"/>
                <a:ea typeface="ヒラギノ角ゴ ProN W3" charset="0"/>
                <a:cs typeface="ヒラギノ角ゴ ProN W3" charset="0"/>
                <a:sym typeface="Gill Sans" charset="0"/>
              </a:defRPr>
            </a:lvl2pPr>
            <a:lvl3pPr marL="1184605" indent="-236921">
              <a:defRPr sz="3100">
                <a:solidFill>
                  <a:srgbClr val="FFFFFF"/>
                </a:solidFill>
                <a:latin typeface="Gill Sans" charset="0"/>
                <a:ea typeface="ヒラギノ角ゴ ProN W3" charset="0"/>
                <a:cs typeface="ヒラギノ角ゴ ProN W3" charset="0"/>
                <a:sym typeface="Gill Sans" charset="0"/>
              </a:defRPr>
            </a:lvl3pPr>
            <a:lvl4pPr marL="1658447" indent="-236921">
              <a:defRPr sz="3100">
                <a:solidFill>
                  <a:srgbClr val="FFFFFF"/>
                </a:solidFill>
                <a:latin typeface="Gill Sans" charset="0"/>
                <a:ea typeface="ヒラギノ角ゴ ProN W3" charset="0"/>
                <a:cs typeface="ヒラギノ角ゴ ProN W3" charset="0"/>
                <a:sym typeface="Gill Sans" charset="0"/>
              </a:defRPr>
            </a:lvl4pPr>
            <a:lvl5pPr marL="2132289" indent="-236921">
              <a:defRPr sz="3100">
                <a:solidFill>
                  <a:srgbClr val="FFFFFF"/>
                </a:solidFill>
                <a:latin typeface="Gill Sans" charset="0"/>
                <a:ea typeface="ヒラギノ角ゴ ProN W3" charset="0"/>
                <a:cs typeface="ヒラギノ角ゴ ProN W3" charset="0"/>
                <a:sym typeface="Gill Sans" charset="0"/>
              </a:defRPr>
            </a:lvl5pPr>
            <a:lvl6pPr marL="2606131" indent="-236921" eaLnBrk="0" fontAlgn="base" hangingPunct="0">
              <a:spcBef>
                <a:spcPct val="0"/>
              </a:spcBef>
              <a:spcAft>
                <a:spcPct val="0"/>
              </a:spcAft>
              <a:defRPr sz="3100">
                <a:solidFill>
                  <a:srgbClr val="FFFFFF"/>
                </a:solidFill>
                <a:latin typeface="Gill Sans" charset="0"/>
                <a:ea typeface="ヒラギノ角ゴ ProN W3" charset="0"/>
                <a:cs typeface="ヒラギノ角ゴ ProN W3" charset="0"/>
                <a:sym typeface="Gill Sans" charset="0"/>
              </a:defRPr>
            </a:lvl6pPr>
            <a:lvl7pPr marL="3079974" indent="-236921" eaLnBrk="0" fontAlgn="base" hangingPunct="0">
              <a:spcBef>
                <a:spcPct val="0"/>
              </a:spcBef>
              <a:spcAft>
                <a:spcPct val="0"/>
              </a:spcAft>
              <a:defRPr sz="3100">
                <a:solidFill>
                  <a:srgbClr val="FFFFFF"/>
                </a:solidFill>
                <a:latin typeface="Gill Sans" charset="0"/>
                <a:ea typeface="ヒラギノ角ゴ ProN W3" charset="0"/>
                <a:cs typeface="ヒラギノ角ゴ ProN W3" charset="0"/>
                <a:sym typeface="Gill Sans" charset="0"/>
              </a:defRPr>
            </a:lvl7pPr>
            <a:lvl8pPr marL="3553816" indent="-236921" eaLnBrk="0" fontAlgn="base" hangingPunct="0">
              <a:spcBef>
                <a:spcPct val="0"/>
              </a:spcBef>
              <a:spcAft>
                <a:spcPct val="0"/>
              </a:spcAft>
              <a:defRPr sz="3100">
                <a:solidFill>
                  <a:srgbClr val="FFFFFF"/>
                </a:solidFill>
                <a:latin typeface="Gill Sans" charset="0"/>
                <a:ea typeface="ヒラギノ角ゴ ProN W3" charset="0"/>
                <a:cs typeface="ヒラギノ角ゴ ProN W3" charset="0"/>
                <a:sym typeface="Gill Sans" charset="0"/>
              </a:defRPr>
            </a:lvl8pPr>
            <a:lvl9pPr marL="4027658" indent="-236921" eaLnBrk="0" fontAlgn="base" hangingPunct="0">
              <a:spcBef>
                <a:spcPct val="0"/>
              </a:spcBef>
              <a:spcAft>
                <a:spcPct val="0"/>
              </a:spcAft>
              <a:defRPr sz="3100">
                <a:solidFill>
                  <a:srgbClr val="FFFFFF"/>
                </a:solidFill>
                <a:latin typeface="Gill Sans" charset="0"/>
                <a:ea typeface="ヒラギノ角ゴ ProN W3" charset="0"/>
                <a:cs typeface="ヒラギノ角ゴ ProN W3" charset="0"/>
                <a:sym typeface="Gill Sans" charset="0"/>
              </a:defRPr>
            </a:lvl9pPr>
          </a:lstStyle>
          <a:p>
            <a:fld id="{C7CE04FD-8A2C-2640-9298-65F89A94F329}" type="slidenum">
              <a:rPr lang="sv-SE" sz="1200"/>
              <a:pPr/>
              <a:t>2</a:t>
            </a:fld>
            <a:endParaRPr lang="sv-SE"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a:t>
            </a:fld>
            <a:endParaRPr lang="sv-SE"/>
          </a:p>
        </p:txBody>
      </p:sp>
    </p:spTree>
    <p:extLst>
      <p:ext uri="{BB962C8B-B14F-4D97-AF65-F5344CB8AC3E}">
        <p14:creationId xmlns:p14="http://schemas.microsoft.com/office/powerpoint/2010/main" val="1965092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5</a:t>
            </a:fld>
            <a:endParaRPr lang="sv-SE"/>
          </a:p>
        </p:txBody>
      </p:sp>
    </p:spTree>
    <p:extLst>
      <p:ext uri="{BB962C8B-B14F-4D97-AF65-F5344CB8AC3E}">
        <p14:creationId xmlns:p14="http://schemas.microsoft.com/office/powerpoint/2010/main" val="609810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6</a:t>
            </a:fld>
            <a:endParaRPr lang="sv-SE"/>
          </a:p>
        </p:txBody>
      </p:sp>
    </p:spTree>
    <p:extLst>
      <p:ext uri="{BB962C8B-B14F-4D97-AF65-F5344CB8AC3E}">
        <p14:creationId xmlns:p14="http://schemas.microsoft.com/office/powerpoint/2010/main" val="1033778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7</a:t>
            </a:fld>
            <a:endParaRPr lang="sv-SE"/>
          </a:p>
        </p:txBody>
      </p:sp>
    </p:spTree>
    <p:extLst>
      <p:ext uri="{BB962C8B-B14F-4D97-AF65-F5344CB8AC3E}">
        <p14:creationId xmlns:p14="http://schemas.microsoft.com/office/powerpoint/2010/main" val="111257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8</a:t>
            </a:fld>
            <a:endParaRPr lang="sv-SE"/>
          </a:p>
        </p:txBody>
      </p:sp>
    </p:spTree>
    <p:extLst>
      <p:ext uri="{BB962C8B-B14F-4D97-AF65-F5344CB8AC3E}">
        <p14:creationId xmlns:p14="http://schemas.microsoft.com/office/powerpoint/2010/main" val="948872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9</a:t>
            </a:fld>
            <a:endParaRPr lang="sv-SE"/>
          </a:p>
        </p:txBody>
      </p:sp>
    </p:spTree>
    <p:extLst>
      <p:ext uri="{BB962C8B-B14F-4D97-AF65-F5344CB8AC3E}">
        <p14:creationId xmlns:p14="http://schemas.microsoft.com/office/powerpoint/2010/main" val="3310152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10</a:t>
            </a:fld>
            <a:endParaRPr lang="sv-SE"/>
          </a:p>
        </p:txBody>
      </p:sp>
    </p:spTree>
    <p:extLst>
      <p:ext uri="{BB962C8B-B14F-4D97-AF65-F5344CB8AC3E}">
        <p14:creationId xmlns:p14="http://schemas.microsoft.com/office/powerpoint/2010/main" val="967974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11</a:t>
            </a:fld>
            <a:endParaRPr lang="sv-SE"/>
          </a:p>
        </p:txBody>
      </p:sp>
    </p:spTree>
    <p:extLst>
      <p:ext uri="{BB962C8B-B14F-4D97-AF65-F5344CB8AC3E}">
        <p14:creationId xmlns:p14="http://schemas.microsoft.com/office/powerpoint/2010/main" val="2396427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5A2EB84-C92C-FC42-BF83-BF3D3AD3131F}" type="slidenum">
              <a:rPr lang="sv-SE" sz="1300"/>
              <a:pPr eaLnBrk="1" hangingPunct="1"/>
              <a:t>12</a:t>
            </a:fld>
            <a:endParaRPr lang="sv-SE" sz="1300"/>
          </a:p>
        </p:txBody>
      </p:sp>
      <p:sp>
        <p:nvSpPr>
          <p:cNvPr id="26626" name="Rectangle 2"/>
          <p:cNvSpPr>
            <a:spLocks noGrp="1" noRot="1" noChangeAspect="1" noChangeArrowheads="1" noTextEdit="1"/>
          </p:cNvSpPr>
          <p:nvPr>
            <p:ph type="sldImg"/>
          </p:nvPr>
        </p:nvSpPr>
        <p:spPr>
          <a:xfrm>
            <a:off x="138113" y="768350"/>
            <a:ext cx="6819900" cy="3836988"/>
          </a:xfrm>
          <a:ln/>
        </p:spPr>
      </p:sp>
      <p:sp>
        <p:nvSpPr>
          <p:cNvPr id="26627"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sv-SE" dirty="0"/>
              <a:t>If </a:t>
            </a:r>
            <a:r>
              <a:rPr lang="sv-SE" dirty="0" err="1"/>
              <a:t>we</a:t>
            </a:r>
            <a:r>
              <a:rPr lang="sv-SE" dirty="0"/>
              <a:t> </a:t>
            </a:r>
            <a:r>
              <a:rPr lang="sv-SE" dirty="0" err="1"/>
              <a:t>have</a:t>
            </a:r>
            <a:r>
              <a:rPr lang="sv-SE" dirty="0"/>
              <a:t> a </a:t>
            </a:r>
            <a:r>
              <a:rPr lang="sv-SE" dirty="0" err="1"/>
              <a:t>model</a:t>
            </a:r>
            <a:r>
              <a:rPr lang="sv-SE" dirty="0"/>
              <a:t> and </a:t>
            </a:r>
            <a:r>
              <a:rPr lang="sv-SE" dirty="0" err="1"/>
              <a:t>some</a:t>
            </a:r>
            <a:r>
              <a:rPr lang="sv-SE" dirty="0"/>
              <a:t> </a:t>
            </a:r>
            <a:r>
              <a:rPr lang="sv-SE" dirty="0" err="1"/>
              <a:t>property</a:t>
            </a:r>
            <a:r>
              <a:rPr lang="sv-SE" dirty="0"/>
              <a:t>, a </a:t>
            </a:r>
            <a:r>
              <a:rPr lang="sv-SE" dirty="0" err="1"/>
              <a:t>requirement</a:t>
            </a:r>
            <a:r>
              <a:rPr lang="sv-SE" dirty="0"/>
              <a:t>,</a:t>
            </a:r>
            <a:r>
              <a:rPr lang="sv-SE" baseline="0" dirty="0"/>
              <a:t> </a:t>
            </a:r>
            <a:r>
              <a:rPr lang="sv-SE" baseline="0" dirty="0" err="1"/>
              <a:t>w</a:t>
            </a:r>
            <a:r>
              <a:rPr lang="sv-SE" dirty="0" err="1"/>
              <a:t>e</a:t>
            </a:r>
            <a:r>
              <a:rPr lang="sv-SE" dirty="0"/>
              <a:t> </a:t>
            </a:r>
            <a:r>
              <a:rPr lang="sv-SE" dirty="0" err="1"/>
              <a:t>can</a:t>
            </a:r>
            <a:r>
              <a:rPr lang="sv-SE" dirty="0"/>
              <a:t> ask a </a:t>
            </a:r>
            <a:r>
              <a:rPr lang="sv-SE" dirty="0" err="1"/>
              <a:t>model</a:t>
            </a:r>
            <a:r>
              <a:rPr lang="sv-SE" dirty="0"/>
              <a:t> checker, like </a:t>
            </a:r>
            <a:r>
              <a:rPr lang="sv-SE" dirty="0" err="1"/>
              <a:t>Uppaal</a:t>
            </a:r>
            <a:r>
              <a:rPr lang="sv-SE" dirty="0"/>
              <a:t> to check </a:t>
            </a:r>
            <a:r>
              <a:rPr lang="sv-SE" dirty="0" err="1"/>
              <a:t>if</a:t>
            </a:r>
            <a:r>
              <a:rPr lang="sv-SE" dirty="0"/>
              <a:t> the </a:t>
            </a:r>
            <a:r>
              <a:rPr lang="sv-SE" dirty="0" err="1"/>
              <a:t>model</a:t>
            </a:r>
            <a:r>
              <a:rPr lang="sv-SE" dirty="0"/>
              <a:t> </a:t>
            </a:r>
            <a:r>
              <a:rPr lang="sv-SE" dirty="0" err="1"/>
              <a:t>satisfies</a:t>
            </a:r>
            <a:r>
              <a:rPr lang="sv-SE" dirty="0"/>
              <a:t> the </a:t>
            </a:r>
            <a:r>
              <a:rPr lang="sv-SE" dirty="0" err="1"/>
              <a:t>requirement</a:t>
            </a:r>
            <a:r>
              <a:rPr lang="sv-SE" dirty="0"/>
              <a:t> </a:t>
            </a:r>
            <a:r>
              <a:rPr lang="sv-SE" dirty="0" err="1"/>
              <a:t>speciffication</a:t>
            </a:r>
            <a:r>
              <a:rPr lang="sv-SE" dirty="0"/>
              <a:t> in an </a:t>
            </a:r>
            <a:r>
              <a:rPr lang="sv-SE" dirty="0" err="1"/>
              <a:t>automatic</a:t>
            </a:r>
            <a:r>
              <a:rPr lang="sv-SE" dirty="0"/>
              <a:t> </a:t>
            </a:r>
            <a:r>
              <a:rPr lang="sv-SE" dirty="0" err="1"/>
              <a:t>manner</a:t>
            </a:r>
            <a:r>
              <a:rPr lang="sv-SE" dirty="0"/>
              <a:t>. If it </a:t>
            </a:r>
            <a:r>
              <a:rPr lang="sv-SE" dirty="0" err="1"/>
              <a:t>does</a:t>
            </a:r>
            <a:r>
              <a:rPr lang="sv-SE" dirty="0"/>
              <a:t> </a:t>
            </a:r>
            <a:r>
              <a:rPr lang="sv-SE" dirty="0" err="1"/>
              <a:t>we</a:t>
            </a:r>
            <a:r>
              <a:rPr lang="sv-SE" dirty="0"/>
              <a:t> </a:t>
            </a:r>
            <a:r>
              <a:rPr lang="sv-SE" dirty="0" err="1"/>
              <a:t>are</a:t>
            </a:r>
            <a:r>
              <a:rPr lang="sv-SE" dirty="0"/>
              <a:t> happy, </a:t>
            </a:r>
            <a:r>
              <a:rPr lang="sv-SE" dirty="0" err="1"/>
              <a:t>if</a:t>
            </a:r>
            <a:r>
              <a:rPr lang="sv-SE" dirty="0"/>
              <a:t> not </a:t>
            </a:r>
            <a:r>
              <a:rPr lang="sv-SE" dirty="0" err="1"/>
              <a:t>we</a:t>
            </a:r>
            <a:r>
              <a:rPr lang="sv-SE" dirty="0"/>
              <a:t> </a:t>
            </a:r>
            <a:r>
              <a:rPr lang="sv-SE" dirty="0" err="1"/>
              <a:t>will</a:t>
            </a:r>
            <a:r>
              <a:rPr lang="sv-SE" dirty="0"/>
              <a:t> like to understand </a:t>
            </a:r>
            <a:r>
              <a:rPr lang="sv-SE" dirty="0" err="1"/>
              <a:t>what</a:t>
            </a:r>
            <a:r>
              <a:rPr lang="sv-SE" dirty="0"/>
              <a:t> is happening, it is the same as </a:t>
            </a:r>
            <a:r>
              <a:rPr lang="sv-SE" dirty="0" err="1"/>
              <a:t>when</a:t>
            </a:r>
            <a:r>
              <a:rPr lang="sv-SE" dirty="0"/>
              <a:t> </a:t>
            </a:r>
            <a:r>
              <a:rPr lang="sv-SE" dirty="0" err="1"/>
              <a:t>you</a:t>
            </a:r>
            <a:r>
              <a:rPr lang="sv-SE" dirty="0"/>
              <a:t> </a:t>
            </a:r>
            <a:r>
              <a:rPr lang="sv-SE" dirty="0" err="1"/>
              <a:t>run</a:t>
            </a:r>
            <a:r>
              <a:rPr lang="sv-SE" dirty="0"/>
              <a:t> a computer program in Java for </a:t>
            </a:r>
            <a:r>
              <a:rPr lang="sv-SE" dirty="0" err="1"/>
              <a:t>example</a:t>
            </a:r>
            <a:r>
              <a:rPr lang="sv-SE" dirty="0"/>
              <a:t> </a:t>
            </a:r>
            <a:r>
              <a:rPr lang="sv-SE" dirty="0" err="1"/>
              <a:t>that</a:t>
            </a:r>
            <a:r>
              <a:rPr lang="sv-SE" dirty="0"/>
              <a:t> </a:t>
            </a:r>
            <a:r>
              <a:rPr lang="sv-SE" dirty="0" err="1"/>
              <a:t>you</a:t>
            </a:r>
            <a:r>
              <a:rPr lang="sv-SE" dirty="0"/>
              <a:t> </a:t>
            </a:r>
            <a:r>
              <a:rPr lang="sv-SE" dirty="0" err="1"/>
              <a:t>wrote</a:t>
            </a:r>
            <a:r>
              <a:rPr lang="sv-SE" dirty="0"/>
              <a:t> and </a:t>
            </a:r>
            <a:r>
              <a:rPr lang="sv-SE" dirty="0" err="1"/>
              <a:t>then</a:t>
            </a:r>
            <a:r>
              <a:rPr lang="sv-SE" dirty="0"/>
              <a:t> </a:t>
            </a:r>
            <a:r>
              <a:rPr lang="sv-SE" dirty="0" err="1"/>
              <a:t>if</a:t>
            </a:r>
            <a:r>
              <a:rPr lang="sv-SE" dirty="0"/>
              <a:t> it is </a:t>
            </a:r>
            <a:r>
              <a:rPr lang="sv-SE" dirty="0" err="1"/>
              <a:t>missbehaving</a:t>
            </a:r>
            <a:r>
              <a:rPr lang="sv-SE" dirty="0"/>
              <a:t> </a:t>
            </a:r>
            <a:r>
              <a:rPr lang="sv-SE" dirty="0" err="1"/>
              <a:t>you</a:t>
            </a:r>
            <a:r>
              <a:rPr lang="sv-SE" dirty="0"/>
              <a:t> look at </a:t>
            </a:r>
            <a:r>
              <a:rPr lang="sv-SE" dirty="0" err="1"/>
              <a:t>what</a:t>
            </a:r>
            <a:r>
              <a:rPr lang="sv-SE" dirty="0"/>
              <a:t> </a:t>
            </a:r>
            <a:r>
              <a:rPr lang="sv-SE" dirty="0" err="1"/>
              <a:t>happened</a:t>
            </a:r>
            <a:r>
              <a:rPr lang="sv-SE" dirty="0"/>
              <a:t> at a </a:t>
            </a:r>
            <a:r>
              <a:rPr lang="sv-SE" dirty="0" err="1"/>
              <a:t>certain</a:t>
            </a:r>
            <a:r>
              <a:rPr lang="sv-SE" dirty="0"/>
              <a:t> </a:t>
            </a:r>
            <a:r>
              <a:rPr lang="sv-SE" dirty="0" err="1"/>
              <a:t>point</a:t>
            </a:r>
            <a:r>
              <a:rPr lang="sv-SE" dirty="0"/>
              <a:t> and </a:t>
            </a:r>
            <a:r>
              <a:rPr lang="sv-SE" dirty="0" err="1"/>
              <a:t>then</a:t>
            </a:r>
            <a:r>
              <a:rPr lang="sv-SE" dirty="0"/>
              <a:t> </a:t>
            </a:r>
            <a:r>
              <a:rPr lang="sv-SE" dirty="0" err="1"/>
              <a:t>maybe</a:t>
            </a:r>
            <a:r>
              <a:rPr lang="sv-SE" dirty="0"/>
              <a:t> </a:t>
            </a:r>
            <a:r>
              <a:rPr lang="sv-SE" dirty="0" err="1"/>
              <a:t>you</a:t>
            </a:r>
            <a:r>
              <a:rPr lang="sv-SE" dirty="0"/>
              <a:t> try to </a:t>
            </a:r>
            <a:r>
              <a:rPr lang="sv-SE" dirty="0" err="1"/>
              <a:t>debugg</a:t>
            </a:r>
            <a:r>
              <a:rPr lang="sv-SE" dirty="0"/>
              <a:t> it. The same </a:t>
            </a:r>
            <a:r>
              <a:rPr lang="sv-SE" dirty="0" err="1"/>
              <a:t>principels</a:t>
            </a:r>
            <a:r>
              <a:rPr lang="sv-SE" dirty="0"/>
              <a:t> </a:t>
            </a:r>
            <a:r>
              <a:rPr lang="sv-SE" dirty="0" err="1"/>
              <a:t>govern</a:t>
            </a:r>
            <a:r>
              <a:rPr lang="sv-SE" dirty="0"/>
              <a:t> </a:t>
            </a:r>
            <a:r>
              <a:rPr lang="sv-SE" dirty="0" err="1"/>
              <a:t>also</a:t>
            </a:r>
            <a:r>
              <a:rPr lang="sv-SE" dirty="0"/>
              <a:t> </a:t>
            </a:r>
            <a:r>
              <a:rPr lang="sv-SE" dirty="0" err="1"/>
              <a:t>this</a:t>
            </a:r>
            <a:r>
              <a:rPr lang="sv-SE" dirty="0"/>
              <a:t> process </a:t>
            </a:r>
            <a:r>
              <a:rPr lang="sv-SE" dirty="0" err="1"/>
              <a:t>of</a:t>
            </a:r>
            <a:r>
              <a:rPr lang="sv-SE" dirty="0"/>
              <a:t> </a:t>
            </a:r>
            <a:r>
              <a:rPr lang="sv-SE" dirty="0" err="1"/>
              <a:t>model-checking</a:t>
            </a:r>
            <a:r>
              <a:rPr lang="sv-SE" dirty="0"/>
              <a:t>. </a:t>
            </a:r>
          </a:p>
          <a:p>
            <a:pPr eaLnBrk="1" hangingPunct="1"/>
            <a:endParaRPr lang="sv-SE" dirty="0"/>
          </a:p>
          <a:p>
            <a:pPr eaLnBrk="1" hangingPunct="1"/>
            <a:r>
              <a:rPr lang="sv-SE" dirty="0"/>
              <a:t>In </a:t>
            </a:r>
            <a:r>
              <a:rPr lang="sv-SE" dirty="0" err="1"/>
              <a:t>our</a:t>
            </a:r>
            <a:r>
              <a:rPr lang="sv-SE" dirty="0"/>
              <a:t> </a:t>
            </a:r>
            <a:r>
              <a:rPr lang="sv-SE" dirty="0" err="1"/>
              <a:t>case</a:t>
            </a:r>
            <a:r>
              <a:rPr lang="sv-SE" dirty="0"/>
              <a:t> the </a:t>
            </a:r>
            <a:r>
              <a:rPr lang="sv-SE" dirty="0" err="1"/>
              <a:t>model</a:t>
            </a:r>
            <a:r>
              <a:rPr lang="sv-SE" dirty="0"/>
              <a:t> </a:t>
            </a:r>
            <a:r>
              <a:rPr lang="sv-SE" dirty="0" err="1"/>
              <a:t>will</a:t>
            </a:r>
            <a:r>
              <a:rPr lang="sv-SE" dirty="0"/>
              <a:t> be a </a:t>
            </a:r>
            <a:r>
              <a:rPr lang="sv-SE" dirty="0" err="1"/>
              <a:t>network</a:t>
            </a:r>
            <a:r>
              <a:rPr lang="sv-SE" dirty="0"/>
              <a:t> </a:t>
            </a:r>
            <a:r>
              <a:rPr lang="sv-SE" dirty="0" err="1"/>
              <a:t>of</a:t>
            </a:r>
            <a:r>
              <a:rPr lang="sv-SE" dirty="0"/>
              <a:t> </a:t>
            </a:r>
            <a:r>
              <a:rPr lang="sv-SE" dirty="0" err="1"/>
              <a:t>timed</a:t>
            </a:r>
            <a:r>
              <a:rPr lang="sv-SE" dirty="0"/>
              <a:t> </a:t>
            </a:r>
            <a:r>
              <a:rPr lang="sv-SE" dirty="0" err="1"/>
              <a:t>automata</a:t>
            </a:r>
            <a:r>
              <a:rPr lang="sv-SE" dirty="0"/>
              <a:t>, a </a:t>
            </a:r>
            <a:r>
              <a:rPr lang="sv-SE" dirty="0" err="1"/>
              <a:t>model</a:t>
            </a:r>
            <a:r>
              <a:rPr lang="sv-SE" dirty="0"/>
              <a:t> </a:t>
            </a:r>
            <a:r>
              <a:rPr lang="sv-SE" dirty="0" err="1"/>
              <a:t>that</a:t>
            </a:r>
            <a:r>
              <a:rPr lang="sv-SE" dirty="0"/>
              <a:t> </a:t>
            </a:r>
            <a:r>
              <a:rPr lang="sv-SE" dirty="0" err="1"/>
              <a:t>consists</a:t>
            </a:r>
            <a:r>
              <a:rPr lang="sv-SE" dirty="0"/>
              <a:t> </a:t>
            </a:r>
            <a:r>
              <a:rPr lang="sv-SE" dirty="0" err="1"/>
              <a:t>of</a:t>
            </a:r>
            <a:r>
              <a:rPr lang="sv-SE" dirty="0"/>
              <a:t> </a:t>
            </a:r>
            <a:r>
              <a:rPr lang="sv-SE" dirty="0" err="1"/>
              <a:t>more</a:t>
            </a:r>
            <a:r>
              <a:rPr lang="sv-SE" dirty="0"/>
              <a:t> </a:t>
            </a:r>
            <a:r>
              <a:rPr lang="sv-SE" dirty="0" err="1"/>
              <a:t>than</a:t>
            </a:r>
            <a:r>
              <a:rPr lang="sv-SE" dirty="0"/>
              <a:t> </a:t>
            </a:r>
            <a:r>
              <a:rPr lang="sv-SE" dirty="0" err="1"/>
              <a:t>one</a:t>
            </a:r>
            <a:r>
              <a:rPr lang="sv-SE" dirty="0"/>
              <a:t> </a:t>
            </a:r>
            <a:r>
              <a:rPr lang="sv-SE" dirty="0" err="1"/>
              <a:t>timed</a:t>
            </a:r>
            <a:r>
              <a:rPr lang="sv-SE" dirty="0"/>
              <a:t> </a:t>
            </a:r>
            <a:r>
              <a:rPr lang="sv-SE" dirty="0" err="1"/>
              <a:t>automata</a:t>
            </a:r>
            <a:r>
              <a:rPr lang="sv-SE" dirty="0"/>
              <a:t> (</a:t>
            </a:r>
            <a:r>
              <a:rPr lang="sv-SE" dirty="0" err="1"/>
              <a:t>more</a:t>
            </a:r>
            <a:r>
              <a:rPr lang="sv-SE" dirty="0"/>
              <a:t> </a:t>
            </a:r>
            <a:r>
              <a:rPr lang="sv-SE" dirty="0" err="1"/>
              <a:t>than</a:t>
            </a:r>
            <a:r>
              <a:rPr lang="sv-SE" dirty="0"/>
              <a:t> </a:t>
            </a:r>
            <a:r>
              <a:rPr lang="sv-SE" dirty="0" err="1"/>
              <a:t>one</a:t>
            </a:r>
            <a:r>
              <a:rPr lang="sv-SE" dirty="0"/>
              <a:t> </a:t>
            </a:r>
            <a:r>
              <a:rPr lang="sv-SE" dirty="0" err="1"/>
              <a:t>time</a:t>
            </a:r>
            <a:r>
              <a:rPr lang="sv-SE" dirty="0"/>
              <a:t> </a:t>
            </a:r>
            <a:r>
              <a:rPr lang="sv-SE" dirty="0" err="1"/>
              <a:t>machines</a:t>
            </a:r>
            <a:r>
              <a:rPr lang="sv-SE" dirty="0"/>
              <a:t>) and a </a:t>
            </a:r>
            <a:r>
              <a:rPr lang="sv-SE" dirty="0" err="1"/>
              <a:t>requirement</a:t>
            </a:r>
            <a:r>
              <a:rPr lang="sv-SE" dirty="0"/>
              <a:t> </a:t>
            </a:r>
            <a:r>
              <a:rPr lang="sv-SE" dirty="0" err="1"/>
              <a:t>will</a:t>
            </a:r>
            <a:r>
              <a:rPr lang="sv-SE" dirty="0"/>
              <a:t> be temporal </a:t>
            </a:r>
            <a:r>
              <a:rPr lang="sv-SE" dirty="0" err="1"/>
              <a:t>logic</a:t>
            </a:r>
            <a:r>
              <a:rPr lang="sv-SE" dirty="0"/>
              <a:t> </a:t>
            </a:r>
            <a:r>
              <a:rPr lang="sv-SE" dirty="0" err="1"/>
              <a:t>formulae</a:t>
            </a:r>
            <a:r>
              <a:rPr lang="sv-SE" dirty="0"/>
              <a:t>, like</a:t>
            </a:r>
            <a:r>
              <a:rPr lang="sv-SE" baseline="0" dirty="0"/>
              <a:t> </a:t>
            </a:r>
            <a:r>
              <a:rPr lang="sv-SE" dirty="0"/>
              <a:t>a </a:t>
            </a:r>
            <a:r>
              <a:rPr lang="sv-SE" dirty="0" err="1"/>
              <a:t>property</a:t>
            </a:r>
            <a:r>
              <a:rPr lang="sv-SE" dirty="0"/>
              <a:t> </a:t>
            </a:r>
            <a:r>
              <a:rPr lang="sv-SE" dirty="0" err="1"/>
              <a:t>saying</a:t>
            </a:r>
            <a:r>
              <a:rPr lang="sv-SE" dirty="0"/>
              <a:t> </a:t>
            </a:r>
            <a:r>
              <a:rPr lang="sv-SE" dirty="0" err="1"/>
              <a:t>if</a:t>
            </a:r>
            <a:r>
              <a:rPr lang="sv-SE" dirty="0"/>
              <a:t> </a:t>
            </a:r>
            <a:r>
              <a:rPr lang="sv-SE" dirty="0" err="1"/>
              <a:t>something</a:t>
            </a:r>
            <a:r>
              <a:rPr lang="sv-SE" dirty="0"/>
              <a:t> bad </a:t>
            </a:r>
            <a:r>
              <a:rPr lang="sv-SE" dirty="0" err="1"/>
              <a:t>will</a:t>
            </a:r>
            <a:r>
              <a:rPr lang="sv-SE" dirty="0"/>
              <a:t> never </a:t>
            </a:r>
            <a:r>
              <a:rPr lang="sv-SE" dirty="0" err="1"/>
              <a:t>happen</a:t>
            </a:r>
            <a:r>
              <a:rPr lang="sv-SE" dirty="0"/>
              <a:t>, or </a:t>
            </a:r>
            <a:r>
              <a:rPr lang="sv-SE" dirty="0" err="1"/>
              <a:t>something</a:t>
            </a:r>
            <a:r>
              <a:rPr lang="sv-SE" dirty="0"/>
              <a:t> </a:t>
            </a:r>
            <a:r>
              <a:rPr lang="sv-SE" dirty="0" err="1"/>
              <a:t>good</a:t>
            </a:r>
            <a:r>
              <a:rPr lang="sv-SE" dirty="0"/>
              <a:t> </a:t>
            </a:r>
            <a:r>
              <a:rPr lang="sv-SE" dirty="0" err="1"/>
              <a:t>may</a:t>
            </a:r>
            <a:r>
              <a:rPr lang="sv-SE" dirty="0"/>
              <a:t> </a:t>
            </a:r>
            <a:r>
              <a:rPr lang="sv-SE" dirty="0" err="1"/>
              <a:t>happen</a:t>
            </a:r>
            <a:r>
              <a:rPr lang="sv-SE" dirty="0"/>
              <a:t>, or </a:t>
            </a:r>
            <a:r>
              <a:rPr lang="sv-SE" dirty="0" err="1"/>
              <a:t>that</a:t>
            </a:r>
            <a:r>
              <a:rPr lang="sv-SE" dirty="0"/>
              <a:t> </a:t>
            </a:r>
            <a:r>
              <a:rPr lang="sv-SE" dirty="0" err="1"/>
              <a:t>something</a:t>
            </a:r>
            <a:r>
              <a:rPr lang="sv-SE" dirty="0"/>
              <a:t> </a:t>
            </a:r>
            <a:r>
              <a:rPr lang="sv-SE" dirty="0" err="1"/>
              <a:t>will</a:t>
            </a:r>
            <a:r>
              <a:rPr lang="sv-SE" dirty="0"/>
              <a:t> </a:t>
            </a:r>
            <a:r>
              <a:rPr lang="sv-SE" dirty="0" err="1"/>
              <a:t>eventually</a:t>
            </a:r>
            <a:r>
              <a:rPr lang="sv-SE" dirty="0"/>
              <a:t> </a:t>
            </a:r>
            <a:r>
              <a:rPr lang="sv-SE" dirty="0" err="1"/>
              <a:t>happen</a:t>
            </a:r>
            <a:r>
              <a:rPr lang="sv-SE" dirty="0"/>
              <a:t>, </a:t>
            </a:r>
            <a:r>
              <a:rPr lang="sv-SE" dirty="0" err="1"/>
              <a:t>if</a:t>
            </a:r>
            <a:r>
              <a:rPr lang="sv-SE" dirty="0"/>
              <a:t> </a:t>
            </a:r>
            <a:r>
              <a:rPr lang="sv-SE" dirty="0" err="1"/>
              <a:t>you</a:t>
            </a:r>
            <a:r>
              <a:rPr lang="sv-SE" dirty="0"/>
              <a:t> </a:t>
            </a:r>
            <a:r>
              <a:rPr lang="sv-SE" dirty="0" err="1"/>
              <a:t>want</a:t>
            </a:r>
            <a:r>
              <a:rPr lang="sv-SE" dirty="0"/>
              <a:t> to </a:t>
            </a:r>
            <a:r>
              <a:rPr lang="sv-SE" dirty="0" err="1"/>
              <a:t>see</a:t>
            </a:r>
            <a:r>
              <a:rPr lang="sv-SE" dirty="0"/>
              <a:t> </a:t>
            </a:r>
            <a:r>
              <a:rPr lang="sv-SE" dirty="0" err="1"/>
              <a:t>some</a:t>
            </a:r>
            <a:r>
              <a:rPr lang="sv-SE" dirty="0"/>
              <a:t> progress in </a:t>
            </a:r>
            <a:r>
              <a:rPr lang="sv-SE" dirty="0" err="1"/>
              <a:t>your</a:t>
            </a:r>
            <a:r>
              <a:rPr lang="sv-SE" dirty="0"/>
              <a:t> system. </a:t>
            </a:r>
            <a:r>
              <a:rPr lang="sv-SE" dirty="0" err="1"/>
              <a:t>We</a:t>
            </a:r>
            <a:r>
              <a:rPr lang="sv-SE" dirty="0"/>
              <a:t> </a:t>
            </a:r>
            <a:r>
              <a:rPr lang="sv-SE" dirty="0" err="1"/>
              <a:t>will</a:t>
            </a:r>
            <a:r>
              <a:rPr lang="sv-SE" dirty="0"/>
              <a:t> </a:t>
            </a:r>
            <a:r>
              <a:rPr lang="sv-SE" dirty="0" err="1"/>
              <a:t>work</a:t>
            </a:r>
            <a:r>
              <a:rPr lang="sv-SE" dirty="0"/>
              <a:t> </a:t>
            </a:r>
            <a:r>
              <a:rPr lang="sv-SE" dirty="0" err="1"/>
              <a:t>with</a:t>
            </a:r>
            <a:r>
              <a:rPr lang="sv-SE" dirty="0"/>
              <a:t> a software </a:t>
            </a:r>
            <a:r>
              <a:rPr lang="sv-SE" dirty="0" err="1"/>
              <a:t>tool</a:t>
            </a:r>
            <a:r>
              <a:rPr lang="sv-SE" dirty="0"/>
              <a:t> for </a:t>
            </a:r>
            <a:r>
              <a:rPr lang="sv-SE" dirty="0" err="1"/>
              <a:t>this</a:t>
            </a:r>
            <a:r>
              <a:rPr lang="sv-SE" dirty="0"/>
              <a:t>..</a:t>
            </a:r>
          </a:p>
        </p:txBody>
      </p:sp>
    </p:spTree>
    <p:extLst>
      <p:ext uri="{BB962C8B-B14F-4D97-AF65-F5344CB8AC3E}">
        <p14:creationId xmlns:p14="http://schemas.microsoft.com/office/powerpoint/2010/main" val="21473777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think about real-time systems we refer to</a:t>
            </a:r>
            <a:r>
              <a:rPr lang="en-US" baseline="0" dirty="0"/>
              <a:t> a</a:t>
            </a:r>
            <a:r>
              <a:rPr lang="en-US" dirty="0"/>
              <a:t> systems with time. A real-time systems is a system that has a functional behavior that depends on timing of different events happening for its correctness. </a:t>
            </a:r>
          </a:p>
          <a:p>
            <a:endParaRPr lang="en-US" dirty="0"/>
          </a:p>
          <a:p>
            <a:r>
              <a:rPr lang="en-US" dirty="0"/>
              <a:t>It doesn’t need just to deliver only outputs at any time but it needs to deliver them at the right time, not the fastest time but the right time. A real-time system contains programs, tasks, sensors and actuators for influencing the environment. </a:t>
            </a:r>
          </a:p>
          <a:p>
            <a:endParaRPr lang="en-US" dirty="0"/>
          </a:p>
          <a:p>
            <a:r>
              <a:rPr lang="en-US" dirty="0"/>
              <a:t>Another thing to note here is that the controller program is a computer program and it is discrete in its nature while the plant (the </a:t>
            </a:r>
            <a:r>
              <a:rPr lang="en-US" dirty="0" err="1"/>
              <a:t>envirnomnent</a:t>
            </a:r>
            <a:r>
              <a:rPr lang="en-US" dirty="0"/>
              <a:t>) is </a:t>
            </a:r>
            <a:r>
              <a:rPr lang="en-US" dirty="0" err="1"/>
              <a:t>continuos</a:t>
            </a:r>
            <a:r>
              <a:rPr lang="en-US" dirty="0"/>
              <a:t> with </a:t>
            </a:r>
            <a:r>
              <a:rPr lang="en-US" dirty="0" err="1"/>
              <a:t>countinuos</a:t>
            </a:r>
            <a:r>
              <a:rPr lang="en-US" dirty="0"/>
              <a:t> behavior. We can find such computer programs </a:t>
            </a:r>
            <a:r>
              <a:rPr lang="en-US" dirty="0" err="1"/>
              <a:t>controling</a:t>
            </a:r>
            <a:r>
              <a:rPr lang="en-US" dirty="0"/>
              <a:t> a lot of products we use every day: air bags, cruise control, trains, robots, braking systems. In manufacturing plants and other industrial automation systems you can find real-time systems.</a:t>
            </a:r>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13</a:t>
            </a:fld>
            <a:endParaRPr lang="sv-SE"/>
          </a:p>
        </p:txBody>
      </p:sp>
    </p:spTree>
    <p:extLst>
      <p:ext uri="{BB962C8B-B14F-4D97-AF65-F5344CB8AC3E}">
        <p14:creationId xmlns:p14="http://schemas.microsoft.com/office/powerpoint/2010/main" val="121376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order to analyze a system like this we need to have a model. A model will be for example an automata that represents</a:t>
            </a:r>
            <a:r>
              <a:rPr lang="en-US" baseline="0" dirty="0"/>
              <a:t> </a:t>
            </a:r>
            <a:r>
              <a:rPr lang="en-US" dirty="0"/>
              <a:t>the tasks and a model that</a:t>
            </a:r>
            <a:r>
              <a:rPr lang="en-US" baseline="0" dirty="0"/>
              <a:t> represents</a:t>
            </a:r>
            <a:r>
              <a:rPr lang="en-US" dirty="0"/>
              <a:t> how the system interacts with the environment. We can make a model of this like a finite state machine and then we can try to verify this model. There are specific techniques to verify this like model-checking. Model-checking uses the model and some property from models</a:t>
            </a:r>
            <a:r>
              <a:rPr lang="is-IS" dirty="0"/>
              <a:t>….</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14</a:t>
            </a:fld>
            <a:endParaRPr lang="sv-SE"/>
          </a:p>
        </p:txBody>
      </p:sp>
    </p:spTree>
    <p:extLst>
      <p:ext uri="{BB962C8B-B14F-4D97-AF65-F5344CB8AC3E}">
        <p14:creationId xmlns:p14="http://schemas.microsoft.com/office/powerpoint/2010/main" val="1091269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51889AB-13AC-9E4D-9974-F38F0ED2CAE9}" type="slidenum">
              <a:rPr lang="sv-SE" sz="1300"/>
              <a:pPr eaLnBrk="1" hangingPunct="1"/>
              <a:t>15</a:t>
            </a:fld>
            <a:endParaRPr lang="sv-SE" sz="1300"/>
          </a:p>
        </p:txBody>
      </p:sp>
      <p:sp>
        <p:nvSpPr>
          <p:cNvPr id="28674" name="Rectangle 2"/>
          <p:cNvSpPr>
            <a:spLocks noGrp="1" noRot="1" noChangeAspect="1" noChangeArrowheads="1" noTextEdit="1"/>
          </p:cNvSpPr>
          <p:nvPr>
            <p:ph type="sldImg"/>
          </p:nvPr>
        </p:nvSpPr>
        <p:spPr>
          <a:xfrm>
            <a:off x="138113" y="768350"/>
            <a:ext cx="6819900" cy="3836988"/>
          </a:xfrm>
          <a:ln/>
        </p:spPr>
      </p:sp>
      <p:sp>
        <p:nvSpPr>
          <p:cNvPr id="28675"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sv-SE" dirty="0" err="1"/>
              <a:t>When</a:t>
            </a:r>
            <a:r>
              <a:rPr lang="sv-SE" dirty="0"/>
              <a:t> </a:t>
            </a:r>
            <a:r>
              <a:rPr lang="sv-SE" dirty="0" err="1"/>
              <a:t>working</a:t>
            </a:r>
            <a:r>
              <a:rPr lang="sv-SE" dirty="0"/>
              <a:t> </a:t>
            </a:r>
            <a:r>
              <a:rPr lang="sv-SE" dirty="0" err="1"/>
              <a:t>with</a:t>
            </a:r>
            <a:r>
              <a:rPr lang="sv-SE" dirty="0"/>
              <a:t> a </a:t>
            </a:r>
            <a:r>
              <a:rPr lang="sv-SE" dirty="0" err="1"/>
              <a:t>tool</a:t>
            </a:r>
            <a:r>
              <a:rPr lang="sv-SE" dirty="0"/>
              <a:t> like </a:t>
            </a:r>
            <a:r>
              <a:rPr lang="sv-SE" dirty="0" err="1"/>
              <a:t>uppaal</a:t>
            </a:r>
            <a:r>
              <a:rPr lang="sv-SE" dirty="0"/>
              <a:t> </a:t>
            </a:r>
            <a:r>
              <a:rPr lang="sv-SE" dirty="0" err="1"/>
              <a:t>we</a:t>
            </a:r>
            <a:r>
              <a:rPr lang="sv-SE" dirty="0"/>
              <a:t> </a:t>
            </a:r>
            <a:r>
              <a:rPr lang="sv-SE" dirty="0" err="1"/>
              <a:t>would</a:t>
            </a:r>
            <a:r>
              <a:rPr lang="sv-SE" baseline="0" dirty="0"/>
              <a:t> like to </a:t>
            </a:r>
            <a:r>
              <a:rPr lang="sv-SE" baseline="0" dirty="0" err="1"/>
              <a:t>have</a:t>
            </a:r>
            <a:r>
              <a:rPr lang="sv-SE" baseline="0" dirty="0"/>
              <a:t> a </a:t>
            </a:r>
            <a:r>
              <a:rPr lang="sv-SE" baseline="0" dirty="0" err="1"/>
              <a:t>gui</a:t>
            </a:r>
            <a:r>
              <a:rPr lang="sv-SE" baseline="0" dirty="0"/>
              <a:t> for </a:t>
            </a:r>
            <a:r>
              <a:rPr lang="sv-SE" baseline="0" dirty="0" err="1"/>
              <a:t>creating</a:t>
            </a:r>
            <a:r>
              <a:rPr lang="sv-SE" baseline="0" dirty="0"/>
              <a:t> </a:t>
            </a:r>
            <a:r>
              <a:rPr lang="sv-SE" baseline="0" dirty="0" err="1"/>
              <a:t>our</a:t>
            </a:r>
            <a:r>
              <a:rPr lang="sv-SE" baseline="0" dirty="0"/>
              <a:t> </a:t>
            </a:r>
            <a:r>
              <a:rPr lang="sv-SE" baseline="0" dirty="0" err="1"/>
              <a:t>models</a:t>
            </a:r>
            <a:r>
              <a:rPr lang="sv-SE" baseline="0" dirty="0"/>
              <a:t>, </a:t>
            </a:r>
            <a:r>
              <a:rPr lang="sv-SE" baseline="0" dirty="0" err="1"/>
              <a:t>where</a:t>
            </a:r>
            <a:r>
              <a:rPr lang="sv-SE" baseline="0" dirty="0"/>
              <a:t> </a:t>
            </a:r>
            <a:r>
              <a:rPr lang="sv-SE" baseline="0" dirty="0" err="1"/>
              <a:t>you</a:t>
            </a:r>
            <a:r>
              <a:rPr lang="sv-SE" baseline="0" dirty="0"/>
              <a:t> </a:t>
            </a:r>
            <a:r>
              <a:rPr lang="sv-SE" baseline="0" dirty="0" err="1"/>
              <a:t>create</a:t>
            </a:r>
            <a:r>
              <a:rPr lang="sv-SE" baseline="0" dirty="0"/>
              <a:t> </a:t>
            </a:r>
            <a:r>
              <a:rPr lang="sv-SE" baseline="0" dirty="0" err="1"/>
              <a:t>your</a:t>
            </a:r>
            <a:r>
              <a:rPr lang="sv-SE" baseline="0" dirty="0"/>
              <a:t> </a:t>
            </a:r>
            <a:r>
              <a:rPr lang="sv-SE" baseline="0" dirty="0" err="1"/>
              <a:t>automata</a:t>
            </a:r>
            <a:r>
              <a:rPr lang="sv-SE" baseline="0" dirty="0"/>
              <a:t>, </a:t>
            </a:r>
            <a:r>
              <a:rPr lang="sv-SE" baseline="0" dirty="0" err="1"/>
              <a:t>you</a:t>
            </a:r>
            <a:r>
              <a:rPr lang="sv-SE" baseline="0" dirty="0"/>
              <a:t> </a:t>
            </a:r>
            <a:r>
              <a:rPr lang="sv-SE" baseline="0" dirty="0" err="1"/>
              <a:t>add</a:t>
            </a:r>
            <a:r>
              <a:rPr lang="sv-SE" baseline="0" dirty="0"/>
              <a:t> the </a:t>
            </a:r>
            <a:r>
              <a:rPr lang="sv-SE" baseline="0" dirty="0" err="1"/>
              <a:t>guards</a:t>
            </a:r>
            <a:r>
              <a:rPr lang="sv-SE" baseline="0" dirty="0"/>
              <a:t> and so on, </a:t>
            </a:r>
            <a:r>
              <a:rPr lang="sv-SE" baseline="0" dirty="0" err="1"/>
              <a:t>names</a:t>
            </a:r>
            <a:r>
              <a:rPr lang="sv-SE" baseline="0" dirty="0"/>
              <a:t> </a:t>
            </a:r>
            <a:r>
              <a:rPr lang="sv-SE" baseline="0" dirty="0" err="1"/>
              <a:t>of</a:t>
            </a:r>
            <a:r>
              <a:rPr lang="sv-SE" baseline="0" dirty="0"/>
              <a:t> </a:t>
            </a:r>
            <a:r>
              <a:rPr lang="sv-SE" baseline="0" dirty="0" err="1"/>
              <a:t>locations</a:t>
            </a:r>
            <a:r>
              <a:rPr lang="sv-SE" baseline="0" dirty="0"/>
              <a:t>. And </a:t>
            </a:r>
            <a:r>
              <a:rPr lang="sv-SE" baseline="0" dirty="0" err="1"/>
              <a:t>then</a:t>
            </a:r>
            <a:r>
              <a:rPr lang="sv-SE" baseline="0" dirty="0"/>
              <a:t> </a:t>
            </a:r>
            <a:r>
              <a:rPr lang="sv-SE" baseline="0" dirty="0" err="1"/>
              <a:t>you</a:t>
            </a:r>
            <a:r>
              <a:rPr lang="sv-SE" baseline="0" dirty="0"/>
              <a:t> </a:t>
            </a:r>
            <a:r>
              <a:rPr lang="sv-SE" baseline="0" dirty="0" err="1"/>
              <a:t>want</a:t>
            </a:r>
            <a:r>
              <a:rPr lang="sv-SE" baseline="0" dirty="0"/>
              <a:t> to </a:t>
            </a:r>
            <a:r>
              <a:rPr lang="sv-SE" baseline="0" dirty="0" err="1"/>
              <a:t>simulate</a:t>
            </a:r>
            <a:r>
              <a:rPr lang="sv-SE" baseline="0" dirty="0"/>
              <a:t> the system, play </a:t>
            </a:r>
            <a:r>
              <a:rPr lang="sv-SE" baseline="0" dirty="0" err="1"/>
              <a:t>with</a:t>
            </a:r>
            <a:r>
              <a:rPr lang="sv-SE" baseline="0" dirty="0"/>
              <a:t> the </a:t>
            </a:r>
            <a:r>
              <a:rPr lang="sv-SE" baseline="0" dirty="0" err="1"/>
              <a:t>model</a:t>
            </a:r>
            <a:r>
              <a:rPr lang="sv-SE" baseline="0" dirty="0"/>
              <a:t>, </a:t>
            </a:r>
            <a:r>
              <a:rPr lang="sv-SE" baseline="0" dirty="0" err="1"/>
              <a:t>see</a:t>
            </a:r>
            <a:r>
              <a:rPr lang="sv-SE" baseline="0" dirty="0"/>
              <a:t> </a:t>
            </a:r>
            <a:r>
              <a:rPr lang="sv-SE" baseline="0" dirty="0" err="1"/>
              <a:t>how</a:t>
            </a:r>
            <a:r>
              <a:rPr lang="sv-SE" baseline="0" dirty="0"/>
              <a:t> it </a:t>
            </a:r>
            <a:r>
              <a:rPr lang="sv-SE" baseline="0" dirty="0" err="1"/>
              <a:t>behaves</a:t>
            </a:r>
            <a:r>
              <a:rPr lang="sv-SE" baseline="0" dirty="0"/>
              <a:t>, </a:t>
            </a:r>
            <a:r>
              <a:rPr lang="sv-SE" baseline="0" dirty="0" err="1"/>
              <a:t>you</a:t>
            </a:r>
            <a:r>
              <a:rPr lang="sv-SE" baseline="0" dirty="0"/>
              <a:t> </a:t>
            </a:r>
            <a:r>
              <a:rPr lang="sv-SE" baseline="0" dirty="0" err="1"/>
              <a:t>can</a:t>
            </a:r>
            <a:r>
              <a:rPr lang="sv-SE" baseline="0" dirty="0"/>
              <a:t> </a:t>
            </a:r>
            <a:r>
              <a:rPr lang="sv-SE" baseline="0" dirty="0" err="1"/>
              <a:t>see</a:t>
            </a:r>
            <a:r>
              <a:rPr lang="sv-SE" baseline="0" dirty="0"/>
              <a:t> the different </a:t>
            </a:r>
            <a:r>
              <a:rPr lang="sv-SE" baseline="0" dirty="0" err="1"/>
              <a:t>automata</a:t>
            </a:r>
            <a:r>
              <a:rPr lang="sv-SE" baseline="0" dirty="0"/>
              <a:t> and </a:t>
            </a:r>
            <a:r>
              <a:rPr lang="sv-SE" baseline="0" dirty="0" err="1"/>
              <a:t>variables</a:t>
            </a:r>
            <a:r>
              <a:rPr lang="sv-SE" baseline="0" dirty="0"/>
              <a:t>, </a:t>
            </a:r>
            <a:r>
              <a:rPr lang="sv-SE" baseline="0" dirty="0" err="1"/>
              <a:t>you</a:t>
            </a:r>
            <a:r>
              <a:rPr lang="sv-SE" baseline="0" dirty="0"/>
              <a:t> </a:t>
            </a:r>
            <a:r>
              <a:rPr lang="sv-SE" baseline="0" dirty="0" err="1"/>
              <a:t>have</a:t>
            </a:r>
            <a:r>
              <a:rPr lang="sv-SE" baseline="0" dirty="0"/>
              <a:t> </a:t>
            </a:r>
            <a:r>
              <a:rPr lang="sv-SE" baseline="0" dirty="0" err="1"/>
              <a:t>also</a:t>
            </a:r>
            <a:r>
              <a:rPr lang="sv-SE" baseline="0" dirty="0"/>
              <a:t> a </a:t>
            </a:r>
            <a:r>
              <a:rPr lang="sv-SE" baseline="0" dirty="0" err="1"/>
              <a:t>trace</a:t>
            </a:r>
            <a:r>
              <a:rPr lang="sv-SE" baseline="0" dirty="0"/>
              <a:t> on </a:t>
            </a:r>
            <a:r>
              <a:rPr lang="sv-SE" baseline="0" dirty="0" err="1"/>
              <a:t>how</a:t>
            </a:r>
            <a:r>
              <a:rPr lang="sv-SE" baseline="0" dirty="0"/>
              <a:t> the </a:t>
            </a:r>
            <a:r>
              <a:rPr lang="sv-SE" baseline="0" dirty="0" err="1"/>
              <a:t>model</a:t>
            </a:r>
            <a:r>
              <a:rPr lang="sv-SE" baseline="0" dirty="0"/>
              <a:t> </a:t>
            </a:r>
            <a:r>
              <a:rPr lang="sv-SE" baseline="0" dirty="0" err="1"/>
              <a:t>behaves</a:t>
            </a:r>
            <a:r>
              <a:rPr lang="sv-SE" baseline="0" dirty="0"/>
              <a:t> in </a:t>
            </a:r>
            <a:r>
              <a:rPr lang="sv-SE" baseline="0" dirty="0" err="1"/>
              <a:t>time</a:t>
            </a:r>
            <a:r>
              <a:rPr lang="sv-SE" baseline="0" dirty="0"/>
              <a:t> and </a:t>
            </a:r>
            <a:r>
              <a:rPr lang="sv-SE" baseline="0" dirty="0" err="1"/>
              <a:t>then</a:t>
            </a:r>
            <a:r>
              <a:rPr lang="sv-SE" baseline="0" dirty="0"/>
              <a:t> </a:t>
            </a:r>
            <a:r>
              <a:rPr lang="sv-SE" baseline="0" dirty="0" err="1"/>
              <a:t>you</a:t>
            </a:r>
            <a:r>
              <a:rPr lang="sv-SE" baseline="0" dirty="0"/>
              <a:t> </a:t>
            </a:r>
            <a:r>
              <a:rPr lang="sv-SE" baseline="0" dirty="0" err="1"/>
              <a:t>can</a:t>
            </a:r>
            <a:r>
              <a:rPr lang="sv-SE" baseline="0" dirty="0"/>
              <a:t> </a:t>
            </a:r>
            <a:r>
              <a:rPr lang="sv-SE" baseline="0" dirty="0" err="1"/>
              <a:t>verify</a:t>
            </a:r>
            <a:r>
              <a:rPr lang="sv-SE" baseline="0" dirty="0"/>
              <a:t> </a:t>
            </a:r>
            <a:r>
              <a:rPr lang="sv-SE" baseline="0" dirty="0" err="1"/>
              <a:t>things</a:t>
            </a:r>
            <a:r>
              <a:rPr lang="sv-SE" baseline="0" dirty="0"/>
              <a:t>. </a:t>
            </a:r>
            <a:r>
              <a:rPr lang="sv-SE" baseline="0" dirty="0" err="1"/>
              <a:t>You</a:t>
            </a:r>
            <a:r>
              <a:rPr lang="sv-SE" baseline="0" dirty="0"/>
              <a:t> </a:t>
            </a:r>
            <a:r>
              <a:rPr lang="sv-SE" baseline="0" dirty="0" err="1"/>
              <a:t>can</a:t>
            </a:r>
            <a:r>
              <a:rPr lang="sv-SE" baseline="0" dirty="0"/>
              <a:t> </a:t>
            </a:r>
            <a:r>
              <a:rPr lang="sv-SE" baseline="0" dirty="0" err="1"/>
              <a:t>have</a:t>
            </a:r>
            <a:r>
              <a:rPr lang="sv-SE" baseline="0" dirty="0"/>
              <a:t> a </a:t>
            </a:r>
            <a:r>
              <a:rPr lang="sv-SE" baseline="0" dirty="0" err="1"/>
              <a:t>user</a:t>
            </a:r>
            <a:r>
              <a:rPr lang="sv-SE" baseline="0" dirty="0"/>
              <a:t> interface </a:t>
            </a:r>
            <a:r>
              <a:rPr lang="sv-SE" baseline="0" dirty="0" err="1"/>
              <a:t>where</a:t>
            </a:r>
            <a:r>
              <a:rPr lang="sv-SE" baseline="0" dirty="0"/>
              <a:t> </a:t>
            </a:r>
            <a:r>
              <a:rPr lang="sv-SE" baseline="0" dirty="0" err="1"/>
              <a:t>you</a:t>
            </a:r>
            <a:r>
              <a:rPr lang="sv-SE" baseline="0" dirty="0"/>
              <a:t> </a:t>
            </a:r>
            <a:r>
              <a:rPr lang="sv-SE" baseline="0" dirty="0" err="1"/>
              <a:t>have</a:t>
            </a:r>
            <a:r>
              <a:rPr lang="sv-SE" baseline="0" dirty="0"/>
              <a:t> </a:t>
            </a:r>
            <a:r>
              <a:rPr lang="sv-SE" baseline="0" dirty="0" err="1"/>
              <a:t>your</a:t>
            </a:r>
            <a:r>
              <a:rPr lang="sv-SE" baseline="0" dirty="0"/>
              <a:t> temporal </a:t>
            </a:r>
            <a:r>
              <a:rPr lang="sv-SE" baseline="0" dirty="0" err="1"/>
              <a:t>logic</a:t>
            </a:r>
            <a:r>
              <a:rPr lang="sv-SE" baseline="0" dirty="0"/>
              <a:t> </a:t>
            </a:r>
            <a:r>
              <a:rPr lang="sv-SE" baseline="0" dirty="0" err="1"/>
              <a:t>formulae</a:t>
            </a:r>
            <a:r>
              <a:rPr lang="sv-SE" baseline="0" dirty="0"/>
              <a:t> and </a:t>
            </a:r>
            <a:r>
              <a:rPr lang="sv-SE" baseline="0" dirty="0" err="1"/>
              <a:t>you</a:t>
            </a:r>
            <a:r>
              <a:rPr lang="sv-SE" baseline="0" dirty="0"/>
              <a:t> </a:t>
            </a:r>
            <a:r>
              <a:rPr lang="sv-SE" baseline="0" dirty="0" err="1"/>
              <a:t>can</a:t>
            </a:r>
            <a:r>
              <a:rPr lang="sv-SE" baseline="0" dirty="0"/>
              <a:t> check </a:t>
            </a:r>
            <a:r>
              <a:rPr lang="sv-SE" baseline="0" dirty="0" err="1"/>
              <a:t>if</a:t>
            </a:r>
            <a:r>
              <a:rPr lang="sv-SE" baseline="0" dirty="0"/>
              <a:t> </a:t>
            </a:r>
            <a:r>
              <a:rPr lang="sv-SE" baseline="0" dirty="0" err="1"/>
              <a:t>certain</a:t>
            </a:r>
            <a:r>
              <a:rPr lang="sv-SE" baseline="0" dirty="0"/>
              <a:t> </a:t>
            </a:r>
            <a:r>
              <a:rPr lang="sv-SE" baseline="0" dirty="0" err="1"/>
              <a:t>properties</a:t>
            </a:r>
            <a:r>
              <a:rPr lang="sv-SE" baseline="0" dirty="0"/>
              <a:t> </a:t>
            </a:r>
            <a:r>
              <a:rPr lang="sv-SE" baseline="0" dirty="0" err="1"/>
              <a:t>are</a:t>
            </a:r>
            <a:r>
              <a:rPr lang="sv-SE" baseline="0" dirty="0"/>
              <a:t> </a:t>
            </a:r>
            <a:r>
              <a:rPr lang="sv-SE" baseline="0" dirty="0" err="1"/>
              <a:t>satisfied</a:t>
            </a:r>
            <a:r>
              <a:rPr lang="sv-SE" baseline="0" dirty="0"/>
              <a:t>. </a:t>
            </a:r>
            <a:r>
              <a:rPr lang="sv-SE" baseline="0" dirty="0" err="1"/>
              <a:t>Basically</a:t>
            </a:r>
            <a:r>
              <a:rPr lang="sv-SE" baseline="0" dirty="0"/>
              <a:t> </a:t>
            </a:r>
            <a:r>
              <a:rPr lang="sv-SE" baseline="0" dirty="0" err="1"/>
              <a:t>you</a:t>
            </a:r>
            <a:r>
              <a:rPr lang="sv-SE" baseline="0" dirty="0"/>
              <a:t> </a:t>
            </a:r>
            <a:r>
              <a:rPr lang="sv-SE" baseline="0" dirty="0" err="1"/>
              <a:t>can</a:t>
            </a:r>
            <a:r>
              <a:rPr lang="sv-SE" baseline="0" dirty="0"/>
              <a:t> just </a:t>
            </a:r>
            <a:r>
              <a:rPr lang="sv-SE" baseline="0" dirty="0" err="1"/>
              <a:t>type</a:t>
            </a:r>
            <a:r>
              <a:rPr lang="sv-SE" baseline="0" dirty="0"/>
              <a:t> </a:t>
            </a:r>
            <a:r>
              <a:rPr lang="sv-SE" baseline="0" dirty="0" err="1"/>
              <a:t>your</a:t>
            </a:r>
            <a:r>
              <a:rPr lang="sv-SE" baseline="0" dirty="0"/>
              <a:t> </a:t>
            </a:r>
            <a:r>
              <a:rPr lang="sv-SE" baseline="0" dirty="0" err="1"/>
              <a:t>own</a:t>
            </a:r>
            <a:r>
              <a:rPr lang="sv-SE" baseline="0" dirty="0"/>
              <a:t> </a:t>
            </a:r>
            <a:r>
              <a:rPr lang="sv-SE" baseline="0" dirty="0" err="1"/>
              <a:t>properties</a:t>
            </a:r>
            <a:r>
              <a:rPr lang="sv-SE" baseline="0" dirty="0"/>
              <a:t> and </a:t>
            </a:r>
            <a:r>
              <a:rPr lang="sv-SE" baseline="0" dirty="0" err="1"/>
              <a:t>see</a:t>
            </a:r>
            <a:r>
              <a:rPr lang="sv-SE" baseline="0" dirty="0"/>
              <a:t> </a:t>
            </a:r>
            <a:r>
              <a:rPr lang="sv-SE" baseline="0" dirty="0" err="1"/>
              <a:t>if</a:t>
            </a:r>
            <a:r>
              <a:rPr lang="sv-SE" baseline="0" dirty="0"/>
              <a:t> </a:t>
            </a:r>
            <a:r>
              <a:rPr lang="sv-SE" baseline="0" dirty="0" err="1"/>
              <a:t>they</a:t>
            </a:r>
            <a:r>
              <a:rPr lang="sv-SE" baseline="0" dirty="0"/>
              <a:t> </a:t>
            </a:r>
            <a:r>
              <a:rPr lang="sv-SE" baseline="0" dirty="0" err="1"/>
              <a:t>hold</a:t>
            </a:r>
            <a:r>
              <a:rPr lang="sv-SE" baseline="0" dirty="0"/>
              <a:t> or not</a:t>
            </a:r>
            <a:r>
              <a:rPr lang="is-IS" baseline="0" dirty="0"/>
              <a:t>… These properties should correspond to the requirements one designs for a system. You can have different properties that you can verify. An example would be a reachabiliuty property such that the model reaches a certain point in the execution. </a:t>
            </a:r>
            <a:r>
              <a:rPr lang="en-US" baseline="0" dirty="0"/>
              <a:t>I</a:t>
            </a:r>
            <a:r>
              <a:rPr lang="is-IS" baseline="0" dirty="0"/>
              <a:t>f the verification fails for a property then you want to play with that trace in the simulator and see why this happened. So you can have a flow going from the verification towards the simulation and then if you found a mistake you can go back into the model and modify it. </a:t>
            </a:r>
            <a:endParaRPr lang="sv-SE" dirty="0"/>
          </a:p>
        </p:txBody>
      </p:sp>
    </p:spTree>
    <p:extLst>
      <p:ext uri="{BB962C8B-B14F-4D97-AF65-F5344CB8AC3E}">
        <p14:creationId xmlns:p14="http://schemas.microsoft.com/office/powerpoint/2010/main" val="1213180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is-IS" baseline="0" dirty="0"/>
              <a:t>Here is a model some researchers created for ABB some many many years ago. This is just to show you how big and complex these models can be in industrial practice. All of these boxes are automatas. These models represent a protocol used for data communication. As an engineer developing this protocol you might wonder if this error state is reachable any time in the execution of the system. This is not a trivial question to ask. If you would try to analyze this manually it could take days or months until you would come up with a definite answer. Or is this component always operating in this state or it can go somewhere else... What is the maximum time for the system to go from a point to another. In industry there are so many requirements like this that need to be checked before you can realease a system to the users. For example you would like to verify if the a component can be active in a certain amount of time after you press a certain button. You can verify also a variable in the system is always less than 64 during execution, if not something would be wromng or is the system guaranteed to reach this state of the system. These are just examples of properties one can verify on this kind of models. This, just to give you an overall idea of what kind of model-based verification we are focusing on.</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16</a:t>
            </a:fld>
            <a:endParaRPr lang="sv-SE"/>
          </a:p>
        </p:txBody>
      </p:sp>
    </p:spTree>
    <p:extLst>
      <p:ext uri="{BB962C8B-B14F-4D97-AF65-F5344CB8AC3E}">
        <p14:creationId xmlns:p14="http://schemas.microsoft.com/office/powerpoint/2010/main" val="494626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C542FE6-5F75-F549-AB9D-E383CBDF94A8}" type="slidenum">
              <a:rPr lang="sv-SE" sz="1300"/>
              <a:pPr eaLnBrk="1" hangingPunct="1"/>
              <a:t>17</a:t>
            </a:fld>
            <a:endParaRPr lang="sv-SE" sz="1300"/>
          </a:p>
        </p:txBody>
      </p:sp>
      <p:sp>
        <p:nvSpPr>
          <p:cNvPr id="34818" name="Rectangle 2"/>
          <p:cNvSpPr>
            <a:spLocks noGrp="1" noRot="1" noChangeAspect="1" noChangeArrowheads="1" noTextEdit="1"/>
          </p:cNvSpPr>
          <p:nvPr>
            <p:ph type="sldImg"/>
          </p:nvPr>
        </p:nvSpPr>
        <p:spPr>
          <a:xfrm>
            <a:off x="141288" y="768350"/>
            <a:ext cx="6821487" cy="3838575"/>
          </a:xfrm>
          <a:ln/>
        </p:spPr>
      </p:sp>
      <p:sp>
        <p:nvSpPr>
          <p:cNvPr id="34819" name="Rectangle 3"/>
          <p:cNvSpPr>
            <a:spLocks noGrp="1" noChangeArrowheads="1"/>
          </p:cNvSpPr>
          <p:nvPr>
            <p:ph type="body" idx="1"/>
          </p:nvPr>
        </p:nvSpPr>
        <p:spPr>
          <a:xfrm>
            <a:off x="944563" y="4860925"/>
            <a:ext cx="207962" cy="50482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02526" tIns="51262" rIns="102526" bIns="51262">
            <a:spAutoFit/>
          </a:bodyPr>
          <a:lstStyle/>
          <a:p>
            <a:pPr marL="0" marR="0" indent="0" algn="just" defTabSz="914400" rtl="0" eaLnBrk="0" fontAlgn="base" latinLnBrk="0" hangingPunct="0">
              <a:lnSpc>
                <a:spcPct val="100000"/>
              </a:lnSpc>
              <a:spcBef>
                <a:spcPct val="30000"/>
              </a:spcBef>
              <a:spcAft>
                <a:spcPct val="0"/>
              </a:spcAft>
              <a:buClrTx/>
              <a:buSzTx/>
              <a:buFontTx/>
              <a:buNone/>
              <a:tabLst/>
              <a:defRPr/>
            </a:pPr>
            <a:endParaRPr lang="en-US" dirty="0"/>
          </a:p>
        </p:txBody>
      </p:sp>
    </p:spTree>
    <p:extLst>
      <p:ext uri="{BB962C8B-B14F-4D97-AF65-F5344CB8AC3E}">
        <p14:creationId xmlns:p14="http://schemas.microsoft.com/office/powerpoint/2010/main" val="1517329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a:t>The </a:t>
            </a:r>
            <a:r>
              <a:rPr lang="sv-SE" dirty="0" err="1"/>
              <a:t>most</a:t>
            </a:r>
            <a:r>
              <a:rPr lang="sv-SE" baseline="0" dirty="0"/>
              <a:t> </a:t>
            </a:r>
            <a:r>
              <a:rPr lang="sv-SE" dirty="0" err="1"/>
              <a:t>Indistrial</a:t>
            </a:r>
            <a:r>
              <a:rPr lang="sv-SE" baseline="0" dirty="0"/>
              <a:t> </a:t>
            </a:r>
            <a:r>
              <a:rPr lang="sv-SE" baseline="0" dirty="0" err="1"/>
              <a:t>model</a:t>
            </a:r>
            <a:r>
              <a:rPr lang="sv-SE" baseline="0" dirty="0"/>
              <a:t> </a:t>
            </a:r>
            <a:r>
              <a:rPr lang="sv-SE" baseline="0" dirty="0">
                <a:sym typeface="Wingdings"/>
              </a:rPr>
              <a:t></a:t>
            </a:r>
            <a:endParaRPr lang="sv-SE" dirty="0"/>
          </a:p>
          <a:p>
            <a:r>
              <a:rPr lang="sv-SE" dirty="0"/>
              <a:t>State /</a:t>
            </a:r>
            <a:r>
              <a:rPr lang="sv-SE" baseline="0" dirty="0"/>
              <a:t> </a:t>
            </a:r>
            <a:r>
              <a:rPr lang="sv-SE" baseline="0" dirty="0" err="1"/>
              <a:t>transition</a:t>
            </a:r>
            <a:r>
              <a:rPr lang="sv-SE" baseline="0" dirty="0"/>
              <a:t> </a:t>
            </a:r>
            <a:r>
              <a:rPr lang="sv-SE" baseline="0" dirty="0" err="1"/>
              <a:t>graphs</a:t>
            </a:r>
            <a:r>
              <a:rPr lang="sv-SE" baseline="0" dirty="0"/>
              <a:t>. Mode </a:t>
            </a:r>
            <a:r>
              <a:rPr lang="sv-SE" baseline="0" dirty="0" err="1"/>
              <a:t>machine</a:t>
            </a:r>
            <a:r>
              <a:rPr lang="sv-SE" baseline="0" dirty="0"/>
              <a:t>. </a:t>
            </a:r>
            <a:r>
              <a:rPr lang="sv-SE" baseline="0" dirty="0" err="1"/>
              <a:t>Something</a:t>
            </a:r>
            <a:r>
              <a:rPr lang="sv-SE" baseline="0" dirty="0"/>
              <a:t> in UML.</a:t>
            </a:r>
            <a:endParaRPr lang="sv-SE" dirty="0"/>
          </a:p>
          <a:p>
            <a:r>
              <a:rPr lang="sv-SE" dirty="0" err="1"/>
              <a:t>Many</a:t>
            </a:r>
            <a:r>
              <a:rPr lang="sv-SE" baseline="0" dirty="0"/>
              <a:t> </a:t>
            </a:r>
            <a:r>
              <a:rPr lang="sv-SE" baseline="0" dirty="0" err="1"/>
              <a:t>other</a:t>
            </a:r>
            <a:r>
              <a:rPr lang="sv-SE" baseline="0" dirty="0"/>
              <a:t> </a:t>
            </a:r>
            <a:r>
              <a:rPr lang="sv-SE" baseline="0" dirty="0" err="1"/>
              <a:t>models</a:t>
            </a:r>
            <a:r>
              <a:rPr lang="sv-SE" baseline="0" dirty="0"/>
              <a:t> </a:t>
            </a:r>
            <a:r>
              <a:rPr lang="sv-SE" baseline="0" dirty="0" err="1"/>
              <a:t>can</a:t>
            </a:r>
            <a:r>
              <a:rPr lang="sv-SE" baseline="0" dirty="0"/>
              <a:t> be </a:t>
            </a:r>
            <a:r>
              <a:rPr lang="sv-SE" baseline="0" dirty="0" err="1"/>
              <a:t>viewed</a:t>
            </a:r>
            <a:r>
              <a:rPr lang="sv-SE" baseline="0" dirty="0"/>
              <a:t> / </a:t>
            </a:r>
            <a:r>
              <a:rPr lang="sv-SE" baseline="0" dirty="0" err="1"/>
              <a:t>translated</a:t>
            </a:r>
            <a:r>
              <a:rPr lang="sv-SE" baseline="0" dirty="0"/>
              <a:t> </a:t>
            </a:r>
            <a:r>
              <a:rPr lang="sv-SE" baseline="0" dirty="0" err="1"/>
              <a:t>to</a:t>
            </a:r>
            <a:r>
              <a:rPr lang="sv-SE" baseline="0" dirty="0"/>
              <a:t> / </a:t>
            </a:r>
            <a:r>
              <a:rPr lang="sv-SE" baseline="0" dirty="0" err="1"/>
              <a:t>analysed</a:t>
            </a:r>
            <a:r>
              <a:rPr lang="sv-SE" baseline="0" dirty="0"/>
              <a:t> as FSA</a:t>
            </a:r>
            <a:endParaRPr lang="sv-SE" dirty="0"/>
          </a:p>
        </p:txBody>
      </p:sp>
      <p:sp>
        <p:nvSpPr>
          <p:cNvPr id="4" name="Platshållare för bildnummer 3"/>
          <p:cNvSpPr>
            <a:spLocks noGrp="1"/>
          </p:cNvSpPr>
          <p:nvPr>
            <p:ph type="sldNum" sz="quarter" idx="10"/>
          </p:nvPr>
        </p:nvSpPr>
        <p:spPr/>
        <p:txBody>
          <a:bodyPr/>
          <a:lstStyle/>
          <a:p>
            <a:pPr>
              <a:defRPr/>
            </a:pPr>
            <a:fld id="{A801264F-764F-7043-8484-5C08CCE4AC4A}" type="slidenum">
              <a:rPr lang="sv-SE" smtClean="0"/>
              <a:pPr>
                <a:defRPr/>
              </a:pPr>
              <a:t>18</a:t>
            </a:fld>
            <a:endParaRPr lang="sv-SE"/>
          </a:p>
        </p:txBody>
      </p:sp>
    </p:spTree>
    <p:extLst>
      <p:ext uri="{BB962C8B-B14F-4D97-AF65-F5344CB8AC3E}">
        <p14:creationId xmlns:p14="http://schemas.microsoft.com/office/powerpoint/2010/main" val="4629990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There are many finite state automata extensions. Most common is the one extended with variables, like relational automata that has states and transitions with actions, guards and assignment on transitions. It is a condition on variables when to take a transition and then we can also update the variables or reset them.</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In timed automata you have variables but those variables are clocks, and you can reset those clocks. We will define later the semantics of timed automata in terms of transitions systems.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19</a:t>
            </a:fld>
            <a:endParaRPr lang="sv-SE"/>
          </a:p>
        </p:txBody>
      </p:sp>
    </p:spTree>
    <p:extLst>
      <p:ext uri="{BB962C8B-B14F-4D97-AF65-F5344CB8AC3E}">
        <p14:creationId xmlns:p14="http://schemas.microsoft.com/office/powerpoint/2010/main" val="2681342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C542FE6-5F75-F549-AB9D-E383CBDF94A8}" type="slidenum">
              <a:rPr lang="sv-SE" sz="1300"/>
              <a:pPr eaLnBrk="1" hangingPunct="1"/>
              <a:t>20</a:t>
            </a:fld>
            <a:endParaRPr lang="sv-SE" sz="1300"/>
          </a:p>
        </p:txBody>
      </p:sp>
      <p:sp>
        <p:nvSpPr>
          <p:cNvPr id="34818" name="Rectangle 2"/>
          <p:cNvSpPr>
            <a:spLocks noGrp="1" noRot="1" noChangeAspect="1" noChangeArrowheads="1" noTextEdit="1"/>
          </p:cNvSpPr>
          <p:nvPr>
            <p:ph type="sldImg"/>
          </p:nvPr>
        </p:nvSpPr>
        <p:spPr>
          <a:xfrm>
            <a:off x="141288" y="768350"/>
            <a:ext cx="6821487" cy="3838575"/>
          </a:xfrm>
          <a:ln/>
        </p:spPr>
      </p:sp>
      <p:sp>
        <p:nvSpPr>
          <p:cNvPr id="34819" name="Rectangle 3"/>
          <p:cNvSpPr>
            <a:spLocks noGrp="1" noChangeArrowheads="1"/>
          </p:cNvSpPr>
          <p:nvPr>
            <p:ph type="body" idx="1"/>
          </p:nvPr>
        </p:nvSpPr>
        <p:spPr>
          <a:xfrm>
            <a:off x="944563" y="4860925"/>
            <a:ext cx="207962" cy="50482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02526" tIns="51262" rIns="102526" bIns="51262">
            <a:sp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sv-SE" dirty="0"/>
              <a:t>So </a:t>
            </a:r>
            <a:r>
              <a:rPr lang="sv-SE" dirty="0" err="1"/>
              <a:t>now</a:t>
            </a:r>
            <a:r>
              <a:rPr lang="sv-SE" dirty="0"/>
              <a:t> </a:t>
            </a:r>
            <a:r>
              <a:rPr lang="sv-SE" dirty="0" err="1"/>
              <a:t>we</a:t>
            </a:r>
            <a:r>
              <a:rPr lang="sv-SE" dirty="0"/>
              <a:t> </a:t>
            </a:r>
            <a:r>
              <a:rPr lang="sv-SE" dirty="0" err="1"/>
              <a:t>have</a:t>
            </a:r>
            <a:r>
              <a:rPr lang="sv-SE" dirty="0"/>
              <a:t> </a:t>
            </a:r>
            <a:r>
              <a:rPr lang="sv-SE" dirty="0" err="1"/>
              <a:t>our</a:t>
            </a:r>
            <a:r>
              <a:rPr lang="sv-SE" dirty="0"/>
              <a:t> </a:t>
            </a:r>
            <a:r>
              <a:rPr lang="sv-SE" dirty="0" err="1"/>
              <a:t>light</a:t>
            </a:r>
            <a:r>
              <a:rPr lang="sv-SE" dirty="0"/>
              <a:t> controller </a:t>
            </a:r>
            <a:r>
              <a:rPr lang="sv-SE" dirty="0" err="1"/>
              <a:t>again</a:t>
            </a:r>
            <a:r>
              <a:rPr lang="sv-SE"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sv-SE" dirty="0" err="1"/>
              <a:t>This</a:t>
            </a:r>
            <a:r>
              <a:rPr lang="sv-SE" dirty="0"/>
              <a:t> </a:t>
            </a:r>
            <a:r>
              <a:rPr lang="sv-SE" dirty="0" err="1"/>
              <a:t>doesnt</a:t>
            </a:r>
            <a:r>
              <a:rPr lang="sv-SE" dirty="0"/>
              <a:t> </a:t>
            </a:r>
            <a:r>
              <a:rPr lang="sv-SE" dirty="0" err="1"/>
              <a:t>work</a:t>
            </a:r>
            <a:r>
              <a:rPr lang="sv-SE" dirty="0"/>
              <a:t> as </a:t>
            </a:r>
            <a:r>
              <a:rPr lang="sv-SE" dirty="0" err="1"/>
              <a:t>we</a:t>
            </a:r>
            <a:r>
              <a:rPr lang="sv-SE" dirty="0"/>
              <a:t> </a:t>
            </a:r>
            <a:r>
              <a:rPr lang="sv-SE" dirty="0" err="1"/>
              <a:t>want</a:t>
            </a:r>
            <a:r>
              <a:rPr lang="sv-SE" dirty="0"/>
              <a:t> to, so </a:t>
            </a:r>
            <a:r>
              <a:rPr lang="sv-SE" dirty="0" err="1"/>
              <a:t>we</a:t>
            </a:r>
            <a:endParaRPr lang="sv-SE"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sv-SE" dirty="0"/>
              <a:t> </a:t>
            </a:r>
            <a:r>
              <a:rPr lang="sv-SE" dirty="0" err="1"/>
              <a:t>introduce</a:t>
            </a:r>
            <a:r>
              <a:rPr lang="sv-SE" dirty="0"/>
              <a:t> a </a:t>
            </a:r>
            <a:r>
              <a:rPr lang="sv-SE" dirty="0" err="1"/>
              <a:t>clock</a:t>
            </a:r>
            <a:r>
              <a:rPr lang="sv-SE" dirty="0"/>
              <a:t> </a:t>
            </a:r>
            <a:r>
              <a:rPr lang="sv-SE" dirty="0" err="1"/>
              <a:t>variable</a:t>
            </a:r>
            <a:r>
              <a:rPr lang="sv-SE" dirty="0"/>
              <a:t> x</a:t>
            </a:r>
            <a:endParaRPr lang="en-GB" dirty="0"/>
          </a:p>
        </p:txBody>
      </p:sp>
    </p:spTree>
    <p:extLst>
      <p:ext uri="{BB962C8B-B14F-4D97-AF65-F5344CB8AC3E}">
        <p14:creationId xmlns:p14="http://schemas.microsoft.com/office/powerpoint/2010/main" val="1833234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C542FE6-5F75-F549-AB9D-E383CBDF94A8}" type="slidenum">
              <a:rPr lang="sv-SE" sz="1300"/>
              <a:pPr eaLnBrk="1" hangingPunct="1"/>
              <a:t>21</a:t>
            </a:fld>
            <a:endParaRPr lang="sv-SE" sz="1300"/>
          </a:p>
        </p:txBody>
      </p:sp>
      <p:sp>
        <p:nvSpPr>
          <p:cNvPr id="34818" name="Rectangle 2"/>
          <p:cNvSpPr>
            <a:spLocks noGrp="1" noRot="1" noChangeAspect="1" noChangeArrowheads="1" noTextEdit="1"/>
          </p:cNvSpPr>
          <p:nvPr>
            <p:ph type="sldImg"/>
          </p:nvPr>
        </p:nvSpPr>
        <p:spPr>
          <a:xfrm>
            <a:off x="141288" y="768350"/>
            <a:ext cx="6821487" cy="3838575"/>
          </a:xfrm>
          <a:ln/>
        </p:spPr>
      </p:sp>
      <p:sp>
        <p:nvSpPr>
          <p:cNvPr id="34819" name="Rectangle 3"/>
          <p:cNvSpPr>
            <a:spLocks noGrp="1" noChangeArrowheads="1"/>
          </p:cNvSpPr>
          <p:nvPr>
            <p:ph type="body" idx="1"/>
          </p:nvPr>
        </p:nvSpPr>
        <p:spPr>
          <a:xfrm>
            <a:off x="944563" y="4860925"/>
            <a:ext cx="207962" cy="50482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02526" tIns="51262" rIns="102526" bIns="51262">
            <a:sp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sv-SE" dirty="0"/>
              <a:t>So </a:t>
            </a:r>
            <a:r>
              <a:rPr lang="sv-SE" dirty="0" err="1"/>
              <a:t>now</a:t>
            </a:r>
            <a:r>
              <a:rPr lang="sv-SE" dirty="0"/>
              <a:t> </a:t>
            </a:r>
            <a:r>
              <a:rPr lang="sv-SE" dirty="0" err="1"/>
              <a:t>we</a:t>
            </a:r>
            <a:r>
              <a:rPr lang="sv-SE" dirty="0"/>
              <a:t> </a:t>
            </a:r>
            <a:r>
              <a:rPr lang="sv-SE" dirty="0" err="1"/>
              <a:t>have</a:t>
            </a:r>
            <a:r>
              <a:rPr lang="sv-SE" dirty="0"/>
              <a:t> </a:t>
            </a:r>
            <a:r>
              <a:rPr lang="sv-SE" dirty="0" err="1"/>
              <a:t>our</a:t>
            </a:r>
            <a:r>
              <a:rPr lang="sv-SE" dirty="0"/>
              <a:t> </a:t>
            </a:r>
            <a:r>
              <a:rPr lang="sv-SE" dirty="0" err="1"/>
              <a:t>light</a:t>
            </a:r>
            <a:r>
              <a:rPr lang="sv-SE" dirty="0"/>
              <a:t> controller </a:t>
            </a:r>
            <a:r>
              <a:rPr lang="sv-SE" dirty="0" err="1"/>
              <a:t>again</a:t>
            </a:r>
            <a:r>
              <a:rPr lang="sv-SE"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sv-SE" dirty="0" err="1"/>
              <a:t>This</a:t>
            </a:r>
            <a:r>
              <a:rPr lang="sv-SE" dirty="0"/>
              <a:t> </a:t>
            </a:r>
            <a:r>
              <a:rPr lang="sv-SE" dirty="0" err="1"/>
              <a:t>doesnt</a:t>
            </a:r>
            <a:r>
              <a:rPr lang="sv-SE" dirty="0"/>
              <a:t> </a:t>
            </a:r>
            <a:r>
              <a:rPr lang="sv-SE" dirty="0" err="1"/>
              <a:t>work</a:t>
            </a:r>
            <a:r>
              <a:rPr lang="sv-SE" dirty="0"/>
              <a:t> as </a:t>
            </a:r>
            <a:r>
              <a:rPr lang="sv-SE" dirty="0" err="1"/>
              <a:t>we</a:t>
            </a:r>
            <a:r>
              <a:rPr lang="sv-SE" dirty="0"/>
              <a:t> </a:t>
            </a:r>
            <a:r>
              <a:rPr lang="sv-SE" dirty="0" err="1"/>
              <a:t>want</a:t>
            </a:r>
            <a:r>
              <a:rPr lang="sv-SE" dirty="0"/>
              <a:t> to, so </a:t>
            </a:r>
            <a:r>
              <a:rPr lang="sv-SE" dirty="0" err="1"/>
              <a:t>we</a:t>
            </a:r>
            <a:endParaRPr lang="sv-SE"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sv-SE" dirty="0"/>
              <a:t> </a:t>
            </a:r>
            <a:r>
              <a:rPr lang="sv-SE" dirty="0" err="1"/>
              <a:t>introduce</a:t>
            </a:r>
            <a:r>
              <a:rPr lang="sv-SE" dirty="0"/>
              <a:t> a </a:t>
            </a:r>
            <a:r>
              <a:rPr lang="sv-SE" dirty="0" err="1"/>
              <a:t>clock</a:t>
            </a:r>
            <a:r>
              <a:rPr lang="sv-SE" dirty="0"/>
              <a:t> </a:t>
            </a:r>
            <a:r>
              <a:rPr lang="sv-SE" dirty="0" err="1"/>
              <a:t>variable</a:t>
            </a:r>
            <a:r>
              <a:rPr lang="sv-SE" dirty="0"/>
              <a:t> x</a:t>
            </a:r>
            <a:endParaRPr lang="en-GB" dirty="0"/>
          </a:p>
        </p:txBody>
      </p:sp>
    </p:spTree>
    <p:extLst>
      <p:ext uri="{BB962C8B-B14F-4D97-AF65-F5344CB8AC3E}">
        <p14:creationId xmlns:p14="http://schemas.microsoft.com/office/powerpoint/2010/main" val="3935900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timed automata, here is a simple example with two nodes and one edge. On the edge we have a guard that states that x is greater than 10, we can think about it as a timing constraint. The label or the action here is a and then we can reset the clock for example to 0. Let us say for example x=11 in node 1, we can take this transition but then when we get to the second node x is 0. It is very simple right?</a:t>
            </a:r>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22</a:t>
            </a:fld>
            <a:endParaRPr lang="sv-SE"/>
          </a:p>
        </p:txBody>
      </p:sp>
    </p:spTree>
    <p:extLst>
      <p:ext uri="{BB962C8B-B14F-4D97-AF65-F5344CB8AC3E}">
        <p14:creationId xmlns:p14="http://schemas.microsoft.com/office/powerpoint/2010/main" val="11112449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FBCEE9D-8752-8C4A-B0F6-1F3911B8D041}" type="slidenum">
              <a:rPr lang="sv-SE" sz="1300"/>
              <a:pPr eaLnBrk="1" hangingPunct="1"/>
              <a:t>23</a:t>
            </a:fld>
            <a:endParaRPr lang="sv-SE" sz="1300"/>
          </a:p>
        </p:txBody>
      </p:sp>
      <p:sp>
        <p:nvSpPr>
          <p:cNvPr id="36866" name="Rectangle 2"/>
          <p:cNvSpPr>
            <a:spLocks noGrp="1" noRot="1" noChangeAspect="1" noChangeArrowheads="1" noTextEdit="1"/>
          </p:cNvSpPr>
          <p:nvPr>
            <p:ph type="sldImg"/>
          </p:nvPr>
        </p:nvSpPr>
        <p:spPr>
          <a:xfrm>
            <a:off x="141288" y="768350"/>
            <a:ext cx="6821487" cy="3838575"/>
          </a:xfrm>
          <a:ln/>
        </p:spPr>
      </p:sp>
      <p:sp>
        <p:nvSpPr>
          <p:cNvPr id="36867" name="Rectangle 3"/>
          <p:cNvSpPr>
            <a:spLocks noGrp="1" noChangeArrowheads="1"/>
          </p:cNvSpPr>
          <p:nvPr>
            <p:ph type="body" idx="1"/>
          </p:nvPr>
        </p:nvSpPr>
        <p:spPr>
          <a:xfrm>
            <a:off x="944563" y="4860925"/>
            <a:ext cx="207962" cy="50482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02526" tIns="51262" rIns="102526" bIns="51262">
            <a:spAutoFit/>
          </a:bodyPr>
          <a:lstStyle/>
          <a:p>
            <a:pPr marL="0" marR="0" indent="0" algn="l" defTabSz="993775" rtl="0" eaLnBrk="1" fontAlgn="base" latinLnBrk="0" hangingPunct="1">
              <a:lnSpc>
                <a:spcPct val="100000"/>
              </a:lnSpc>
              <a:spcBef>
                <a:spcPct val="0"/>
              </a:spcBef>
              <a:spcAft>
                <a:spcPct val="0"/>
              </a:spcAft>
              <a:buClrTx/>
              <a:buSzTx/>
              <a:buFontTx/>
              <a:buNone/>
              <a:tabLst/>
              <a:defRPr/>
            </a:pPr>
            <a:r>
              <a:rPr lang="en-GB" dirty="0"/>
              <a:t>This clock x is used in the following way: when we go from</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off location to Light location we reset the clock to make sure this is 0. </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so now the clock is increasing in location light, when the next press we need</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to check the value of x such that we go to Bright or off. from light location</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if x smaller or equal to 3 the press is quick so the light can go to bright location. </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Otherwise if x is larger than 3 the press is long so we go back to off location. </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From Bright location we can go to off location of course. </a:t>
            </a:r>
            <a:br>
              <a:rPr lang="en-GB" dirty="0"/>
            </a:br>
            <a:endParaRPr lang="en-GB" dirty="0"/>
          </a:p>
          <a:p>
            <a:pPr marL="0" marR="0" indent="0" algn="l" defTabSz="993775" rtl="0" eaLnBrk="1" fontAlgn="base" latinLnBrk="0" hangingPunct="1">
              <a:lnSpc>
                <a:spcPct val="100000"/>
              </a:lnSpc>
              <a:spcBef>
                <a:spcPct val="0"/>
              </a:spcBef>
              <a:spcAft>
                <a:spcPct val="0"/>
              </a:spcAft>
              <a:buClrTx/>
              <a:buSzTx/>
              <a:buFontTx/>
              <a:buNone/>
              <a:tabLst/>
              <a:defRPr/>
            </a:pPr>
            <a:r>
              <a:rPr lang="en-GB" dirty="0"/>
              <a:t>SO we added a clock and this clock basically measures the time spend</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in location Light. As you can easily observe in location light you can spend as</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much time as you want right but when you get to Light location the time </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is always measured.</a:t>
            </a:r>
          </a:p>
          <a:p>
            <a:pPr marL="0" marR="0" indent="0" algn="l" defTabSz="993775" rtl="0" eaLnBrk="1" fontAlgn="base" latinLnBrk="0" hangingPunct="1">
              <a:lnSpc>
                <a:spcPct val="100000"/>
              </a:lnSpc>
              <a:spcBef>
                <a:spcPct val="0"/>
              </a:spcBef>
              <a:spcAft>
                <a:spcPct val="0"/>
              </a:spcAft>
              <a:buClrTx/>
              <a:buSzTx/>
              <a:buFontTx/>
              <a:buNone/>
              <a:tabLst/>
              <a:defRPr/>
            </a:pPr>
            <a:endParaRPr lang="en-GB" dirty="0"/>
          </a:p>
          <a:p>
            <a:pPr marL="0" marR="0" indent="0" algn="l" defTabSz="993775" rtl="0" eaLnBrk="1" fontAlgn="base" latinLnBrk="0" hangingPunct="1">
              <a:lnSpc>
                <a:spcPct val="100000"/>
              </a:lnSpc>
              <a:spcBef>
                <a:spcPct val="0"/>
              </a:spcBef>
              <a:spcAft>
                <a:spcPct val="0"/>
              </a:spcAft>
              <a:buClrTx/>
              <a:buSzTx/>
              <a:buFontTx/>
              <a:buNone/>
              <a:tabLst/>
              <a:defRPr/>
            </a:pPr>
            <a:r>
              <a:rPr lang="en-GB" dirty="0"/>
              <a:t>So timed automata is a finite state automata extended with clocks.</a:t>
            </a:r>
          </a:p>
        </p:txBody>
      </p:sp>
    </p:spTree>
    <p:extLst>
      <p:ext uri="{BB962C8B-B14F-4D97-AF65-F5344CB8AC3E}">
        <p14:creationId xmlns:p14="http://schemas.microsoft.com/office/powerpoint/2010/main" val="8184048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FBCEE9D-8752-8C4A-B0F6-1F3911B8D041}" type="slidenum">
              <a:rPr lang="sv-SE" sz="1300"/>
              <a:pPr eaLnBrk="1" hangingPunct="1"/>
              <a:t>24</a:t>
            </a:fld>
            <a:endParaRPr lang="sv-SE" sz="1300"/>
          </a:p>
        </p:txBody>
      </p:sp>
      <p:sp>
        <p:nvSpPr>
          <p:cNvPr id="36866" name="Rectangle 2"/>
          <p:cNvSpPr>
            <a:spLocks noGrp="1" noRot="1" noChangeAspect="1" noChangeArrowheads="1" noTextEdit="1"/>
          </p:cNvSpPr>
          <p:nvPr>
            <p:ph type="sldImg"/>
          </p:nvPr>
        </p:nvSpPr>
        <p:spPr>
          <a:xfrm>
            <a:off x="141288" y="768350"/>
            <a:ext cx="6821487" cy="3838575"/>
          </a:xfrm>
          <a:ln/>
        </p:spPr>
      </p:sp>
      <p:sp>
        <p:nvSpPr>
          <p:cNvPr id="36867" name="Rectangle 3"/>
          <p:cNvSpPr>
            <a:spLocks noGrp="1" noChangeArrowheads="1"/>
          </p:cNvSpPr>
          <p:nvPr>
            <p:ph type="body" idx="1"/>
          </p:nvPr>
        </p:nvSpPr>
        <p:spPr>
          <a:xfrm>
            <a:off x="944563" y="4860925"/>
            <a:ext cx="207962" cy="50482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02526" tIns="51262" rIns="102526" bIns="51262">
            <a:spAutoFit/>
          </a:bodyPr>
          <a:lstStyle/>
          <a:p>
            <a:pPr marL="0" marR="0" indent="0" algn="l" defTabSz="993775" rtl="0" eaLnBrk="1" fontAlgn="base" latinLnBrk="0" hangingPunct="1">
              <a:lnSpc>
                <a:spcPct val="100000"/>
              </a:lnSpc>
              <a:spcBef>
                <a:spcPct val="0"/>
              </a:spcBef>
              <a:spcAft>
                <a:spcPct val="0"/>
              </a:spcAft>
              <a:buClrTx/>
              <a:buSzTx/>
              <a:buFontTx/>
              <a:buNone/>
              <a:tabLst/>
              <a:defRPr/>
            </a:pPr>
            <a:r>
              <a:rPr lang="en-GB" dirty="0"/>
              <a:t>This clock x is used in the following way: when we go from</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off location to Light location we reset the clock to make sure this is 0. </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so now the clock is increasing in location light, when the next press we need</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to check the value of x such that we go to Bright or off. from light location</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if x smaller or equal to 3 the press is quick so the light can go to bright location. </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Otherwise if x is larger than 3 the press is long so we go back to off location. </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From Bright location we can go to off location of course. </a:t>
            </a:r>
            <a:br>
              <a:rPr lang="en-GB" dirty="0"/>
            </a:br>
            <a:endParaRPr lang="en-GB" dirty="0"/>
          </a:p>
          <a:p>
            <a:pPr marL="0" marR="0" indent="0" algn="l" defTabSz="993775" rtl="0" eaLnBrk="1" fontAlgn="base" latinLnBrk="0" hangingPunct="1">
              <a:lnSpc>
                <a:spcPct val="100000"/>
              </a:lnSpc>
              <a:spcBef>
                <a:spcPct val="0"/>
              </a:spcBef>
              <a:spcAft>
                <a:spcPct val="0"/>
              </a:spcAft>
              <a:buClrTx/>
              <a:buSzTx/>
              <a:buFontTx/>
              <a:buNone/>
              <a:tabLst/>
              <a:defRPr/>
            </a:pPr>
            <a:r>
              <a:rPr lang="en-GB" dirty="0"/>
              <a:t>SO we added a clock and this clock basically measures the time spend</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in location Light. As you can easily observe in location light you can spend as</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 much time as you want right but when you get to Light location the time </a:t>
            </a:r>
          </a:p>
          <a:p>
            <a:pPr marL="0" marR="0" indent="0" algn="l" defTabSz="993775" rtl="0" eaLnBrk="1" fontAlgn="base" latinLnBrk="0" hangingPunct="1">
              <a:lnSpc>
                <a:spcPct val="100000"/>
              </a:lnSpc>
              <a:spcBef>
                <a:spcPct val="0"/>
              </a:spcBef>
              <a:spcAft>
                <a:spcPct val="0"/>
              </a:spcAft>
              <a:buClrTx/>
              <a:buSzTx/>
              <a:buFontTx/>
              <a:buNone/>
              <a:tabLst/>
              <a:defRPr/>
            </a:pPr>
            <a:r>
              <a:rPr lang="en-GB" dirty="0"/>
              <a:t>is always measured.</a:t>
            </a:r>
          </a:p>
          <a:p>
            <a:pPr marL="0" marR="0" indent="0" algn="l" defTabSz="993775" rtl="0" eaLnBrk="1" fontAlgn="base" latinLnBrk="0" hangingPunct="1">
              <a:lnSpc>
                <a:spcPct val="100000"/>
              </a:lnSpc>
              <a:spcBef>
                <a:spcPct val="0"/>
              </a:spcBef>
              <a:spcAft>
                <a:spcPct val="0"/>
              </a:spcAft>
              <a:buClrTx/>
              <a:buSzTx/>
              <a:buFontTx/>
              <a:buNone/>
              <a:tabLst/>
              <a:defRPr/>
            </a:pPr>
            <a:endParaRPr lang="en-GB" dirty="0"/>
          </a:p>
          <a:p>
            <a:pPr marL="0" marR="0" indent="0" algn="l" defTabSz="993775" rtl="0" eaLnBrk="1" fontAlgn="base" latinLnBrk="0" hangingPunct="1">
              <a:lnSpc>
                <a:spcPct val="100000"/>
              </a:lnSpc>
              <a:spcBef>
                <a:spcPct val="0"/>
              </a:spcBef>
              <a:spcAft>
                <a:spcPct val="0"/>
              </a:spcAft>
              <a:buClrTx/>
              <a:buSzTx/>
              <a:buFontTx/>
              <a:buNone/>
              <a:tabLst/>
              <a:defRPr/>
            </a:pPr>
            <a:r>
              <a:rPr lang="en-GB" dirty="0"/>
              <a:t>So timed automata is a finite state automata extended with clocks.</a:t>
            </a:r>
          </a:p>
        </p:txBody>
      </p:sp>
    </p:spTree>
    <p:extLst>
      <p:ext uri="{BB962C8B-B14F-4D97-AF65-F5344CB8AC3E}">
        <p14:creationId xmlns:p14="http://schemas.microsoft.com/office/powerpoint/2010/main" val="22462641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CF40CCE-1021-554F-911F-F643E2C6BCCC}" type="slidenum">
              <a:rPr lang="sv-SE" sz="1300"/>
              <a:pPr eaLnBrk="1" hangingPunct="1"/>
              <a:t>25</a:t>
            </a:fld>
            <a:endParaRPr lang="sv-SE" sz="1300"/>
          </a:p>
        </p:txBody>
      </p:sp>
      <p:sp>
        <p:nvSpPr>
          <p:cNvPr id="38914" name="Rectangle 2"/>
          <p:cNvSpPr>
            <a:spLocks noGrp="1" noRot="1" noChangeAspect="1" noChangeArrowheads="1" noTextEdit="1"/>
          </p:cNvSpPr>
          <p:nvPr>
            <p:ph type="sldImg"/>
          </p:nvPr>
        </p:nvSpPr>
        <p:spPr>
          <a:xfrm>
            <a:off x="120650" y="785813"/>
            <a:ext cx="6843713" cy="3849687"/>
          </a:xfrm>
          <a:ln/>
        </p:spPr>
      </p:sp>
      <p:sp>
        <p:nvSpPr>
          <p:cNvPr id="38915" name="Rectangle 3"/>
          <p:cNvSpPr>
            <a:spLocks noGrp="1" noChangeArrowheads="1"/>
          </p:cNvSpPr>
          <p:nvPr>
            <p:ph type="body" idx="1"/>
          </p:nvPr>
        </p:nvSpPr>
        <p:spPr>
          <a:xfrm>
            <a:off x="954088" y="4870450"/>
            <a:ext cx="5175250" cy="4635500"/>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a:t>we should try to define the semantics of timed automata. So here we have these two locations n and m. There are two clocks x and y. and guards, guards here can be a bit more complicated than in the example I gave before, they can be a Boolean combination. the guard says that x needs to be smaller or equal to 5 and y needs to be larger than 3. Then we take the action a and then we reset x. this was done in 1990 by Alur and Dill, two researchers that were at Stanford at the time.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t>a state in timed automata has two different parts, the current location and the current values of all clocks, which are real valued. You can think about a state in timed automata as similar to a state in a software program which contains all the variables used during execution. Getting back to timed automata, there are two different types of transitions between states. The automaton may either delay for some time (a delay transition), or follow a discrete transition (an action transition). For example we can be in location n with x=2.4 and y=pi, we can take the action transition a and go to location m where x is reset to 0 and y is still pi. This is a discrete transition or a action transition in a timed automaton and this is the transition between location n and location m. This transition is taking instantaneously, no time is spend taking this transition. Time is always spend in the location. This is one thing you can do. Another thing you can spend some more time in n location. An example of a delay transition can be the following: assume we are in location n and x is again 2.4 and y is </a:t>
            </a:r>
            <a:r>
              <a:rPr lang="en-US" dirty="0" err="1"/>
              <a:t>pai</a:t>
            </a:r>
            <a:r>
              <a:rPr lang="en-US" dirty="0"/>
              <a:t>. We can stay in location n for 1.1 time units and after taking this delay we are still in location n but x becomes 3.5 and y becomes 4.2415. right, x and y have increased by 1.1, this transition can be taken if we want to stay longer in n.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t>If we stay for 1.1 clocks are increasing also with1.1, these are what we call perfect clocks. Interesting is that we can choose to stay in n such that we can’t take the action transition to m location. X can become larger than 5 and then we can’t leave location n. So, this is part of the behavior of a timed automaton. This is all depended on how you model the timed automaton. </a:t>
            </a:r>
          </a:p>
        </p:txBody>
      </p:sp>
    </p:spTree>
    <p:extLst>
      <p:ext uri="{BB962C8B-B14F-4D97-AF65-F5344CB8AC3E}">
        <p14:creationId xmlns:p14="http://schemas.microsoft.com/office/powerpoint/2010/main" val="2970170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100BD2B-D010-724A-BCE7-9E554FFCA175}" type="slidenum">
              <a:rPr lang="sv-SE" sz="1300"/>
              <a:pPr eaLnBrk="1" hangingPunct="1"/>
              <a:t>26</a:t>
            </a:fld>
            <a:endParaRPr lang="sv-SE" sz="1300"/>
          </a:p>
        </p:txBody>
      </p:sp>
      <p:sp>
        <p:nvSpPr>
          <p:cNvPr id="40962" name="Rectangle 2"/>
          <p:cNvSpPr>
            <a:spLocks noGrp="1" noRot="1" noChangeAspect="1" noChangeArrowheads="1" noTextEdit="1"/>
          </p:cNvSpPr>
          <p:nvPr>
            <p:ph type="sldImg"/>
          </p:nvPr>
        </p:nvSpPr>
        <p:spPr>
          <a:xfrm>
            <a:off x="120650" y="785813"/>
            <a:ext cx="6843713" cy="3849687"/>
          </a:xfrm>
          <a:ln/>
        </p:spPr>
      </p:sp>
      <p:sp>
        <p:nvSpPr>
          <p:cNvPr id="40963" name="Rectangle 3"/>
          <p:cNvSpPr>
            <a:spLocks noGrp="1" noChangeArrowheads="1"/>
          </p:cNvSpPr>
          <p:nvPr>
            <p:ph type="body" idx="1"/>
          </p:nvPr>
        </p:nvSpPr>
        <p:spPr>
          <a:xfrm>
            <a:off x="954088" y="4870450"/>
            <a:ext cx="5175250" cy="4635500"/>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GB" dirty="0"/>
              <a:t>One way to make sure you always take this action transition is to introduce location invariants. So, as long as you operate in the n location, this invariant needs to be true. So when you get to the point of delaying until x is 5 you can’t delay further because the invariant will become false. This introduces other problems, you can get stuck in the n location. Let say that we get up to one point where x is 5 but the guard says that x needs to smaller than 4. </a:t>
            </a:r>
          </a:p>
          <a:p>
            <a:pPr eaLnBrk="1" hangingPunct="1"/>
            <a:endParaRPr lang="en-GB" dirty="0"/>
          </a:p>
          <a:p>
            <a:pPr eaLnBrk="1" hangingPunct="1"/>
            <a:r>
              <a:rPr lang="en-GB" dirty="0"/>
              <a:t>Let us take an example, we are in location n, x is 2.4 and y is pi, then you can’t delay for 3.2 because this will make x 6.6 and that is not possible in location n because of the invariant. We can still do this delay of 1.1 and we are still in location n. So we have some type of non-determinism here, we can delay for a while or take a transition, but at least the invariant is a way to ensure there is some progress in the model. You can still do mistakes in the model but still now you have this possibility</a:t>
            </a:r>
            <a:r>
              <a:rPr lang="is-IS" dirty="0"/>
              <a:t>…which we will see later is quite important for modelling real-time systems.</a:t>
            </a:r>
          </a:p>
          <a:p>
            <a:pPr eaLnBrk="1" hangingPunct="1"/>
            <a:endParaRPr lang="is-IS" dirty="0"/>
          </a:p>
          <a:p>
            <a:pPr eaLnBrk="1" hangingPunct="1"/>
            <a:r>
              <a:rPr lang="is-IS" dirty="0"/>
              <a:t>We should note here that in this transition system you can take any real value for the delay not only 1.1 or other similar values. </a:t>
            </a:r>
            <a:endParaRPr lang="en-GB" dirty="0"/>
          </a:p>
        </p:txBody>
      </p:sp>
    </p:spTree>
    <p:extLst>
      <p:ext uri="{BB962C8B-B14F-4D97-AF65-F5344CB8AC3E}">
        <p14:creationId xmlns:p14="http://schemas.microsoft.com/office/powerpoint/2010/main" val="19986852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a:t>
            </a:r>
            <a:r>
              <a:rPr lang="en-US" baseline="0" dirty="0"/>
              <a:t> show how these constraints on clocks look like. Let us assume we have a set C of clocks with x and y being part of this set we can say that x needs to be compared to c, c needs to integer, so x can be less than c, or less than or equal, we can have the difference between two clocks, we can negate this so we can do greater than or greater than or equal and then we can have </a:t>
            </a:r>
            <a:r>
              <a:rPr lang="en-US" baseline="0" dirty="0" err="1"/>
              <a:t>conjuction</a:t>
            </a:r>
            <a:r>
              <a:rPr lang="en-US" baseline="0" dirty="0"/>
              <a:t> so we can have a combination of clock constraints. Because of the negation we can have also the disjunction also as a clock constrain. We will come back to this later when we actually use this clock constraints.</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27</a:t>
            </a:fld>
            <a:endParaRPr lang="sv-SE"/>
          </a:p>
        </p:txBody>
      </p:sp>
    </p:spTree>
    <p:extLst>
      <p:ext uri="{BB962C8B-B14F-4D97-AF65-F5344CB8AC3E}">
        <p14:creationId xmlns:p14="http://schemas.microsoft.com/office/powerpoint/2010/main" val="406484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an example.</a:t>
            </a:r>
            <a:r>
              <a:rPr lang="en-US" baseline="0" dirty="0"/>
              <a:t> What does it do? L is the initial location, actually the only location and we have one transition or edge which goes back to l. So the first state is location l and x is 0. right? And then we can delay for a while. </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28</a:t>
            </a:fld>
            <a:endParaRPr lang="sv-SE"/>
          </a:p>
        </p:txBody>
      </p:sp>
    </p:spTree>
    <p:extLst>
      <p:ext uri="{BB962C8B-B14F-4D97-AF65-F5344CB8AC3E}">
        <p14:creationId xmlns:p14="http://schemas.microsoft.com/office/powerpoint/2010/main" val="126662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a:t>
            </a:r>
            <a:r>
              <a:rPr lang="en-US" baseline="0" dirty="0"/>
              <a:t> we delay for two time units x will be 2. You can see this if we plot time on the horizontal axis and the value of x on the vertical axis. If we delay this further we can take the action transition, If we do so we come back to l location and x becomes 0. This is one possible trace of the system.</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29</a:t>
            </a:fld>
            <a:endParaRPr lang="sv-SE"/>
          </a:p>
        </p:txBody>
      </p:sp>
    </p:spTree>
    <p:extLst>
      <p:ext uri="{BB962C8B-B14F-4D97-AF65-F5344CB8AC3E}">
        <p14:creationId xmlns:p14="http://schemas.microsoft.com/office/powerpoint/2010/main" val="1347401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about this</a:t>
            </a:r>
            <a:r>
              <a:rPr lang="en-US" baseline="0" dirty="0"/>
              <a:t> system? This is similar, the only thing that I added is a upper-bound on x. So it is starting in the same initial state and the point is that we can take the action transition only when x is between 2 and 3 but you can choose to further delay while staying in location l. So, as long as this transition is taken the system is alive and working, otherwise is a bit useless. </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30</a:t>
            </a:fld>
            <a:endParaRPr lang="sv-SE"/>
          </a:p>
        </p:txBody>
      </p:sp>
    </p:spTree>
    <p:extLst>
      <p:ext uri="{BB962C8B-B14F-4D97-AF65-F5344CB8AC3E}">
        <p14:creationId xmlns:p14="http://schemas.microsoft.com/office/powerpoint/2010/main" val="3080608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Interesting for</a:t>
            </a:r>
            <a:r>
              <a:rPr lang="en-US" baseline="0" dirty="0"/>
              <a:t> this timed automata is that x becomes larger than 3 this transition can’t be ever taken. So, a better solution would be to add this part of the guard x smaller or equal to 3 to the location l as an invariant</a:t>
            </a:r>
            <a:r>
              <a:rPr lang="is-IS" baseline="0" dirty="0"/>
              <a:t>….</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31</a:t>
            </a:fld>
            <a:endParaRPr lang="sv-SE"/>
          </a:p>
        </p:txBody>
      </p:sp>
    </p:spTree>
    <p:extLst>
      <p:ext uri="{BB962C8B-B14F-4D97-AF65-F5344CB8AC3E}">
        <p14:creationId xmlns:p14="http://schemas.microsoft.com/office/powerpoint/2010/main" val="17074656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t>
            </a:r>
            <a:r>
              <a:rPr lang="en-US" baseline="0" dirty="0"/>
              <a:t> if we have this timed automata now, it is the same type of system but the behavior is much more interesting.</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32</a:t>
            </a:fld>
            <a:endParaRPr lang="sv-SE"/>
          </a:p>
        </p:txBody>
      </p:sp>
    </p:spTree>
    <p:extLst>
      <p:ext uri="{BB962C8B-B14F-4D97-AF65-F5344CB8AC3E}">
        <p14:creationId xmlns:p14="http://schemas.microsoft.com/office/powerpoint/2010/main" val="13110419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start</a:t>
            </a:r>
            <a:r>
              <a:rPr lang="en-US" baseline="0" dirty="0"/>
              <a:t> in l with x equals 0, as long as we are in l the invariant needs to be true so x is always smaller or equal to 3. We can’t have x greater than 3 in this location. When x is greater than 2 we can take the action transition. When x is 3 we must take the transition, the model says so</a:t>
            </a:r>
            <a:r>
              <a:rPr lang="is-IS" baseline="0" dirty="0"/>
              <a:t>… We should say here that this again is showing some non-determinism in when to take the transition but also this could be more complicated by having other transitions that can be taken simultaniously. These are two sources of non-determinism....</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33</a:t>
            </a:fld>
            <a:endParaRPr lang="sv-SE"/>
          </a:p>
        </p:txBody>
      </p:sp>
    </p:spTree>
    <p:extLst>
      <p:ext uri="{BB962C8B-B14F-4D97-AF65-F5344CB8AC3E}">
        <p14:creationId xmlns:p14="http://schemas.microsoft.com/office/powerpoint/2010/main" val="3309359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we want to model a real-time systems containing</a:t>
            </a:r>
            <a:r>
              <a:rPr lang="en-US" baseline="0" dirty="0"/>
              <a:t> one</a:t>
            </a:r>
            <a:r>
              <a:rPr lang="en-US" dirty="0"/>
              <a:t> periodic</a:t>
            </a:r>
            <a:r>
              <a:rPr lang="en-US" baseline="0" dirty="0"/>
              <a:t> task with period 20 which operates in location T for 20 time units and then it starts again. This transition is showing when the task is released. This system takes this edge every 20 time units if  we assume x is initially 0 or smaller than or equal to 20.</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34</a:t>
            </a:fld>
            <a:endParaRPr lang="sv-SE"/>
          </a:p>
        </p:txBody>
      </p:sp>
    </p:spTree>
    <p:extLst>
      <p:ext uri="{BB962C8B-B14F-4D97-AF65-F5344CB8AC3E}">
        <p14:creationId xmlns:p14="http://schemas.microsoft.com/office/powerpoint/2010/main" val="1553098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t>
            </a:r>
            <a:r>
              <a:rPr lang="en-US" baseline="0" dirty="0"/>
              <a:t> here is</a:t>
            </a:r>
            <a:r>
              <a:rPr lang="en-US" dirty="0"/>
              <a:t> another timed automata that will model what</a:t>
            </a:r>
            <a:r>
              <a:rPr lang="en-US" baseline="0" dirty="0"/>
              <a:t> we call, a sporadic task which has a minimum </a:t>
            </a:r>
            <a:r>
              <a:rPr lang="en-US" baseline="0" dirty="0" err="1"/>
              <a:t>interarrival</a:t>
            </a:r>
            <a:r>
              <a:rPr lang="en-US" baseline="0" dirty="0"/>
              <a:t> time of 20. So we can take the action transition every 20 time units but you can wait longer in location T.</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35</a:t>
            </a:fld>
            <a:endParaRPr lang="sv-SE"/>
          </a:p>
        </p:txBody>
      </p:sp>
    </p:spTree>
    <p:extLst>
      <p:ext uri="{BB962C8B-B14F-4D97-AF65-F5344CB8AC3E}">
        <p14:creationId xmlns:p14="http://schemas.microsoft.com/office/powerpoint/2010/main" val="16382995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a:t>
            </a:r>
            <a:r>
              <a:rPr lang="en-US" baseline="0" dirty="0"/>
              <a:t> to model an aperiodic task which has a minimum </a:t>
            </a:r>
            <a:r>
              <a:rPr lang="en-US" baseline="0" dirty="0" err="1"/>
              <a:t>interarrival</a:t>
            </a:r>
            <a:r>
              <a:rPr lang="en-US" baseline="0" dirty="0"/>
              <a:t> time of 5 and a maximum of 100. So you can try to model different time models using these rather simple concepts</a:t>
            </a:r>
            <a:r>
              <a:rPr lang="is-IS" baseline="0" dirty="0"/>
              <a:t>….</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36</a:t>
            </a:fld>
            <a:endParaRPr lang="sv-SE"/>
          </a:p>
        </p:txBody>
      </p:sp>
    </p:spTree>
    <p:extLst>
      <p:ext uri="{BB962C8B-B14F-4D97-AF65-F5344CB8AC3E}">
        <p14:creationId xmlns:p14="http://schemas.microsoft.com/office/powerpoint/2010/main" val="532153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t>
            </a:r>
            <a:r>
              <a:rPr lang="en-US" baseline="0" dirty="0"/>
              <a:t>a </a:t>
            </a:r>
            <a:r>
              <a:rPr lang="en-US" dirty="0"/>
              <a:t>light switch</a:t>
            </a:r>
            <a:r>
              <a:rPr lang="en-US" baseline="0" dirty="0"/>
              <a:t> modelled in timed automata.  We have a location where the light is off and another one where the light is on. So, we can’t go to on before two time units, but after two time units we can turn on the light switch. Then what happens? When do we go to off again? So we can go to off after 9 time units, except if there are other presses that will reset the clock. So you can spend a lot of time in on location if we would like to. I modeled this press action with a question mark because I think about it as an arrival of a signal that comes from the environment. The uses presses and then in this light switch the press question mark gets activated whereas from the transition from on to off there is no press action so this can’t happen without any external interaction. Ok</a:t>
            </a:r>
            <a:r>
              <a:rPr lang="is-IS" baseline="0" dirty="0"/>
              <a:t>…. I will give you the semantics definition of a timed automata for you to study at after the lecture. </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37</a:t>
            </a:fld>
            <a:endParaRPr lang="sv-SE"/>
          </a:p>
        </p:txBody>
      </p:sp>
    </p:spTree>
    <p:extLst>
      <p:ext uri="{BB962C8B-B14F-4D97-AF65-F5344CB8AC3E}">
        <p14:creationId xmlns:p14="http://schemas.microsoft.com/office/powerpoint/2010/main" val="2570212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38</a:t>
            </a:fld>
            <a:endParaRPr lang="sv-SE"/>
          </a:p>
        </p:txBody>
      </p:sp>
    </p:spTree>
    <p:extLst>
      <p:ext uri="{BB962C8B-B14F-4D97-AF65-F5344CB8AC3E}">
        <p14:creationId xmlns:p14="http://schemas.microsoft.com/office/powerpoint/2010/main" val="7259607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briefly go through it here</a:t>
            </a:r>
            <a:r>
              <a:rPr lang="is-IS" dirty="0"/>
              <a:t>… We have the idea of clock valuations,</a:t>
            </a:r>
            <a:r>
              <a:rPr lang="is-IS" baseline="0" dirty="0"/>
              <a:t> that is the assignments of the clocks. </a:t>
            </a:r>
            <a:r>
              <a:rPr lang="en-US" baseline="0" dirty="0"/>
              <a:t>W</a:t>
            </a:r>
            <a:r>
              <a:rPr lang="is-IS" baseline="0" dirty="0"/>
              <a:t>e have a set of clocks and each clock has a value, a real value... </a:t>
            </a:r>
            <a:r>
              <a:rPr lang="en-US" baseline="0" dirty="0"/>
              <a:t>I</a:t>
            </a:r>
            <a:r>
              <a:rPr lang="is-IS" baseline="0" dirty="0"/>
              <a:t>t takes a set of clocks and gives the values.. The state, as I said, is a pair of locations and clock values, v is a part of the clock valuations function. As I said, we have two types of transitions, actions transitions, so if we are in some location l with the clock valuations v and if we follow an edge labeled a to a new location l prime with clock valuation v prime if and only if there is an action transition from l to l prime having a guard a lable a and a reset and the current clock valuation must satisfy the guard and the new clock valuation is the current clock valuation but we have applied the reset on the transition and the invariant of l prime must be satisfied by these new clock valuations.</a:t>
            </a:r>
          </a:p>
          <a:p>
            <a:endParaRPr lang="is-IS" baseline="0" dirty="0"/>
          </a:p>
          <a:p>
            <a:r>
              <a:rPr lang="is-IS" baseline="0" dirty="0"/>
              <a:t>We have the delay transition when we stay in the same location and if we delay for d time units, the new clock valuation will be the same as the previous one + d and the new clock valuation must satisfy the invariant and it needs to do that throught the delay. So this is the semantics definition. Please have a look on it after the lecture.</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39</a:t>
            </a:fld>
            <a:endParaRPr lang="sv-SE"/>
          </a:p>
        </p:txBody>
      </p:sp>
    </p:spTree>
    <p:extLst>
      <p:ext uri="{BB962C8B-B14F-4D97-AF65-F5344CB8AC3E}">
        <p14:creationId xmlns:p14="http://schemas.microsoft.com/office/powerpoint/2010/main" val="9507490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is an example of a trace from the light switch. If we are in off, x and y are 0 we can delay for 3.5 and we are still in off but we add 3.5 to the clocks. Now if we take the transition from off to on, this will be an action transition, push. What happens there, both x and y are reset so now we are in location on with x and y equal 0. now if we delay for pi time units then we are still in location on but the clocks are both pi. Now we do a push transition because x is greater than 2.  In this example only x is reset, so then we are still in on, x is 0 and y is pi and so on. </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40</a:t>
            </a:fld>
            <a:endParaRPr lang="sv-SE"/>
          </a:p>
        </p:txBody>
      </p:sp>
    </p:spTree>
    <p:extLst>
      <p:ext uri="{BB962C8B-B14F-4D97-AF65-F5344CB8AC3E}">
        <p14:creationId xmlns:p14="http://schemas.microsoft.com/office/powerpoint/2010/main" val="7276190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t>
            </a:r>
            <a:r>
              <a:rPr lang="en-US" baseline="0" dirty="0"/>
              <a:t> we can extend the model to consist of a network of timed automata, meaning that we have couple of timed automata in this system and they can synchronize on action transition. So I introduce here the a exclamation mark and a question mark. In order to take a transition a question mark you need another transition a exclamation mark. These two are the complementary actions. So you cannot take action a exclamation mark without taking the a question mark transition. For this I show an example transitions. Suppose we start in location l1 and m1, x=2, y=3.5 and </a:t>
            </a:r>
            <a:r>
              <a:rPr lang="en-US" baseline="0" dirty="0" err="1"/>
              <a:t>i</a:t>
            </a:r>
            <a:r>
              <a:rPr lang="en-US" baseline="0" dirty="0"/>
              <a:t>=3 (I introduced I here, I is an integer variable) if we look at the conjunction of the two guards, the valuations satisfy the guard conjunctions on the edges they can take both transitions in the same time synchronized and then we can do the resets and then we end up in l2 m2 locations, x will be 0 because we reset x, y is 3.5 and </a:t>
            </a:r>
            <a:r>
              <a:rPr lang="en-US" baseline="0" dirty="0" err="1"/>
              <a:t>i</a:t>
            </a:r>
            <a:r>
              <a:rPr lang="en-US" baseline="0" dirty="0"/>
              <a:t> is incremented with 4 so it becomes 7. So now we can have several automata that can communicate with each other. In theory and practice you can synchronize more than two automata</a:t>
            </a:r>
            <a:r>
              <a:rPr lang="is-IS" baseline="0" dirty="0"/>
              <a:t>…. You will see that in the lab assignments how you can use broadcasting syncronizations and so on...</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41</a:t>
            </a:fld>
            <a:endParaRPr lang="sv-SE"/>
          </a:p>
        </p:txBody>
      </p:sp>
    </p:spTree>
    <p:extLst>
      <p:ext uri="{BB962C8B-B14F-4D97-AF65-F5344CB8AC3E}">
        <p14:creationId xmlns:p14="http://schemas.microsoft.com/office/powerpoint/2010/main" val="19840464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42</a:t>
            </a:fld>
            <a:endParaRPr lang="sv-SE"/>
          </a:p>
        </p:txBody>
      </p:sp>
    </p:spTree>
    <p:extLst>
      <p:ext uri="{BB962C8B-B14F-4D97-AF65-F5344CB8AC3E}">
        <p14:creationId xmlns:p14="http://schemas.microsoft.com/office/powerpoint/2010/main" val="13928128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245D8EB-53C2-A043-B9AA-F0EF8C34B6AC}" type="slidenum">
              <a:rPr lang="sv-SE" sz="1300"/>
              <a:pPr eaLnBrk="1" hangingPunct="1"/>
              <a:t>43</a:t>
            </a:fld>
            <a:endParaRPr lang="sv-SE" sz="1300"/>
          </a:p>
        </p:txBody>
      </p:sp>
      <p:sp>
        <p:nvSpPr>
          <p:cNvPr id="54274" name="Rectangle 2"/>
          <p:cNvSpPr>
            <a:spLocks noGrp="1" noRot="1" noChangeAspect="1" noChangeArrowheads="1" noTextEdit="1"/>
          </p:cNvSpPr>
          <p:nvPr>
            <p:ph type="sldImg"/>
          </p:nvPr>
        </p:nvSpPr>
        <p:spPr>
          <a:xfrm>
            <a:off x="138113" y="768350"/>
            <a:ext cx="6819900" cy="3836988"/>
          </a:xfrm>
          <a:ln/>
        </p:spPr>
      </p:sp>
      <p:sp>
        <p:nvSpPr>
          <p:cNvPr id="54275"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a:t>For</a:t>
            </a:r>
            <a:r>
              <a:rPr lang="en-US" baseline="0" dirty="0"/>
              <a:t> using timed automata and UPPAAL for model checking we need to express </a:t>
            </a:r>
            <a:r>
              <a:rPr lang="en-US" dirty="0"/>
              <a:t>Requirements</a:t>
            </a:r>
            <a:r>
              <a:rPr lang="en-US" baseline="0" dirty="0"/>
              <a:t> as</a:t>
            </a:r>
            <a:r>
              <a:rPr lang="en-US" dirty="0"/>
              <a:t> temporal logical formula, for</a:t>
            </a:r>
            <a:r>
              <a:rPr lang="en-US" baseline="0" dirty="0"/>
              <a:t> example</a:t>
            </a:r>
            <a:endParaRPr lang="en-US" dirty="0"/>
          </a:p>
          <a:p>
            <a:pPr eaLnBrk="1" hangingPunct="1"/>
            <a:r>
              <a:rPr lang="en-US" dirty="0"/>
              <a:t>Invariant: something bad will never happen, something may happen</a:t>
            </a:r>
          </a:p>
          <a:p>
            <a:pPr eaLnBrk="1" hangingPunct="1"/>
            <a:r>
              <a:rPr lang="en-US" dirty="0" err="1"/>
              <a:t>Liveness</a:t>
            </a:r>
            <a:r>
              <a:rPr lang="en-US" dirty="0"/>
              <a:t>: something will eventually happen</a:t>
            </a:r>
          </a:p>
        </p:txBody>
      </p:sp>
    </p:spTree>
    <p:extLst>
      <p:ext uri="{BB962C8B-B14F-4D97-AF65-F5344CB8AC3E}">
        <p14:creationId xmlns:p14="http://schemas.microsoft.com/office/powerpoint/2010/main" val="1431852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Uppaal</a:t>
            </a:r>
            <a:r>
              <a:rPr lang="en-US" dirty="0"/>
              <a:t> uses the decidable subset of TCTL. Like in TCTL, the query language consists of path formulae and state formulae. State formulae describe individual states, whereas path formulae quantify over paths or traces of the model,</a:t>
            </a:r>
            <a:r>
              <a:rPr lang="en-US" baseline="0" dirty="0"/>
              <a:t> a path that includes time information is called a timed path</a:t>
            </a:r>
            <a:r>
              <a:rPr lang="en-US" dirty="0"/>
              <a:t>. Path formulae can be classified into reachability, safety and </a:t>
            </a:r>
            <a:r>
              <a:rPr lang="en-US" dirty="0" err="1"/>
              <a:t>liveness</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44</a:t>
            </a:fld>
            <a:endParaRPr lang="sv-SE"/>
          </a:p>
        </p:txBody>
      </p:sp>
    </p:spTree>
    <p:extLst>
      <p:ext uri="{BB962C8B-B14F-4D97-AF65-F5344CB8AC3E}">
        <p14:creationId xmlns:p14="http://schemas.microsoft.com/office/powerpoint/2010/main" val="15071634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731838" eaLnBrk="1" hangingPunct="1"/>
            <a:r>
              <a:rPr lang="en-US" dirty="0">
                <a:latin typeface="Arial" charset="0"/>
              </a:rPr>
              <a:t>UPPAAL supports</a:t>
            </a:r>
            <a:r>
              <a:rPr lang="en-US" baseline="0" dirty="0">
                <a:latin typeface="Arial" charset="0"/>
              </a:rPr>
              <a:t> couple of quantifiers: </a:t>
            </a:r>
            <a:r>
              <a:rPr lang="en-US" dirty="0">
                <a:latin typeface="Arial" charset="0"/>
              </a:rPr>
              <a:t>exists a path,</a:t>
            </a:r>
            <a:r>
              <a:rPr lang="en-US" baseline="0" dirty="0">
                <a:latin typeface="Arial" charset="0"/>
              </a:rPr>
              <a:t> </a:t>
            </a:r>
            <a:r>
              <a:rPr lang="en-US" dirty="0">
                <a:latin typeface="Arial" charset="0"/>
              </a:rPr>
              <a:t>for all paths,</a:t>
            </a:r>
            <a:r>
              <a:rPr lang="en-US" baseline="0" dirty="0">
                <a:latin typeface="Arial" charset="0"/>
              </a:rPr>
              <a:t> </a:t>
            </a:r>
            <a:r>
              <a:rPr lang="en-US" dirty="0">
                <a:latin typeface="Arial" charset="0"/>
              </a:rPr>
              <a:t>all states in a path,</a:t>
            </a:r>
            <a:r>
              <a:rPr lang="en-US" baseline="0" dirty="0">
                <a:latin typeface="Arial" charset="0"/>
              </a:rPr>
              <a:t> </a:t>
            </a:r>
            <a:r>
              <a:rPr lang="en-US" dirty="0">
                <a:latin typeface="Arial" charset="0"/>
              </a:rPr>
              <a:t>some state in a path.</a:t>
            </a:r>
            <a:r>
              <a:rPr lang="en-US" baseline="0" dirty="0">
                <a:latin typeface="Arial" charset="0"/>
              </a:rPr>
              <a:t> </a:t>
            </a:r>
            <a:r>
              <a:rPr lang="en-US" dirty="0"/>
              <a:t>In short, the four temporal quantifier</a:t>
            </a:r>
            <a:r>
              <a:rPr lang="en-US" baseline="0" dirty="0"/>
              <a:t> combinations are</a:t>
            </a:r>
            <a:r>
              <a:rPr lang="en-US" dirty="0"/>
              <a:t> always, potentially always, possibly, and unavoidable.</a:t>
            </a:r>
          </a:p>
          <a:p>
            <a:pPr defTabSz="731838" eaLnBrk="1" hangingPunct="1"/>
            <a:endParaRPr lang="en-US" dirty="0">
              <a:latin typeface="Arial" charset="0"/>
            </a:endParaRPr>
          </a:p>
          <a:p>
            <a:pPr defTabSz="731838" eaLnBrk="1" hangingPunct="1"/>
            <a:endParaRPr lang="en-US" dirty="0">
              <a:latin typeface="Arial" charset="0"/>
            </a:endParaRPr>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45</a:t>
            </a:fld>
            <a:endParaRPr lang="sv-SE"/>
          </a:p>
        </p:txBody>
      </p:sp>
    </p:spTree>
    <p:extLst>
      <p:ext uri="{BB962C8B-B14F-4D97-AF65-F5344CB8AC3E}">
        <p14:creationId xmlns:p14="http://schemas.microsoft.com/office/powerpoint/2010/main" val="13265886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Reachability properties are the simplest form of properties. They ask whether a given state formula, p, possibly can be satisfied. by any reachable state. Another way of stating this is: Does there exist a path starting at the initial state, such that p is eventually satisfied along that path. Reachability properties are often used while designing a model to perform sanity checks. For instance, when creating a model of a communication protocol involving a sender and a receiver, it makes sense to ask whether it is possible for the sender to send a message at all or whether a message can possibly be received. These properties do not by themselves guarantee the correctness of the protocol for</a:t>
            </a:r>
            <a:r>
              <a:rPr lang="en-US" baseline="0" dirty="0"/>
              <a:t> example</a:t>
            </a:r>
            <a:r>
              <a:rPr lang="en-US" dirty="0"/>
              <a:t> that any message is eventually delivered, but they validate the basic behavior of the model. We express that some state satisfying p should be reachable </a:t>
            </a:r>
            <a:r>
              <a:rPr lang="en-US" baseline="0" dirty="0"/>
              <a:t> in at least one reachable state.</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46</a:t>
            </a:fld>
            <a:endParaRPr lang="sv-SE"/>
          </a:p>
        </p:txBody>
      </p:sp>
    </p:spTree>
    <p:extLst>
      <p:ext uri="{BB962C8B-B14F-4D97-AF65-F5344CB8AC3E}">
        <p14:creationId xmlns:p14="http://schemas.microsoft.com/office/powerpoint/2010/main" val="16566972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properties are on the form: “something bad will never happen”. For instance, in a model of a nuclear power plant, a safety property might be, that the operating temperature is always (invariantly) under a certain threshold, or that a meltdown never occurs. A variation of this property is that “something will possibly never happen”. For instance when playing a game, a safe state is one in which we can still win the game, hence we will possibly not loose. In </a:t>
            </a:r>
            <a:r>
              <a:rPr lang="en-US" dirty="0" err="1"/>
              <a:t>Uppaal</a:t>
            </a:r>
            <a:r>
              <a:rPr lang="en-US" dirty="0"/>
              <a:t> these properties are formulated positively, e.g., something good is invariantly true. Let p be a state formulae. We express that p should be true in all reachable states</a:t>
            </a:r>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47</a:t>
            </a:fld>
            <a:endParaRPr lang="sv-SE"/>
          </a:p>
        </p:txBody>
      </p:sp>
    </p:spTree>
    <p:extLst>
      <p:ext uri="{BB962C8B-B14F-4D97-AF65-F5344CB8AC3E}">
        <p14:creationId xmlns:p14="http://schemas.microsoft.com/office/powerpoint/2010/main" val="7731339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Another property is E[ ] p – “Potentially Always p, this shows if There exists a path in which p is true in all states.</a:t>
            </a:r>
            <a:endParaRPr lang="sv-SE" dirty="0"/>
          </a:p>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48</a:t>
            </a:fld>
            <a:endParaRPr lang="sv-SE"/>
          </a:p>
        </p:txBody>
      </p:sp>
    </p:spTree>
    <p:extLst>
      <p:ext uri="{BB962C8B-B14F-4D97-AF65-F5344CB8AC3E}">
        <p14:creationId xmlns:p14="http://schemas.microsoft.com/office/powerpoint/2010/main" val="9210992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Liveness</a:t>
            </a:r>
            <a:r>
              <a:rPr lang="en-US" dirty="0"/>
              <a:t> properties are of the form: something will eventually happen, for</a:t>
            </a:r>
            <a:r>
              <a:rPr lang="en-US" baseline="0" dirty="0"/>
              <a:t> example</a:t>
            </a:r>
            <a:r>
              <a:rPr lang="en-US" dirty="0"/>
              <a:t>. when pressing the on button of the remote control of the television, then eventually the television should turn on. Or in a model of a communication protocol, any message that has been sent should eventually be received. In its simple form, </a:t>
            </a:r>
            <a:r>
              <a:rPr lang="en-US" dirty="0" err="1"/>
              <a:t>liveness</a:t>
            </a:r>
            <a:r>
              <a:rPr lang="en-US" dirty="0"/>
              <a:t> is expressed with the path formula eventually</a:t>
            </a:r>
            <a:r>
              <a:rPr lang="en-US" baseline="0" dirty="0"/>
              <a:t> p. </a:t>
            </a:r>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49</a:t>
            </a:fld>
            <a:endParaRPr lang="sv-SE"/>
          </a:p>
        </p:txBody>
      </p:sp>
    </p:spTree>
    <p:extLst>
      <p:ext uri="{BB962C8B-B14F-4D97-AF65-F5344CB8AC3E}">
        <p14:creationId xmlns:p14="http://schemas.microsoft.com/office/powerpoint/2010/main" val="14368533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This is a useful form in practice called leads to or response property, which can</a:t>
            </a:r>
            <a:r>
              <a:rPr lang="en-US" baseline="0" dirty="0"/>
              <a:t> be understand </a:t>
            </a:r>
            <a:r>
              <a:rPr lang="en-US" dirty="0"/>
              <a:t>as whenever g is satisfied, then eventually p will be satisfied, for</a:t>
            </a:r>
            <a:r>
              <a:rPr lang="en-US" baseline="0" dirty="0"/>
              <a:t> example </a:t>
            </a:r>
            <a:r>
              <a:rPr lang="en-US" dirty="0"/>
              <a:t>whenever a message is sent, then eventually it will be received. </a:t>
            </a:r>
          </a:p>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50</a:t>
            </a:fld>
            <a:endParaRPr lang="sv-SE"/>
          </a:p>
        </p:txBody>
      </p:sp>
    </p:spTree>
    <p:extLst>
      <p:ext uri="{BB962C8B-B14F-4D97-AF65-F5344CB8AC3E}">
        <p14:creationId xmlns:p14="http://schemas.microsoft.com/office/powerpoint/2010/main" val="3461383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rtl="0"/>
            <a:r>
              <a:rPr lang="en-US" sz="1200" b="0" i="0" u="none" strike="noStrike" kern="1200" dirty="0">
                <a:solidFill>
                  <a:schemeClr val="tx1"/>
                </a:solidFill>
                <a:effectLst/>
                <a:latin typeface="Arial" charset="0"/>
                <a:ea typeface="ＭＳ Ｐゴシック" charset="-128"/>
                <a:cs typeface="ＭＳ Ｐゴシック" charset="-128"/>
              </a:rPr>
              <a:t>Now.</a:t>
            </a:r>
            <a:r>
              <a:rPr lang="en-US" sz="1200" b="0" i="0" u="none" strike="noStrike" kern="1200" baseline="0" dirty="0">
                <a:solidFill>
                  <a:schemeClr val="tx1"/>
                </a:solidFill>
                <a:effectLst/>
                <a:latin typeface="Arial" charset="0"/>
                <a:ea typeface="ＭＳ Ｐゴシック" charset="-128"/>
                <a:cs typeface="ＭＳ Ｐゴシック" charset="-128"/>
              </a:rPr>
              <a:t> Let us try to solve a famous problem, </a:t>
            </a:r>
            <a:r>
              <a:rPr lang="en-US" sz="1200" b="0" i="0" u="none" strike="noStrike" kern="1200" dirty="0">
                <a:solidFill>
                  <a:schemeClr val="tx1"/>
                </a:solidFill>
                <a:effectLst/>
                <a:latin typeface="Arial" charset="0"/>
                <a:ea typeface="ＭＳ Ｐゴシック" charset="-128"/>
                <a:cs typeface="ＭＳ Ｐゴシック" charset="-128"/>
              </a:rPr>
              <a:t>The Viking problem or bridge problem which is a famous logic puzzle that deals with four people, a bridge and a torch. It is one of the river crossing puzzles, where a number of objects must move across a river, with some constraints. </a:t>
            </a:r>
            <a:endParaRPr lang="en-US" b="0" dirty="0">
              <a:effectLst/>
            </a:endParaRPr>
          </a:p>
          <a:p>
            <a:br>
              <a:rPr lang="en-US" b="0" dirty="0">
                <a:effectLst/>
              </a:rPr>
            </a:br>
            <a:r>
              <a:rPr lang="en-US" sz="1200" b="0" i="0" u="none" strike="noStrike" kern="1200" dirty="0">
                <a:solidFill>
                  <a:schemeClr val="tx1"/>
                </a:solidFill>
                <a:effectLst/>
                <a:latin typeface="Arial" charset="0"/>
                <a:ea typeface="ＭＳ Ｐゴシック" charset="-128"/>
                <a:cs typeface="ＭＳ Ｐゴシック" charset="-128"/>
              </a:rPr>
              <a:t>Four people or soldiers/</a:t>
            </a:r>
            <a:r>
              <a:rPr lang="en-US" sz="1200" b="0" i="0" u="none" strike="noStrike" kern="1200" dirty="0" err="1">
                <a:solidFill>
                  <a:schemeClr val="tx1"/>
                </a:solidFill>
                <a:effectLst/>
                <a:latin typeface="Arial" charset="0"/>
                <a:ea typeface="ＭＳ Ｐゴシック" charset="-128"/>
                <a:cs typeface="ＭＳ Ｐゴシック" charset="-128"/>
              </a:rPr>
              <a:t>vikings</a:t>
            </a:r>
            <a:r>
              <a:rPr lang="en-US" sz="1200" b="0" i="0" u="none" strike="noStrike" kern="1200" baseline="0" dirty="0">
                <a:solidFill>
                  <a:schemeClr val="tx1"/>
                </a:solidFill>
                <a:effectLst/>
                <a:latin typeface="Arial" charset="0"/>
                <a:ea typeface="ＭＳ Ｐゴシック" charset="-128"/>
                <a:cs typeface="ＭＳ Ｐゴシック" charset="-128"/>
              </a:rPr>
              <a:t> </a:t>
            </a:r>
            <a:r>
              <a:rPr lang="en-US" sz="1200" b="0" i="0" u="none" strike="noStrike" kern="1200" dirty="0">
                <a:solidFill>
                  <a:schemeClr val="tx1"/>
                </a:solidFill>
                <a:effectLst/>
                <a:latin typeface="Arial" charset="0"/>
                <a:ea typeface="ＭＳ Ｐゴシック" charset="-128"/>
                <a:cs typeface="ＭＳ Ｐゴシック" charset="-128"/>
              </a:rPr>
              <a:t>come to a river in the night. There is a narrow and damaged bridge, but it can only hold two people at a time. They have one torch and, because it's night, the torch has to be used when crossing the bridge. Viking A can cross the bridge in 5 minutes, B in 10 minutes, C in 20 minutes, and D in 25 minutes. When two people cross the bridge together, they must move at the slower person's pace. The question is, can they all get across the bridge in 60 minutes or less?</a:t>
            </a:r>
          </a:p>
          <a:p>
            <a:endParaRPr lang="en-US" sz="1200" b="0" i="0" u="none" strike="noStrike" kern="1200" baseline="0" dirty="0">
              <a:solidFill>
                <a:schemeClr val="tx1"/>
              </a:solidFill>
              <a:latin typeface="Arial" charset="0"/>
              <a:ea typeface="ＭＳ Ｐゴシック" charset="0"/>
              <a:cs typeface="ＭＳ Ｐゴシック"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Can</a:t>
            </a:r>
            <a:r>
              <a:rPr lang="en-US" baseline="0" dirty="0"/>
              <a:t> you show me that it </a:t>
            </a:r>
            <a:r>
              <a:rPr lang="en-US" dirty="0"/>
              <a:t>exists a way</a:t>
            </a:r>
            <a:r>
              <a:rPr lang="en-US" baseline="0" dirty="0"/>
              <a:t> for </a:t>
            </a:r>
            <a:r>
              <a:rPr lang="en-US" dirty="0"/>
              <a:t>getting all four Vikings over the bridge</a:t>
            </a:r>
            <a:r>
              <a:rPr lang="en-US" baseline="0" dirty="0"/>
              <a:t> </a:t>
            </a:r>
            <a:r>
              <a:rPr lang="en-US" dirty="0"/>
              <a:t>within 60 minutes or less?</a:t>
            </a:r>
          </a:p>
        </p:txBody>
      </p:sp>
      <p:sp>
        <p:nvSpPr>
          <p:cNvPr id="4" name="Platshållare för bildnummer 3"/>
          <p:cNvSpPr>
            <a:spLocks noGrp="1"/>
          </p:cNvSpPr>
          <p:nvPr>
            <p:ph type="sldNum" sz="quarter" idx="10"/>
          </p:nvPr>
        </p:nvSpPr>
        <p:spPr/>
        <p:txBody>
          <a:bodyPr/>
          <a:lstStyle/>
          <a:p>
            <a:pPr>
              <a:defRPr/>
            </a:pPr>
            <a:fld id="{C677609B-8C5C-3D4B-B3ED-68F4F72F6EA2}" type="slidenum">
              <a:rPr lang="sv-SE" smtClean="0"/>
              <a:pPr>
                <a:defRPr/>
              </a:pPr>
              <a:t>52</a:t>
            </a:fld>
            <a:endParaRPr lang="sv-SE"/>
          </a:p>
        </p:txBody>
      </p:sp>
    </p:spTree>
    <p:extLst>
      <p:ext uri="{BB962C8B-B14F-4D97-AF65-F5344CB8AC3E}">
        <p14:creationId xmlns:p14="http://schemas.microsoft.com/office/powerpoint/2010/main" val="30821537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16016AE-CAEE-2F4C-AC0A-457FEB9CBD21}" type="slidenum">
              <a:rPr lang="sv-SE" sz="1300"/>
              <a:pPr eaLnBrk="1" hangingPunct="1"/>
              <a:t>54</a:t>
            </a:fld>
            <a:endParaRPr lang="sv-SE" sz="1300"/>
          </a:p>
        </p:txBody>
      </p:sp>
      <p:sp>
        <p:nvSpPr>
          <p:cNvPr id="49154" name="Rectangle 2"/>
          <p:cNvSpPr>
            <a:spLocks noGrp="1" noRot="1" noChangeAspect="1" noChangeArrowheads="1" noTextEdit="1"/>
          </p:cNvSpPr>
          <p:nvPr>
            <p:ph type="sldImg"/>
          </p:nvPr>
        </p:nvSpPr>
        <p:spPr>
          <a:xfrm>
            <a:off x="120650" y="785813"/>
            <a:ext cx="6843713" cy="3849687"/>
          </a:xfrm>
          <a:ln/>
        </p:spPr>
      </p:sp>
      <p:sp>
        <p:nvSpPr>
          <p:cNvPr id="49155" name="Rectangle 3"/>
          <p:cNvSpPr>
            <a:spLocks noGrp="1" noChangeArrowheads="1"/>
          </p:cNvSpPr>
          <p:nvPr>
            <p:ph type="body" idx="1"/>
          </p:nvPr>
        </p:nvSpPr>
        <p:spPr>
          <a:xfrm>
            <a:off x="954088" y="4870450"/>
            <a:ext cx="5175250" cy="4635500"/>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a:t>. It is a railway control system which controls access to a bridge for several trains. The bridge is a critical shared resource that may be accessed only by one train at a time. The system is defined as a number of trains (assume 6 for this example) and a controller. A train can not be stopped instantly and restarting also takes time. Therefor, there are timing constraints on the trains before entering the bridge. When approaching, a train sends a </a:t>
            </a:r>
            <a:r>
              <a:rPr lang="en-US" dirty="0" err="1"/>
              <a:t>appr</a:t>
            </a:r>
            <a:r>
              <a:rPr lang="en-US" dirty="0"/>
              <a:t>! signal. Thereafter, it has 10 time units to receive a stop signal. This allows it to stop safely before the bridge. After these 10 time units, it takes further 10 time units to reach the bridge if the train is not stopped. If a train is stopped, it resumes its course when the controller sends a go! signal to it after a previous train has left the bridge and sent a leave! signal.</a:t>
            </a:r>
            <a:endParaRPr lang="en-GB" dirty="0"/>
          </a:p>
        </p:txBody>
      </p:sp>
    </p:spTree>
    <p:extLst>
      <p:ext uri="{BB962C8B-B14F-4D97-AF65-F5344CB8AC3E}">
        <p14:creationId xmlns:p14="http://schemas.microsoft.com/office/powerpoint/2010/main" val="12243152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56</a:t>
            </a:fld>
            <a:endParaRPr lang="sv-SE"/>
          </a:p>
        </p:txBody>
      </p:sp>
    </p:spTree>
    <p:extLst>
      <p:ext uri="{BB962C8B-B14F-4D97-AF65-F5344CB8AC3E}">
        <p14:creationId xmlns:p14="http://schemas.microsoft.com/office/powerpoint/2010/main" val="13820352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57</a:t>
            </a:fld>
            <a:endParaRPr lang="sv-SE"/>
          </a:p>
        </p:txBody>
      </p:sp>
    </p:spTree>
    <p:extLst>
      <p:ext uri="{BB962C8B-B14F-4D97-AF65-F5344CB8AC3E}">
        <p14:creationId xmlns:p14="http://schemas.microsoft.com/office/powerpoint/2010/main" val="17351284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59</a:t>
            </a:fld>
            <a:endParaRPr lang="sv-SE"/>
          </a:p>
        </p:txBody>
      </p:sp>
    </p:spTree>
    <p:extLst>
      <p:ext uri="{BB962C8B-B14F-4D97-AF65-F5344CB8AC3E}">
        <p14:creationId xmlns:p14="http://schemas.microsoft.com/office/powerpoint/2010/main" val="18458715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60</a:t>
            </a:fld>
            <a:endParaRPr lang="sv-SE"/>
          </a:p>
        </p:txBody>
      </p:sp>
    </p:spTree>
    <p:extLst>
      <p:ext uri="{BB962C8B-B14F-4D97-AF65-F5344CB8AC3E}">
        <p14:creationId xmlns:p14="http://schemas.microsoft.com/office/powerpoint/2010/main" val="11653339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61</a:t>
            </a:fld>
            <a:endParaRPr lang="sv-SE"/>
          </a:p>
        </p:txBody>
      </p:sp>
    </p:spTree>
    <p:extLst>
      <p:ext uri="{BB962C8B-B14F-4D97-AF65-F5344CB8AC3E}">
        <p14:creationId xmlns:p14="http://schemas.microsoft.com/office/powerpoint/2010/main" val="16874657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677609B-8C5C-3D4B-B3ED-68F4F72F6EA2}" type="slidenum">
              <a:rPr lang="sv-SE" smtClean="0"/>
              <a:pPr>
                <a:defRPr/>
              </a:pPr>
              <a:t>62</a:t>
            </a:fld>
            <a:endParaRPr lang="sv-SE"/>
          </a:p>
        </p:txBody>
      </p:sp>
    </p:spTree>
    <p:extLst>
      <p:ext uri="{BB962C8B-B14F-4D97-AF65-F5344CB8AC3E}">
        <p14:creationId xmlns:p14="http://schemas.microsoft.com/office/powerpoint/2010/main" val="9202349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a:xfrm>
            <a:off x="139700" y="768350"/>
            <a:ext cx="6819900" cy="3836988"/>
          </a:xfrm>
          <a:ln/>
        </p:spPr>
      </p:sp>
      <p:sp>
        <p:nvSpPr>
          <p:cNvPr id="5427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First half I will spend some time on how to model things in UPPAAL, so we will look at a model of timed automata that we look on previously but we will focus on the specific uppaal syntax, then I will show an example and show how uppaal works and then how to model check timed automata, how to analyze the models., how to represent states, ectera</a:t>
            </a:r>
            <a:r>
              <a:rPr lang="is-IS">
                <a:latin typeface="Comic Sans MS" charset="0"/>
              </a:rPr>
              <a:t>… </a:t>
            </a:r>
            <a:endParaRPr lang="en-US">
              <a:latin typeface="Comic Sans MS" charset="0"/>
            </a:endParaRPr>
          </a:p>
        </p:txBody>
      </p:sp>
      <p:sp>
        <p:nvSpPr>
          <p:cNvPr id="5427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8B22658E-2CE6-2A44-92D6-537569F877B3}" type="slidenum">
              <a:rPr lang="sv-SE" sz="1300">
                <a:latin typeface="Comic Sans MS" charset="0"/>
              </a:rPr>
              <a:pPr/>
              <a:t>63</a:t>
            </a:fld>
            <a:endParaRPr lang="sv-SE" sz="1300">
              <a:latin typeface="Comic Sans MS"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a:xfrm>
            <a:off x="139700" y="768350"/>
            <a:ext cx="6819900" cy="3836988"/>
          </a:xfrm>
          <a:ln/>
        </p:spPr>
      </p:sp>
      <p:sp>
        <p:nvSpPr>
          <p:cNvPr id="5529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If you remember, last time we talked about timed automata with invariants, so finite state machines with locations. With edges, they have variables that represent clocks, that represent time, they can be tested in uppaal on the guards, they can be reset to 0, and you can have actions on the edges. I am sure you remember all of this</a:t>
            </a:r>
            <a:r>
              <a:rPr lang="is-IS">
                <a:latin typeface="Comic Sans MS" charset="0"/>
              </a:rPr>
              <a:t>…. Today we will talk about many extensions that exist in the tool. On this slide you can see a list of these extensions that we will talk today. So we have regular action channels but then we can urgent action channels that i want you to understand by the end of this lecture. As we have regular locations, we have also urgent and commited locations. I mentioned already last time that we don’t have only clocks as variables we can also have integer variables, so I will show what you can do with integer variables. You can have arrays of these variables and of course constants. </a:t>
            </a:r>
            <a:r>
              <a:rPr lang="en-US">
                <a:latin typeface="Comic Sans MS" charset="0"/>
              </a:rPr>
              <a:t>A</a:t>
            </a:r>
            <a:r>
              <a:rPr lang="is-IS">
                <a:latin typeface="Comic Sans MS" charset="0"/>
              </a:rPr>
              <a:t>nd you can have guards and assignments on these variables. In addition, and this is quite useful, you can have different modelling features, like templates for istantianting the same timed automata multiple times. Then there is also a subset of C that can be used on the assignments in timed automata. So as you can see we have a different modelling language as last time. Actually this is purely for convenience, with a few exceptions that are few features that are extending the expressivness of timed automata. We are still modelling in timed automata. You can think about this as extra syntax such that it is easier to model real systems.</a:t>
            </a:r>
            <a:endParaRPr lang="en-US">
              <a:latin typeface="Comic Sans MS" charset="0"/>
            </a:endParaRPr>
          </a:p>
        </p:txBody>
      </p:sp>
      <p:sp>
        <p:nvSpPr>
          <p:cNvPr id="5529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EE98A127-AF0A-6645-AC28-53472AA8715F}" type="slidenum">
              <a:rPr lang="sv-SE" sz="1300">
                <a:latin typeface="Comic Sans MS" charset="0"/>
              </a:rPr>
              <a:pPr/>
              <a:t>64</a:t>
            </a:fld>
            <a:endParaRPr lang="sv-SE" sz="1300">
              <a:latin typeface="Comic Sans MS"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noTextEdit="1"/>
          </p:cNvSpPr>
          <p:nvPr>
            <p:ph type="sldImg"/>
          </p:nvPr>
        </p:nvSpPr>
        <p:spPr>
          <a:xfrm>
            <a:off x="139700" y="768350"/>
            <a:ext cx="6819900" cy="3836988"/>
          </a:xfrm>
          <a:ln/>
        </p:spPr>
      </p:sp>
      <p:sp>
        <p:nvSpPr>
          <p:cNvPr id="5632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First, let us look on how we can declare things in uppaal. UPPAAL has a similar syntax to the C programming langugae. Is everyone familiar with C or C++? So when you declare clocks you can use the key word clock followed by the name of the clock. You can declare two or more clocks by using a comma separated list that finishes with a semicolon. Here is an example. If you want to declare two clocks x and y you just right clock x comma y semicolon. Simple</a:t>
            </a:r>
            <a:r>
              <a:rPr lang="is-IS">
                <a:latin typeface="Comic Sans MS" charset="0"/>
              </a:rPr>
              <a:t>…</a:t>
            </a:r>
            <a:endParaRPr lang="en-US">
              <a:latin typeface="Comic Sans MS" charset="0"/>
            </a:endParaRPr>
          </a:p>
          <a:p>
            <a:endParaRPr lang="en-US">
              <a:latin typeface="Comic Sans MS" charset="0"/>
            </a:endParaRPr>
          </a:p>
          <a:p>
            <a:endParaRPr lang="en-US">
              <a:latin typeface="Comic Sans MS" charset="0"/>
            </a:endParaRPr>
          </a:p>
        </p:txBody>
      </p:sp>
      <p:sp>
        <p:nvSpPr>
          <p:cNvPr id="5632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F9901C5F-BB03-2A4F-8D2E-0FE679531671}" type="slidenum">
              <a:rPr lang="sv-SE" sz="1300">
                <a:latin typeface="Comic Sans MS" charset="0"/>
              </a:rPr>
              <a:pPr/>
              <a:t>65</a:t>
            </a:fld>
            <a:endParaRPr lang="sv-SE" sz="1300">
              <a:latin typeface="Comic Sans MS"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a:xfrm>
            <a:off x="139700" y="768350"/>
            <a:ext cx="6819900" cy="3836988"/>
          </a:xfrm>
          <a:ln/>
        </p:spPr>
      </p:sp>
      <p:sp>
        <p:nvSpPr>
          <p:cNvPr id="5734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Data variables are of type int. There is a default domain of the integer which is based on how things are represented on a particular machine. So when you declare an integer you can use the domain of the integer with a lower and upper value between square brackets giving the domain of the integer. So, if you wanted a boolean variable you can say int with a domain between 0 and 1. Of course you can have a comma separated list of these integers that ends with a semicolon. You can do arrays, pretty much like in C, so you can give the size of the array. So, for example if you want a two dimensional array  b you can write b followed by 5 in square brackets and 6 in square brackets.</a:t>
            </a:r>
          </a:p>
        </p:txBody>
      </p:sp>
      <p:sp>
        <p:nvSpPr>
          <p:cNvPr id="5734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A5BCEE8E-546B-9B4B-BF67-4B45B235367C}" type="slidenum">
              <a:rPr lang="sv-SE" sz="1300">
                <a:latin typeface="Comic Sans MS" charset="0"/>
              </a:rPr>
              <a:pPr/>
              <a:t>66</a:t>
            </a:fld>
            <a:endParaRPr lang="sv-SE" sz="1300">
              <a:latin typeface="Comic Sans MS"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p:cNvSpPr>
            <a:spLocks noGrp="1" noRot="1" noChangeAspect="1" noTextEdit="1"/>
          </p:cNvSpPr>
          <p:nvPr>
            <p:ph type="sldImg"/>
          </p:nvPr>
        </p:nvSpPr>
        <p:spPr>
          <a:xfrm>
            <a:off x="139700" y="768350"/>
            <a:ext cx="6819900" cy="3836988"/>
          </a:xfrm>
          <a:ln/>
        </p:spPr>
      </p:sp>
      <p:sp>
        <p:nvSpPr>
          <p:cNvPr id="5837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Channels are used to synchronise processes. This is done by annotating edges in the model with </a:t>
            </a:r>
            <a:r>
              <a:rPr lang="en-US" i="1">
                <a:latin typeface="Comic Sans MS" charset="0"/>
              </a:rPr>
              <a:t>synchronisation labels</a:t>
            </a:r>
            <a:r>
              <a:rPr lang="en-US">
                <a:latin typeface="Comic Sans MS" charset="0"/>
              </a:rPr>
              <a:t>. </a:t>
            </a:r>
          </a:p>
          <a:p>
            <a:r>
              <a:rPr lang="en-US">
                <a:latin typeface="Comic Sans MS" charset="0"/>
              </a:rPr>
              <a:t>Channels can be declared as regular channels chan a, or  urgent channels with urgent chan key words followed by a comma separated set. Urgent channels are similar to regular channels, except that it is not possible to delay in the source state if it is possible to trigger a synchronisation over an urgent channel. We will see how urgent actions work later</a:t>
            </a:r>
            <a:r>
              <a:rPr lang="is-IS">
                <a:latin typeface="Comic Sans MS" charset="0"/>
              </a:rPr>
              <a:t>…</a:t>
            </a:r>
            <a:endParaRPr lang="en-US">
              <a:latin typeface="Comic Sans MS" charset="0"/>
            </a:endParaRPr>
          </a:p>
        </p:txBody>
      </p:sp>
      <p:sp>
        <p:nvSpPr>
          <p:cNvPr id="5837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AF020F84-52EA-F64A-B741-F6F37C9BC983}" type="slidenum">
              <a:rPr lang="sv-SE" sz="1300">
                <a:latin typeface="Comic Sans MS" charset="0"/>
              </a:rPr>
              <a:pPr/>
              <a:t>67</a:t>
            </a:fld>
            <a:endParaRPr lang="sv-SE" sz="1300">
              <a:latin typeface="Comic Sans MS"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a:xfrm>
            <a:off x="139700" y="768350"/>
            <a:ext cx="6819900" cy="3836988"/>
          </a:xfrm>
          <a:ln/>
        </p:spPr>
      </p:sp>
      <p:sp>
        <p:nvSpPr>
          <p:cNvPr id="5939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712788" lvl="1" indent="-255588" defTabSz="731838" eaLnBrk="1" hangingPunct="1"/>
            <a:r>
              <a:rPr lang="en-US">
                <a:latin typeface="Comic Sans MS" charset="0"/>
                <a:ea typeface="ＭＳ Ｐゴシック" charset="0"/>
                <a:cs typeface="ＭＳ Ｐゴシック" charset="0"/>
              </a:rPr>
              <a:t>Integers, booleans, and arrays and records over integers and booleans can be marked constant by prefixing the type with the keyword </a:t>
            </a:r>
            <a:r>
              <a:rPr lang="en-US">
                <a:latin typeface="Comic Sans MS" charset="0"/>
                <a:ea typeface="Arial" charset="0"/>
              </a:rPr>
              <a:t>const</a:t>
            </a:r>
            <a:r>
              <a:rPr lang="en-US">
                <a:latin typeface="Comic Sans MS" charset="0"/>
                <a:ea typeface="ＭＳ Ｐゴシック" charset="0"/>
                <a:cs typeface="ＭＳ Ｐゴシック" charset="0"/>
              </a:rPr>
              <a:t>. </a:t>
            </a:r>
            <a:r>
              <a:rPr lang="en-US" sz="2000" b="1">
                <a:latin typeface="Courier New" charset="0"/>
                <a:ea typeface="Arial" charset="0"/>
              </a:rPr>
              <a:t>const int[0,1] YES = 1; const bool NO = false</a:t>
            </a:r>
          </a:p>
          <a:p>
            <a:pPr marL="712788" lvl="1" indent="-255588" defTabSz="731838" eaLnBrk="1" hangingPunct="1"/>
            <a:endParaRPr lang="en-US" sz="2000" b="1">
              <a:latin typeface="Courier New" charset="0"/>
              <a:ea typeface="Arial" charset="0"/>
            </a:endParaRPr>
          </a:p>
          <a:p>
            <a:pPr marL="712788" lvl="1" indent="-255588" defTabSz="731838" eaLnBrk="1" hangingPunct="1"/>
            <a:r>
              <a:rPr lang="en-US" sz="2000" b="1">
                <a:latin typeface="Courier New" charset="0"/>
                <a:ea typeface="Arial" charset="0"/>
              </a:rPr>
              <a:t>This works preety much as you would expect. </a:t>
            </a:r>
            <a:endParaRPr lang="sv-SE" sz="2000" b="1">
              <a:latin typeface="Courier New" charset="0"/>
              <a:ea typeface="Arial" charset="0"/>
            </a:endParaRPr>
          </a:p>
        </p:txBody>
      </p:sp>
      <p:sp>
        <p:nvSpPr>
          <p:cNvPr id="5939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31075E81-63C1-3746-8BE8-09E87ECE71ED}" type="slidenum">
              <a:rPr lang="sv-SE" sz="1300">
                <a:latin typeface="Comic Sans MS" charset="0"/>
              </a:rPr>
              <a:pPr/>
              <a:t>68</a:t>
            </a:fld>
            <a:endParaRPr lang="sv-SE" sz="1300">
              <a:latin typeface="Comic Sans MS"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A0FE0CE8-7E94-434B-B6F2-9C82A2D176DB}" type="slidenum">
              <a:rPr lang="sv-SE" sz="1300">
                <a:latin typeface="Comic Sans MS" charset="0"/>
              </a:rPr>
              <a:pPr/>
              <a:t>69</a:t>
            </a:fld>
            <a:endParaRPr lang="sv-SE" sz="1300">
              <a:latin typeface="Comic Sans MS" charset="0"/>
            </a:endParaRPr>
          </a:p>
        </p:txBody>
      </p:sp>
      <p:sp>
        <p:nvSpPr>
          <p:cNvPr id="24578" name="Rectangle 2"/>
          <p:cNvSpPr>
            <a:spLocks noGrp="1" noRot="1" noChangeAspect="1" noChangeArrowheads="1" noTextEdit="1"/>
          </p:cNvSpPr>
          <p:nvPr>
            <p:ph type="sldImg"/>
          </p:nvPr>
        </p:nvSpPr>
        <p:spPr>
          <a:xfrm>
            <a:off x="139700" y="768350"/>
            <a:ext cx="6819900" cy="3836988"/>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sv-SE">
                <a:latin typeface="Comic Sans MS" charset="0"/>
              </a:rPr>
              <a:t>And then we have clock assignments. We went through them last time. Let us start with the guards. A guard can be a guard over a clock or a data guard over a data variable and then you can write more complicated guards using a comma sign. For a clock guard you can have a comparison with an integer value wthich can be less, less or equal and so on. For the data guards, it is some integer expression together with a logical operation on another expresion. Integer expression are on the yellow box on the left side of the slide to show what kind of assignments are allowed. You can assign also clocks with an integer value, or you can assign a data variable to some expression which can be an integer value, or some array, or a constant, or a negation of some expression and so on</a:t>
            </a:r>
            <a:r>
              <a:rPr lang="is-IS">
                <a:latin typeface="Comic Sans MS" charset="0"/>
              </a:rPr>
              <a:t>…ahh and you can have also conditional expression like in C: if the guard is true the result can be an expression otheriwse the result is another experssion,</a:t>
            </a:r>
          </a:p>
          <a:p>
            <a:pPr eaLnBrk="1" hangingPunct="1"/>
            <a:endParaRPr lang="is-IS">
              <a:latin typeface="Comic Sans MS" charset="0"/>
            </a:endParaRPr>
          </a:p>
          <a:p>
            <a:pPr eaLnBrk="1" hangingPunct="1"/>
            <a:endParaRPr lang="is-IS">
              <a:latin typeface="Comic Sans MS" charset="0"/>
            </a:endParaRPr>
          </a:p>
          <a:p>
            <a:pPr eaLnBrk="1" hangingPunct="1"/>
            <a:r>
              <a:rPr lang="is-IS">
                <a:latin typeface="Comic Sans MS" charset="0"/>
              </a:rPr>
              <a:t>And then you can have this location invariants. They are preety much like guards but you can only have upper bounds, less or less than. </a:t>
            </a:r>
            <a:endParaRPr lang="sv-SE">
              <a:latin typeface="Comic Sans MS"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noTextEdit="1"/>
          </p:cNvSpPr>
          <p:nvPr>
            <p:ph type="sldImg"/>
          </p:nvPr>
        </p:nvSpPr>
        <p:spPr>
          <a:xfrm>
            <a:off x="139700" y="768350"/>
            <a:ext cx="6819900" cy="3836988"/>
          </a:xfrm>
          <a:ln/>
        </p:spPr>
      </p:sp>
      <p:sp>
        <p:nvSpPr>
          <p:cNvPr id="6041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And then you have this actions and this is just a name that you declared. Then you the actions are of the form a question mark or a exclamation mark. I always think about exclamation mark as the action starting the synchronization. Just to note here, a is a side effect free expression evaluating to a channel. The intuition is that two processes can synchronise on enabled edges annotated with actions, </a:t>
            </a:r>
            <a:r>
              <a:rPr lang="en-US" i="1">
                <a:latin typeface="Comic Sans MS" charset="0"/>
              </a:rPr>
              <a:t>i.e.</a:t>
            </a:r>
            <a:r>
              <a:rPr lang="en-US">
                <a:latin typeface="Comic Sans MS" charset="0"/>
              </a:rPr>
              <a:t> two edges in different processes can synchronise if the guards of both edges are satisfied, and they have synchronisation labels a question mark and a exclamation mark, where  a question mark and a exclamation mark evaluate to the same channel a. You can have one or zero action per edge. Nothing means it doesn</a:t>
            </a:r>
            <a:r>
              <a:rPr lang="uk-UA">
                <a:latin typeface="Comic Sans MS" charset="0"/>
              </a:rPr>
              <a:t>’</a:t>
            </a:r>
            <a:r>
              <a:rPr lang="en-US">
                <a:latin typeface="Comic Sans MS" charset="0"/>
              </a:rPr>
              <a:t>t need to syncronize.  </a:t>
            </a:r>
          </a:p>
          <a:p>
            <a:br>
              <a:rPr lang="en-US">
                <a:latin typeface="Comic Sans MS" charset="0"/>
              </a:rPr>
            </a:br>
            <a:endParaRPr lang="en-US">
              <a:latin typeface="Comic Sans MS" charset="0"/>
            </a:endParaRPr>
          </a:p>
        </p:txBody>
      </p:sp>
      <p:sp>
        <p:nvSpPr>
          <p:cNvPr id="6041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07ED61C9-AD65-C34E-B8E5-3877513A14FE}" type="slidenum">
              <a:rPr lang="sv-SE" sz="1300">
                <a:latin typeface="Comic Sans MS" charset="0"/>
              </a:rPr>
              <a:pPr/>
              <a:t>70</a:t>
            </a:fld>
            <a:endParaRPr lang="sv-SE" sz="1300">
              <a:latin typeface="Comic Sans MS"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a:xfrm>
            <a:off x="139700" y="768350"/>
            <a:ext cx="6819900" cy="3836988"/>
          </a:xfrm>
          <a:ln/>
        </p:spPr>
      </p:sp>
      <p:sp>
        <p:nvSpPr>
          <p:cNvPr id="6144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Up to now we have the type of timed automata we discussed last time, except that we have more data variables.  We can declare channels that are a bit different: The syntax is the same as for regular channels but you add the keyword broadcast.  The semantics is that Broadcast channels allow 1-to-many synchronisations. The intuition is that an edge with synchronisation label a exclamation mark emits a broadcast on the channel a and that any enabled edge with synchronisation label a question mark will synchronise with the emitting process (receiption of broadcast) For example an edge with an emit-synchronisation on a broadcast channel can always fire (provided that the guard is satisfied), no matter if any receiving edges are enabled. But those receiving edges, which are enabled </a:t>
            </a:r>
            <a:r>
              <a:rPr lang="en-US" i="1">
                <a:latin typeface="Comic Sans MS" charset="0"/>
              </a:rPr>
              <a:t>will</a:t>
            </a:r>
            <a:r>
              <a:rPr lang="en-US">
                <a:latin typeface="Comic Sans MS" charset="0"/>
              </a:rPr>
              <a:t> synchronise. I don</a:t>
            </a:r>
            <a:r>
              <a:rPr lang="ja-JP" altLang="en-US">
                <a:latin typeface="Comic Sans MS" charset="0"/>
              </a:rPr>
              <a:t>’</a:t>
            </a:r>
            <a:r>
              <a:rPr lang="en-US">
                <a:latin typeface="Comic Sans MS" charset="0"/>
              </a:rPr>
              <a:t>t think you will use broadcasting syncronizations but it is good to know about them</a:t>
            </a:r>
            <a:r>
              <a:rPr lang="is-IS">
                <a:latin typeface="Comic Sans MS" charset="0"/>
              </a:rPr>
              <a:t>…</a:t>
            </a:r>
            <a:endParaRPr lang="en-US">
              <a:latin typeface="Comic Sans MS" charset="0"/>
            </a:endParaRPr>
          </a:p>
        </p:txBody>
      </p:sp>
      <p:sp>
        <p:nvSpPr>
          <p:cNvPr id="6144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4F645534-CBEC-3C4D-98E5-22C5D9EBF365}" type="slidenum">
              <a:rPr lang="sv-SE" sz="1300">
                <a:latin typeface="Comic Sans MS" charset="0"/>
              </a:rPr>
              <a:pPr/>
              <a:t>71</a:t>
            </a:fld>
            <a:endParaRPr lang="sv-SE" sz="1300">
              <a:latin typeface="Comic Sans MS"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a:xfrm>
            <a:off x="139700" y="768350"/>
            <a:ext cx="6819900" cy="3836988"/>
          </a:xfrm>
          <a:ln/>
        </p:spPr>
      </p:sp>
      <p:sp>
        <p:nvSpPr>
          <p:cNvPr id="6246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Now we come back to the idea of urgent channels. Here is an untimed model. Assume that automata P is in l1 and automata Q is S1. We want them to take when both are in l1 s1 a transition as quick as possible. You remember in timed automata they can always choose to delay if they want to. Can we model this with invariants? You can always reset the clock  when getting to l1 and then say that you can spend just 0 time units in the location l1 and then you take the transition and send but if the receiver in Q automata is not available to receive then this will really not work. This is not possible also if in Q we do the same trick. What you can do is declare the channel as urgent and urgent means as soon as possible they should syncronize. If a sruncronation on a urgent channel is possible they cannot delay any longer. </a:t>
            </a:r>
          </a:p>
        </p:txBody>
      </p:sp>
      <p:sp>
        <p:nvSpPr>
          <p:cNvPr id="6246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8CE6D8A3-BF7B-FB4F-864A-531089A14FD6}" type="slidenum">
              <a:rPr lang="sv-SE" sz="1300">
                <a:latin typeface="Comic Sans MS" charset="0"/>
              </a:rPr>
              <a:pPr/>
              <a:t>72</a:t>
            </a:fld>
            <a:endParaRPr lang="sv-SE" sz="1300">
              <a:latin typeface="Comic Sans MS"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a:xfrm>
            <a:off x="139700" y="768350"/>
            <a:ext cx="6819900" cy="3836988"/>
          </a:xfrm>
          <a:ln/>
        </p:spPr>
      </p:sp>
      <p:sp>
        <p:nvSpPr>
          <p:cNvPr id="6349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Just simply declare this action as urgent. Now it doesn</a:t>
            </a:r>
            <a:r>
              <a:rPr lang="uk-UA">
                <a:latin typeface="Comic Sans MS" charset="0"/>
              </a:rPr>
              <a:t>’</a:t>
            </a:r>
            <a:r>
              <a:rPr lang="en-US">
                <a:latin typeface="Comic Sans MS" charset="0"/>
              </a:rPr>
              <a:t>t matter which automaton comes first to l1 or s1, when they are ready they will both syncronize. This is a place where you can model this in timed automata. You can maybe do that in a very complicated model but Uppaal makes this work outside the framework of timed automata. </a:t>
            </a:r>
          </a:p>
        </p:txBody>
      </p:sp>
      <p:sp>
        <p:nvSpPr>
          <p:cNvPr id="6349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A971CDD1-24F1-894B-A228-9A9A89807031}" type="slidenum">
              <a:rPr lang="sv-SE" sz="1300">
                <a:latin typeface="Comic Sans MS" charset="0"/>
              </a:rPr>
              <a:pPr/>
              <a:t>73</a:t>
            </a:fld>
            <a:endParaRPr lang="sv-SE" sz="1300">
              <a:latin typeface="Comic Sans MS"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a:xfrm>
            <a:off x="139700" y="768350"/>
            <a:ext cx="6819900" cy="3836988"/>
          </a:xfrm>
          <a:ln/>
        </p:spPr>
      </p:sp>
      <p:sp>
        <p:nvSpPr>
          <p:cNvPr id="6451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spcBef>
                <a:spcPct val="20000"/>
              </a:spcBef>
            </a:pPr>
            <a:r>
              <a:rPr lang="en-US">
                <a:latin typeface="Comic Sans MS" charset="0"/>
              </a:rPr>
              <a:t>As I said you can declare it as follows: urgent chan and then the name of the channel followed by a semicolon. </a:t>
            </a:r>
            <a:r>
              <a:rPr lang="en-US" b="1">
                <a:latin typeface="Arial" charset="0"/>
              </a:rPr>
              <a:t>Informal Semantics: </a:t>
            </a:r>
            <a:r>
              <a:rPr lang="en-US">
                <a:latin typeface="Arial" charset="0"/>
              </a:rPr>
              <a:t>There will be </a:t>
            </a:r>
            <a:r>
              <a:rPr lang="en-US" u="sng">
                <a:latin typeface="Arial" charset="0"/>
              </a:rPr>
              <a:t>no delay</a:t>
            </a:r>
            <a:r>
              <a:rPr lang="en-US">
                <a:latin typeface="Arial" charset="0"/>
              </a:rPr>
              <a:t> if transition with urgent action can be taken.  That doesn</a:t>
            </a:r>
            <a:r>
              <a:rPr lang="uk-UA">
                <a:latin typeface="Arial" charset="0"/>
              </a:rPr>
              <a:t>’</a:t>
            </a:r>
            <a:r>
              <a:rPr lang="en-US">
                <a:latin typeface="Arial" charset="0"/>
              </a:rPr>
              <a:t>t mean that other transitions cannot be taken when there is no delay. The only restriction refers to the delay</a:t>
            </a:r>
            <a:r>
              <a:rPr lang="is-IS">
                <a:latin typeface="Arial" charset="0"/>
              </a:rPr>
              <a:t>….</a:t>
            </a:r>
            <a:endParaRPr lang="en-US">
              <a:latin typeface="Arial" charset="0"/>
            </a:endParaRPr>
          </a:p>
          <a:p>
            <a:pPr>
              <a:spcBef>
                <a:spcPct val="20000"/>
              </a:spcBef>
            </a:pPr>
            <a:endParaRPr lang="en-US">
              <a:latin typeface="Arial" charset="0"/>
            </a:endParaRPr>
          </a:p>
          <a:p>
            <a:pPr>
              <a:spcBef>
                <a:spcPct val="20000"/>
              </a:spcBef>
            </a:pPr>
            <a:r>
              <a:rPr lang="en-US">
                <a:latin typeface="Arial" charset="0"/>
              </a:rPr>
              <a:t>There are some </a:t>
            </a:r>
            <a:r>
              <a:rPr lang="en-US" b="1">
                <a:latin typeface="Arial" charset="0"/>
              </a:rPr>
              <a:t>Restrictions </a:t>
            </a:r>
            <a:r>
              <a:rPr lang="en-US" u="sng">
                <a:latin typeface="Arial" charset="0"/>
              </a:rPr>
              <a:t>No clock guard</a:t>
            </a:r>
            <a:r>
              <a:rPr lang="en-US">
                <a:latin typeface="Arial" charset="0"/>
              </a:rPr>
              <a:t> allowed on transitions with urgent actions and </a:t>
            </a:r>
            <a:r>
              <a:rPr lang="en-US" u="sng">
                <a:latin typeface="Arial" charset="0"/>
              </a:rPr>
              <a:t>Invariants</a:t>
            </a:r>
            <a:r>
              <a:rPr lang="en-US">
                <a:latin typeface="Arial" charset="0"/>
              </a:rPr>
              <a:t> and </a:t>
            </a:r>
            <a:r>
              <a:rPr lang="en-US" u="sng">
                <a:latin typeface="Arial" charset="0"/>
              </a:rPr>
              <a:t>data-variable guards</a:t>
            </a:r>
            <a:r>
              <a:rPr lang="en-US">
                <a:latin typeface="Arial" charset="0"/>
              </a:rPr>
              <a:t> are allowed.</a:t>
            </a:r>
          </a:p>
          <a:p>
            <a:endParaRPr lang="en-US">
              <a:latin typeface="Comic Sans MS" charset="0"/>
            </a:endParaRPr>
          </a:p>
        </p:txBody>
      </p:sp>
      <p:sp>
        <p:nvSpPr>
          <p:cNvPr id="6451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1C05F19E-C23E-8B44-B210-BF30028537BF}" type="slidenum">
              <a:rPr lang="sv-SE" sz="1300">
                <a:latin typeface="Comic Sans MS" charset="0"/>
              </a:rPr>
              <a:pPr/>
              <a:t>74</a:t>
            </a:fld>
            <a:endParaRPr lang="sv-SE" sz="1300">
              <a:latin typeface="Comic Sans MS"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a:xfrm>
            <a:off x="139700" y="768350"/>
            <a:ext cx="6819900" cy="3836988"/>
          </a:xfrm>
          <a:ln/>
        </p:spPr>
      </p:sp>
      <p:sp>
        <p:nvSpPr>
          <p:cNvPr id="6553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Here is an example on how to make use of urgent channels, Here i is a data variable and we want this automaton to take this transition as soon as I becomes 5. This is how you think about programs usually in regular programming languages, they do things as quickly as possible. They don</a:t>
            </a:r>
            <a:r>
              <a:rPr lang="ja-JP" altLang="en-US">
                <a:latin typeface="Comic Sans MS" charset="0"/>
              </a:rPr>
              <a:t>’</a:t>
            </a:r>
            <a:r>
              <a:rPr lang="en-US">
                <a:latin typeface="Comic Sans MS" charset="0"/>
              </a:rPr>
              <a:t>t spend time in l1 if they can</a:t>
            </a:r>
            <a:r>
              <a:rPr lang="is-IS">
                <a:latin typeface="Comic Sans MS" charset="0"/>
              </a:rPr>
              <a:t>…in timed automata you need to think about the notion of time and you can always choose to delay. </a:t>
            </a:r>
            <a:r>
              <a:rPr lang="en-US">
                <a:latin typeface="Comic Sans MS" charset="0"/>
              </a:rPr>
              <a:t>H</a:t>
            </a:r>
            <a:r>
              <a:rPr lang="is-IS">
                <a:latin typeface="Comic Sans MS" charset="0"/>
              </a:rPr>
              <a:t>ere you can choose to delay forever in l1. Assume that we want this automaton to take the transition from l1 to l2 as soon as i==5. </a:t>
            </a:r>
            <a:endParaRPr lang="en-US">
              <a:latin typeface="Comic Sans MS" charset="0"/>
            </a:endParaRPr>
          </a:p>
        </p:txBody>
      </p:sp>
      <p:sp>
        <p:nvSpPr>
          <p:cNvPr id="6553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0B7557AD-7849-3F43-B5A4-654C92661284}" type="slidenum">
              <a:rPr lang="sv-SE" sz="1300">
                <a:latin typeface="Comic Sans MS" charset="0"/>
              </a:rPr>
              <a:pPr/>
              <a:t>75</a:t>
            </a:fld>
            <a:endParaRPr lang="sv-SE" sz="1300">
              <a:latin typeface="Comic Sans MS"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noTextEdit="1"/>
          </p:cNvSpPr>
          <p:nvPr>
            <p:ph type="sldImg"/>
          </p:nvPr>
        </p:nvSpPr>
        <p:spPr>
          <a:xfrm>
            <a:off x="139700" y="768350"/>
            <a:ext cx="6819900" cy="3836988"/>
          </a:xfrm>
          <a:ln/>
        </p:spPr>
      </p:sp>
      <p:sp>
        <p:nvSpPr>
          <p:cNvPr id="6656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So you can introduce an urgent syncronization here</a:t>
            </a:r>
            <a:r>
              <a:rPr lang="is-IS">
                <a:latin typeface="Comic Sans MS" charset="0"/>
              </a:rPr>
              <a:t>….if you add a little automaton with a state s1 and one transition going back to location s1 that is always willing to syncronzie using the go urgent channel. If you add this go here and if we are in l1 and i become 5 that means that it needs to take the go transiition. </a:t>
            </a:r>
            <a:r>
              <a:rPr lang="en-US">
                <a:latin typeface="Comic Sans MS" charset="0"/>
              </a:rPr>
              <a:t>I</a:t>
            </a:r>
            <a:r>
              <a:rPr lang="is-IS">
                <a:latin typeface="Comic Sans MS" charset="0"/>
              </a:rPr>
              <a:t>t cannot delay forever in l1. it will take the transition without delay except if there is another option... Remember that transitions are instantanious. There is no time in taking a transition, in 0 time units. </a:t>
            </a:r>
            <a:r>
              <a:rPr lang="en-US">
                <a:latin typeface="Comic Sans MS" charset="0"/>
              </a:rPr>
              <a:t>S</a:t>
            </a:r>
            <a:r>
              <a:rPr lang="is-IS">
                <a:latin typeface="Comic Sans MS" charset="0"/>
              </a:rPr>
              <a:t>o you can do infinetiely many transitions in 0 time actually, that is a bad model but you could do that. </a:t>
            </a:r>
            <a:r>
              <a:rPr lang="en-US">
                <a:latin typeface="Comic Sans MS" charset="0"/>
              </a:rPr>
              <a:t>T</a:t>
            </a:r>
            <a:r>
              <a:rPr lang="is-IS">
                <a:latin typeface="Comic Sans MS" charset="0"/>
              </a:rPr>
              <a:t>hat is what is called zeno model.... </a:t>
            </a:r>
            <a:endParaRPr lang="en-US">
              <a:latin typeface="Comic Sans MS" charset="0"/>
            </a:endParaRPr>
          </a:p>
        </p:txBody>
      </p:sp>
      <p:sp>
        <p:nvSpPr>
          <p:cNvPr id="6656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1F55F478-CA5B-4948-A0AD-3FEB88E5E5C5}" type="slidenum">
              <a:rPr lang="sv-SE" sz="1300">
                <a:latin typeface="Comic Sans MS" charset="0"/>
              </a:rPr>
              <a:pPr/>
              <a:t>76</a:t>
            </a:fld>
            <a:endParaRPr lang="sv-SE" sz="1300">
              <a:latin typeface="Comic Sans MS"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a:xfrm>
            <a:off x="139700" y="768350"/>
            <a:ext cx="6819900" cy="3836988"/>
          </a:xfrm>
          <a:ln/>
        </p:spPr>
      </p:sp>
      <p:sp>
        <p:nvSpPr>
          <p:cNvPr id="6758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When working with UPPAAL you will realize the need for an urgent location that I want to illustrate with this small example. Assume there is a communication medium, like an internet cable; whenever it receives something on a it sends something on b. It could be modeled as this little automata on the right of the slide. It starts in location l1. When it receives an a it sets a clock to 0 and then it makes sure that no time is pend in location l2 and then it sends the b. So, wihout any delay a is received and b is send. You can model it precisely using a clock x as the automaton in the slide. </a:t>
            </a:r>
          </a:p>
        </p:txBody>
      </p:sp>
      <p:sp>
        <p:nvSpPr>
          <p:cNvPr id="6758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E25DAFEA-DA7E-2741-96D3-8524E6403CD6}" type="slidenum">
              <a:rPr lang="sv-SE" sz="1300">
                <a:latin typeface="Comic Sans MS" charset="0"/>
              </a:rPr>
              <a:pPr/>
              <a:t>77</a:t>
            </a:fld>
            <a:endParaRPr lang="sv-SE" sz="1300">
              <a:latin typeface="Comic Sans MS"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noTextEdit="1"/>
          </p:cNvSpPr>
          <p:nvPr>
            <p:ph type="sldImg"/>
          </p:nvPr>
        </p:nvSpPr>
        <p:spPr>
          <a:xfrm>
            <a:off x="139700" y="768350"/>
            <a:ext cx="6819900" cy="3836988"/>
          </a:xfrm>
          <a:ln/>
        </p:spPr>
      </p:sp>
      <p:sp>
        <p:nvSpPr>
          <p:cNvPr id="6861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But in UPPAAL you can just declare the channel l2 as being urgent and then the automaton on the right with the yellow urgent box on l2 will behave as the automaton on the right that contains the clock x. this is purely syntactic suggar but is quite useful in practice. </a:t>
            </a:r>
          </a:p>
        </p:txBody>
      </p:sp>
      <p:sp>
        <p:nvSpPr>
          <p:cNvPr id="6861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9B1D5200-1308-664A-AAD6-4D0CB3F92CC8}" type="slidenum">
              <a:rPr lang="sv-SE" sz="1300">
                <a:latin typeface="Comic Sans MS" charset="0"/>
              </a:rPr>
              <a:pPr/>
              <a:t>78</a:t>
            </a:fld>
            <a:endParaRPr lang="sv-SE" sz="1300">
              <a:latin typeface="Comic Sans MS"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a:xfrm>
            <a:off x="139700" y="768350"/>
            <a:ext cx="6819900" cy="3836988"/>
          </a:xfrm>
          <a:ln/>
        </p:spPr>
      </p:sp>
      <p:sp>
        <p:nvSpPr>
          <p:cNvPr id="6963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spcBef>
                <a:spcPct val="20000"/>
              </a:spcBef>
            </a:pPr>
            <a:r>
              <a:rPr lang="en-US" b="1">
                <a:latin typeface="Arial" charset="0"/>
              </a:rPr>
              <a:t>In uppaal Click </a:t>
            </a:r>
            <a:r>
              <a:rPr lang="ja-JP" altLang="en-US" b="1">
                <a:latin typeface="Arial" charset="0"/>
              </a:rPr>
              <a:t>“</a:t>
            </a:r>
            <a:r>
              <a:rPr lang="en-US" altLang="ja-JP" b="1">
                <a:latin typeface="Arial" charset="0"/>
              </a:rPr>
              <a:t>Urgent</a:t>
            </a:r>
            <a:r>
              <a:rPr lang="ja-JP" altLang="en-US" b="1">
                <a:latin typeface="Arial" charset="0"/>
              </a:rPr>
              <a:t>”</a:t>
            </a:r>
            <a:r>
              <a:rPr lang="en-US" altLang="ja-JP" b="1">
                <a:latin typeface="Arial" charset="0"/>
              </a:rPr>
              <a:t> in State Editor.  </a:t>
            </a:r>
            <a:r>
              <a:rPr lang="en-US" b="1">
                <a:latin typeface="Arial" charset="0"/>
              </a:rPr>
              <a:t>and then you make sure there is </a:t>
            </a:r>
            <a:r>
              <a:rPr lang="en-US" u="sng">
                <a:latin typeface="Arial" charset="0"/>
              </a:rPr>
              <a:t>No delay</a:t>
            </a:r>
            <a:r>
              <a:rPr lang="en-US">
                <a:latin typeface="Arial" charset="0"/>
              </a:rPr>
              <a:t> in urgent location, </a:t>
            </a:r>
          </a:p>
          <a:p>
            <a:pPr>
              <a:spcBef>
                <a:spcPct val="20000"/>
              </a:spcBef>
            </a:pPr>
            <a:endParaRPr lang="en-US">
              <a:latin typeface="Arial" charset="0"/>
            </a:endParaRPr>
          </a:p>
          <a:p>
            <a:pPr>
              <a:spcBef>
                <a:spcPct val="20000"/>
              </a:spcBef>
            </a:pPr>
            <a:r>
              <a:rPr lang="en-US">
                <a:latin typeface="Arial" charset="0"/>
              </a:rPr>
              <a:t>If you use urgent locations you save a clock to be used for something else. So the use of urgent locations</a:t>
            </a:r>
            <a:r>
              <a:rPr lang="en-US" b="1">
                <a:latin typeface="Arial" charset="0"/>
              </a:rPr>
              <a:t> </a:t>
            </a:r>
            <a:r>
              <a:rPr lang="en-US" b="1" u="sng">
                <a:latin typeface="Arial" charset="0"/>
              </a:rPr>
              <a:t>reduces</a:t>
            </a:r>
            <a:r>
              <a:rPr lang="en-US" b="1">
                <a:latin typeface="Arial" charset="0"/>
              </a:rPr>
              <a:t> </a:t>
            </a:r>
            <a:r>
              <a:rPr lang="en-US">
                <a:latin typeface="Arial" charset="0"/>
              </a:rPr>
              <a:t>the number of clocks in a model, and thus the complexity of the analysis. Think about this when modelling</a:t>
            </a:r>
            <a:r>
              <a:rPr lang="is-IS">
                <a:latin typeface="Arial" charset="0"/>
              </a:rPr>
              <a:t>…. </a:t>
            </a:r>
            <a:endParaRPr lang="sv-SE">
              <a:latin typeface="Arial" charset="0"/>
            </a:endParaRPr>
          </a:p>
          <a:p>
            <a:pPr algn="ctr">
              <a:spcBef>
                <a:spcPct val="20000"/>
              </a:spcBef>
            </a:pPr>
            <a:endParaRPr lang="en-US" b="1">
              <a:latin typeface="Arial" charset="0"/>
            </a:endParaRPr>
          </a:p>
        </p:txBody>
      </p:sp>
      <p:sp>
        <p:nvSpPr>
          <p:cNvPr id="6963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8E256211-BE33-E74B-B748-3D795ACF81B0}" type="slidenum">
              <a:rPr lang="sv-SE" sz="1300">
                <a:latin typeface="Comic Sans MS" charset="0"/>
              </a:rPr>
              <a:pPr/>
              <a:t>79</a:t>
            </a:fld>
            <a:endParaRPr lang="sv-SE" sz="1300">
              <a:latin typeface="Comic Sans MS"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noTextEdit="1"/>
          </p:cNvSpPr>
          <p:nvPr>
            <p:ph type="sldImg"/>
          </p:nvPr>
        </p:nvSpPr>
        <p:spPr>
          <a:xfrm>
            <a:off x="139700" y="768350"/>
            <a:ext cx="6819900" cy="3836988"/>
          </a:xfrm>
          <a:ln/>
        </p:spPr>
      </p:sp>
      <p:sp>
        <p:nvSpPr>
          <p:cNvPr id="7065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defTabSz="731838" eaLnBrk="1" hangingPunct="1"/>
            <a:r>
              <a:rPr lang="en-US">
                <a:latin typeface="Comic Sans MS" charset="0"/>
              </a:rPr>
              <a:t>An interesting concept is the commited location. </a:t>
            </a:r>
            <a:r>
              <a:rPr lang="en-US" b="1">
                <a:latin typeface="Comic Sans MS" charset="0"/>
              </a:rPr>
              <a:t>Assume:</a:t>
            </a:r>
            <a:r>
              <a:rPr lang="en-US">
                <a:latin typeface="Comic Sans MS" charset="0"/>
              </a:rPr>
              <a:t> we want to model a process (P) simultaneously sending message (a) to two receiving processes (when i==0). When I becomes 0  P will send two a syncronizations. Would you say these have the same semantics? Timing wise NO. but practically it can be another timed automata that does something while this operates in n. In practice you can take the transition in P prime from l1 to n and then the Q automata can do something and then in P prime you can take the transition from n to l2. making it urgent makes the location n atomic timing wise but it can still be interrupted by some other automaton doing something. </a:t>
            </a:r>
          </a:p>
        </p:txBody>
      </p:sp>
      <p:sp>
        <p:nvSpPr>
          <p:cNvPr id="7065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70B366F1-3550-8D40-BCB1-52AB72E2B275}" type="slidenum">
              <a:rPr lang="sv-SE" sz="1300">
                <a:latin typeface="Comic Sans MS" charset="0"/>
              </a:rPr>
              <a:pPr/>
              <a:t>80</a:t>
            </a:fld>
            <a:endParaRPr lang="sv-SE" sz="1300">
              <a:latin typeface="Comic Sans MS"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a:xfrm>
            <a:off x="139700" y="768350"/>
            <a:ext cx="6819900" cy="3836988"/>
          </a:xfrm>
          <a:ln/>
        </p:spPr>
      </p:sp>
      <p:sp>
        <p:nvSpPr>
          <p:cNvPr id="7168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If you want to make this location atomic mark the location n as commited. When you get to n location the next transition in the entire network of timed automata needs to involve the next edge from n. urgent locations, committed locations freeze time. Committed locations are useful for creating atomic sequences and for encoding synchronization between more than two components. Notice that if several processes are in a committed location at the same time, then they will interleave but I will not go into too many details with this</a:t>
            </a:r>
            <a:r>
              <a:rPr lang="is-IS">
                <a:latin typeface="Comic Sans MS" charset="0"/>
              </a:rPr>
              <a:t>…</a:t>
            </a:r>
            <a:endParaRPr lang="en-US">
              <a:latin typeface="Comic Sans MS" charset="0"/>
            </a:endParaRPr>
          </a:p>
          <a:p>
            <a:endParaRPr lang="en-US">
              <a:latin typeface="Comic Sans MS" charset="0"/>
            </a:endParaRPr>
          </a:p>
        </p:txBody>
      </p:sp>
      <p:sp>
        <p:nvSpPr>
          <p:cNvPr id="7168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C2AB8817-9E4B-0443-80CC-68C2301BCD8C}" type="slidenum">
              <a:rPr lang="sv-SE" sz="1300">
                <a:latin typeface="Comic Sans MS" charset="0"/>
              </a:rPr>
              <a:pPr/>
              <a:t>81</a:t>
            </a:fld>
            <a:endParaRPr lang="sv-SE" sz="1300">
              <a:latin typeface="Comic Sans MS"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a:xfrm>
            <a:off x="139700" y="768350"/>
            <a:ext cx="6819900" cy="3836988"/>
          </a:xfrm>
          <a:ln/>
        </p:spPr>
      </p:sp>
      <p:sp>
        <p:nvSpPr>
          <p:cNvPr id="7270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spcBef>
                <a:spcPct val="20000"/>
              </a:spcBef>
              <a:buFontTx/>
              <a:buChar char="•"/>
            </a:pPr>
            <a:r>
              <a:rPr lang="en-US">
                <a:latin typeface="Comic Sans MS" charset="0"/>
              </a:rPr>
              <a:t>In  uppaal </a:t>
            </a:r>
            <a:r>
              <a:rPr lang="en-US" b="1">
                <a:latin typeface="Arial" charset="0"/>
              </a:rPr>
              <a:t>Click </a:t>
            </a:r>
            <a:r>
              <a:rPr lang="ja-JP" altLang="en-US" b="1">
                <a:latin typeface="Arial" charset="0"/>
              </a:rPr>
              <a:t>“</a:t>
            </a:r>
            <a:r>
              <a:rPr lang="en-US" altLang="ja-JP" b="1">
                <a:latin typeface="Arial" charset="0"/>
              </a:rPr>
              <a:t>Committed</a:t>
            </a:r>
            <a:r>
              <a:rPr lang="ja-JP" altLang="en-US" b="1">
                <a:latin typeface="Arial" charset="0"/>
              </a:rPr>
              <a:t>”</a:t>
            </a:r>
            <a:r>
              <a:rPr lang="en-US" altLang="ja-JP" b="1">
                <a:latin typeface="Arial" charset="0"/>
              </a:rPr>
              <a:t> i State Editor. There will be </a:t>
            </a:r>
            <a:r>
              <a:rPr lang="en-US" u="sng">
                <a:solidFill>
                  <a:srgbClr val="000000"/>
                </a:solidFill>
                <a:latin typeface="Arial" charset="0"/>
              </a:rPr>
              <a:t>No delay</a:t>
            </a:r>
            <a:r>
              <a:rPr lang="en-US">
                <a:solidFill>
                  <a:srgbClr val="000000"/>
                </a:solidFill>
                <a:latin typeface="Arial" charset="0"/>
              </a:rPr>
              <a:t> in committed location and the Next transition must involve automata in </a:t>
            </a:r>
            <a:r>
              <a:rPr lang="en-US" u="sng">
                <a:solidFill>
                  <a:srgbClr val="000000"/>
                </a:solidFill>
                <a:latin typeface="Arial" charset="0"/>
              </a:rPr>
              <a:t>committed</a:t>
            </a:r>
            <a:br>
              <a:rPr lang="en-US" u="sng">
                <a:solidFill>
                  <a:srgbClr val="000000"/>
                </a:solidFill>
                <a:latin typeface="Arial" charset="0"/>
              </a:rPr>
            </a:br>
            <a:r>
              <a:rPr lang="en-US">
                <a:solidFill>
                  <a:srgbClr val="000000"/>
                </a:solidFill>
                <a:latin typeface="Arial" charset="0"/>
              </a:rPr>
              <a:t>  </a:t>
            </a:r>
            <a:r>
              <a:rPr lang="en-US" u="sng">
                <a:solidFill>
                  <a:srgbClr val="000000"/>
                </a:solidFill>
                <a:latin typeface="Arial" charset="0"/>
              </a:rPr>
              <a:t>location</a:t>
            </a:r>
            <a:r>
              <a:rPr lang="en-US">
                <a:solidFill>
                  <a:srgbClr val="000000"/>
                </a:solidFill>
                <a:latin typeface="Arial" charset="0"/>
              </a:rPr>
              <a:t>. </a:t>
            </a:r>
          </a:p>
          <a:p>
            <a:pPr>
              <a:spcBef>
                <a:spcPct val="20000"/>
              </a:spcBef>
              <a:buFontTx/>
              <a:buChar char="•"/>
            </a:pPr>
            <a:r>
              <a:rPr lang="en-US">
                <a:solidFill>
                  <a:srgbClr val="000000"/>
                </a:solidFill>
                <a:latin typeface="Arial" charset="0"/>
              </a:rPr>
              <a:t> </a:t>
            </a:r>
            <a:r>
              <a:rPr lang="en-US">
                <a:solidFill>
                  <a:srgbClr val="000000"/>
                </a:solidFill>
                <a:latin typeface="Times New Roman" charset="0"/>
              </a:rPr>
              <a:t>the use of committed locations</a:t>
            </a:r>
            <a:r>
              <a:rPr lang="en-US" b="1">
                <a:solidFill>
                  <a:srgbClr val="000000"/>
                </a:solidFill>
                <a:latin typeface="Times New Roman" charset="0"/>
              </a:rPr>
              <a:t> </a:t>
            </a:r>
            <a:r>
              <a:rPr lang="en-US" b="1" u="sng">
                <a:solidFill>
                  <a:srgbClr val="000000"/>
                </a:solidFill>
                <a:latin typeface="Times New Roman" charset="0"/>
              </a:rPr>
              <a:t>reduces</a:t>
            </a:r>
            <a:r>
              <a:rPr lang="en-US" b="1">
                <a:solidFill>
                  <a:srgbClr val="000000"/>
                </a:solidFill>
                <a:latin typeface="Times New Roman" charset="0"/>
              </a:rPr>
              <a:t> </a:t>
            </a:r>
            <a:r>
              <a:rPr lang="en-US">
                <a:solidFill>
                  <a:srgbClr val="000000"/>
                </a:solidFill>
                <a:latin typeface="Times New Roman" charset="0"/>
              </a:rPr>
              <a:t>the number of  clocks in a model,</a:t>
            </a:r>
            <a:r>
              <a:rPr lang="en-US" b="1">
                <a:solidFill>
                  <a:srgbClr val="000000"/>
                </a:solidFill>
                <a:latin typeface="Times New Roman" charset="0"/>
              </a:rPr>
              <a:t> </a:t>
            </a:r>
            <a:r>
              <a:rPr lang="en-US" u="sng">
                <a:solidFill>
                  <a:srgbClr val="000000"/>
                </a:solidFill>
                <a:latin typeface="Times New Roman" charset="0"/>
              </a:rPr>
              <a:t>and</a:t>
            </a:r>
            <a:r>
              <a:rPr lang="en-US" b="1">
                <a:solidFill>
                  <a:srgbClr val="000000"/>
                </a:solidFill>
                <a:latin typeface="Times New Roman" charset="0"/>
              </a:rPr>
              <a:t> </a:t>
            </a:r>
            <a:r>
              <a:rPr lang="en-US">
                <a:solidFill>
                  <a:srgbClr val="000000"/>
                </a:solidFill>
                <a:latin typeface="Times New Roman" charset="0"/>
              </a:rPr>
              <a:t>allows for more space and time efficient analysis.</a:t>
            </a:r>
          </a:p>
          <a:p>
            <a:endParaRPr lang="en-US" b="1">
              <a:latin typeface="Arial" charset="0"/>
            </a:endParaRPr>
          </a:p>
          <a:p>
            <a:endParaRPr lang="en-US">
              <a:latin typeface="Comic Sans MS" charset="0"/>
            </a:endParaRPr>
          </a:p>
        </p:txBody>
      </p:sp>
      <p:sp>
        <p:nvSpPr>
          <p:cNvPr id="7270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6DC95F18-006C-B046-BE1F-66604E4FEB42}" type="slidenum">
              <a:rPr lang="sv-SE" sz="1300">
                <a:latin typeface="Comic Sans MS" charset="0"/>
              </a:rPr>
              <a:pPr/>
              <a:t>82</a:t>
            </a:fld>
            <a:endParaRPr lang="sv-SE" sz="1300">
              <a:latin typeface="Comic Sans MS"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a:xfrm>
            <a:off x="139700" y="768350"/>
            <a:ext cx="6819900" cy="3836988"/>
          </a:xfrm>
          <a:ln/>
        </p:spPr>
      </p:sp>
      <p:sp>
        <p:nvSpPr>
          <p:cNvPr id="7373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Assume we want to pass the value of integer </a:t>
            </a:r>
            <a:r>
              <a:rPr lang="ja-JP" altLang="en-US">
                <a:latin typeface="Comic Sans MS" charset="0"/>
              </a:rPr>
              <a:t>”</a:t>
            </a:r>
            <a:r>
              <a:rPr lang="en-US" altLang="ja-JP">
                <a:latin typeface="Comic Sans MS" charset="0"/>
              </a:rPr>
              <a:t>k</a:t>
            </a:r>
            <a:r>
              <a:rPr lang="ja-JP" altLang="en-US">
                <a:latin typeface="Comic Sans MS" charset="0"/>
              </a:rPr>
              <a:t>”</a:t>
            </a:r>
            <a:r>
              <a:rPr lang="en-US" altLang="ja-JP">
                <a:latin typeface="Comic Sans MS" charset="0"/>
              </a:rPr>
              <a:t> from automaton P to variable </a:t>
            </a:r>
            <a:r>
              <a:rPr lang="ja-JP" altLang="en-US">
                <a:latin typeface="Comic Sans MS" charset="0"/>
              </a:rPr>
              <a:t>”</a:t>
            </a:r>
            <a:r>
              <a:rPr lang="en-US" altLang="ja-JP">
                <a:latin typeface="Comic Sans MS" charset="0"/>
              </a:rPr>
              <a:t>j</a:t>
            </a:r>
            <a:r>
              <a:rPr lang="ja-JP" altLang="en-US">
                <a:latin typeface="Comic Sans MS" charset="0"/>
              </a:rPr>
              <a:t>”</a:t>
            </a:r>
            <a:r>
              <a:rPr lang="en-US" altLang="ja-JP">
                <a:latin typeface="Comic Sans MS" charset="0"/>
              </a:rPr>
              <a:t> in Q.  Integer is k. I could use a temporary variable t with the value of k and then make sure that q reads this. Interesting to notice here but in a timed automata the value of t can be changed before passing it to Q. In order to make sure that nothing happens in the assignments in P and Q then we can have an intermediate location called n that is commited and then you send the a so nothing will interfere and then the right value will be passed. </a:t>
            </a:r>
          </a:p>
          <a:p>
            <a:endParaRPr lang="en-US">
              <a:latin typeface="Comic Sans MS" charset="0"/>
            </a:endParaRPr>
          </a:p>
        </p:txBody>
      </p:sp>
      <p:sp>
        <p:nvSpPr>
          <p:cNvPr id="7373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D73FBFBB-A6DB-FB4C-B759-5193EA066054}" type="slidenum">
              <a:rPr lang="sv-SE" sz="1300">
                <a:latin typeface="Comic Sans MS" charset="0"/>
              </a:rPr>
              <a:pPr/>
              <a:t>83</a:t>
            </a:fld>
            <a:endParaRPr lang="sv-SE" sz="1300">
              <a:latin typeface="Comic Sans MS"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p:cNvSpPr>
            <a:spLocks noGrp="1" noRot="1" noChangeAspect="1" noTextEdit="1"/>
          </p:cNvSpPr>
          <p:nvPr>
            <p:ph type="sldImg"/>
          </p:nvPr>
        </p:nvSpPr>
        <p:spPr>
          <a:xfrm>
            <a:off x="139700" y="768350"/>
            <a:ext cx="6819900" cy="3836988"/>
          </a:xfrm>
          <a:ln/>
        </p:spPr>
      </p:sp>
      <p:sp>
        <p:nvSpPr>
          <p:cNvPr id="7475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712788" lvl="1" indent="-255588" defTabSz="731838" eaLnBrk="1" hangingPunct="1"/>
            <a:r>
              <a:rPr lang="en-US">
                <a:latin typeface="Comic Sans MS" charset="0"/>
                <a:ea typeface="Arial" charset="0"/>
              </a:rPr>
              <a:t>Ok</a:t>
            </a:r>
            <a:r>
              <a:rPr lang="is-IS">
                <a:latin typeface="Comic Sans MS" charset="0"/>
                <a:ea typeface="Arial" charset="0"/>
              </a:rPr>
              <a:t>… now to go to easier things. </a:t>
            </a:r>
            <a:r>
              <a:rPr lang="en-US">
                <a:latin typeface="Comic Sans MS" charset="0"/>
                <a:ea typeface="Arial" charset="0"/>
              </a:rPr>
              <a:t>T</a:t>
            </a:r>
            <a:r>
              <a:rPr lang="is-IS">
                <a:latin typeface="Comic Sans MS" charset="0"/>
                <a:ea typeface="Arial" charset="0"/>
              </a:rPr>
              <a:t>here are more expressions that you can use, not on cloks but on the data variables which you should be familiar from other programming languages, </a:t>
            </a:r>
            <a:r>
              <a:rPr lang="en-US">
                <a:latin typeface="Comic Sans MS" charset="0"/>
                <a:ea typeface="ＭＳ Ｐゴシック" charset="0"/>
                <a:cs typeface="ＭＳ Ｐゴシック" charset="0"/>
              </a:rPr>
              <a:t>Most of the expression syntax of UPPAAL coincides with that of C, C++ and Java.  </a:t>
            </a:r>
            <a:r>
              <a:rPr lang="sv-SE" sz="2000">
                <a:latin typeface="Comic Sans MS" charset="0"/>
                <a:ea typeface="Arial" charset="0"/>
              </a:rPr>
              <a:t>Logical: </a:t>
            </a:r>
            <a:r>
              <a:rPr lang="sv-SE" sz="1800">
                <a:latin typeface="Comic Sans MS" charset="0"/>
                <a:ea typeface="Arial" charset="0"/>
              </a:rPr>
              <a:t>&amp;&amp; (logical and), || (logical or), ! (logical negation),  </a:t>
            </a:r>
            <a:r>
              <a:rPr lang="sv-SE" sz="2000">
                <a:latin typeface="Comic Sans MS" charset="0"/>
                <a:ea typeface="Arial" charset="0"/>
              </a:rPr>
              <a:t>Bitwise:</a:t>
            </a:r>
            <a:r>
              <a:rPr lang="sv-SE" sz="1800">
                <a:latin typeface="Comic Sans MS" charset="0"/>
                <a:ea typeface="Arial" charset="0"/>
              </a:rPr>
              <a:t>^ (xor), &amp; (bitwise and), | (bitwise or),  </a:t>
            </a:r>
            <a:r>
              <a:rPr lang="sv-SE" sz="2000">
                <a:latin typeface="Comic Sans MS" charset="0"/>
                <a:ea typeface="Arial" charset="0"/>
              </a:rPr>
              <a:t>Bit shift: </a:t>
            </a:r>
            <a:r>
              <a:rPr lang="sv-SE" sz="1800">
                <a:latin typeface="Comic Sans MS" charset="0"/>
                <a:ea typeface="Arial" charset="0"/>
              </a:rPr>
              <a:t>&lt;&lt; (left), &gt;&gt; (right)  </a:t>
            </a:r>
            <a:r>
              <a:rPr lang="sv-SE" sz="2000">
                <a:latin typeface="Comic Sans MS" charset="0"/>
                <a:ea typeface="Arial" charset="0"/>
              </a:rPr>
              <a:t>Numerical:  </a:t>
            </a:r>
            <a:r>
              <a:rPr lang="sv-SE" sz="1800">
                <a:latin typeface="Comic Sans MS" charset="0"/>
                <a:ea typeface="Arial" charset="0"/>
              </a:rPr>
              <a:t>% (modulo), ? (max)  </a:t>
            </a:r>
            <a:r>
              <a:rPr lang="sv-SE" sz="2000">
                <a:latin typeface="Comic Sans MS" charset="0"/>
                <a:ea typeface="Arial" charset="0"/>
              </a:rPr>
              <a:t>Assignments:  </a:t>
            </a:r>
            <a:r>
              <a:rPr lang="sv-SE" sz="1800">
                <a:latin typeface="Comic Sans MS" charset="0"/>
                <a:ea typeface="Arial" charset="0"/>
              </a:rPr>
              <a:t>+=, -=, *=, /=, ^=, &lt;&lt;=, &gt;&gt;=, :=  </a:t>
            </a:r>
            <a:r>
              <a:rPr lang="sv-SE" sz="2000">
                <a:latin typeface="Comic Sans MS" charset="0"/>
                <a:ea typeface="Arial" charset="0"/>
              </a:rPr>
              <a:t>Prefix and postfix:  </a:t>
            </a:r>
            <a:r>
              <a:rPr lang="sv-SE" sz="1800">
                <a:latin typeface="Comic Sans MS" charset="0"/>
                <a:ea typeface="Arial" charset="0"/>
              </a:rPr>
              <a:t>++ (increment), -- (decrement) . </a:t>
            </a:r>
          </a:p>
          <a:p>
            <a:pPr defTabSz="731838"/>
            <a:endParaRPr lang="en-US">
              <a:latin typeface="Comic Sans MS" charset="0"/>
            </a:endParaRPr>
          </a:p>
        </p:txBody>
      </p:sp>
      <p:sp>
        <p:nvSpPr>
          <p:cNvPr id="7475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B6705E60-2ADE-B643-9C00-FA1967BF058C}" type="slidenum">
              <a:rPr lang="sv-SE" sz="1300">
                <a:latin typeface="Comic Sans MS" charset="0"/>
              </a:rPr>
              <a:pPr/>
              <a:t>84</a:t>
            </a:fld>
            <a:endParaRPr lang="sv-SE" sz="1300">
              <a:latin typeface="Comic Sans MS"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a:xfrm>
            <a:off x="139700" y="768350"/>
            <a:ext cx="6819900" cy="3836988"/>
          </a:xfrm>
          <a:ln/>
        </p:spPr>
      </p:sp>
      <p:sp>
        <p:nvSpPr>
          <p:cNvPr id="7577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defTabSz="731838" eaLnBrk="1" hangingPunct="1"/>
            <a:r>
              <a:rPr lang="en-US">
                <a:latin typeface="Comic Sans MS" charset="0"/>
              </a:rPr>
              <a:t>Again, some more data types you can use, </a:t>
            </a:r>
            <a:r>
              <a:rPr lang="sv-SE" sz="2400">
                <a:latin typeface="Comic Sans MS" charset="0"/>
              </a:rPr>
              <a:t>Multi dimensional arrays</a:t>
            </a:r>
            <a:r>
              <a:rPr lang="sv-SE" sz="2000">
                <a:latin typeface="Comic Sans MS" charset="0"/>
              </a:rPr>
              <a:t> </a:t>
            </a:r>
            <a:r>
              <a:rPr lang="sv-SE" sz="2400">
                <a:latin typeface="Comic Sans MS" charset="0"/>
              </a:rPr>
              <a:t>Array initialiser: </a:t>
            </a:r>
            <a:r>
              <a:rPr lang="sv-SE" sz="2000">
                <a:latin typeface="Comic Sans MS" charset="0"/>
              </a:rPr>
              <a:t>e.g. int b[4] := { 1, 2, 3, 4 };</a:t>
            </a:r>
          </a:p>
          <a:p>
            <a:pPr defTabSz="731838" eaLnBrk="1" hangingPunct="1"/>
            <a:r>
              <a:rPr lang="sv-SE" sz="2400">
                <a:latin typeface="Comic Sans MS" charset="0"/>
              </a:rPr>
              <a:t>Arrays of channels, clocks, constants.  </a:t>
            </a:r>
            <a:r>
              <a:rPr lang="sv-SE" sz="2000">
                <a:latin typeface="Comic Sans MS" charset="0"/>
              </a:rPr>
              <a:t>chan a[3]; clock c[3]; const k[3] { 1, 2, 3 };, </a:t>
            </a:r>
            <a:r>
              <a:rPr lang="sv-SE" sz="2400">
                <a:latin typeface="Comic Sans MS" charset="0"/>
              </a:rPr>
              <a:t>Broadcast channels., </a:t>
            </a:r>
            <a:r>
              <a:rPr lang="sv-SE" sz="2000">
                <a:latin typeface="Comic Sans MS" charset="0"/>
              </a:rPr>
              <a:t>e.g. broadcast chan a; as we talked before. </a:t>
            </a:r>
          </a:p>
          <a:p>
            <a:pPr defTabSz="731838"/>
            <a:endParaRPr lang="en-US">
              <a:latin typeface="Comic Sans MS" charset="0"/>
            </a:endParaRPr>
          </a:p>
        </p:txBody>
      </p:sp>
      <p:sp>
        <p:nvSpPr>
          <p:cNvPr id="7577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6DA7F4AC-9520-EE4D-8DF3-76A23927D573}" type="slidenum">
              <a:rPr lang="sv-SE" sz="1300">
                <a:latin typeface="Comic Sans MS" charset="0"/>
              </a:rPr>
              <a:pPr/>
              <a:t>85</a:t>
            </a:fld>
            <a:endParaRPr lang="sv-SE" sz="1300">
              <a:latin typeface="Comic Sans MS"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a:xfrm>
            <a:off x="139700" y="768350"/>
            <a:ext cx="6819900" cy="3836988"/>
          </a:xfrm>
          <a:ln/>
        </p:spPr>
      </p:sp>
      <p:sp>
        <p:nvSpPr>
          <p:cNvPr id="7680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In uppal you can declare all these global variables, constants, channels, clocks and arrays. Together with templates, processes and systems. The automaton of a template consist of Locations and edges. A template may also have local declarations and parameters. A template is instantiated by a process assignment (in the system definition). In the </a:t>
            </a:r>
            <a:r>
              <a:rPr lang="en-US" i="1">
                <a:latin typeface="Comic Sans MS" charset="0"/>
              </a:rPr>
              <a:t>system definition</a:t>
            </a:r>
            <a:r>
              <a:rPr lang="en-US">
                <a:latin typeface="Comic Sans MS" charset="0"/>
              </a:rPr>
              <a:t>, a system model is defined. Such a model consists of one or more concurrent processes, local and global variables, and channels. On the slide a system is made out of couple of processes named Train1, Train 2, Train3 Train 4 which are instantiated based on a template named Train containing the timed automaton. You will work with this more in the lab. </a:t>
            </a:r>
          </a:p>
          <a:p>
            <a:endParaRPr lang="en-US">
              <a:latin typeface="Comic Sans MS" charset="0"/>
            </a:endParaRPr>
          </a:p>
          <a:p>
            <a:endParaRPr lang="en-US">
              <a:latin typeface="Comic Sans MS" charset="0"/>
            </a:endParaRPr>
          </a:p>
          <a:p>
            <a:br>
              <a:rPr lang="en-US">
                <a:latin typeface="Comic Sans MS" charset="0"/>
              </a:rPr>
            </a:br>
            <a:endParaRPr lang="en-US">
              <a:latin typeface="Comic Sans MS" charset="0"/>
            </a:endParaRPr>
          </a:p>
        </p:txBody>
      </p:sp>
      <p:sp>
        <p:nvSpPr>
          <p:cNvPr id="7680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0CEC0A0E-1976-5B46-BECC-77DDBBE5F748}" type="slidenum">
              <a:rPr lang="sv-SE" sz="1300">
                <a:latin typeface="Comic Sans MS" charset="0"/>
              </a:rPr>
              <a:pPr/>
              <a:t>86</a:t>
            </a:fld>
            <a:endParaRPr lang="sv-SE" sz="1300">
              <a:latin typeface="Comic Sans MS"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noTextEdit="1"/>
          </p:cNvSpPr>
          <p:nvPr>
            <p:ph type="sldImg"/>
          </p:nvPr>
        </p:nvSpPr>
        <p:spPr>
          <a:xfrm>
            <a:off x="139700" y="768350"/>
            <a:ext cx="6819900" cy="3836988"/>
          </a:xfrm>
          <a:ln/>
        </p:spPr>
      </p:sp>
      <p:sp>
        <p:nvSpPr>
          <p:cNvPr id="7782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1"/>
            <a:r>
              <a:rPr lang="en-US">
                <a:latin typeface="Comic Sans MS" charset="0"/>
                <a:ea typeface="ＭＳ Ｐゴシック" charset="0"/>
                <a:cs typeface="ＭＳ Ｐゴシック" charset="0"/>
              </a:rPr>
              <a:t>Templates without parameters are instantiated into exactly one process with the same name as the template. Parameterised templates give rise to one process per combination of arguments, i.e., UPPAAL automatically binds any free template parameters. Any such parameter must be either a call-by-value bounded integer and or a call-by-value scalar.  In this example the train template is parametrized using two parameters </a:t>
            </a:r>
            <a:r>
              <a:rPr lang="en-GB" sz="1800">
                <a:latin typeface="Courier New" charset="0"/>
                <a:ea typeface="Arial" charset="0"/>
              </a:rPr>
              <a:t>int[0,N] e; const id. Then this template is instantiated in form of a process. For example Train 1= Train (e1, 1);</a:t>
            </a:r>
          </a:p>
          <a:p>
            <a:endParaRPr lang="en-US">
              <a:latin typeface="Comic Sans MS" charset="0"/>
            </a:endParaRPr>
          </a:p>
        </p:txBody>
      </p:sp>
      <p:sp>
        <p:nvSpPr>
          <p:cNvPr id="7782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2FB1DBC1-1699-A149-8CB3-DAEEF58B4B6A}" type="slidenum">
              <a:rPr lang="sv-SE" sz="1300">
                <a:latin typeface="Comic Sans MS" charset="0"/>
              </a:rPr>
              <a:pPr/>
              <a:t>87</a:t>
            </a:fld>
            <a:endParaRPr lang="sv-SE" sz="1300">
              <a:latin typeface="Comic Sans MS"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p:cNvSpPr>
            <a:spLocks noGrp="1" noRot="1" noChangeAspect="1" noTextEdit="1"/>
          </p:cNvSpPr>
          <p:nvPr>
            <p:ph type="sldImg"/>
          </p:nvPr>
        </p:nvSpPr>
        <p:spPr>
          <a:xfrm>
            <a:off x="139700" y="768350"/>
            <a:ext cx="6819900" cy="3836988"/>
          </a:xfrm>
          <a:ln/>
        </p:spPr>
      </p:sp>
      <p:sp>
        <p:nvSpPr>
          <p:cNvPr id="7885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Uppaal has couple of extensions for programming systems that can be useful: one is the select statement that </a:t>
            </a:r>
            <a:r>
              <a:rPr lang="sv-SE">
                <a:latin typeface="Comic Sans MS" charset="0"/>
              </a:rPr>
              <a:t>models a non-deterministic choice. For example if you say x followed by : dots and then the integer range beteen 0 and 42 then x will be assigned a sudo random value when the transition is taken that contains this select statement. ecord types are specified by using the struct keyword, following the C notation. For example, a record can consist of the two fields a and b which are integer. I</a:t>
            </a:r>
          </a:p>
          <a:p>
            <a:endParaRPr lang="sv-SE">
              <a:latin typeface="Comic Sans MS" charset="0"/>
            </a:endParaRPr>
          </a:p>
          <a:p>
            <a:r>
              <a:rPr lang="sv-SE">
                <a:latin typeface="Comic Sans MS" charset="0"/>
              </a:rPr>
              <a:t>Another extensions is that integers, booleans, and arrays can be marked as meta variables by prefixing the type with the keyword meta. Meta variables are stored in the state vector, but are sematically not considered part of the state. I.e. two states that only differ in meta variables are considered to be equal.</a:t>
            </a:r>
          </a:p>
          <a:p>
            <a:endParaRPr lang="sv-SE">
              <a:latin typeface="Comic Sans MS" charset="0"/>
            </a:endParaRPr>
          </a:p>
          <a:p>
            <a:endParaRPr lang="sv-SE">
              <a:latin typeface="Comic Sans MS" charset="0"/>
            </a:endParaRPr>
          </a:p>
          <a:p>
            <a:r>
              <a:rPr lang="sv-SE">
                <a:latin typeface="Comic Sans MS" charset="0"/>
              </a:rPr>
              <a:t>You can have also forall and exist expressions: An expression </a:t>
            </a:r>
            <a:r>
              <a:rPr lang="sv-SE">
                <a:latin typeface="Courier New" charset="0"/>
              </a:rPr>
              <a:t>forall (x:int[0,42]) expr is </a:t>
            </a:r>
            <a:r>
              <a:rPr lang="sv-SE">
                <a:latin typeface="Comic Sans MS" charset="0"/>
              </a:rPr>
              <a:t>true if expr is true for </a:t>
            </a:r>
            <a:r>
              <a:rPr lang="sv-SE" i="1">
                <a:latin typeface="Comic Sans MS" charset="0"/>
              </a:rPr>
              <a:t>all</a:t>
            </a:r>
            <a:r>
              <a:rPr lang="sv-SE">
                <a:latin typeface="Comic Sans MS" charset="0"/>
              </a:rPr>
              <a:t> values in [0,42] of x. </a:t>
            </a:r>
          </a:p>
          <a:p>
            <a:pPr eaLnBrk="1" hangingPunct="1">
              <a:lnSpc>
                <a:spcPct val="90000"/>
              </a:lnSpc>
            </a:pPr>
            <a:r>
              <a:rPr lang="sv-SE">
                <a:latin typeface="Comic Sans MS" charset="0"/>
              </a:rPr>
              <a:t>An expression </a:t>
            </a:r>
            <a:r>
              <a:rPr lang="sv-SE">
                <a:latin typeface="Courier New" charset="0"/>
              </a:rPr>
              <a:t>exists (x:int[0,4]) expr is </a:t>
            </a:r>
            <a:r>
              <a:rPr lang="sv-SE">
                <a:latin typeface="Comic Sans MS" charset="0"/>
              </a:rPr>
              <a:t>true if expr is true for </a:t>
            </a:r>
            <a:r>
              <a:rPr lang="sv-SE" i="1">
                <a:latin typeface="Comic Sans MS" charset="0"/>
              </a:rPr>
              <a:t>some</a:t>
            </a:r>
            <a:r>
              <a:rPr lang="sv-SE">
                <a:latin typeface="Comic Sans MS" charset="0"/>
              </a:rPr>
              <a:t> values in [0,42] of x. </a:t>
            </a:r>
          </a:p>
        </p:txBody>
      </p:sp>
      <p:sp>
        <p:nvSpPr>
          <p:cNvPr id="7885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343E84BD-F55A-2D46-A175-B4858ED37ED0}" type="slidenum">
              <a:rPr lang="sv-SE" sz="1300">
                <a:latin typeface="Comic Sans MS" charset="0"/>
              </a:rPr>
              <a:pPr/>
              <a:t>88</a:t>
            </a:fld>
            <a:endParaRPr lang="sv-SE" sz="1300">
              <a:latin typeface="Comic Sans MS"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noTextEdit="1"/>
          </p:cNvSpPr>
          <p:nvPr>
            <p:ph type="sldImg"/>
          </p:nvPr>
        </p:nvSpPr>
        <p:spPr>
          <a:xfrm>
            <a:off x="139700" y="768350"/>
            <a:ext cx="6819900" cy="3836988"/>
          </a:xfrm>
          <a:ln/>
        </p:spPr>
      </p:sp>
      <p:sp>
        <p:nvSpPr>
          <p:cNvPr id="7987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For using timed automata and UPPAAL for model checking we need to express Requirements as temporal logical formula in Uppaal</a:t>
            </a:r>
            <a:r>
              <a:rPr lang="ja-JP" altLang="en-US">
                <a:latin typeface="Comic Sans MS" charset="0"/>
              </a:rPr>
              <a:t>’</a:t>
            </a:r>
            <a:r>
              <a:rPr lang="en-US">
                <a:latin typeface="Comic Sans MS" charset="0"/>
              </a:rPr>
              <a:t>s TCTL. We discussed about this sometime in the previous lecture. </a:t>
            </a:r>
          </a:p>
        </p:txBody>
      </p:sp>
      <p:sp>
        <p:nvSpPr>
          <p:cNvPr id="7987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930A8CBC-C4E5-564F-9996-2DD7E9FA2B1B}" type="slidenum">
              <a:rPr lang="sv-SE" sz="1300">
                <a:latin typeface="Comic Sans MS" charset="0"/>
              </a:rPr>
              <a:pPr/>
              <a:t>89</a:t>
            </a:fld>
            <a:endParaRPr lang="sv-SE" sz="1300">
              <a:latin typeface="Comic Sans MS"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noTextEdit="1"/>
          </p:cNvSpPr>
          <p:nvPr>
            <p:ph type="sldImg"/>
          </p:nvPr>
        </p:nvSpPr>
        <p:spPr>
          <a:xfrm>
            <a:off x="139700" y="768350"/>
            <a:ext cx="6819900" cy="3836988"/>
          </a:xfrm>
          <a:ln/>
        </p:spPr>
      </p:sp>
      <p:sp>
        <p:nvSpPr>
          <p:cNvPr id="8089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Uppaal uses a simplified version of TCTL. Like in TCTL, the query language consists of path formulae and state formulae. State formulae describe individual states, whereas path formulae quantify over paths or traces of the model, a path that includes time information is called a timed path. Path formulae can be classified into reachability, safety and liveness</a:t>
            </a:r>
          </a:p>
          <a:p>
            <a:endParaRPr lang="en-US">
              <a:latin typeface="Comic Sans MS" charset="0"/>
            </a:endParaRPr>
          </a:p>
        </p:txBody>
      </p:sp>
      <p:sp>
        <p:nvSpPr>
          <p:cNvPr id="8089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C43C57E1-E53B-694C-B48D-015A1EA09329}" type="slidenum">
              <a:rPr lang="sv-SE" sz="1300">
                <a:latin typeface="Comic Sans MS" charset="0"/>
              </a:rPr>
              <a:pPr/>
              <a:t>90</a:t>
            </a:fld>
            <a:endParaRPr lang="sv-SE" sz="1300">
              <a:latin typeface="Comic Sans MS"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p:cNvSpPr>
            <a:spLocks noGrp="1" noRot="1" noChangeAspect="1" noTextEdit="1"/>
          </p:cNvSpPr>
          <p:nvPr>
            <p:ph type="sldImg"/>
          </p:nvPr>
        </p:nvSpPr>
        <p:spPr>
          <a:xfrm>
            <a:off x="139700" y="768350"/>
            <a:ext cx="6819900" cy="3836988"/>
          </a:xfrm>
          <a:ln/>
        </p:spPr>
      </p:sp>
      <p:sp>
        <p:nvSpPr>
          <p:cNvPr id="8192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defTabSz="731838" eaLnBrk="1" hangingPunct="1"/>
            <a:r>
              <a:rPr lang="en-US">
                <a:latin typeface="Arial" charset="0"/>
              </a:rPr>
              <a:t>UPPAAL supports couple of quantifiers: exists a path, for all paths, all states in a path, some state in a path. </a:t>
            </a:r>
            <a:r>
              <a:rPr lang="en-US">
                <a:latin typeface="Comic Sans MS" charset="0"/>
              </a:rPr>
              <a:t>In short, the four temporal quantifier combinations are always, potentially always, possibly, and unavoidable.</a:t>
            </a:r>
          </a:p>
          <a:p>
            <a:pPr defTabSz="731838" eaLnBrk="1" hangingPunct="1"/>
            <a:endParaRPr lang="en-US">
              <a:latin typeface="Arial" charset="0"/>
            </a:endParaRPr>
          </a:p>
        </p:txBody>
      </p:sp>
      <p:sp>
        <p:nvSpPr>
          <p:cNvPr id="8192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48F5192E-691B-2449-8231-7871CD2947A8}" type="slidenum">
              <a:rPr lang="sv-SE" sz="1300">
                <a:latin typeface="Comic Sans MS" charset="0"/>
              </a:rPr>
              <a:pPr/>
              <a:t>91</a:t>
            </a:fld>
            <a:endParaRPr lang="sv-SE" sz="1300">
              <a:latin typeface="Comic Sans MS"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a:xfrm>
            <a:off x="139700" y="768350"/>
            <a:ext cx="6819900" cy="3836988"/>
          </a:xfrm>
          <a:ln/>
        </p:spPr>
      </p:sp>
      <p:sp>
        <p:nvSpPr>
          <p:cNvPr id="82946"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Reachability properties are the simplest form of properties. They ask whether a given state formula, p, possibly can be satisfied. by any reachable state. Another way of stating this is: Does there exist a path starting at the initial state, such that p is eventually satisfied along that path. Reachability properties are often used while designing a model to perform sanity checks. For instance, when creating a model of a communication protocol involving a sender and a receiver, it makes sense to ask whether it is possible for the sender to send a message at all or whether a message can possibly be received. These properties do not by themselves guarantee the correctness of the protocol for example that any message is eventually delivered, but they validate the basic behavior of the model. We express that some state satisfying p should be reachable  in at least one reachable state.</a:t>
            </a:r>
          </a:p>
          <a:p>
            <a:endParaRPr lang="en-US">
              <a:latin typeface="Comic Sans MS" charset="0"/>
            </a:endParaRPr>
          </a:p>
        </p:txBody>
      </p:sp>
      <p:sp>
        <p:nvSpPr>
          <p:cNvPr id="82947"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B21BFBAE-D3B2-8A4D-A1FA-01090B6E4ED6}" type="slidenum">
              <a:rPr lang="sv-SE" sz="1300">
                <a:latin typeface="Comic Sans MS" charset="0"/>
              </a:rPr>
              <a:pPr/>
              <a:t>92</a:t>
            </a:fld>
            <a:endParaRPr lang="sv-SE" sz="1300">
              <a:latin typeface="Comic Sans MS"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noTextEdit="1"/>
          </p:cNvSpPr>
          <p:nvPr>
            <p:ph type="sldImg"/>
          </p:nvPr>
        </p:nvSpPr>
        <p:spPr>
          <a:xfrm>
            <a:off x="139700" y="768350"/>
            <a:ext cx="6819900" cy="3836988"/>
          </a:xfrm>
          <a:ln/>
        </p:spPr>
      </p:sp>
      <p:sp>
        <p:nvSpPr>
          <p:cNvPr id="83970"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Safety properties are on the form: </a:t>
            </a:r>
            <a:r>
              <a:rPr lang="ja-JP" altLang="en-US">
                <a:latin typeface="Comic Sans MS" charset="0"/>
              </a:rPr>
              <a:t>“</a:t>
            </a:r>
            <a:r>
              <a:rPr lang="en-US">
                <a:latin typeface="Comic Sans MS" charset="0"/>
              </a:rPr>
              <a:t>something bad will never happen</a:t>
            </a:r>
            <a:r>
              <a:rPr lang="ja-JP" altLang="en-US">
                <a:latin typeface="Comic Sans MS" charset="0"/>
              </a:rPr>
              <a:t>”</a:t>
            </a:r>
            <a:r>
              <a:rPr lang="en-US">
                <a:latin typeface="Comic Sans MS" charset="0"/>
              </a:rPr>
              <a:t>. For instance, in a model of a nuclear power plant, a safety property might be, that the operating temperature is always (invariantly) under a certain threshold, or that a meltdown never occurs. A variation of this property is that </a:t>
            </a:r>
            <a:r>
              <a:rPr lang="ja-JP" altLang="en-US">
                <a:latin typeface="Comic Sans MS" charset="0"/>
              </a:rPr>
              <a:t>“</a:t>
            </a:r>
            <a:r>
              <a:rPr lang="en-US">
                <a:latin typeface="Comic Sans MS" charset="0"/>
              </a:rPr>
              <a:t>something will possibly never happen</a:t>
            </a:r>
            <a:r>
              <a:rPr lang="ja-JP" altLang="en-US">
                <a:latin typeface="Comic Sans MS" charset="0"/>
              </a:rPr>
              <a:t>”</a:t>
            </a:r>
            <a:r>
              <a:rPr lang="en-US">
                <a:latin typeface="Comic Sans MS" charset="0"/>
              </a:rPr>
              <a:t>. For instance when playing a game, a safe state is one in which we can still win the game, hence we will possibly not loose. In Uppaal these properties are formulated positively, e.g., something good is invariantly true. Let p be a state formulae. We express that p should be true in all reachable states</a:t>
            </a:r>
          </a:p>
          <a:p>
            <a:endParaRPr lang="en-US">
              <a:latin typeface="Comic Sans MS" charset="0"/>
            </a:endParaRPr>
          </a:p>
        </p:txBody>
      </p:sp>
      <p:sp>
        <p:nvSpPr>
          <p:cNvPr id="8397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00FC8AD9-1D18-A64E-88E2-75D546CED6B7}" type="slidenum">
              <a:rPr lang="sv-SE" sz="1300">
                <a:latin typeface="Comic Sans MS" charset="0"/>
              </a:rPr>
              <a:pPr/>
              <a:t>93</a:t>
            </a:fld>
            <a:endParaRPr lang="sv-SE" sz="1300">
              <a:latin typeface="Comic Sans MS"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p:cNvSpPr>
            <a:spLocks noGrp="1" noRot="1" noChangeAspect="1" noTextEdit="1"/>
          </p:cNvSpPr>
          <p:nvPr>
            <p:ph type="sldImg"/>
          </p:nvPr>
        </p:nvSpPr>
        <p:spPr>
          <a:xfrm>
            <a:off x="139700" y="768350"/>
            <a:ext cx="6819900" cy="3836988"/>
          </a:xfrm>
          <a:ln/>
        </p:spPr>
      </p:sp>
      <p:sp>
        <p:nvSpPr>
          <p:cNvPr id="8499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Liveness properties are of the form: something will eventually happen, for example. when pressing the on button of the remote control of the television, then eventually the television should turn on. Or in a model of a communication protocol, any message that has been sent should eventually be received. In its simple form, liveness is expressed with the path formula eventually p. </a:t>
            </a:r>
          </a:p>
          <a:p>
            <a:endParaRPr lang="en-US">
              <a:latin typeface="Comic Sans MS" charset="0"/>
            </a:endParaRPr>
          </a:p>
        </p:txBody>
      </p:sp>
      <p:sp>
        <p:nvSpPr>
          <p:cNvPr id="84995"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261EA7DD-A502-E740-8747-C407CE65DA98}" type="slidenum">
              <a:rPr lang="sv-SE" sz="1300">
                <a:latin typeface="Comic Sans MS" charset="0"/>
              </a:rPr>
              <a:pPr/>
              <a:t>94</a:t>
            </a:fld>
            <a:endParaRPr lang="sv-SE" sz="1300">
              <a:latin typeface="Comic Sans MS"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a:xfrm>
            <a:off x="139700" y="768350"/>
            <a:ext cx="6819900" cy="3836988"/>
          </a:xfrm>
          <a:ln/>
        </p:spPr>
      </p:sp>
      <p:sp>
        <p:nvSpPr>
          <p:cNvPr id="8601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Another property is E[ ] p – </a:t>
            </a:r>
            <a:r>
              <a:rPr lang="ja-JP" altLang="en-US">
                <a:latin typeface="Comic Sans MS" charset="0"/>
              </a:rPr>
              <a:t>“</a:t>
            </a:r>
            <a:r>
              <a:rPr lang="en-US">
                <a:latin typeface="Comic Sans MS" charset="0"/>
              </a:rPr>
              <a:t>Potentially Always p, this shows if There exists a path in which p is true in all states.</a:t>
            </a:r>
            <a:endParaRPr lang="sv-SE">
              <a:latin typeface="Comic Sans MS" charset="0"/>
            </a:endParaRPr>
          </a:p>
          <a:p>
            <a:endParaRPr lang="en-US">
              <a:latin typeface="Comic Sans MS" charset="0"/>
            </a:endParaRPr>
          </a:p>
        </p:txBody>
      </p:sp>
      <p:sp>
        <p:nvSpPr>
          <p:cNvPr id="8601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D24D0447-0E97-0647-A339-B8227C96D80C}" type="slidenum">
              <a:rPr lang="sv-SE" sz="1300">
                <a:latin typeface="Comic Sans MS" charset="0"/>
              </a:rPr>
              <a:pPr/>
              <a:t>95</a:t>
            </a:fld>
            <a:endParaRPr lang="sv-SE" sz="1300">
              <a:latin typeface="Comic Sans MS"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p:cNvSpPr>
            <a:spLocks noGrp="1" noRot="1" noChangeAspect="1" noTextEdit="1"/>
          </p:cNvSpPr>
          <p:nvPr>
            <p:ph type="sldImg"/>
          </p:nvPr>
        </p:nvSpPr>
        <p:spPr>
          <a:xfrm>
            <a:off x="139700" y="768350"/>
            <a:ext cx="6819900" cy="3836988"/>
          </a:xfrm>
          <a:ln/>
        </p:spPr>
      </p:sp>
      <p:sp>
        <p:nvSpPr>
          <p:cNvPr id="8704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Comic Sans MS" charset="0"/>
              </a:rPr>
              <a:t>Just to summarize, you can have couple of types of properties: you will use them in UPPAAL quite a lot in the lab. p in these properties is a local property that can be any side-effect free expression. In addition it is possible to test whether a process is in a particular location and whether a state is a deadlock and so on. </a:t>
            </a:r>
          </a:p>
        </p:txBody>
      </p:sp>
      <p:sp>
        <p:nvSpPr>
          <p:cNvPr id="87043"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90600">
              <a:defRPr sz="2000">
                <a:solidFill>
                  <a:schemeClr val="tx1"/>
                </a:solidFill>
                <a:latin typeface="Tahoma" charset="0"/>
                <a:ea typeface="ＭＳ Ｐゴシック" charset="0"/>
                <a:cs typeface="ＭＳ Ｐゴシック" charset="0"/>
              </a:defRPr>
            </a:lvl1pPr>
            <a:lvl2pPr marL="742950" indent="-285750" defTabSz="990600">
              <a:defRPr sz="2000">
                <a:solidFill>
                  <a:schemeClr val="tx1"/>
                </a:solidFill>
                <a:latin typeface="Tahoma" charset="0"/>
                <a:ea typeface="ＭＳ Ｐゴシック" charset="0"/>
              </a:defRPr>
            </a:lvl2pPr>
            <a:lvl3pPr marL="1143000" indent="-228600" defTabSz="990600">
              <a:defRPr sz="2000">
                <a:solidFill>
                  <a:schemeClr val="tx1"/>
                </a:solidFill>
                <a:latin typeface="Tahoma" charset="0"/>
                <a:ea typeface="ＭＳ Ｐゴシック" charset="0"/>
              </a:defRPr>
            </a:lvl3pPr>
            <a:lvl4pPr marL="1600200" indent="-228600" defTabSz="990600">
              <a:defRPr sz="2000">
                <a:solidFill>
                  <a:schemeClr val="tx1"/>
                </a:solidFill>
                <a:latin typeface="Tahoma" charset="0"/>
                <a:ea typeface="ＭＳ Ｐゴシック" charset="0"/>
              </a:defRPr>
            </a:lvl4pPr>
            <a:lvl5pPr marL="2057400" indent="-228600" defTabSz="990600">
              <a:defRPr sz="2000">
                <a:solidFill>
                  <a:schemeClr val="tx1"/>
                </a:solidFill>
                <a:latin typeface="Tahoma" charset="0"/>
                <a:ea typeface="ＭＳ Ｐゴシック" charset="0"/>
              </a:defRPr>
            </a:lvl5pPr>
            <a:lvl6pPr marL="2514600" indent="-228600" defTabSz="990600" eaLnBrk="0" fontAlgn="base" hangingPunct="0">
              <a:spcBef>
                <a:spcPct val="0"/>
              </a:spcBef>
              <a:spcAft>
                <a:spcPct val="0"/>
              </a:spcAft>
              <a:defRPr sz="2000">
                <a:solidFill>
                  <a:schemeClr val="tx1"/>
                </a:solidFill>
                <a:latin typeface="Tahoma" charset="0"/>
                <a:ea typeface="ＭＳ Ｐゴシック" charset="0"/>
              </a:defRPr>
            </a:lvl6pPr>
            <a:lvl7pPr marL="2971800" indent="-228600" defTabSz="990600" eaLnBrk="0" fontAlgn="base" hangingPunct="0">
              <a:spcBef>
                <a:spcPct val="0"/>
              </a:spcBef>
              <a:spcAft>
                <a:spcPct val="0"/>
              </a:spcAft>
              <a:defRPr sz="2000">
                <a:solidFill>
                  <a:schemeClr val="tx1"/>
                </a:solidFill>
                <a:latin typeface="Tahoma" charset="0"/>
                <a:ea typeface="ＭＳ Ｐゴシック" charset="0"/>
              </a:defRPr>
            </a:lvl7pPr>
            <a:lvl8pPr marL="3429000" indent="-228600" defTabSz="990600" eaLnBrk="0" fontAlgn="base" hangingPunct="0">
              <a:spcBef>
                <a:spcPct val="0"/>
              </a:spcBef>
              <a:spcAft>
                <a:spcPct val="0"/>
              </a:spcAft>
              <a:defRPr sz="2000">
                <a:solidFill>
                  <a:schemeClr val="tx1"/>
                </a:solidFill>
                <a:latin typeface="Tahoma" charset="0"/>
                <a:ea typeface="ＭＳ Ｐゴシック" charset="0"/>
              </a:defRPr>
            </a:lvl8pPr>
            <a:lvl9pPr marL="3886200" indent="-228600" defTabSz="990600" eaLnBrk="0" fontAlgn="base" hangingPunct="0">
              <a:spcBef>
                <a:spcPct val="0"/>
              </a:spcBef>
              <a:spcAft>
                <a:spcPct val="0"/>
              </a:spcAft>
              <a:defRPr sz="2000">
                <a:solidFill>
                  <a:schemeClr val="tx1"/>
                </a:solidFill>
                <a:latin typeface="Tahoma" charset="0"/>
                <a:ea typeface="ＭＳ Ｐゴシック" charset="0"/>
              </a:defRPr>
            </a:lvl9pPr>
          </a:lstStyle>
          <a:p>
            <a:fld id="{8B1613D7-0530-5B4E-A06A-EE1BD46DE643}" type="slidenum">
              <a:rPr lang="sv-SE" sz="1300">
                <a:latin typeface="Comic Sans MS" charset="0"/>
              </a:rPr>
              <a:pPr/>
              <a:t>96</a:t>
            </a:fld>
            <a:endParaRPr lang="sv-SE" sz="1300">
              <a:latin typeface="Comic Sans MS"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8D3C6-B94B-77F1-ABE8-E5C18EA41910}"/>
              </a:ext>
            </a:extLst>
          </p:cNvPr>
          <p:cNvSpPr>
            <a:spLocks noGrp="1"/>
          </p:cNvSpPr>
          <p:nvPr>
            <p:ph type="ctrTitle" hasCustomPrompt="1"/>
          </p:nvPr>
        </p:nvSpPr>
        <p:spPr>
          <a:xfrm>
            <a:off x="288122" y="791511"/>
            <a:ext cx="4642411" cy="869469"/>
          </a:xfrm>
        </p:spPr>
        <p:txBody>
          <a:bodyPr anchor="b"/>
          <a:lstStyle>
            <a:lvl1pPr algn="l">
              <a:defRPr sz="4500"/>
            </a:lvl1pPr>
          </a:lstStyle>
          <a:p>
            <a:r>
              <a:rPr lang="en-US" dirty="0"/>
              <a:t>Title</a:t>
            </a:r>
            <a:endParaRPr lang="en-GB" dirty="0"/>
          </a:p>
        </p:txBody>
      </p:sp>
      <p:sp>
        <p:nvSpPr>
          <p:cNvPr id="3" name="Subtitle 2">
            <a:extLst>
              <a:ext uri="{FF2B5EF4-FFF2-40B4-BE49-F238E27FC236}">
                <a16:creationId xmlns:a16="http://schemas.microsoft.com/office/drawing/2014/main" id="{BCD67E53-21C4-3026-5728-2B1397405F5B}"/>
              </a:ext>
            </a:extLst>
          </p:cNvPr>
          <p:cNvSpPr>
            <a:spLocks noGrp="1"/>
          </p:cNvSpPr>
          <p:nvPr>
            <p:ph type="subTitle" idx="1" hasCustomPrompt="1"/>
          </p:nvPr>
        </p:nvSpPr>
        <p:spPr>
          <a:xfrm>
            <a:off x="287794" y="1724699"/>
            <a:ext cx="4642411" cy="225446"/>
          </a:xfrm>
        </p:spPr>
        <p:txBody>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and last name, title and academy/section</a:t>
            </a:r>
            <a:endParaRPr lang="en-GB" dirty="0"/>
          </a:p>
        </p:txBody>
      </p:sp>
      <p:pic>
        <p:nvPicPr>
          <p:cNvPr id="10" name="Graphic 9" descr="Logotype Mälardalen University.">
            <a:extLst>
              <a:ext uri="{FF2B5EF4-FFF2-40B4-BE49-F238E27FC236}">
                <a16:creationId xmlns:a16="http://schemas.microsoft.com/office/drawing/2014/main" id="{FB1F266E-6062-A61A-EE8A-CAF95C2FA01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62771" y="241698"/>
            <a:ext cx="3629532" cy="2650467"/>
          </a:xfrm>
          <a:prstGeom prst="rect">
            <a:avLst/>
          </a:prstGeom>
        </p:spPr>
      </p:pic>
      <p:pic>
        <p:nvPicPr>
          <p:cNvPr id="12" name="Graphic 11">
            <a:extLst>
              <a:ext uri="{FF2B5EF4-FFF2-40B4-BE49-F238E27FC236}">
                <a16:creationId xmlns:a16="http://schemas.microsoft.com/office/drawing/2014/main" id="{E214856B-5BAC-C199-D12E-28D2A1D6E123}"/>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53133" r="37812" b="9269"/>
          <a:stretch/>
        </p:blipFill>
        <p:spPr>
          <a:xfrm>
            <a:off x="7459692" y="4452585"/>
            <a:ext cx="1438476" cy="559806"/>
          </a:xfrm>
          <a:prstGeom prst="rect">
            <a:avLst/>
          </a:prstGeom>
        </p:spPr>
      </p:pic>
    </p:spTree>
    <p:extLst>
      <p:ext uri="{BB962C8B-B14F-4D97-AF65-F5344CB8AC3E}">
        <p14:creationId xmlns:p14="http://schemas.microsoft.com/office/powerpoint/2010/main" val="1145329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D3E83-F9B2-7977-49CD-5878B09CFEDE}"/>
              </a:ext>
            </a:extLst>
          </p:cNvPr>
          <p:cNvSpPr>
            <a:spLocks noGrp="1"/>
          </p:cNvSpPr>
          <p:nvPr>
            <p:ph type="title"/>
          </p:nvPr>
        </p:nvSpPr>
        <p:spPr>
          <a:xfrm>
            <a:off x="908342" y="1397702"/>
            <a:ext cx="7266425" cy="885180"/>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8583AEA-C15A-C6D3-BFA0-F49DDCB16798}"/>
              </a:ext>
            </a:extLst>
          </p:cNvPr>
          <p:cNvSpPr>
            <a:spLocks noGrp="1"/>
          </p:cNvSpPr>
          <p:nvPr>
            <p:ph idx="1"/>
          </p:nvPr>
        </p:nvSpPr>
        <p:spPr>
          <a:xfrm>
            <a:off x="913968" y="2435154"/>
            <a:ext cx="7286573" cy="2298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8C6AE8-D21D-F505-258C-587B201AA68F}"/>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5" name="Footer Placeholder 4">
            <a:extLst>
              <a:ext uri="{FF2B5EF4-FFF2-40B4-BE49-F238E27FC236}">
                <a16:creationId xmlns:a16="http://schemas.microsoft.com/office/drawing/2014/main" id="{FFB70087-3858-FDCD-4445-BDAB29C35B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19B510-5353-7F74-9A78-CCDB8B2D025D}"/>
              </a:ext>
            </a:extLst>
          </p:cNvPr>
          <p:cNvSpPr>
            <a:spLocks noGrp="1"/>
          </p:cNvSpPr>
          <p:nvPr>
            <p:ph type="sldNum" sz="quarter" idx="12"/>
          </p:nvPr>
        </p:nvSpPr>
        <p:spPr/>
        <p:txBody>
          <a:bodyPr/>
          <a:lstStyle/>
          <a:p>
            <a:fld id="{6BC49554-3DEC-40E0-81A0-6D7F8C42B233}" type="slidenum">
              <a:rPr lang="en-GB" smtClean="0"/>
              <a:t>‹#›</a:t>
            </a:fld>
            <a:endParaRPr lang="en-GB"/>
          </a:p>
        </p:txBody>
      </p:sp>
    </p:spTree>
    <p:extLst>
      <p:ext uri="{BB962C8B-B14F-4D97-AF65-F5344CB8AC3E}">
        <p14:creationId xmlns:p14="http://schemas.microsoft.com/office/powerpoint/2010/main" val="247202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Darkgreenblue">
    <p:bg>
      <p:bgPr>
        <a:solidFill>
          <a:srgbClr val="0036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8D3C6-B94B-77F1-ABE8-E5C18EA41910}"/>
              </a:ext>
            </a:extLst>
          </p:cNvPr>
          <p:cNvSpPr>
            <a:spLocks noGrp="1"/>
          </p:cNvSpPr>
          <p:nvPr>
            <p:ph type="ctrTitle" hasCustomPrompt="1"/>
          </p:nvPr>
        </p:nvSpPr>
        <p:spPr>
          <a:xfrm>
            <a:off x="288122" y="791511"/>
            <a:ext cx="4642411" cy="869469"/>
          </a:xfrm>
        </p:spPr>
        <p:txBody>
          <a:bodyPr anchor="b"/>
          <a:lstStyle>
            <a:lvl1pPr algn="l">
              <a:defRPr sz="4500">
                <a:solidFill>
                  <a:schemeClr val="bg1"/>
                </a:solidFill>
              </a:defRPr>
            </a:lvl1pPr>
          </a:lstStyle>
          <a:p>
            <a:r>
              <a:rPr lang="en-US" dirty="0"/>
              <a:t>Title</a:t>
            </a:r>
            <a:endParaRPr lang="en-GB" dirty="0"/>
          </a:p>
        </p:txBody>
      </p:sp>
      <p:sp>
        <p:nvSpPr>
          <p:cNvPr id="3" name="Subtitle 2">
            <a:extLst>
              <a:ext uri="{FF2B5EF4-FFF2-40B4-BE49-F238E27FC236}">
                <a16:creationId xmlns:a16="http://schemas.microsoft.com/office/drawing/2014/main" id="{BCD67E53-21C4-3026-5728-2B1397405F5B}"/>
              </a:ext>
            </a:extLst>
          </p:cNvPr>
          <p:cNvSpPr>
            <a:spLocks noGrp="1"/>
          </p:cNvSpPr>
          <p:nvPr>
            <p:ph type="subTitle" idx="1" hasCustomPrompt="1"/>
          </p:nvPr>
        </p:nvSpPr>
        <p:spPr>
          <a:xfrm>
            <a:off x="287794" y="1724699"/>
            <a:ext cx="4642411" cy="225446"/>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and last name, title and academy/section</a:t>
            </a:r>
            <a:endParaRPr lang="en-GB" dirty="0"/>
          </a:p>
        </p:txBody>
      </p:sp>
      <p:pic>
        <p:nvPicPr>
          <p:cNvPr id="10" name="Graphic 9" descr="Logotype Mälardalen University.">
            <a:extLst>
              <a:ext uri="{FF2B5EF4-FFF2-40B4-BE49-F238E27FC236}">
                <a16:creationId xmlns:a16="http://schemas.microsoft.com/office/drawing/2014/main" id="{FB1F266E-6062-A61A-EE8A-CAF95C2FA01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62771" y="241698"/>
            <a:ext cx="3629532" cy="2650467"/>
          </a:xfrm>
          <a:prstGeom prst="rect">
            <a:avLst/>
          </a:prstGeom>
        </p:spPr>
      </p:pic>
      <p:pic>
        <p:nvPicPr>
          <p:cNvPr id="12" name="Graphic 11">
            <a:extLst>
              <a:ext uri="{FF2B5EF4-FFF2-40B4-BE49-F238E27FC236}">
                <a16:creationId xmlns:a16="http://schemas.microsoft.com/office/drawing/2014/main" id="{E214856B-5BAC-C199-D12E-28D2A1D6E123}"/>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53133" r="37812" b="9269"/>
          <a:stretch/>
        </p:blipFill>
        <p:spPr>
          <a:xfrm>
            <a:off x="7459692" y="4452585"/>
            <a:ext cx="1438476" cy="559806"/>
          </a:xfrm>
          <a:prstGeom prst="rect">
            <a:avLst/>
          </a:prstGeom>
        </p:spPr>
      </p:pic>
    </p:spTree>
    <p:extLst>
      <p:ext uri="{BB962C8B-B14F-4D97-AF65-F5344CB8AC3E}">
        <p14:creationId xmlns:p14="http://schemas.microsoft.com/office/powerpoint/2010/main" val="968243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Large 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70698-019B-CB27-9A59-437FBBD53897}"/>
              </a:ext>
            </a:extLst>
          </p:cNvPr>
          <p:cNvSpPr>
            <a:spLocks noGrp="1"/>
          </p:cNvSpPr>
          <p:nvPr>
            <p:ph type="title" hasCustomPrompt="1"/>
          </p:nvPr>
        </p:nvSpPr>
        <p:spPr>
          <a:xfrm>
            <a:off x="1904327" y="1454408"/>
            <a:ext cx="5322987" cy="2115964"/>
          </a:xfrm>
        </p:spPr>
        <p:txBody>
          <a:bodyPr anchor="t" anchorCtr="0"/>
          <a:lstStyle>
            <a:lvl1pPr>
              <a:defRPr sz="4500">
                <a:latin typeface="+mn-lt"/>
              </a:defRPr>
            </a:lvl1pPr>
          </a:lstStyle>
          <a:p>
            <a:r>
              <a:rPr lang="en-US" dirty="0"/>
              <a:t>Large quote on two or three rows</a:t>
            </a:r>
            <a:endParaRPr lang="en-GB" dirty="0"/>
          </a:p>
        </p:txBody>
      </p:sp>
      <p:sp>
        <p:nvSpPr>
          <p:cNvPr id="3" name="Text Placeholder 2">
            <a:extLst>
              <a:ext uri="{FF2B5EF4-FFF2-40B4-BE49-F238E27FC236}">
                <a16:creationId xmlns:a16="http://schemas.microsoft.com/office/drawing/2014/main" id="{48F8611F-AA5F-F94A-F3E5-986E865C35A6}"/>
              </a:ext>
            </a:extLst>
          </p:cNvPr>
          <p:cNvSpPr>
            <a:spLocks noGrp="1"/>
          </p:cNvSpPr>
          <p:nvPr>
            <p:ph type="body" idx="1" hasCustomPrompt="1"/>
          </p:nvPr>
        </p:nvSpPr>
        <p:spPr>
          <a:xfrm>
            <a:off x="5895903" y="3796513"/>
            <a:ext cx="2362273" cy="251612"/>
          </a:xfrm>
        </p:spPr>
        <p:txBody>
          <a:bodyPr>
            <a:noAutofit/>
          </a:bodyPr>
          <a:lstStyle>
            <a:lvl1pPr marL="0" indent="0">
              <a:buNone/>
              <a:defRPr sz="1400">
                <a:solidFill>
                  <a:srgbClr val="00362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 First and last name</a:t>
            </a:r>
          </a:p>
        </p:txBody>
      </p:sp>
      <p:sp>
        <p:nvSpPr>
          <p:cNvPr id="4" name="Date Placeholder 3">
            <a:extLst>
              <a:ext uri="{FF2B5EF4-FFF2-40B4-BE49-F238E27FC236}">
                <a16:creationId xmlns:a16="http://schemas.microsoft.com/office/drawing/2014/main" id="{3E9B9FA0-79E8-9B6F-3AFE-E0B6DDC893F2}"/>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5" name="Footer Placeholder 4">
            <a:extLst>
              <a:ext uri="{FF2B5EF4-FFF2-40B4-BE49-F238E27FC236}">
                <a16:creationId xmlns:a16="http://schemas.microsoft.com/office/drawing/2014/main" id="{38595C56-4D1A-2712-B4F3-CCE62807BC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39CDAA-04F6-EFFF-5521-C506A91663FF}"/>
              </a:ext>
            </a:extLst>
          </p:cNvPr>
          <p:cNvSpPr>
            <a:spLocks noGrp="1"/>
          </p:cNvSpPr>
          <p:nvPr>
            <p:ph type="sldNum" sz="quarter" idx="12"/>
          </p:nvPr>
        </p:nvSpPr>
        <p:spPr/>
        <p:txBody>
          <a:bodyPr/>
          <a:lstStyle/>
          <a:p>
            <a:fld id="{6BC49554-3DEC-40E0-81A0-6D7F8C42B233}" type="slidenum">
              <a:rPr lang="en-GB" smtClean="0"/>
              <a:t>‹#›</a:t>
            </a:fld>
            <a:endParaRPr lang="en-GB"/>
          </a:p>
        </p:txBody>
      </p:sp>
      <p:pic>
        <p:nvPicPr>
          <p:cNvPr id="8" name="Bild">
            <a:extLst>
              <a:ext uri="{FF2B5EF4-FFF2-40B4-BE49-F238E27FC236}">
                <a16:creationId xmlns:a16="http://schemas.microsoft.com/office/drawing/2014/main" id="{4D486442-A615-800B-59C2-B30D37D3672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291023" y="1585519"/>
            <a:ext cx="1266578" cy="934937"/>
          </a:xfrm>
          <a:prstGeom prst="rect">
            <a:avLst/>
          </a:prstGeom>
          <a:ln w="12700">
            <a:miter lim="400000"/>
          </a:ln>
        </p:spPr>
      </p:pic>
      <p:pic>
        <p:nvPicPr>
          <p:cNvPr id="10" name="Bild">
            <a:extLst>
              <a:ext uri="{FF2B5EF4-FFF2-40B4-BE49-F238E27FC236}">
                <a16:creationId xmlns:a16="http://schemas.microsoft.com/office/drawing/2014/main" id="{CDFED8A9-3B94-4852-95E7-234160E9ACE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7574086" y="1585519"/>
            <a:ext cx="1266578" cy="934937"/>
          </a:xfrm>
          <a:prstGeom prst="rect">
            <a:avLst/>
          </a:prstGeom>
          <a:ln w="12700">
            <a:miter lim="400000"/>
          </a:ln>
        </p:spPr>
      </p:pic>
    </p:spTree>
    <p:extLst>
      <p:ext uri="{BB962C8B-B14F-4D97-AF65-F5344CB8AC3E}">
        <p14:creationId xmlns:p14="http://schemas.microsoft.com/office/powerpoint/2010/main" val="4205515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24663-C7DD-75AD-6B62-9C2FAD363C9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1900EE-F6ED-A1CB-EBEB-78083501F7C4}"/>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D0846CD-A659-DE31-B369-FB3FEB0308F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3265223-CE66-8559-0FC2-89112E3A6894}"/>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6" name="Footer Placeholder 5">
            <a:extLst>
              <a:ext uri="{FF2B5EF4-FFF2-40B4-BE49-F238E27FC236}">
                <a16:creationId xmlns:a16="http://schemas.microsoft.com/office/drawing/2014/main" id="{096771E0-442E-D262-5DFA-B11D64A351A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7E54E9-4F4E-CE3C-ECE1-E98A1A381047}"/>
              </a:ext>
            </a:extLst>
          </p:cNvPr>
          <p:cNvSpPr>
            <a:spLocks noGrp="1"/>
          </p:cNvSpPr>
          <p:nvPr>
            <p:ph type="sldNum" sz="quarter" idx="12"/>
          </p:nvPr>
        </p:nvSpPr>
        <p:spPr/>
        <p:txBody>
          <a:bodyPr/>
          <a:lstStyle/>
          <a:p>
            <a:fld id="{6BC49554-3DEC-40E0-81A0-6D7F8C42B233}" type="slidenum">
              <a:rPr lang="en-GB" smtClean="0"/>
              <a:t>‹#›</a:t>
            </a:fld>
            <a:endParaRPr lang="en-GB"/>
          </a:p>
        </p:txBody>
      </p:sp>
    </p:spTree>
    <p:extLst>
      <p:ext uri="{BB962C8B-B14F-4D97-AF65-F5344CB8AC3E}">
        <p14:creationId xmlns:p14="http://schemas.microsoft.com/office/powerpoint/2010/main" val="646548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Turquoise">
    <p:bg>
      <p:bgPr>
        <a:solidFill>
          <a:srgbClr val="EE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24663-C7DD-75AD-6B62-9C2FAD363C9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1900EE-F6ED-A1CB-EBEB-78083501F7C4}"/>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D0846CD-A659-DE31-B369-FB3FEB0308F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3265223-CE66-8559-0FC2-89112E3A6894}"/>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6" name="Footer Placeholder 5">
            <a:extLst>
              <a:ext uri="{FF2B5EF4-FFF2-40B4-BE49-F238E27FC236}">
                <a16:creationId xmlns:a16="http://schemas.microsoft.com/office/drawing/2014/main" id="{096771E0-442E-D262-5DFA-B11D64A351A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7E54E9-4F4E-CE3C-ECE1-E98A1A381047}"/>
              </a:ext>
            </a:extLst>
          </p:cNvPr>
          <p:cNvSpPr>
            <a:spLocks noGrp="1"/>
          </p:cNvSpPr>
          <p:nvPr>
            <p:ph type="sldNum" sz="quarter" idx="12"/>
          </p:nvPr>
        </p:nvSpPr>
        <p:spPr/>
        <p:txBody>
          <a:bodyPr/>
          <a:lstStyle/>
          <a:p>
            <a:fld id="{6BC49554-3DEC-40E0-81A0-6D7F8C42B233}" type="slidenum">
              <a:rPr lang="en-GB" smtClean="0"/>
              <a:t>‹#›</a:t>
            </a:fld>
            <a:endParaRPr lang="en-GB"/>
          </a:p>
        </p:txBody>
      </p:sp>
    </p:spTree>
    <p:extLst>
      <p:ext uri="{BB962C8B-B14F-4D97-AF65-F5344CB8AC3E}">
        <p14:creationId xmlns:p14="http://schemas.microsoft.com/office/powerpoint/2010/main" val="867271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D3E83-F9B2-7977-49CD-5878B09CFEDE}"/>
              </a:ext>
            </a:extLst>
          </p:cNvPr>
          <p:cNvSpPr>
            <a:spLocks noGrp="1"/>
          </p:cNvSpPr>
          <p:nvPr>
            <p:ph type="title" hasCustomPrompt="1"/>
          </p:nvPr>
        </p:nvSpPr>
        <p:spPr>
          <a:xfrm>
            <a:off x="2087219" y="933451"/>
            <a:ext cx="4139648" cy="704205"/>
          </a:xfrm>
        </p:spPr>
        <p:txBody>
          <a:bodyPr>
            <a:noAutofit/>
          </a:bodyPr>
          <a:lstStyle>
            <a:lvl1pPr>
              <a:defRPr sz="4500"/>
            </a:lvl1pPr>
          </a:lstStyle>
          <a:p>
            <a:r>
              <a:rPr lang="en-US" dirty="0"/>
              <a:t>Heading agenda</a:t>
            </a:r>
            <a:endParaRPr lang="en-GB" dirty="0"/>
          </a:p>
        </p:txBody>
      </p:sp>
      <p:sp>
        <p:nvSpPr>
          <p:cNvPr id="4" name="Date Placeholder 3">
            <a:extLst>
              <a:ext uri="{FF2B5EF4-FFF2-40B4-BE49-F238E27FC236}">
                <a16:creationId xmlns:a16="http://schemas.microsoft.com/office/drawing/2014/main" id="{B88C6AE8-D21D-F505-258C-587B201AA68F}"/>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5" name="Footer Placeholder 4">
            <a:extLst>
              <a:ext uri="{FF2B5EF4-FFF2-40B4-BE49-F238E27FC236}">
                <a16:creationId xmlns:a16="http://schemas.microsoft.com/office/drawing/2014/main" id="{FFB70087-3858-FDCD-4445-BDAB29C35B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19B510-5353-7F74-9A78-CCDB8B2D025D}"/>
              </a:ext>
            </a:extLst>
          </p:cNvPr>
          <p:cNvSpPr>
            <a:spLocks noGrp="1"/>
          </p:cNvSpPr>
          <p:nvPr>
            <p:ph type="sldNum" sz="quarter" idx="12"/>
          </p:nvPr>
        </p:nvSpPr>
        <p:spPr/>
        <p:txBody>
          <a:bodyPr/>
          <a:lstStyle/>
          <a:p>
            <a:fld id="{6BC49554-3DEC-40E0-81A0-6D7F8C42B233}" type="slidenum">
              <a:rPr lang="en-GB" smtClean="0"/>
              <a:t>‹#›</a:t>
            </a:fld>
            <a:endParaRPr lang="en-GB"/>
          </a:p>
        </p:txBody>
      </p:sp>
      <p:sp>
        <p:nvSpPr>
          <p:cNvPr id="7" name="Platshållare för text 7">
            <a:extLst>
              <a:ext uri="{FF2B5EF4-FFF2-40B4-BE49-F238E27FC236}">
                <a16:creationId xmlns:a16="http://schemas.microsoft.com/office/drawing/2014/main" id="{836E1EC7-FAF7-BC36-3514-37B25F0E9379}"/>
              </a:ext>
            </a:extLst>
          </p:cNvPr>
          <p:cNvSpPr>
            <a:spLocks noGrp="1"/>
          </p:cNvSpPr>
          <p:nvPr>
            <p:ph type="body" sz="quarter" idx="13"/>
          </p:nvPr>
        </p:nvSpPr>
        <p:spPr>
          <a:xfrm>
            <a:off x="2087218" y="1766222"/>
            <a:ext cx="4139648" cy="2706557"/>
          </a:xfrm>
        </p:spPr>
        <p:txBody>
          <a:bodyPr/>
          <a:lstStyle>
            <a:lvl1pPr>
              <a:defRPr>
                <a:latin typeface="+mj-lt"/>
              </a:defRPr>
            </a:lvl1pPr>
            <a:lvl2pPr>
              <a:defRPr>
                <a:latin typeface="+mj-lt"/>
              </a:defRPr>
            </a:lvl2pPr>
            <a:lvl3pPr marL="857250" indent="-171450">
              <a:defRPr lang="en-US" sz="1600" b="0" i="1" kern="1200" dirty="0" smtClean="0">
                <a:solidFill>
                  <a:srgbClr val="00362D"/>
                </a:solidFill>
                <a:latin typeface="+mj-lt"/>
                <a:ea typeface="+mn-ea"/>
                <a:cs typeface="+mn-cs"/>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Tree>
    <p:extLst>
      <p:ext uri="{BB962C8B-B14F-4D97-AF65-F5344CB8AC3E}">
        <p14:creationId xmlns:p14="http://schemas.microsoft.com/office/powerpoint/2010/main" val="2685937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AEA7-85B0-0D71-219F-301CCD9225AE}"/>
              </a:ext>
            </a:extLst>
          </p:cNvPr>
          <p:cNvSpPr>
            <a:spLocks noGrp="1"/>
          </p:cNvSpPr>
          <p:nvPr>
            <p:ph type="title" hasCustomPrompt="1"/>
          </p:nvPr>
        </p:nvSpPr>
        <p:spPr>
          <a:xfrm>
            <a:off x="1584887" y="1592003"/>
            <a:ext cx="5974226" cy="973343"/>
          </a:xfrm>
        </p:spPr>
        <p:txBody>
          <a:bodyPr>
            <a:noAutofit/>
          </a:bodyPr>
          <a:lstStyle>
            <a:lvl1pPr>
              <a:defRPr sz="7000"/>
            </a:lvl1pPr>
          </a:lstStyle>
          <a:p>
            <a:r>
              <a:rPr lang="en-US" dirty="0"/>
              <a:t>Heading</a:t>
            </a:r>
            <a:endParaRPr lang="en-GB" dirty="0"/>
          </a:p>
        </p:txBody>
      </p:sp>
      <p:sp>
        <p:nvSpPr>
          <p:cNvPr id="3" name="Date Placeholder 2">
            <a:extLst>
              <a:ext uri="{FF2B5EF4-FFF2-40B4-BE49-F238E27FC236}">
                <a16:creationId xmlns:a16="http://schemas.microsoft.com/office/drawing/2014/main" id="{E7E3554A-F9BC-7926-1BB2-F3268B4AE85E}"/>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4" name="Footer Placeholder 3">
            <a:extLst>
              <a:ext uri="{FF2B5EF4-FFF2-40B4-BE49-F238E27FC236}">
                <a16:creationId xmlns:a16="http://schemas.microsoft.com/office/drawing/2014/main" id="{E8DDB94E-8638-2FF0-0510-786D07D2E4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3BDBD79-6518-0768-6028-D710C8A13C98}"/>
              </a:ext>
            </a:extLst>
          </p:cNvPr>
          <p:cNvSpPr>
            <a:spLocks noGrp="1"/>
          </p:cNvSpPr>
          <p:nvPr>
            <p:ph type="sldNum" sz="quarter" idx="12"/>
          </p:nvPr>
        </p:nvSpPr>
        <p:spPr/>
        <p:txBody>
          <a:bodyPr/>
          <a:lstStyle/>
          <a:p>
            <a:fld id="{6BC49554-3DEC-40E0-81A0-6D7F8C42B233}" type="slidenum">
              <a:rPr lang="en-GB" smtClean="0"/>
              <a:t>‹#›</a:t>
            </a:fld>
            <a:endParaRPr lang="en-GB"/>
          </a:p>
        </p:txBody>
      </p:sp>
    </p:spTree>
    <p:extLst>
      <p:ext uri="{BB962C8B-B14F-4D97-AF65-F5344CB8AC3E}">
        <p14:creationId xmlns:p14="http://schemas.microsoft.com/office/powerpoint/2010/main" val="3430743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Section Darkgreenblue">
    <p:bg>
      <p:bgPr>
        <a:solidFill>
          <a:srgbClr val="0036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AEA7-85B0-0D71-219F-301CCD9225AE}"/>
              </a:ext>
            </a:extLst>
          </p:cNvPr>
          <p:cNvSpPr>
            <a:spLocks noGrp="1"/>
          </p:cNvSpPr>
          <p:nvPr>
            <p:ph type="title" hasCustomPrompt="1"/>
          </p:nvPr>
        </p:nvSpPr>
        <p:spPr>
          <a:xfrm>
            <a:off x="1584887" y="1592003"/>
            <a:ext cx="5974226" cy="973343"/>
          </a:xfrm>
        </p:spPr>
        <p:txBody>
          <a:bodyPr>
            <a:noAutofit/>
          </a:bodyPr>
          <a:lstStyle>
            <a:lvl1pPr>
              <a:defRPr sz="7000">
                <a:solidFill>
                  <a:schemeClr val="bg1"/>
                </a:solidFill>
              </a:defRPr>
            </a:lvl1pPr>
          </a:lstStyle>
          <a:p>
            <a:r>
              <a:rPr lang="en-US" dirty="0"/>
              <a:t>Heading</a:t>
            </a:r>
            <a:endParaRPr lang="en-GB" dirty="0"/>
          </a:p>
        </p:txBody>
      </p:sp>
      <p:sp>
        <p:nvSpPr>
          <p:cNvPr id="3" name="Date Placeholder 2">
            <a:extLst>
              <a:ext uri="{FF2B5EF4-FFF2-40B4-BE49-F238E27FC236}">
                <a16:creationId xmlns:a16="http://schemas.microsoft.com/office/drawing/2014/main" id="{E7E3554A-F9BC-7926-1BB2-F3268B4AE85E}"/>
              </a:ext>
            </a:extLst>
          </p:cNvPr>
          <p:cNvSpPr>
            <a:spLocks noGrp="1"/>
          </p:cNvSpPr>
          <p:nvPr>
            <p:ph type="dt" sz="half" idx="10"/>
          </p:nvPr>
        </p:nvSpPr>
        <p:spPr/>
        <p:txBody>
          <a:bodyPr/>
          <a:lstStyle>
            <a:lvl1pPr>
              <a:defRPr>
                <a:solidFill>
                  <a:schemeClr val="bg1"/>
                </a:solidFill>
              </a:defRPr>
            </a:lvl1pPr>
          </a:lstStyle>
          <a:p>
            <a:fld id="{DB31513D-1980-4867-92CD-5FC1EAEB4949}" type="datetimeFigureOut">
              <a:rPr lang="en-GB" smtClean="0"/>
              <a:pPr/>
              <a:t>17/12/2025</a:t>
            </a:fld>
            <a:endParaRPr lang="en-GB"/>
          </a:p>
        </p:txBody>
      </p:sp>
      <p:sp>
        <p:nvSpPr>
          <p:cNvPr id="4" name="Footer Placeholder 3">
            <a:extLst>
              <a:ext uri="{FF2B5EF4-FFF2-40B4-BE49-F238E27FC236}">
                <a16:creationId xmlns:a16="http://schemas.microsoft.com/office/drawing/2014/main" id="{E8DDB94E-8638-2FF0-0510-786D07D2E48A}"/>
              </a:ext>
            </a:extLst>
          </p:cNvPr>
          <p:cNvSpPr>
            <a:spLocks noGrp="1"/>
          </p:cNvSpPr>
          <p:nvPr>
            <p:ph type="ftr" sz="quarter" idx="11"/>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43BDBD79-6518-0768-6028-D710C8A13C98}"/>
              </a:ext>
            </a:extLst>
          </p:cNvPr>
          <p:cNvSpPr>
            <a:spLocks noGrp="1"/>
          </p:cNvSpPr>
          <p:nvPr>
            <p:ph type="sldNum" sz="quarter" idx="12"/>
          </p:nvPr>
        </p:nvSpPr>
        <p:spPr/>
        <p:txBody>
          <a:bodyPr/>
          <a:lstStyle>
            <a:lvl1pPr>
              <a:defRPr>
                <a:solidFill>
                  <a:schemeClr val="bg1"/>
                </a:solidFill>
              </a:defRPr>
            </a:lvl1pPr>
          </a:lstStyle>
          <a:p>
            <a:fld id="{6BC49554-3DEC-40E0-81A0-6D7F8C42B233}" type="slidenum">
              <a:rPr lang="en-GB" smtClean="0"/>
              <a:pPr/>
              <a:t>‹#›</a:t>
            </a:fld>
            <a:endParaRPr lang="en-GB"/>
          </a:p>
        </p:txBody>
      </p:sp>
    </p:spTree>
    <p:extLst>
      <p:ext uri="{BB962C8B-B14F-4D97-AF65-F5344CB8AC3E}">
        <p14:creationId xmlns:p14="http://schemas.microsoft.com/office/powerpoint/2010/main" val="337382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AEA7-85B0-0D71-219F-301CCD9225AE}"/>
              </a:ext>
            </a:extLst>
          </p:cNvPr>
          <p:cNvSpPr>
            <a:spLocks noGrp="1"/>
          </p:cNvSpPr>
          <p:nvPr>
            <p:ph type="title" hasCustomPrompt="1"/>
          </p:nvPr>
        </p:nvSpPr>
        <p:spPr>
          <a:xfrm>
            <a:off x="1584887" y="1592003"/>
            <a:ext cx="5974226" cy="973343"/>
          </a:xfrm>
        </p:spPr>
        <p:txBody>
          <a:bodyPr anchor="b" anchorCtr="0">
            <a:noAutofit/>
          </a:bodyPr>
          <a:lstStyle>
            <a:lvl1pPr>
              <a:defRPr sz="4500"/>
            </a:lvl1pPr>
          </a:lstStyle>
          <a:p>
            <a:r>
              <a:rPr lang="en-US" dirty="0"/>
              <a:t>Heading</a:t>
            </a:r>
            <a:endParaRPr lang="en-GB" dirty="0"/>
          </a:p>
        </p:txBody>
      </p:sp>
      <p:sp>
        <p:nvSpPr>
          <p:cNvPr id="3" name="Date Placeholder 2">
            <a:extLst>
              <a:ext uri="{FF2B5EF4-FFF2-40B4-BE49-F238E27FC236}">
                <a16:creationId xmlns:a16="http://schemas.microsoft.com/office/drawing/2014/main" id="{E7E3554A-F9BC-7926-1BB2-F3268B4AE85E}"/>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4" name="Footer Placeholder 3">
            <a:extLst>
              <a:ext uri="{FF2B5EF4-FFF2-40B4-BE49-F238E27FC236}">
                <a16:creationId xmlns:a16="http://schemas.microsoft.com/office/drawing/2014/main" id="{E8DDB94E-8638-2FF0-0510-786D07D2E4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3BDBD79-6518-0768-6028-D710C8A13C98}"/>
              </a:ext>
            </a:extLst>
          </p:cNvPr>
          <p:cNvSpPr>
            <a:spLocks noGrp="1"/>
          </p:cNvSpPr>
          <p:nvPr>
            <p:ph type="sldNum" sz="quarter" idx="12"/>
          </p:nvPr>
        </p:nvSpPr>
        <p:spPr/>
        <p:txBody>
          <a:bodyPr/>
          <a:lstStyle/>
          <a:p>
            <a:fld id="{6BC49554-3DEC-40E0-81A0-6D7F8C42B233}" type="slidenum">
              <a:rPr lang="en-GB" smtClean="0"/>
              <a:t>‹#›</a:t>
            </a:fld>
            <a:endParaRPr lang="en-GB"/>
          </a:p>
        </p:txBody>
      </p:sp>
      <p:sp>
        <p:nvSpPr>
          <p:cNvPr id="7" name="Text Placeholder 6">
            <a:extLst>
              <a:ext uri="{FF2B5EF4-FFF2-40B4-BE49-F238E27FC236}">
                <a16:creationId xmlns:a16="http://schemas.microsoft.com/office/drawing/2014/main" id="{9AC2A27E-2548-0C46-474D-30A08F432A74}"/>
              </a:ext>
            </a:extLst>
          </p:cNvPr>
          <p:cNvSpPr>
            <a:spLocks noGrp="1"/>
          </p:cNvSpPr>
          <p:nvPr>
            <p:ph type="body" sz="quarter" idx="13"/>
          </p:nvPr>
        </p:nvSpPr>
        <p:spPr>
          <a:xfrm>
            <a:off x="1579232" y="2657600"/>
            <a:ext cx="5974226" cy="1266699"/>
          </a:xfrm>
        </p:spPr>
        <p:txBody>
          <a:bodyPr/>
          <a:lstStyle>
            <a:lvl1pPr marL="0" indent="0">
              <a:buNone/>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2236793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2 Darkgreenblue">
    <p:bg>
      <p:bgPr>
        <a:solidFill>
          <a:srgbClr val="0036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AEA7-85B0-0D71-219F-301CCD9225AE}"/>
              </a:ext>
            </a:extLst>
          </p:cNvPr>
          <p:cNvSpPr>
            <a:spLocks noGrp="1"/>
          </p:cNvSpPr>
          <p:nvPr>
            <p:ph type="title" hasCustomPrompt="1"/>
          </p:nvPr>
        </p:nvSpPr>
        <p:spPr>
          <a:xfrm>
            <a:off x="1584887" y="1592003"/>
            <a:ext cx="5974226" cy="973343"/>
          </a:xfrm>
        </p:spPr>
        <p:txBody>
          <a:bodyPr anchor="b" anchorCtr="0">
            <a:noAutofit/>
          </a:bodyPr>
          <a:lstStyle>
            <a:lvl1pPr>
              <a:defRPr sz="4500">
                <a:solidFill>
                  <a:schemeClr val="bg1"/>
                </a:solidFill>
              </a:defRPr>
            </a:lvl1pPr>
          </a:lstStyle>
          <a:p>
            <a:r>
              <a:rPr lang="en-US" dirty="0"/>
              <a:t>Heading</a:t>
            </a:r>
            <a:endParaRPr lang="en-GB" dirty="0"/>
          </a:p>
        </p:txBody>
      </p:sp>
      <p:sp>
        <p:nvSpPr>
          <p:cNvPr id="3" name="Date Placeholder 2">
            <a:extLst>
              <a:ext uri="{FF2B5EF4-FFF2-40B4-BE49-F238E27FC236}">
                <a16:creationId xmlns:a16="http://schemas.microsoft.com/office/drawing/2014/main" id="{E7E3554A-F9BC-7926-1BB2-F3268B4AE85E}"/>
              </a:ext>
            </a:extLst>
          </p:cNvPr>
          <p:cNvSpPr>
            <a:spLocks noGrp="1"/>
          </p:cNvSpPr>
          <p:nvPr>
            <p:ph type="dt" sz="half" idx="10"/>
          </p:nvPr>
        </p:nvSpPr>
        <p:spPr/>
        <p:txBody>
          <a:bodyPr/>
          <a:lstStyle>
            <a:lvl1pPr>
              <a:defRPr>
                <a:solidFill>
                  <a:schemeClr val="bg1"/>
                </a:solidFill>
              </a:defRPr>
            </a:lvl1pPr>
          </a:lstStyle>
          <a:p>
            <a:fld id="{DB31513D-1980-4867-92CD-5FC1EAEB4949}" type="datetimeFigureOut">
              <a:rPr lang="en-GB" smtClean="0"/>
              <a:pPr/>
              <a:t>17/12/2025</a:t>
            </a:fld>
            <a:endParaRPr lang="en-GB"/>
          </a:p>
        </p:txBody>
      </p:sp>
      <p:sp>
        <p:nvSpPr>
          <p:cNvPr id="4" name="Footer Placeholder 3">
            <a:extLst>
              <a:ext uri="{FF2B5EF4-FFF2-40B4-BE49-F238E27FC236}">
                <a16:creationId xmlns:a16="http://schemas.microsoft.com/office/drawing/2014/main" id="{E8DDB94E-8638-2FF0-0510-786D07D2E48A}"/>
              </a:ext>
            </a:extLst>
          </p:cNvPr>
          <p:cNvSpPr>
            <a:spLocks noGrp="1"/>
          </p:cNvSpPr>
          <p:nvPr>
            <p:ph type="ftr" sz="quarter" idx="11"/>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43BDBD79-6518-0768-6028-D710C8A13C98}"/>
              </a:ext>
            </a:extLst>
          </p:cNvPr>
          <p:cNvSpPr>
            <a:spLocks noGrp="1"/>
          </p:cNvSpPr>
          <p:nvPr>
            <p:ph type="sldNum" sz="quarter" idx="12"/>
          </p:nvPr>
        </p:nvSpPr>
        <p:spPr/>
        <p:txBody>
          <a:bodyPr/>
          <a:lstStyle>
            <a:lvl1pPr>
              <a:defRPr>
                <a:solidFill>
                  <a:schemeClr val="bg1"/>
                </a:solidFill>
              </a:defRPr>
            </a:lvl1pPr>
          </a:lstStyle>
          <a:p>
            <a:fld id="{6BC49554-3DEC-40E0-81A0-6D7F8C42B233}" type="slidenum">
              <a:rPr lang="en-GB" smtClean="0"/>
              <a:pPr/>
              <a:t>‹#›</a:t>
            </a:fld>
            <a:endParaRPr lang="en-GB"/>
          </a:p>
        </p:txBody>
      </p:sp>
      <p:sp>
        <p:nvSpPr>
          <p:cNvPr id="7" name="Text Placeholder 6">
            <a:extLst>
              <a:ext uri="{FF2B5EF4-FFF2-40B4-BE49-F238E27FC236}">
                <a16:creationId xmlns:a16="http://schemas.microsoft.com/office/drawing/2014/main" id="{9AC2A27E-2548-0C46-474D-30A08F432A74}"/>
              </a:ext>
            </a:extLst>
          </p:cNvPr>
          <p:cNvSpPr>
            <a:spLocks noGrp="1"/>
          </p:cNvSpPr>
          <p:nvPr>
            <p:ph type="body" sz="quarter" idx="13"/>
          </p:nvPr>
        </p:nvSpPr>
        <p:spPr>
          <a:xfrm>
            <a:off x="1579232" y="2657600"/>
            <a:ext cx="5974226" cy="1266699"/>
          </a:xfrm>
        </p:spPr>
        <p:txBody>
          <a:bodyPr/>
          <a:lstStyle>
            <a:lvl1pPr marL="0" indent="0">
              <a:buNone/>
              <a:defRPr>
                <a:solidFill>
                  <a:schemeClr val="bg1"/>
                </a:solidFill>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180762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Heading to 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24663-C7DD-75AD-6B62-9C2FAD363C9A}"/>
              </a:ext>
            </a:extLst>
          </p:cNvPr>
          <p:cNvSpPr>
            <a:spLocks noGrp="1"/>
          </p:cNvSpPr>
          <p:nvPr>
            <p:ph type="title" hasCustomPrompt="1"/>
          </p:nvPr>
        </p:nvSpPr>
        <p:spPr>
          <a:xfrm>
            <a:off x="934115" y="1118764"/>
            <a:ext cx="3279084" cy="519536"/>
          </a:xfrm>
        </p:spPr>
        <p:txBody>
          <a:bodyPr/>
          <a:lstStyle>
            <a:lvl1pPr>
              <a:defRPr/>
            </a:lvl1pPr>
          </a:lstStyle>
          <a:p>
            <a:r>
              <a:rPr lang="en-US" dirty="0"/>
              <a:t>Heading</a:t>
            </a:r>
            <a:endParaRPr lang="en-GB" dirty="0"/>
          </a:p>
        </p:txBody>
      </p:sp>
      <p:sp>
        <p:nvSpPr>
          <p:cNvPr id="3" name="Content Placeholder 2">
            <a:extLst>
              <a:ext uri="{FF2B5EF4-FFF2-40B4-BE49-F238E27FC236}">
                <a16:creationId xmlns:a16="http://schemas.microsoft.com/office/drawing/2014/main" id="{011900EE-F6ED-A1CB-EBEB-78083501F7C4}"/>
              </a:ext>
            </a:extLst>
          </p:cNvPr>
          <p:cNvSpPr>
            <a:spLocks noGrp="1"/>
          </p:cNvSpPr>
          <p:nvPr>
            <p:ph sz="half" idx="1"/>
          </p:nvPr>
        </p:nvSpPr>
        <p:spPr>
          <a:xfrm>
            <a:off x="934115" y="1771193"/>
            <a:ext cx="3279085" cy="2639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8D0846CD-A659-DE31-B369-FB3FEB0308F8}"/>
              </a:ext>
            </a:extLst>
          </p:cNvPr>
          <p:cNvSpPr>
            <a:spLocks noGrp="1"/>
          </p:cNvSpPr>
          <p:nvPr>
            <p:ph sz="half" idx="2" hasCustomPrompt="1"/>
          </p:nvPr>
        </p:nvSpPr>
        <p:spPr>
          <a:xfrm>
            <a:off x="4572000" y="1118764"/>
            <a:ext cx="3682944" cy="2748551"/>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Select an icon for picture or chart</a:t>
            </a:r>
            <a:endParaRPr lang="en-GB" dirty="0"/>
          </a:p>
        </p:txBody>
      </p:sp>
      <p:sp>
        <p:nvSpPr>
          <p:cNvPr id="5" name="Date Placeholder 4">
            <a:extLst>
              <a:ext uri="{FF2B5EF4-FFF2-40B4-BE49-F238E27FC236}">
                <a16:creationId xmlns:a16="http://schemas.microsoft.com/office/drawing/2014/main" id="{C3265223-CE66-8559-0FC2-89112E3A6894}"/>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6" name="Footer Placeholder 5">
            <a:extLst>
              <a:ext uri="{FF2B5EF4-FFF2-40B4-BE49-F238E27FC236}">
                <a16:creationId xmlns:a16="http://schemas.microsoft.com/office/drawing/2014/main" id="{096771E0-442E-D262-5DFA-B11D64A351A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7E54E9-4F4E-CE3C-ECE1-E98A1A381047}"/>
              </a:ext>
            </a:extLst>
          </p:cNvPr>
          <p:cNvSpPr>
            <a:spLocks noGrp="1"/>
          </p:cNvSpPr>
          <p:nvPr>
            <p:ph type="sldNum" sz="quarter" idx="12"/>
          </p:nvPr>
        </p:nvSpPr>
        <p:spPr/>
        <p:txBody>
          <a:bodyPr/>
          <a:lstStyle/>
          <a:p>
            <a:fld id="{6BC49554-3DEC-40E0-81A0-6D7F8C42B233}" type="slidenum">
              <a:rPr lang="en-GB" smtClean="0"/>
              <a:t>‹#›</a:t>
            </a:fld>
            <a:endParaRPr lang="en-GB"/>
          </a:p>
        </p:txBody>
      </p:sp>
    </p:spTree>
    <p:extLst>
      <p:ext uri="{BB962C8B-B14F-4D97-AF65-F5344CB8AC3E}">
        <p14:creationId xmlns:p14="http://schemas.microsoft.com/office/powerpoint/2010/main" val="3491014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Heading to two column Potra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24663-C7DD-75AD-6B62-9C2FAD363C9A}"/>
              </a:ext>
            </a:extLst>
          </p:cNvPr>
          <p:cNvSpPr>
            <a:spLocks noGrp="1"/>
          </p:cNvSpPr>
          <p:nvPr>
            <p:ph type="title" hasCustomPrompt="1"/>
          </p:nvPr>
        </p:nvSpPr>
        <p:spPr>
          <a:xfrm>
            <a:off x="934115" y="1118764"/>
            <a:ext cx="3279084" cy="519536"/>
          </a:xfrm>
        </p:spPr>
        <p:txBody>
          <a:bodyPr/>
          <a:lstStyle>
            <a:lvl1pPr>
              <a:defRPr/>
            </a:lvl1pPr>
          </a:lstStyle>
          <a:p>
            <a:r>
              <a:rPr lang="en-US" dirty="0"/>
              <a:t>Heading</a:t>
            </a:r>
            <a:endParaRPr lang="en-GB" dirty="0"/>
          </a:p>
        </p:txBody>
      </p:sp>
      <p:sp>
        <p:nvSpPr>
          <p:cNvPr id="3" name="Content Placeholder 2">
            <a:extLst>
              <a:ext uri="{FF2B5EF4-FFF2-40B4-BE49-F238E27FC236}">
                <a16:creationId xmlns:a16="http://schemas.microsoft.com/office/drawing/2014/main" id="{011900EE-F6ED-A1CB-EBEB-78083501F7C4}"/>
              </a:ext>
            </a:extLst>
          </p:cNvPr>
          <p:cNvSpPr>
            <a:spLocks noGrp="1"/>
          </p:cNvSpPr>
          <p:nvPr>
            <p:ph sz="half" idx="1"/>
          </p:nvPr>
        </p:nvSpPr>
        <p:spPr>
          <a:xfrm>
            <a:off x="934115" y="1771193"/>
            <a:ext cx="3279085" cy="2639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8D0846CD-A659-DE31-B369-FB3FEB0308F8}"/>
              </a:ext>
            </a:extLst>
          </p:cNvPr>
          <p:cNvSpPr>
            <a:spLocks noGrp="1"/>
          </p:cNvSpPr>
          <p:nvPr>
            <p:ph sz="half" idx="2" hasCustomPrompt="1"/>
          </p:nvPr>
        </p:nvSpPr>
        <p:spPr>
          <a:xfrm>
            <a:off x="5230653" y="775869"/>
            <a:ext cx="2734666" cy="4084149"/>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Select an icon for picture or chart</a:t>
            </a:r>
            <a:endParaRPr lang="en-GB" dirty="0"/>
          </a:p>
        </p:txBody>
      </p:sp>
      <p:sp>
        <p:nvSpPr>
          <p:cNvPr id="5" name="Date Placeholder 4">
            <a:extLst>
              <a:ext uri="{FF2B5EF4-FFF2-40B4-BE49-F238E27FC236}">
                <a16:creationId xmlns:a16="http://schemas.microsoft.com/office/drawing/2014/main" id="{C3265223-CE66-8559-0FC2-89112E3A6894}"/>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6" name="Footer Placeholder 5">
            <a:extLst>
              <a:ext uri="{FF2B5EF4-FFF2-40B4-BE49-F238E27FC236}">
                <a16:creationId xmlns:a16="http://schemas.microsoft.com/office/drawing/2014/main" id="{096771E0-442E-D262-5DFA-B11D64A351A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7E54E9-4F4E-CE3C-ECE1-E98A1A381047}"/>
              </a:ext>
            </a:extLst>
          </p:cNvPr>
          <p:cNvSpPr>
            <a:spLocks noGrp="1"/>
          </p:cNvSpPr>
          <p:nvPr>
            <p:ph type="sldNum" sz="quarter" idx="12"/>
          </p:nvPr>
        </p:nvSpPr>
        <p:spPr/>
        <p:txBody>
          <a:bodyPr/>
          <a:lstStyle/>
          <a:p>
            <a:fld id="{6BC49554-3DEC-40E0-81A0-6D7F8C42B233}" type="slidenum">
              <a:rPr lang="en-GB" smtClean="0"/>
              <a:t>‹#›</a:t>
            </a:fld>
            <a:endParaRPr lang="en-GB"/>
          </a:p>
        </p:txBody>
      </p:sp>
    </p:spTree>
    <p:extLst>
      <p:ext uri="{BB962C8B-B14F-4D97-AF65-F5344CB8AC3E}">
        <p14:creationId xmlns:p14="http://schemas.microsoft.com/office/powerpoint/2010/main" val="1426294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rading to three pictures/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24663-C7DD-75AD-6B62-9C2FAD363C9A}"/>
              </a:ext>
            </a:extLst>
          </p:cNvPr>
          <p:cNvSpPr>
            <a:spLocks noGrp="1"/>
          </p:cNvSpPr>
          <p:nvPr>
            <p:ph type="title" hasCustomPrompt="1"/>
          </p:nvPr>
        </p:nvSpPr>
        <p:spPr>
          <a:xfrm>
            <a:off x="934115" y="1118764"/>
            <a:ext cx="3279084" cy="519536"/>
          </a:xfrm>
        </p:spPr>
        <p:txBody>
          <a:bodyPr/>
          <a:lstStyle>
            <a:lvl1pPr>
              <a:defRPr/>
            </a:lvl1pPr>
          </a:lstStyle>
          <a:p>
            <a:r>
              <a:rPr lang="en-US" dirty="0"/>
              <a:t>Heading</a:t>
            </a:r>
            <a:endParaRPr lang="en-GB" dirty="0"/>
          </a:p>
        </p:txBody>
      </p:sp>
      <p:sp>
        <p:nvSpPr>
          <p:cNvPr id="4" name="Content Placeholder 3">
            <a:extLst>
              <a:ext uri="{FF2B5EF4-FFF2-40B4-BE49-F238E27FC236}">
                <a16:creationId xmlns:a16="http://schemas.microsoft.com/office/drawing/2014/main" id="{8D0846CD-A659-DE31-B369-FB3FEB0308F8}"/>
              </a:ext>
            </a:extLst>
          </p:cNvPr>
          <p:cNvSpPr>
            <a:spLocks noGrp="1"/>
          </p:cNvSpPr>
          <p:nvPr>
            <p:ph sz="half" idx="2" hasCustomPrompt="1"/>
          </p:nvPr>
        </p:nvSpPr>
        <p:spPr>
          <a:xfrm>
            <a:off x="934115" y="1738330"/>
            <a:ext cx="2263726" cy="1666841"/>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Select an icon for picture or chart</a:t>
            </a:r>
            <a:endParaRPr lang="en-GB" dirty="0"/>
          </a:p>
        </p:txBody>
      </p:sp>
      <p:sp>
        <p:nvSpPr>
          <p:cNvPr id="5" name="Date Placeholder 4">
            <a:extLst>
              <a:ext uri="{FF2B5EF4-FFF2-40B4-BE49-F238E27FC236}">
                <a16:creationId xmlns:a16="http://schemas.microsoft.com/office/drawing/2014/main" id="{C3265223-CE66-8559-0FC2-89112E3A6894}"/>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6" name="Footer Placeholder 5">
            <a:extLst>
              <a:ext uri="{FF2B5EF4-FFF2-40B4-BE49-F238E27FC236}">
                <a16:creationId xmlns:a16="http://schemas.microsoft.com/office/drawing/2014/main" id="{096771E0-442E-D262-5DFA-B11D64A351A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7E54E9-4F4E-CE3C-ECE1-E98A1A381047}"/>
              </a:ext>
            </a:extLst>
          </p:cNvPr>
          <p:cNvSpPr>
            <a:spLocks noGrp="1"/>
          </p:cNvSpPr>
          <p:nvPr>
            <p:ph type="sldNum" sz="quarter" idx="12"/>
          </p:nvPr>
        </p:nvSpPr>
        <p:spPr/>
        <p:txBody>
          <a:bodyPr/>
          <a:lstStyle/>
          <a:p>
            <a:fld id="{6BC49554-3DEC-40E0-81A0-6D7F8C42B233}" type="slidenum">
              <a:rPr lang="en-GB" smtClean="0"/>
              <a:t>‹#›</a:t>
            </a:fld>
            <a:endParaRPr lang="en-GB"/>
          </a:p>
        </p:txBody>
      </p:sp>
      <p:sp>
        <p:nvSpPr>
          <p:cNvPr id="8" name="Content Placeholder 3">
            <a:extLst>
              <a:ext uri="{FF2B5EF4-FFF2-40B4-BE49-F238E27FC236}">
                <a16:creationId xmlns:a16="http://schemas.microsoft.com/office/drawing/2014/main" id="{A5D07A56-108F-5C3C-79CB-8726BD308187}"/>
              </a:ext>
            </a:extLst>
          </p:cNvPr>
          <p:cNvSpPr>
            <a:spLocks noGrp="1"/>
          </p:cNvSpPr>
          <p:nvPr>
            <p:ph sz="half" idx="13" hasCustomPrompt="1"/>
          </p:nvPr>
        </p:nvSpPr>
        <p:spPr>
          <a:xfrm>
            <a:off x="3435465" y="1738330"/>
            <a:ext cx="2263726" cy="1666841"/>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Select an icon for picture or chart</a:t>
            </a:r>
            <a:endParaRPr lang="en-GB" dirty="0"/>
          </a:p>
        </p:txBody>
      </p:sp>
      <p:sp>
        <p:nvSpPr>
          <p:cNvPr id="9" name="Content Placeholder 3">
            <a:extLst>
              <a:ext uri="{FF2B5EF4-FFF2-40B4-BE49-F238E27FC236}">
                <a16:creationId xmlns:a16="http://schemas.microsoft.com/office/drawing/2014/main" id="{91BF5F5D-945F-A3C7-E523-1DF814A64E26}"/>
              </a:ext>
            </a:extLst>
          </p:cNvPr>
          <p:cNvSpPr>
            <a:spLocks noGrp="1"/>
          </p:cNvSpPr>
          <p:nvPr>
            <p:ph sz="half" idx="14" hasCustomPrompt="1"/>
          </p:nvPr>
        </p:nvSpPr>
        <p:spPr>
          <a:xfrm>
            <a:off x="5936815" y="1738330"/>
            <a:ext cx="2263726" cy="1666841"/>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Select an icon for picture or chart</a:t>
            </a:r>
            <a:endParaRPr lang="en-GB" dirty="0"/>
          </a:p>
        </p:txBody>
      </p:sp>
    </p:spTree>
    <p:extLst>
      <p:ext uri="{BB962C8B-B14F-4D97-AF65-F5344CB8AC3E}">
        <p14:creationId xmlns:p14="http://schemas.microsoft.com/office/powerpoint/2010/main" val="18641925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who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0F654A9-35FB-1A6A-0962-067EA4BB8D87}"/>
              </a:ext>
            </a:extLst>
          </p:cNvPr>
          <p:cNvSpPr>
            <a:spLocks noGrp="1"/>
          </p:cNvSpPr>
          <p:nvPr>
            <p:ph type="pic" sz="quarter" idx="10"/>
          </p:nvPr>
        </p:nvSpPr>
        <p:spPr>
          <a:xfrm>
            <a:off x="0" y="0"/>
            <a:ext cx="9144000" cy="5143500"/>
          </a:xfrm>
          <a:solidFill>
            <a:srgbClr val="D9D9D9"/>
          </a:solidFill>
        </p:spPr>
        <p:txBody>
          <a:bodyPr/>
          <a:lstStyle/>
          <a:p>
            <a:r>
              <a:rPr lang="en-US"/>
              <a:t>Click icon to add picture</a:t>
            </a:r>
            <a:endParaRPr lang="en-GB"/>
          </a:p>
        </p:txBody>
      </p:sp>
    </p:spTree>
    <p:extLst>
      <p:ext uri="{BB962C8B-B14F-4D97-AF65-F5344CB8AC3E}">
        <p14:creationId xmlns:p14="http://schemas.microsoft.com/office/powerpoint/2010/main" val="9029340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mall 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70698-019B-CB27-9A59-437FBBD53897}"/>
              </a:ext>
            </a:extLst>
          </p:cNvPr>
          <p:cNvSpPr>
            <a:spLocks noGrp="1"/>
          </p:cNvSpPr>
          <p:nvPr>
            <p:ph type="title" hasCustomPrompt="1"/>
          </p:nvPr>
        </p:nvSpPr>
        <p:spPr>
          <a:xfrm>
            <a:off x="2258171" y="1879804"/>
            <a:ext cx="4619707" cy="1204803"/>
          </a:xfrm>
        </p:spPr>
        <p:txBody>
          <a:bodyPr anchor="t" anchorCtr="0"/>
          <a:lstStyle>
            <a:lvl1pPr>
              <a:defRPr sz="4500">
                <a:latin typeface="+mn-lt"/>
              </a:defRPr>
            </a:lvl1pPr>
          </a:lstStyle>
          <a:p>
            <a:r>
              <a:rPr lang="en-US" dirty="0"/>
              <a:t>Small quote on two rows</a:t>
            </a:r>
            <a:endParaRPr lang="en-GB" dirty="0"/>
          </a:p>
        </p:txBody>
      </p:sp>
      <p:sp>
        <p:nvSpPr>
          <p:cNvPr id="3" name="Text Placeholder 2">
            <a:extLst>
              <a:ext uri="{FF2B5EF4-FFF2-40B4-BE49-F238E27FC236}">
                <a16:creationId xmlns:a16="http://schemas.microsoft.com/office/drawing/2014/main" id="{48F8611F-AA5F-F94A-F3E5-986E865C35A6}"/>
              </a:ext>
            </a:extLst>
          </p:cNvPr>
          <p:cNvSpPr>
            <a:spLocks noGrp="1"/>
          </p:cNvSpPr>
          <p:nvPr>
            <p:ph type="body" idx="1" hasCustomPrompt="1"/>
          </p:nvPr>
        </p:nvSpPr>
        <p:spPr>
          <a:xfrm>
            <a:off x="4762219" y="3225013"/>
            <a:ext cx="2362273" cy="251612"/>
          </a:xfrm>
        </p:spPr>
        <p:txBody>
          <a:bodyPr>
            <a:noAutofit/>
          </a:bodyPr>
          <a:lstStyle>
            <a:lvl1pPr marL="0" indent="0">
              <a:buNone/>
              <a:defRPr sz="1400">
                <a:solidFill>
                  <a:srgbClr val="00362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 First and last name</a:t>
            </a:r>
          </a:p>
        </p:txBody>
      </p:sp>
      <p:sp>
        <p:nvSpPr>
          <p:cNvPr id="4" name="Date Placeholder 3">
            <a:extLst>
              <a:ext uri="{FF2B5EF4-FFF2-40B4-BE49-F238E27FC236}">
                <a16:creationId xmlns:a16="http://schemas.microsoft.com/office/drawing/2014/main" id="{3E9B9FA0-79E8-9B6F-3AFE-E0B6DDC893F2}"/>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5" name="Footer Placeholder 4">
            <a:extLst>
              <a:ext uri="{FF2B5EF4-FFF2-40B4-BE49-F238E27FC236}">
                <a16:creationId xmlns:a16="http://schemas.microsoft.com/office/drawing/2014/main" id="{38595C56-4D1A-2712-B4F3-CCE62807BC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39CDAA-04F6-EFFF-5521-C506A91663FF}"/>
              </a:ext>
            </a:extLst>
          </p:cNvPr>
          <p:cNvSpPr>
            <a:spLocks noGrp="1"/>
          </p:cNvSpPr>
          <p:nvPr>
            <p:ph type="sldNum" sz="quarter" idx="12"/>
          </p:nvPr>
        </p:nvSpPr>
        <p:spPr/>
        <p:txBody>
          <a:bodyPr/>
          <a:lstStyle/>
          <a:p>
            <a:fld id="{6BC49554-3DEC-40E0-81A0-6D7F8C42B233}" type="slidenum">
              <a:rPr lang="en-GB" smtClean="0"/>
              <a:t>‹#›</a:t>
            </a:fld>
            <a:endParaRPr lang="en-GB"/>
          </a:p>
        </p:txBody>
      </p:sp>
      <p:pic>
        <p:nvPicPr>
          <p:cNvPr id="7" name="Bild">
            <a:extLst>
              <a:ext uri="{FF2B5EF4-FFF2-40B4-BE49-F238E27FC236}">
                <a16:creationId xmlns:a16="http://schemas.microsoft.com/office/drawing/2014/main" id="{CDA56F1F-C3AF-C131-5BF2-5DD75881A3C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7172855" y="1565998"/>
            <a:ext cx="366380" cy="2011504"/>
          </a:xfrm>
          <a:prstGeom prst="rect">
            <a:avLst/>
          </a:prstGeom>
          <a:ln w="12700">
            <a:miter lim="400000"/>
          </a:ln>
        </p:spPr>
      </p:pic>
      <p:pic>
        <p:nvPicPr>
          <p:cNvPr id="12" name="Bild">
            <a:extLst>
              <a:ext uri="{FF2B5EF4-FFF2-40B4-BE49-F238E27FC236}">
                <a16:creationId xmlns:a16="http://schemas.microsoft.com/office/drawing/2014/main" id="{43220DB9-1B12-8C6D-B775-7B7684C5155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0800000">
            <a:off x="1602188" y="1565998"/>
            <a:ext cx="366380" cy="2011504"/>
          </a:xfrm>
          <a:prstGeom prst="rect">
            <a:avLst/>
          </a:prstGeom>
          <a:ln w="12700">
            <a:miter lim="400000"/>
          </a:ln>
        </p:spPr>
      </p:pic>
    </p:spTree>
    <p:extLst>
      <p:ext uri="{BB962C8B-B14F-4D97-AF65-F5344CB8AC3E}">
        <p14:creationId xmlns:p14="http://schemas.microsoft.com/office/powerpoint/2010/main" val="40651359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mall quote Darkgreenblue">
    <p:bg>
      <p:bgPr>
        <a:solidFill>
          <a:srgbClr val="0036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70698-019B-CB27-9A59-437FBBD53897}"/>
              </a:ext>
            </a:extLst>
          </p:cNvPr>
          <p:cNvSpPr>
            <a:spLocks noGrp="1"/>
          </p:cNvSpPr>
          <p:nvPr>
            <p:ph type="title" hasCustomPrompt="1"/>
          </p:nvPr>
        </p:nvSpPr>
        <p:spPr>
          <a:xfrm>
            <a:off x="2258171" y="1879804"/>
            <a:ext cx="4619707" cy="1204803"/>
          </a:xfrm>
        </p:spPr>
        <p:txBody>
          <a:bodyPr anchor="t" anchorCtr="0"/>
          <a:lstStyle>
            <a:lvl1pPr>
              <a:defRPr sz="4500">
                <a:solidFill>
                  <a:schemeClr val="bg1"/>
                </a:solidFill>
                <a:latin typeface="+mn-lt"/>
              </a:defRPr>
            </a:lvl1pPr>
          </a:lstStyle>
          <a:p>
            <a:r>
              <a:rPr lang="en-US" dirty="0"/>
              <a:t>Small quote on two rows</a:t>
            </a:r>
            <a:endParaRPr lang="en-GB" dirty="0"/>
          </a:p>
        </p:txBody>
      </p:sp>
      <p:sp>
        <p:nvSpPr>
          <p:cNvPr id="3" name="Text Placeholder 2">
            <a:extLst>
              <a:ext uri="{FF2B5EF4-FFF2-40B4-BE49-F238E27FC236}">
                <a16:creationId xmlns:a16="http://schemas.microsoft.com/office/drawing/2014/main" id="{48F8611F-AA5F-F94A-F3E5-986E865C35A6}"/>
              </a:ext>
            </a:extLst>
          </p:cNvPr>
          <p:cNvSpPr>
            <a:spLocks noGrp="1"/>
          </p:cNvSpPr>
          <p:nvPr>
            <p:ph type="body" idx="1" hasCustomPrompt="1"/>
          </p:nvPr>
        </p:nvSpPr>
        <p:spPr>
          <a:xfrm>
            <a:off x="4762219" y="3225013"/>
            <a:ext cx="2362273" cy="251612"/>
          </a:xfrm>
        </p:spPr>
        <p:txBody>
          <a:bodyPr>
            <a:noAutofit/>
          </a:bodyPr>
          <a:lstStyle>
            <a:lvl1pPr marL="0" indent="0">
              <a:buNone/>
              <a:defRPr sz="14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 First and last name</a:t>
            </a:r>
          </a:p>
        </p:txBody>
      </p:sp>
      <p:sp>
        <p:nvSpPr>
          <p:cNvPr id="4" name="Date Placeholder 3">
            <a:extLst>
              <a:ext uri="{FF2B5EF4-FFF2-40B4-BE49-F238E27FC236}">
                <a16:creationId xmlns:a16="http://schemas.microsoft.com/office/drawing/2014/main" id="{3E9B9FA0-79E8-9B6F-3AFE-E0B6DDC893F2}"/>
              </a:ext>
            </a:extLst>
          </p:cNvPr>
          <p:cNvSpPr>
            <a:spLocks noGrp="1"/>
          </p:cNvSpPr>
          <p:nvPr>
            <p:ph type="dt" sz="half" idx="10"/>
          </p:nvPr>
        </p:nvSpPr>
        <p:spPr/>
        <p:txBody>
          <a:bodyPr/>
          <a:lstStyle>
            <a:lvl1pPr>
              <a:defRPr>
                <a:solidFill>
                  <a:schemeClr val="bg1"/>
                </a:solidFill>
              </a:defRPr>
            </a:lvl1pPr>
          </a:lstStyle>
          <a:p>
            <a:fld id="{DB31513D-1980-4867-92CD-5FC1EAEB4949}" type="datetimeFigureOut">
              <a:rPr lang="en-GB" smtClean="0"/>
              <a:pPr/>
              <a:t>17/12/2025</a:t>
            </a:fld>
            <a:endParaRPr lang="en-GB"/>
          </a:p>
        </p:txBody>
      </p:sp>
      <p:sp>
        <p:nvSpPr>
          <p:cNvPr id="5" name="Footer Placeholder 4">
            <a:extLst>
              <a:ext uri="{FF2B5EF4-FFF2-40B4-BE49-F238E27FC236}">
                <a16:creationId xmlns:a16="http://schemas.microsoft.com/office/drawing/2014/main" id="{38595C56-4D1A-2712-B4F3-CCE62807BCF3}"/>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BE39CDAA-04F6-EFFF-5521-C506A91663FF}"/>
              </a:ext>
            </a:extLst>
          </p:cNvPr>
          <p:cNvSpPr>
            <a:spLocks noGrp="1"/>
          </p:cNvSpPr>
          <p:nvPr>
            <p:ph type="sldNum" sz="quarter" idx="12"/>
          </p:nvPr>
        </p:nvSpPr>
        <p:spPr/>
        <p:txBody>
          <a:bodyPr/>
          <a:lstStyle>
            <a:lvl1pPr>
              <a:defRPr>
                <a:solidFill>
                  <a:schemeClr val="bg1"/>
                </a:solidFill>
              </a:defRPr>
            </a:lvl1pPr>
          </a:lstStyle>
          <a:p>
            <a:fld id="{6BC49554-3DEC-40E0-81A0-6D7F8C42B233}" type="slidenum">
              <a:rPr lang="en-GB" smtClean="0"/>
              <a:pPr/>
              <a:t>‹#›</a:t>
            </a:fld>
            <a:endParaRPr lang="en-GB"/>
          </a:p>
        </p:txBody>
      </p:sp>
      <p:pic>
        <p:nvPicPr>
          <p:cNvPr id="8" name="Bild">
            <a:extLst>
              <a:ext uri="{FF2B5EF4-FFF2-40B4-BE49-F238E27FC236}">
                <a16:creationId xmlns:a16="http://schemas.microsoft.com/office/drawing/2014/main" id="{08E42E62-5B43-0140-3463-107EE7F5081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602188" y="1565998"/>
            <a:ext cx="366380" cy="2011504"/>
          </a:xfrm>
          <a:prstGeom prst="rect">
            <a:avLst/>
          </a:prstGeom>
          <a:ln w="12700">
            <a:miter lim="400000"/>
          </a:ln>
        </p:spPr>
      </p:pic>
      <p:pic>
        <p:nvPicPr>
          <p:cNvPr id="10" name="Bild">
            <a:extLst>
              <a:ext uri="{FF2B5EF4-FFF2-40B4-BE49-F238E27FC236}">
                <a16:creationId xmlns:a16="http://schemas.microsoft.com/office/drawing/2014/main" id="{9BEED950-E044-8E5B-BD83-5DAC8E924AF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7172854" y="1565998"/>
            <a:ext cx="366380" cy="2011504"/>
          </a:xfrm>
          <a:prstGeom prst="rect">
            <a:avLst/>
          </a:prstGeom>
          <a:ln w="12700">
            <a:miter lim="400000"/>
          </a:ln>
        </p:spPr>
      </p:pic>
    </p:spTree>
    <p:extLst>
      <p:ext uri="{BB962C8B-B14F-4D97-AF65-F5344CB8AC3E}">
        <p14:creationId xmlns:p14="http://schemas.microsoft.com/office/powerpoint/2010/main" val="36105331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AEA7-85B0-0D71-219F-301CCD9225A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7E3554A-F9BC-7926-1BB2-F3268B4AE85E}"/>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4" name="Footer Placeholder 3">
            <a:extLst>
              <a:ext uri="{FF2B5EF4-FFF2-40B4-BE49-F238E27FC236}">
                <a16:creationId xmlns:a16="http://schemas.microsoft.com/office/drawing/2014/main" id="{E8DDB94E-8638-2FF0-0510-786D07D2E4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3BDBD79-6518-0768-6028-D710C8A13C98}"/>
              </a:ext>
            </a:extLst>
          </p:cNvPr>
          <p:cNvSpPr>
            <a:spLocks noGrp="1"/>
          </p:cNvSpPr>
          <p:nvPr>
            <p:ph type="sldNum" sz="quarter" idx="12"/>
          </p:nvPr>
        </p:nvSpPr>
        <p:spPr/>
        <p:txBody>
          <a:bodyPr/>
          <a:lstStyle/>
          <a:p>
            <a:fld id="{6BC49554-3DEC-40E0-81A0-6D7F8C42B233}" type="slidenum">
              <a:rPr lang="en-GB" smtClean="0"/>
              <a:t>‹#›</a:t>
            </a:fld>
            <a:endParaRPr lang="en-GB"/>
          </a:p>
        </p:txBody>
      </p:sp>
    </p:spTree>
    <p:extLst>
      <p:ext uri="{BB962C8B-B14F-4D97-AF65-F5344CB8AC3E}">
        <p14:creationId xmlns:p14="http://schemas.microsoft.com/office/powerpoint/2010/main" val="6739691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EFDB0E-7B7D-BB64-D93A-8770C65A7556}"/>
              </a:ext>
            </a:extLst>
          </p:cNvPr>
          <p:cNvSpPr>
            <a:spLocks noGrp="1"/>
          </p:cNvSpPr>
          <p:nvPr>
            <p:ph type="dt" sz="half" idx="10"/>
          </p:nvPr>
        </p:nvSpPr>
        <p:spPr/>
        <p:txBody>
          <a:bodyPr/>
          <a:lstStyle/>
          <a:p>
            <a:fld id="{DB31513D-1980-4867-92CD-5FC1EAEB4949}" type="datetimeFigureOut">
              <a:rPr lang="en-GB" smtClean="0"/>
              <a:t>17/12/2025</a:t>
            </a:fld>
            <a:endParaRPr lang="en-GB"/>
          </a:p>
        </p:txBody>
      </p:sp>
      <p:sp>
        <p:nvSpPr>
          <p:cNvPr id="3" name="Footer Placeholder 2">
            <a:extLst>
              <a:ext uri="{FF2B5EF4-FFF2-40B4-BE49-F238E27FC236}">
                <a16:creationId xmlns:a16="http://schemas.microsoft.com/office/drawing/2014/main" id="{A43C4B0B-B12D-D165-1A63-39DA2435DFF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030404B-7495-4C6A-0BB2-1D0B569D94ED}"/>
              </a:ext>
            </a:extLst>
          </p:cNvPr>
          <p:cNvSpPr>
            <a:spLocks noGrp="1"/>
          </p:cNvSpPr>
          <p:nvPr>
            <p:ph type="sldNum" sz="quarter" idx="12"/>
          </p:nvPr>
        </p:nvSpPr>
        <p:spPr/>
        <p:txBody>
          <a:bodyPr/>
          <a:lstStyle/>
          <a:p>
            <a:fld id="{6BC49554-3DEC-40E0-81A0-6D7F8C42B233}" type="slidenum">
              <a:rPr lang="en-GB" smtClean="0"/>
              <a:t>‹#›</a:t>
            </a:fld>
            <a:endParaRPr lang="en-GB"/>
          </a:p>
        </p:txBody>
      </p:sp>
    </p:spTree>
    <p:extLst>
      <p:ext uri="{BB962C8B-B14F-4D97-AF65-F5344CB8AC3E}">
        <p14:creationId xmlns:p14="http://schemas.microsoft.com/office/powerpoint/2010/main" val="3844449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a:xfrm>
            <a:off x="1343785" y="670904"/>
            <a:ext cx="5893594" cy="502295"/>
          </a:xfrm>
          <a:prstGeom prst="rect">
            <a:avLst/>
          </a:prstGeom>
        </p:spPr>
        <p:txBody>
          <a:bodyPr lIns="64283" tIns="32142" rIns="64283" bIns="32142" anchor="ctr" anchorCtr="0"/>
          <a:lstStyle>
            <a:lvl1pPr>
              <a:lnSpc>
                <a:spcPct val="90000"/>
              </a:lnSpc>
              <a:defRPr sz="2550" u="none"/>
            </a:lvl1pPr>
          </a:lstStyle>
          <a:p>
            <a:r>
              <a:rPr lang="sv-SE"/>
              <a:t>Klicka här för att ändra format</a:t>
            </a:r>
            <a:endParaRPr lang="sv-SE" noProof="0" dirty="0"/>
          </a:p>
        </p:txBody>
      </p:sp>
      <p:sp>
        <p:nvSpPr>
          <p:cNvPr id="9" name="Content Placeholder 8"/>
          <p:cNvSpPr>
            <a:spLocks noGrp="1"/>
          </p:cNvSpPr>
          <p:nvPr>
            <p:ph sz="quarter" idx="10"/>
          </p:nvPr>
        </p:nvSpPr>
        <p:spPr>
          <a:xfrm>
            <a:off x="1343785" y="1548702"/>
            <a:ext cx="5893594" cy="2732485"/>
          </a:xfrm>
          <a:prstGeom prst="rect">
            <a:avLst/>
          </a:prstGeom>
        </p:spPr>
        <p:txBody>
          <a:bodyPr vert="horz" lIns="64283" tIns="32142" rIns="64283" bIns="32142"/>
          <a:lstStyle>
            <a:lvl1pPr algn="l">
              <a:spcBef>
                <a:spcPts val="422"/>
              </a:spcBef>
              <a:buClr>
                <a:schemeClr val="accent1"/>
              </a:buClr>
              <a:buFont typeface="Lucida Grande"/>
              <a:buChar char="●"/>
              <a:defRPr sz="1350" i="0" u="none">
                <a:latin typeface="Georgia"/>
                <a:cs typeface="Georgia"/>
              </a:defRPr>
            </a:lvl1pPr>
            <a:lvl2pPr algn="l">
              <a:spcBef>
                <a:spcPts val="422"/>
              </a:spcBef>
              <a:buClr>
                <a:schemeClr val="accent1"/>
              </a:buClr>
              <a:buFont typeface="Lucida Grande"/>
              <a:buChar char="●"/>
              <a:defRPr sz="1275" i="0" u="none">
                <a:latin typeface="Georgia"/>
                <a:cs typeface="Georgia"/>
              </a:defRPr>
            </a:lvl2pPr>
            <a:lvl3pPr algn="l">
              <a:spcBef>
                <a:spcPts val="422"/>
              </a:spcBef>
              <a:buClr>
                <a:schemeClr val="accent1"/>
              </a:buClr>
              <a:buFont typeface="Lucida Grande"/>
              <a:buChar char="●"/>
              <a:defRPr sz="1125" i="0" u="none">
                <a:latin typeface="Georgia"/>
                <a:cs typeface="Georgia"/>
              </a:defRPr>
            </a:lvl3pPr>
            <a:lvl4pPr algn="l">
              <a:defRPr sz="1275">
                <a:latin typeface="Georgia"/>
                <a:cs typeface="Georgia"/>
              </a:defRPr>
            </a:lvl4pPr>
            <a:lvl5pPr algn="l">
              <a:defRPr sz="1275">
                <a:latin typeface="Georgia"/>
                <a:cs typeface="Georgia"/>
              </a:defRPr>
            </a:lvl5pPr>
          </a:lstStyle>
          <a:p>
            <a:pPr lvl="0"/>
            <a:r>
              <a:rPr lang="sv-SE" noProof="0"/>
              <a:t>Klicka här för att ändra format på bakgrundstexten</a:t>
            </a:r>
          </a:p>
          <a:p>
            <a:pPr lvl="1"/>
            <a:r>
              <a:rPr lang="sv-SE" noProof="0"/>
              <a:t>Nivå två</a:t>
            </a:r>
          </a:p>
          <a:p>
            <a:pPr lvl="2"/>
            <a:r>
              <a:rPr lang="sv-SE" noProof="0"/>
              <a:t>Nivå tre</a:t>
            </a:r>
          </a:p>
        </p:txBody>
      </p:sp>
      <p:sp>
        <p:nvSpPr>
          <p:cNvPr id="5" name="Slide Number Placeholder 5"/>
          <p:cNvSpPr>
            <a:spLocks noGrp="1"/>
          </p:cNvSpPr>
          <p:nvPr>
            <p:ph type="sldNum" sz="quarter" idx="11"/>
          </p:nvPr>
        </p:nvSpPr>
        <p:spPr>
          <a:xfrm>
            <a:off x="7197725" y="4701779"/>
            <a:ext cx="1500188" cy="191690"/>
          </a:xfrm>
          <a:prstGeom prst="rect">
            <a:avLst/>
          </a:prstGeom>
        </p:spPr>
        <p:txBody>
          <a:bodyPr vert="horz" wrap="square" lIns="64283" tIns="32142" rIns="64283" bIns="32142" numCol="1" anchor="ctr" anchorCtr="0" compatLnSpc="1">
            <a:prstTxWarp prst="textNoShape">
              <a:avLst/>
            </a:prstTxWarp>
          </a:bodyPr>
          <a:lstStyle>
            <a:lvl1pPr algn="r">
              <a:defRPr sz="1050" b="1">
                <a:solidFill>
                  <a:srgbClr val="404040"/>
                </a:solidFill>
                <a:latin typeface="Georgia" charset="0"/>
                <a:cs typeface="Georgia" charset="0"/>
              </a:defRPr>
            </a:lvl1pPr>
          </a:lstStyle>
          <a:p>
            <a:pPr>
              <a:defRPr/>
            </a:pPr>
            <a:fld id="{232C9D09-DAEF-0445-B83E-EC70F98EBB51}" type="slidenum">
              <a:rPr lang="sv-SE"/>
              <a:pPr>
                <a:defRPr/>
              </a:pPr>
              <a:t>‹#›</a:t>
            </a:fld>
            <a:endParaRPr lang="sv-SE"/>
          </a:p>
        </p:txBody>
      </p:sp>
    </p:spTree>
    <p:extLst>
      <p:ext uri="{BB962C8B-B14F-4D97-AF65-F5344CB8AC3E}">
        <p14:creationId xmlns:p14="http://schemas.microsoft.com/office/powerpoint/2010/main" val="132411190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r>
              <a:rPr lang="en-US"/>
              <a:t>Click to edit Master title style</a:t>
            </a:r>
            <a:endParaRPr lang="sv-SE"/>
          </a:p>
        </p:txBody>
      </p:sp>
      <p:sp>
        <p:nvSpPr>
          <p:cNvPr id="3" name="Text Placeholder 2"/>
          <p:cNvSpPr>
            <a:spLocks noGrp="1"/>
          </p:cNvSpPr>
          <p:nvPr>
            <p:ph type="body" sz="half" idx="1"/>
          </p:nvPr>
        </p:nvSpPr>
        <p:spPr>
          <a:xfrm>
            <a:off x="457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ClipArt Placeholder 3"/>
          <p:cNvSpPr>
            <a:spLocks noGrp="1"/>
          </p:cNvSpPr>
          <p:nvPr>
            <p:ph type="clipArt" sz="half" idx="2"/>
          </p:nvPr>
        </p:nvSpPr>
        <p:spPr>
          <a:xfrm>
            <a:off x="4648200" y="1200151"/>
            <a:ext cx="4038600" cy="3394472"/>
          </a:xfrm>
        </p:spPr>
        <p:txBody>
          <a:bodyPr/>
          <a:lstStyle/>
          <a:p>
            <a:pPr lvl="0"/>
            <a:endParaRPr lang="sv-SE" noProof="0"/>
          </a:p>
        </p:txBody>
      </p:sp>
      <p:sp>
        <p:nvSpPr>
          <p:cNvPr id="5" name="Rectangle 4"/>
          <p:cNvSpPr>
            <a:spLocks noGrp="1" noChangeArrowheads="1"/>
          </p:cNvSpPr>
          <p:nvPr>
            <p:ph type="dt" sz="half" idx="10"/>
          </p:nvPr>
        </p:nvSpPr>
        <p:spPr>
          <a:ln/>
        </p:spPr>
        <p:txBody>
          <a:bodyPr/>
          <a:lstStyle>
            <a:lvl1pPr>
              <a:defRPr/>
            </a:lvl1pPr>
          </a:lstStyle>
          <a:p>
            <a:pPr>
              <a:defRPr/>
            </a:pPr>
            <a:endParaRPr lang="sv-SE"/>
          </a:p>
        </p:txBody>
      </p:sp>
      <p:sp>
        <p:nvSpPr>
          <p:cNvPr id="6" name="Rectangle 5"/>
          <p:cNvSpPr>
            <a:spLocks noGrp="1" noChangeArrowheads="1"/>
          </p:cNvSpPr>
          <p:nvPr>
            <p:ph type="ftr" sz="quarter" idx="11"/>
          </p:nvPr>
        </p:nvSpPr>
        <p:spPr>
          <a:ln/>
        </p:spPr>
        <p:txBody>
          <a:bodyPr/>
          <a:lstStyle>
            <a:lvl1pPr>
              <a:defRPr/>
            </a:lvl1pPr>
          </a:lstStyle>
          <a:p>
            <a:pPr>
              <a:defRPr/>
            </a:pPr>
            <a:endParaRPr lang="sv-SE"/>
          </a:p>
        </p:txBody>
      </p:sp>
      <p:sp>
        <p:nvSpPr>
          <p:cNvPr id="7" name="Rectangle 6"/>
          <p:cNvSpPr>
            <a:spLocks noGrp="1" noChangeArrowheads="1"/>
          </p:cNvSpPr>
          <p:nvPr>
            <p:ph type="sldNum" sz="quarter" idx="12"/>
          </p:nvPr>
        </p:nvSpPr>
        <p:spPr>
          <a:ln/>
        </p:spPr>
        <p:txBody>
          <a:bodyPr/>
          <a:lstStyle>
            <a:lvl1pPr>
              <a:defRPr/>
            </a:lvl1pPr>
          </a:lstStyle>
          <a:p>
            <a:pPr>
              <a:defRPr/>
            </a:pPr>
            <a:fld id="{2CEC0F89-789C-5340-9376-D986A7003045}" type="slidenum">
              <a:rPr lang="sv-SE"/>
              <a:pPr>
                <a:defRPr/>
              </a:pPr>
              <a:t>‹#›</a:t>
            </a:fld>
            <a:endParaRPr lang="sv-SE"/>
          </a:p>
        </p:txBody>
      </p:sp>
    </p:spTree>
    <p:extLst>
      <p:ext uri="{BB962C8B-B14F-4D97-AF65-F5344CB8AC3E}">
        <p14:creationId xmlns:p14="http://schemas.microsoft.com/office/powerpoint/2010/main" val="1067963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057400" y="114300"/>
            <a:ext cx="6870700" cy="1200150"/>
          </a:xfrm>
        </p:spPr>
        <p:txBody>
          <a:bodyPr/>
          <a:lstStyle/>
          <a:p>
            <a:r>
              <a:rPr lang="en-US"/>
              <a:t>Click to edit Master title style</a:t>
            </a:r>
            <a:endParaRPr lang="sv-SE"/>
          </a:p>
        </p:txBody>
      </p:sp>
      <p:sp>
        <p:nvSpPr>
          <p:cNvPr id="3" name="ClipArt Placeholder 2"/>
          <p:cNvSpPr>
            <a:spLocks noGrp="1"/>
          </p:cNvSpPr>
          <p:nvPr>
            <p:ph type="clipArt" sz="half" idx="1"/>
          </p:nvPr>
        </p:nvSpPr>
        <p:spPr>
          <a:xfrm>
            <a:off x="685800" y="1371600"/>
            <a:ext cx="4038600" cy="3257550"/>
          </a:xfrm>
        </p:spPr>
        <p:txBody>
          <a:bodyPr/>
          <a:lstStyle/>
          <a:p>
            <a:pPr lvl="0"/>
            <a:endParaRPr lang="sv-SE" noProof="0"/>
          </a:p>
        </p:txBody>
      </p:sp>
      <p:sp>
        <p:nvSpPr>
          <p:cNvPr id="4" name="Text Placeholder 3"/>
          <p:cNvSpPr>
            <a:spLocks noGrp="1"/>
          </p:cNvSpPr>
          <p:nvPr>
            <p:ph type="body" sz="half" idx="2"/>
          </p:nvPr>
        </p:nvSpPr>
        <p:spPr>
          <a:xfrm>
            <a:off x="4876800" y="1371600"/>
            <a:ext cx="4038600" cy="325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Rectangle 4"/>
          <p:cNvSpPr>
            <a:spLocks noGrp="1" noChangeArrowheads="1"/>
          </p:cNvSpPr>
          <p:nvPr>
            <p:ph type="dt" sz="half" idx="10"/>
          </p:nvPr>
        </p:nvSpPr>
        <p:spPr>
          <a:ln/>
        </p:spPr>
        <p:txBody>
          <a:bodyPr/>
          <a:lstStyle>
            <a:lvl1pPr>
              <a:defRPr/>
            </a:lvl1pPr>
          </a:lstStyle>
          <a:p>
            <a:endParaRPr lang="da-DK"/>
          </a:p>
        </p:txBody>
      </p:sp>
      <p:sp>
        <p:nvSpPr>
          <p:cNvPr id="6" name="Rectangle 5"/>
          <p:cNvSpPr>
            <a:spLocks noGrp="1" noChangeArrowheads="1"/>
          </p:cNvSpPr>
          <p:nvPr>
            <p:ph type="ftr" sz="quarter" idx="11"/>
          </p:nvPr>
        </p:nvSpPr>
        <p:spPr>
          <a:ln/>
        </p:spPr>
        <p:txBody>
          <a:bodyPr/>
          <a:lstStyle>
            <a:lvl1pPr>
              <a:defRPr/>
            </a:lvl1pPr>
          </a:lstStyle>
          <a:p>
            <a:endParaRPr lang="da-DK"/>
          </a:p>
        </p:txBody>
      </p:sp>
      <p:sp>
        <p:nvSpPr>
          <p:cNvPr id="7" name="Rectangle 6"/>
          <p:cNvSpPr>
            <a:spLocks noGrp="1" noChangeArrowheads="1"/>
          </p:cNvSpPr>
          <p:nvPr>
            <p:ph type="sldNum" sz="quarter" idx="12"/>
          </p:nvPr>
        </p:nvSpPr>
        <p:spPr>
          <a:ln/>
        </p:spPr>
        <p:txBody>
          <a:bodyPr/>
          <a:lstStyle>
            <a:lvl1pPr>
              <a:defRPr/>
            </a:lvl1pPr>
          </a:lstStyle>
          <a:p>
            <a:fld id="{90906276-9274-F745-A2CC-DBFAD7158BF6}" type="slidenum">
              <a:rPr lang="da-DK"/>
              <a:pPr/>
              <a:t>‹#›</a:t>
            </a:fld>
            <a:endParaRPr lang="da-DK"/>
          </a:p>
        </p:txBody>
      </p:sp>
    </p:spTree>
    <p:extLst>
      <p:ext uri="{BB962C8B-B14F-4D97-AF65-F5344CB8AC3E}">
        <p14:creationId xmlns:p14="http://schemas.microsoft.com/office/powerpoint/2010/main" val="223163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4EB"/>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45992-1381-94AE-AEC0-746DBFE6EAF2}"/>
              </a:ext>
            </a:extLst>
          </p:cNvPr>
          <p:cNvSpPr>
            <a:spLocks noGrp="1"/>
          </p:cNvSpPr>
          <p:nvPr>
            <p:ph type="title"/>
          </p:nvPr>
        </p:nvSpPr>
        <p:spPr>
          <a:xfrm>
            <a:off x="628650" y="670721"/>
            <a:ext cx="7886700" cy="597295"/>
          </a:xfrm>
          <a:prstGeom prst="rect">
            <a:avLst/>
          </a:prstGeom>
          <a:pattFill prst="pct5">
            <a:fgClr>
              <a:srgbClr val="FFFFFF">
                <a:alpha val="0"/>
              </a:srgbClr>
            </a:fgClr>
            <a:bgClr>
              <a:srgbClr val="FFFFFF">
                <a:alpha val="0"/>
              </a:srgbClr>
            </a:bgClr>
          </a:pattFill>
          <a:ln/>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23C95D48-EDEF-FBD6-8695-9F41A6D2D44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96F9338D-ABE6-8895-1EF7-1D5220D0AC28}"/>
              </a:ext>
            </a:extLst>
          </p:cNvPr>
          <p:cNvSpPr>
            <a:spLocks noGrp="1"/>
          </p:cNvSpPr>
          <p:nvPr>
            <p:ph type="ftr" sz="quarter" idx="3"/>
          </p:nvPr>
        </p:nvSpPr>
        <p:spPr>
          <a:xfrm>
            <a:off x="697729" y="154443"/>
            <a:ext cx="5617594" cy="17262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A597A61-78B7-5409-191F-CD529391EC4D}"/>
              </a:ext>
            </a:extLst>
          </p:cNvPr>
          <p:cNvSpPr>
            <a:spLocks noGrp="1"/>
          </p:cNvSpPr>
          <p:nvPr>
            <p:ph type="sldNum" sz="quarter" idx="4"/>
          </p:nvPr>
        </p:nvSpPr>
        <p:spPr>
          <a:xfrm>
            <a:off x="199015" y="106354"/>
            <a:ext cx="156896" cy="146194"/>
          </a:xfrm>
          <a:prstGeom prst="rect">
            <a:avLst/>
          </a:prstGeom>
        </p:spPr>
        <p:txBody>
          <a:bodyPr vert="horz" lIns="91440" tIns="45720" rIns="91440" bIns="45720" rtlCol="0" anchor="ctr"/>
          <a:lstStyle>
            <a:lvl1pPr algn="r">
              <a:defRPr sz="900">
                <a:solidFill>
                  <a:schemeClr val="tx1">
                    <a:tint val="75000"/>
                  </a:schemeClr>
                </a:solidFill>
              </a:defRPr>
            </a:lvl1pPr>
          </a:lstStyle>
          <a:p>
            <a:fld id="{6BC49554-3DEC-40E0-81A0-6D7F8C42B233}" type="slidenum">
              <a:rPr lang="en-GB" smtClean="0"/>
              <a:t>‹#›</a:t>
            </a:fld>
            <a:endParaRPr lang="en-GB"/>
          </a:p>
        </p:txBody>
      </p:sp>
      <p:pic>
        <p:nvPicPr>
          <p:cNvPr id="8" name="Graphic 7" descr="Logotype Mälardalen University.">
            <a:extLst>
              <a:ext uri="{FF2B5EF4-FFF2-40B4-BE49-F238E27FC236}">
                <a16:creationId xmlns:a16="http://schemas.microsoft.com/office/drawing/2014/main" id="{612AF032-0714-0835-EB89-3454A17F5011}"/>
              </a:ext>
            </a:extLst>
          </p:cNvPr>
          <p:cNvPicPr>
            <a:picLocks noChangeAspect="1"/>
          </p:cNvPicPr>
          <p:nvPr userDrawn="1"/>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485321" y="241882"/>
            <a:ext cx="374048" cy="240774"/>
          </a:xfrm>
          <a:prstGeom prst="rect">
            <a:avLst/>
          </a:prstGeom>
        </p:spPr>
      </p:pic>
      <p:sp>
        <p:nvSpPr>
          <p:cNvPr id="10" name="Linje">
            <a:extLst>
              <a:ext uri="{FF2B5EF4-FFF2-40B4-BE49-F238E27FC236}">
                <a16:creationId xmlns:a16="http://schemas.microsoft.com/office/drawing/2014/main" id="{CB0DCB12-14AB-7F86-0699-333A1FB86CC9}"/>
              </a:ext>
              <a:ext uri="{C183D7F6-B498-43B3-948B-1728B52AA6E4}">
                <adec:decorative xmlns:adec="http://schemas.microsoft.com/office/drawing/2017/decorative" val="1"/>
              </a:ext>
            </a:extLst>
          </p:cNvPr>
          <p:cNvSpPr/>
          <p:nvPr userDrawn="1"/>
        </p:nvSpPr>
        <p:spPr>
          <a:xfrm>
            <a:off x="265351" y="540903"/>
            <a:ext cx="8613299" cy="0"/>
          </a:xfrm>
          <a:prstGeom prst="line">
            <a:avLst/>
          </a:prstGeom>
          <a:ln w="12700">
            <a:solidFill>
              <a:srgbClr val="13342D"/>
            </a:solidFill>
            <a:miter lim="400000"/>
          </a:ln>
        </p:spPr>
        <p:txBody>
          <a:bodyPr lIns="19050" tIns="19050" rIns="19050" bIns="19050" anchor="ctr"/>
          <a:lstStyle/>
          <a:p>
            <a:endParaRPr sz="1266" dirty="0"/>
          </a:p>
        </p:txBody>
      </p:sp>
      <p:sp>
        <p:nvSpPr>
          <p:cNvPr id="4" name="Date Placeholder 3">
            <a:extLst>
              <a:ext uri="{FF2B5EF4-FFF2-40B4-BE49-F238E27FC236}">
                <a16:creationId xmlns:a16="http://schemas.microsoft.com/office/drawing/2014/main" id="{3F746D64-BA7E-E4F8-2D68-26F5682D4E6B}"/>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B31513D-1980-4867-92CD-5FC1EAEB4949}" type="datetimeFigureOut">
              <a:rPr lang="en-GB" smtClean="0"/>
              <a:t>17/12/2025</a:t>
            </a:fld>
            <a:endParaRPr lang="en-GB"/>
          </a:p>
        </p:txBody>
      </p:sp>
    </p:spTree>
    <p:extLst>
      <p:ext uri="{BB962C8B-B14F-4D97-AF65-F5344CB8AC3E}">
        <p14:creationId xmlns:p14="http://schemas.microsoft.com/office/powerpoint/2010/main" val="76022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55" r:id="rId15"/>
    <p:sldLayoutId id="2147483672" r:id="rId16"/>
    <p:sldLayoutId id="2147483673" r:id="rId17"/>
    <p:sldLayoutId id="2147483654" r:id="rId18"/>
    <p:sldLayoutId id="2147483671" r:id="rId19"/>
    <p:sldLayoutId id="2147483674" r:id="rId20"/>
    <p:sldLayoutId id="2147483675" r:id="rId21"/>
    <p:sldLayoutId id="2147483676" r:id="rId22"/>
  </p:sldLayoutIdLst>
  <p:txStyles>
    <p:titleStyle>
      <a:lvl1pPr algn="l" defTabSz="685800" rtl="0" eaLnBrk="1" latinLnBrk="0" hangingPunct="1">
        <a:lnSpc>
          <a:spcPct val="90000"/>
        </a:lnSpc>
        <a:spcBef>
          <a:spcPct val="0"/>
        </a:spcBef>
        <a:buNone/>
        <a:defRPr sz="3300" kern="1200">
          <a:solidFill>
            <a:srgbClr val="00362D"/>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rgbClr val="00362D"/>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rgbClr val="00362D"/>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en-US" sz="1600" b="0" i="1" kern="1200" dirty="0" smtClean="0">
          <a:solidFill>
            <a:srgbClr val="00362D"/>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en-US" sz="1600" kern="1200" dirty="0" smtClean="0">
          <a:solidFill>
            <a:srgbClr val="00362D"/>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en-GB" sz="1600" kern="1200" dirty="0">
          <a:solidFill>
            <a:srgbClr val="00362D"/>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8.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hemeOverride" Target="../theme/themeOverride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2.xml"/><Relationship Id="rId1" Type="http://schemas.openxmlformats.org/officeDocument/2006/relationships/slideLayout" Target="../slideLayouts/slideLayout18.xml"/><Relationship Id="rId6" Type="http://schemas.openxmlformats.org/officeDocument/2006/relationships/image" Target="../media/image31.png"/><Relationship Id="rId5" Type="http://schemas.openxmlformats.org/officeDocument/2006/relationships/customXml" Target="../ink/ink1.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2.wmf"/><Relationship Id="rId5" Type="http://schemas.openxmlformats.org/officeDocument/2006/relationships/oleObject" Target="../embeddings/oleObject6.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8.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64.xml"/><Relationship Id="rId1" Type="http://schemas.openxmlformats.org/officeDocument/2006/relationships/slideLayout" Target="../slideLayouts/slideLayout18.xml"/><Relationship Id="rId6" Type="http://schemas.openxmlformats.org/officeDocument/2006/relationships/image" Target="../media/image42.wmf"/><Relationship Id="rId5" Type="http://schemas.openxmlformats.org/officeDocument/2006/relationships/oleObject" Target="../embeddings/oleObject11.bin"/><Relationship Id="rId4" Type="http://schemas.openxmlformats.org/officeDocument/2006/relationships/image" Target="../media/image41.wmf"/></Relationships>
</file>

<file path=ppt/slides/_rels/slide70.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65.xml"/><Relationship Id="rId1" Type="http://schemas.openxmlformats.org/officeDocument/2006/relationships/slideLayout" Target="../slideLayouts/slideLayout18.xml"/><Relationship Id="rId6" Type="http://schemas.openxmlformats.org/officeDocument/2006/relationships/image" Target="../media/image42.wmf"/><Relationship Id="rId5" Type="http://schemas.openxmlformats.org/officeDocument/2006/relationships/oleObject" Target="../embeddings/oleObject14.bin"/><Relationship Id="rId10" Type="http://schemas.openxmlformats.org/officeDocument/2006/relationships/image" Target="../media/image43.wmf"/><Relationship Id="rId4" Type="http://schemas.openxmlformats.org/officeDocument/2006/relationships/image" Target="../media/image41.wmf"/><Relationship Id="rId9" Type="http://schemas.openxmlformats.org/officeDocument/2006/relationships/oleObject" Target="../embeddings/oleObject16.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81.xml"/><Relationship Id="rId1" Type="http://schemas.openxmlformats.org/officeDocument/2006/relationships/slideLayout" Target="../slideLayouts/slideLayout1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8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2.xml"/><Relationship Id="rId1" Type="http://schemas.openxmlformats.org/officeDocument/2006/relationships/slideLayout" Target="../slideLayouts/slideLayout22.xml"/><Relationship Id="rId4" Type="http://schemas.openxmlformats.org/officeDocument/2006/relationships/image" Target="../media/image52.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545848" y="1574765"/>
            <a:ext cx="6265069" cy="1102519"/>
          </a:xfrm>
        </p:spPr>
        <p:txBody>
          <a:bodyPr anchor="ctr">
            <a:noAutofit/>
          </a:bodyPr>
          <a:lstStyle/>
          <a:p>
            <a:pPr eaLnBrk="1" hangingPunct="1"/>
            <a:r>
              <a:rPr lang="en-US" sz="3200" b="1" dirty="0">
                <a:latin typeface="Arial" charset="0"/>
              </a:rPr>
              <a:t>Formal Modeling and Analysis of Real-time Systems </a:t>
            </a:r>
            <a:endParaRPr lang="sv-SE" sz="3200" b="1" dirty="0">
              <a:latin typeface="Arial" charset="0"/>
            </a:endParaRPr>
          </a:p>
        </p:txBody>
      </p:sp>
      <p:sp>
        <p:nvSpPr>
          <p:cNvPr id="18435" name="Rectangle 3"/>
          <p:cNvSpPr>
            <a:spLocks noGrp="1" noChangeArrowheads="1"/>
          </p:cNvSpPr>
          <p:nvPr>
            <p:ph type="subTitle" idx="1"/>
          </p:nvPr>
        </p:nvSpPr>
        <p:spPr>
          <a:xfrm>
            <a:off x="606137" y="2756947"/>
            <a:ext cx="4800600" cy="972740"/>
          </a:xfrm>
        </p:spPr>
        <p:txBody>
          <a:bodyPr>
            <a:normAutofit fontScale="70000" lnSpcReduction="20000"/>
          </a:bodyPr>
          <a:lstStyle/>
          <a:p>
            <a:pPr eaLnBrk="1" hangingPunct="1"/>
            <a:r>
              <a:rPr lang="sv-SE" dirty="0">
                <a:latin typeface="Arial" charset="0"/>
              </a:rPr>
              <a:t>Rong Gu</a:t>
            </a:r>
          </a:p>
          <a:p>
            <a:pPr eaLnBrk="1" hangingPunct="1"/>
            <a:r>
              <a:rPr lang="sv-SE" dirty="0">
                <a:latin typeface="Arial" charset="0"/>
              </a:rPr>
              <a:t>ronggufly@gmail.com</a:t>
            </a:r>
          </a:p>
          <a:p>
            <a:pPr eaLnBrk="1" hangingPunct="1"/>
            <a:endParaRPr lang="sv-SE" dirty="0">
              <a:latin typeface="Arial" charset="0"/>
            </a:endParaRPr>
          </a:p>
          <a:p>
            <a:pPr eaLnBrk="1" hangingPunct="1"/>
            <a:r>
              <a:rPr lang="sv-SE" dirty="0">
                <a:latin typeface="Arial" charset="0"/>
              </a:rPr>
              <a:t>Dec 16, 2025</a:t>
            </a:r>
          </a:p>
        </p:txBody>
      </p:sp>
      <p:sp>
        <p:nvSpPr>
          <p:cNvPr id="2055" name="Oval 7"/>
          <p:cNvSpPr>
            <a:spLocks noChangeArrowheads="1"/>
          </p:cNvSpPr>
          <p:nvPr/>
        </p:nvSpPr>
        <p:spPr bwMode="auto">
          <a:xfrm>
            <a:off x="7434263" y="1416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bwMode="auto">
          <a:xfrm>
            <a:off x="1223807" y="581784"/>
            <a:ext cx="3935090" cy="502444"/>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numCol="1" compatLnSpc="1">
            <a:prstTxWarp prst="textNoShape">
              <a:avLst/>
            </a:prstTxWarp>
            <a:normAutofit/>
          </a:bodyPr>
          <a:lstStyle/>
          <a:p>
            <a:r>
              <a:rPr lang="en-US" sz="2400" dirty="0">
                <a:latin typeface="Arial" charset="0"/>
                <a:ea typeface="ヒラギノ角ゴ ProN W3" charset="0"/>
              </a:rPr>
              <a:t>Who am I? </a:t>
            </a:r>
          </a:p>
        </p:txBody>
      </p:sp>
      <p:sp>
        <p:nvSpPr>
          <p:cNvPr id="29699" name="Slide Number Placeholder 3"/>
          <p:cNvSpPr>
            <a:spLocks noGrp="1"/>
          </p:cNvSpPr>
          <p:nvPr>
            <p:ph type="sldNum" sz="quarter" idx="1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250">
                <a:solidFill>
                  <a:srgbClr val="FFFFFF"/>
                </a:solidFill>
                <a:latin typeface="Gill Sans" charset="0"/>
                <a:ea typeface="ヒラギノ角ゴ ProN W3" charset="0"/>
                <a:cs typeface="ヒラギノ角ゴ ProN W3" charset="0"/>
                <a:sym typeface="Gill Sans" charset="0"/>
              </a:defRPr>
            </a:lvl1pPr>
            <a:lvl2pPr marL="557213" indent="-214313">
              <a:defRPr sz="2250">
                <a:solidFill>
                  <a:srgbClr val="FFFFFF"/>
                </a:solidFill>
                <a:latin typeface="Gill Sans" charset="0"/>
                <a:ea typeface="ヒラギノ角ゴ ProN W3" charset="0"/>
                <a:cs typeface="ヒラギノ角ゴ ProN W3" charset="0"/>
                <a:sym typeface="Gill Sans" charset="0"/>
              </a:defRPr>
            </a:lvl2pPr>
            <a:lvl3pPr marL="857250" indent="-171450">
              <a:defRPr sz="2250">
                <a:solidFill>
                  <a:srgbClr val="FFFFFF"/>
                </a:solidFill>
                <a:latin typeface="Gill Sans" charset="0"/>
                <a:ea typeface="ヒラギノ角ゴ ProN W3" charset="0"/>
                <a:cs typeface="ヒラギノ角ゴ ProN W3" charset="0"/>
                <a:sym typeface="Gill Sans" charset="0"/>
              </a:defRPr>
            </a:lvl3pPr>
            <a:lvl4pPr marL="1200150" indent="-171450">
              <a:defRPr sz="2250">
                <a:solidFill>
                  <a:srgbClr val="FFFFFF"/>
                </a:solidFill>
                <a:latin typeface="Gill Sans" charset="0"/>
                <a:ea typeface="ヒラギノ角ゴ ProN W3" charset="0"/>
                <a:cs typeface="ヒラギノ角ゴ ProN W3" charset="0"/>
                <a:sym typeface="Gill Sans" charset="0"/>
              </a:defRPr>
            </a:lvl4pPr>
            <a:lvl5pPr marL="1543050" indent="-171450">
              <a:defRPr sz="2250">
                <a:solidFill>
                  <a:srgbClr val="FFFFFF"/>
                </a:solidFill>
                <a:latin typeface="Gill Sans" charset="0"/>
                <a:ea typeface="ヒラギノ角ゴ ProN W3" charset="0"/>
                <a:cs typeface="ヒラギノ角ゴ ProN W3" charset="0"/>
                <a:sym typeface="Gill Sans" charset="0"/>
              </a:defRPr>
            </a:lvl5pPr>
            <a:lvl6pPr marL="1885950" indent="-171450" eaLnBrk="0" fontAlgn="base" hangingPunct="0">
              <a:spcBef>
                <a:spcPct val="0"/>
              </a:spcBef>
              <a:spcAft>
                <a:spcPct val="0"/>
              </a:spcAft>
              <a:defRPr sz="2250">
                <a:solidFill>
                  <a:srgbClr val="FFFFFF"/>
                </a:solidFill>
                <a:latin typeface="Gill Sans" charset="0"/>
                <a:ea typeface="ヒラギノ角ゴ ProN W3" charset="0"/>
                <a:cs typeface="ヒラギノ角ゴ ProN W3" charset="0"/>
                <a:sym typeface="Gill Sans" charset="0"/>
              </a:defRPr>
            </a:lvl6pPr>
            <a:lvl7pPr marL="2228850" indent="-171450" eaLnBrk="0" fontAlgn="base" hangingPunct="0">
              <a:spcBef>
                <a:spcPct val="0"/>
              </a:spcBef>
              <a:spcAft>
                <a:spcPct val="0"/>
              </a:spcAft>
              <a:defRPr sz="2250">
                <a:solidFill>
                  <a:srgbClr val="FFFFFF"/>
                </a:solidFill>
                <a:latin typeface="Gill Sans" charset="0"/>
                <a:ea typeface="ヒラギノ角ゴ ProN W3" charset="0"/>
                <a:cs typeface="ヒラギノ角ゴ ProN W3" charset="0"/>
                <a:sym typeface="Gill Sans" charset="0"/>
              </a:defRPr>
            </a:lvl7pPr>
            <a:lvl8pPr marL="2571750" indent="-171450" eaLnBrk="0" fontAlgn="base" hangingPunct="0">
              <a:spcBef>
                <a:spcPct val="0"/>
              </a:spcBef>
              <a:spcAft>
                <a:spcPct val="0"/>
              </a:spcAft>
              <a:defRPr sz="2250">
                <a:solidFill>
                  <a:srgbClr val="FFFFFF"/>
                </a:solidFill>
                <a:latin typeface="Gill Sans" charset="0"/>
                <a:ea typeface="ヒラギノ角ゴ ProN W3" charset="0"/>
                <a:cs typeface="ヒラギノ角ゴ ProN W3" charset="0"/>
                <a:sym typeface="Gill Sans" charset="0"/>
              </a:defRPr>
            </a:lvl8pPr>
            <a:lvl9pPr marL="2914650" indent="-171450" eaLnBrk="0" fontAlgn="base" hangingPunct="0">
              <a:spcBef>
                <a:spcPct val="0"/>
              </a:spcBef>
              <a:spcAft>
                <a:spcPct val="0"/>
              </a:spcAft>
              <a:defRPr sz="2250">
                <a:solidFill>
                  <a:srgbClr val="FFFFFF"/>
                </a:solidFill>
                <a:latin typeface="Gill Sans" charset="0"/>
                <a:ea typeface="ヒラギノ角ゴ ProN W3" charset="0"/>
                <a:cs typeface="ヒラギノ角ゴ ProN W3" charset="0"/>
                <a:sym typeface="Gill Sans" charset="0"/>
              </a:defRPr>
            </a:lvl9pPr>
          </a:lstStyle>
          <a:p>
            <a:fld id="{438EBA72-622D-0E41-ADBA-EADDCEA0BA6A}" type="slidenum">
              <a:rPr lang="sv-SE" sz="1050">
                <a:solidFill>
                  <a:srgbClr val="404040"/>
                </a:solidFill>
                <a:latin typeface="Georgia" charset="0"/>
              </a:rPr>
              <a:pPr/>
              <a:t>2</a:t>
            </a:fld>
            <a:endParaRPr lang="sv-SE" sz="1050">
              <a:solidFill>
                <a:srgbClr val="404040"/>
              </a:solidFill>
              <a:latin typeface="Georgia" charset="0"/>
            </a:endParaRPr>
          </a:p>
        </p:txBody>
      </p:sp>
      <p:sp>
        <p:nvSpPr>
          <p:cNvPr id="29701" name="TextBox 3"/>
          <p:cNvSpPr txBox="1">
            <a:spLocks noChangeArrowheads="1"/>
          </p:cNvSpPr>
          <p:nvPr/>
        </p:nvSpPr>
        <p:spPr bwMode="auto">
          <a:xfrm>
            <a:off x="1223807" y="1354709"/>
            <a:ext cx="6696385" cy="33470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3000">
                <a:solidFill>
                  <a:srgbClr val="FFFFFF"/>
                </a:solidFill>
                <a:latin typeface="Gill Sans" charset="0"/>
                <a:ea typeface="ヒラギノ角ゴ ProN W3" charset="0"/>
                <a:cs typeface="ヒラギノ角ゴ ProN W3" charset="0"/>
                <a:sym typeface="Gill Sans" charset="0"/>
              </a:defRPr>
            </a:lvl1pPr>
            <a:lvl2pPr>
              <a:defRPr sz="3000">
                <a:solidFill>
                  <a:srgbClr val="FFFFFF"/>
                </a:solidFill>
                <a:latin typeface="Gill Sans" charset="0"/>
                <a:ea typeface="ヒラギノ角ゴ ProN W3" charset="0"/>
                <a:cs typeface="ヒラギノ角ゴ ProN W3" charset="0"/>
                <a:sym typeface="Gill Sans" charset="0"/>
              </a:defRPr>
            </a:lvl2pPr>
            <a:lvl3pPr marL="1143000" indent="-228600">
              <a:defRPr sz="3000">
                <a:solidFill>
                  <a:srgbClr val="FFFFFF"/>
                </a:solidFill>
                <a:latin typeface="Gill Sans" charset="0"/>
                <a:ea typeface="ヒラギノ角ゴ ProN W3" charset="0"/>
                <a:cs typeface="ヒラギノ角ゴ ProN W3" charset="0"/>
                <a:sym typeface="Gill Sans" charset="0"/>
              </a:defRPr>
            </a:lvl3pPr>
            <a:lvl4pPr marL="1600200" indent="-228600">
              <a:defRPr sz="3000">
                <a:solidFill>
                  <a:srgbClr val="FFFFFF"/>
                </a:solidFill>
                <a:latin typeface="Gill Sans" charset="0"/>
                <a:ea typeface="ヒラギノ角ゴ ProN W3" charset="0"/>
                <a:cs typeface="ヒラギノ角ゴ ProN W3" charset="0"/>
                <a:sym typeface="Gill Sans" charset="0"/>
              </a:defRPr>
            </a:lvl4pPr>
            <a:lvl5pPr marL="2057400" indent="-228600">
              <a:defRPr sz="3000">
                <a:solidFill>
                  <a:srgbClr val="FFFFFF"/>
                </a:solidFill>
                <a:latin typeface="Gill Sans" charset="0"/>
                <a:ea typeface="ヒラギノ角ゴ ProN W3" charset="0"/>
                <a:cs typeface="ヒラギノ角ゴ ProN W3" charset="0"/>
                <a:sym typeface="Gill Sans" charset="0"/>
              </a:defRPr>
            </a:lvl5pPr>
            <a:lvl6pPr marL="2514600" indent="-228600" eaLnBrk="0" fontAlgn="base" hangingPunct="0">
              <a:spcBef>
                <a:spcPct val="0"/>
              </a:spcBef>
              <a:spcAft>
                <a:spcPct val="0"/>
              </a:spcAft>
              <a:defRPr sz="3000">
                <a:solidFill>
                  <a:srgbClr val="FFFFFF"/>
                </a:solidFill>
                <a:latin typeface="Gill Sans" charset="0"/>
                <a:ea typeface="ヒラギノ角ゴ ProN W3" charset="0"/>
                <a:cs typeface="ヒラギノ角ゴ ProN W3" charset="0"/>
                <a:sym typeface="Gill Sans" charset="0"/>
              </a:defRPr>
            </a:lvl6pPr>
            <a:lvl7pPr marL="2971800" indent="-228600" eaLnBrk="0" fontAlgn="base" hangingPunct="0">
              <a:spcBef>
                <a:spcPct val="0"/>
              </a:spcBef>
              <a:spcAft>
                <a:spcPct val="0"/>
              </a:spcAft>
              <a:defRPr sz="3000">
                <a:solidFill>
                  <a:srgbClr val="FFFFFF"/>
                </a:solidFill>
                <a:latin typeface="Gill Sans" charset="0"/>
                <a:ea typeface="ヒラギノ角ゴ ProN W3" charset="0"/>
                <a:cs typeface="ヒラギノ角ゴ ProN W3" charset="0"/>
                <a:sym typeface="Gill Sans" charset="0"/>
              </a:defRPr>
            </a:lvl7pPr>
            <a:lvl8pPr marL="3429000" indent="-228600" eaLnBrk="0" fontAlgn="base" hangingPunct="0">
              <a:spcBef>
                <a:spcPct val="0"/>
              </a:spcBef>
              <a:spcAft>
                <a:spcPct val="0"/>
              </a:spcAft>
              <a:defRPr sz="3000">
                <a:solidFill>
                  <a:srgbClr val="FFFFFF"/>
                </a:solidFill>
                <a:latin typeface="Gill Sans" charset="0"/>
                <a:ea typeface="ヒラギノ角ゴ ProN W3" charset="0"/>
                <a:cs typeface="ヒラギノ角ゴ ProN W3" charset="0"/>
                <a:sym typeface="Gill Sans" charset="0"/>
              </a:defRPr>
            </a:lvl8pPr>
            <a:lvl9pPr marL="3886200" indent="-228600" eaLnBrk="0" fontAlgn="base" hangingPunct="0">
              <a:spcBef>
                <a:spcPct val="0"/>
              </a:spcBef>
              <a:spcAft>
                <a:spcPct val="0"/>
              </a:spcAft>
              <a:defRPr sz="3000">
                <a:solidFill>
                  <a:srgbClr val="FFFFFF"/>
                </a:solidFill>
                <a:latin typeface="Gill Sans" charset="0"/>
                <a:ea typeface="ヒラギノ角ゴ ProN W3" charset="0"/>
                <a:cs typeface="ヒラギノ角ゴ ProN W3" charset="0"/>
                <a:sym typeface="Gill Sans" charset="0"/>
              </a:defRPr>
            </a:lvl9pPr>
          </a:lstStyle>
          <a:p>
            <a:pPr eaLnBrk="1" hangingPunct="1"/>
            <a:r>
              <a:rPr lang="en-GB" sz="1350" dirty="0">
                <a:solidFill>
                  <a:schemeClr val="tx1"/>
                </a:solidFill>
                <a:latin typeface="Georgia" charset="0"/>
              </a:rPr>
              <a:t>Rong Gu– short description: </a:t>
            </a:r>
          </a:p>
          <a:p>
            <a:pPr eaLnBrk="1" hangingPunct="1"/>
            <a:endParaRPr lang="en-GB" sz="600" dirty="0">
              <a:solidFill>
                <a:schemeClr val="tx1"/>
              </a:solidFill>
              <a:latin typeface="Georgia" charset="0"/>
            </a:endParaRPr>
          </a:p>
          <a:p>
            <a:pPr eaLnBrk="1" hangingPunct="1">
              <a:buFont typeface="Arial" charset="0"/>
              <a:buChar char="•"/>
            </a:pPr>
            <a:r>
              <a:rPr lang="en-GB" sz="1350" dirty="0">
                <a:solidFill>
                  <a:schemeClr val="tx1"/>
                </a:solidFill>
                <a:latin typeface="Georgia" charset="0"/>
              </a:rPr>
              <a:t> 2010: Bachelor Degree in Software Engineering, Xi’an </a:t>
            </a:r>
            <a:r>
              <a:rPr lang="en-GB" sz="1350" dirty="0" err="1">
                <a:solidFill>
                  <a:schemeClr val="tx1"/>
                </a:solidFill>
                <a:latin typeface="Georgia" charset="0"/>
              </a:rPr>
              <a:t>Jiaotong</a:t>
            </a:r>
            <a:r>
              <a:rPr lang="en-GB" sz="1350" dirty="0">
                <a:solidFill>
                  <a:schemeClr val="tx1"/>
                </a:solidFill>
                <a:latin typeface="Georgia" charset="0"/>
              </a:rPr>
              <a:t> University, China; </a:t>
            </a:r>
          </a:p>
          <a:p>
            <a:pPr eaLnBrk="1" hangingPunct="1">
              <a:buFont typeface="Arial" charset="0"/>
              <a:buChar char="•"/>
            </a:pPr>
            <a:endParaRPr lang="en-GB" sz="600" dirty="0">
              <a:solidFill>
                <a:schemeClr val="tx1"/>
              </a:solidFill>
              <a:latin typeface="Georgia" charset="0"/>
            </a:endParaRPr>
          </a:p>
          <a:p>
            <a:pPr eaLnBrk="1" hangingPunct="1">
              <a:buFont typeface="Arial" charset="0"/>
              <a:buChar char="•"/>
            </a:pPr>
            <a:r>
              <a:rPr lang="en-GB" sz="1350" dirty="0">
                <a:solidFill>
                  <a:schemeClr val="tx1"/>
                </a:solidFill>
                <a:latin typeface="Georgia" charset="0"/>
              </a:rPr>
              <a:t> 2013:  Master Degree in Software Engineering, Xi’an </a:t>
            </a:r>
            <a:r>
              <a:rPr lang="en-GB" sz="1350" dirty="0" err="1">
                <a:solidFill>
                  <a:schemeClr val="tx1"/>
                </a:solidFill>
                <a:latin typeface="Georgia" charset="0"/>
              </a:rPr>
              <a:t>Jiaotong</a:t>
            </a:r>
            <a:r>
              <a:rPr lang="en-GB" sz="1350" dirty="0">
                <a:solidFill>
                  <a:schemeClr val="tx1"/>
                </a:solidFill>
                <a:latin typeface="Georgia" charset="0"/>
              </a:rPr>
              <a:t> University, China; </a:t>
            </a:r>
          </a:p>
          <a:p>
            <a:pPr eaLnBrk="1" hangingPunct="1">
              <a:buFont typeface="Arial" charset="0"/>
              <a:buChar char="•"/>
            </a:pPr>
            <a:endParaRPr lang="en-GB" sz="600" dirty="0">
              <a:solidFill>
                <a:schemeClr val="tx1"/>
              </a:solidFill>
              <a:latin typeface="Georgia" charset="0"/>
            </a:endParaRPr>
          </a:p>
          <a:p>
            <a:pPr eaLnBrk="1" hangingPunct="1">
              <a:buFont typeface="Arial" charset="0"/>
              <a:buChar char="•"/>
            </a:pPr>
            <a:r>
              <a:rPr lang="en-GB" sz="1350" dirty="0">
                <a:solidFill>
                  <a:schemeClr val="tx1"/>
                </a:solidFill>
                <a:latin typeface="Georgia" charset="0"/>
              </a:rPr>
              <a:t> 2013-2017: Embedded software engineer, China;</a:t>
            </a:r>
          </a:p>
          <a:p>
            <a:pPr>
              <a:buFont typeface="Arial" charset="0"/>
              <a:buChar char="•"/>
            </a:pPr>
            <a:endParaRPr lang="en-GB" sz="450" dirty="0">
              <a:solidFill>
                <a:schemeClr val="tx1"/>
              </a:solidFill>
              <a:latin typeface="Georgia" charset="0"/>
            </a:endParaRPr>
          </a:p>
          <a:p>
            <a:pPr>
              <a:buFont typeface="Arial" charset="0"/>
              <a:buChar char="•"/>
            </a:pPr>
            <a:r>
              <a:rPr lang="en-GB" sz="1350" dirty="0">
                <a:solidFill>
                  <a:schemeClr val="tx1"/>
                </a:solidFill>
                <a:latin typeface="Georgia" charset="0"/>
              </a:rPr>
              <a:t> 2022 June: Doctoral Degree of Computer Science at </a:t>
            </a:r>
            <a:r>
              <a:rPr lang="sv-SE" sz="1350" dirty="0">
                <a:solidFill>
                  <a:schemeClr val="tx1"/>
                </a:solidFill>
                <a:latin typeface="Georgia" charset="0"/>
              </a:rPr>
              <a:t>Mälardalen University</a:t>
            </a:r>
            <a:r>
              <a:rPr lang="en-GB" sz="1350" dirty="0">
                <a:solidFill>
                  <a:schemeClr val="tx1"/>
                </a:solidFill>
                <a:latin typeface="Georgia" charset="0"/>
              </a:rPr>
              <a:t>. Supervisors</a:t>
            </a:r>
            <a:r>
              <a:rPr lang="en-US" sz="1350" dirty="0">
                <a:solidFill>
                  <a:schemeClr val="tx1"/>
                </a:solidFill>
                <a:latin typeface="Georgia" charset="0"/>
              </a:rPr>
              <a:t>: Cristina Seceleanu, Eduard Enoiu, Kristina Lundqvist;</a:t>
            </a:r>
          </a:p>
          <a:p>
            <a:endParaRPr lang="en-GB" sz="1350" dirty="0">
              <a:solidFill>
                <a:schemeClr val="tx1"/>
              </a:solidFill>
              <a:latin typeface="Georgia" charset="0"/>
            </a:endParaRPr>
          </a:p>
          <a:p>
            <a:pPr>
              <a:buFont typeface="Arial" charset="0"/>
              <a:buChar char="•"/>
            </a:pPr>
            <a:r>
              <a:rPr lang="en-GB" sz="1350" dirty="0">
                <a:solidFill>
                  <a:schemeClr val="tx1"/>
                </a:solidFill>
                <a:latin typeface="Georgia" charset="0"/>
              </a:rPr>
              <a:t>2022 June – 2025 Oct: </a:t>
            </a:r>
            <a:r>
              <a:rPr lang="en-GB" sz="1350" dirty="0" err="1">
                <a:solidFill>
                  <a:schemeClr val="tx1"/>
                </a:solidFill>
                <a:latin typeface="Georgia" charset="0"/>
              </a:rPr>
              <a:t>Posdoc</a:t>
            </a:r>
            <a:r>
              <a:rPr lang="en-GB" sz="1350" dirty="0">
                <a:solidFill>
                  <a:schemeClr val="tx1"/>
                </a:solidFill>
                <a:latin typeface="Georgia" charset="0"/>
              </a:rPr>
              <a:t> at </a:t>
            </a:r>
            <a:r>
              <a:rPr lang="sv-SE" sz="1350" dirty="0">
                <a:solidFill>
                  <a:schemeClr val="tx1"/>
                </a:solidFill>
                <a:latin typeface="Georgia" charset="0"/>
              </a:rPr>
              <a:t>Mälardalen University. IDT. Formal </a:t>
            </a:r>
            <a:r>
              <a:rPr lang="sv-SE" sz="1350" dirty="0" err="1">
                <a:solidFill>
                  <a:schemeClr val="tx1"/>
                </a:solidFill>
                <a:latin typeface="Georgia" charset="0"/>
              </a:rPr>
              <a:t>Modelling</a:t>
            </a:r>
            <a:r>
              <a:rPr lang="sv-SE" sz="1350" dirty="0">
                <a:solidFill>
                  <a:schemeClr val="tx1"/>
                </a:solidFill>
                <a:latin typeface="Georgia" charset="0"/>
              </a:rPr>
              <a:t> and </a:t>
            </a:r>
            <a:r>
              <a:rPr lang="sv-SE" sz="1350" dirty="0" err="1">
                <a:solidFill>
                  <a:schemeClr val="tx1"/>
                </a:solidFill>
                <a:latin typeface="Georgia" charset="0"/>
              </a:rPr>
              <a:t>Analysis</a:t>
            </a:r>
            <a:r>
              <a:rPr lang="sv-SE" sz="1350" dirty="0">
                <a:solidFill>
                  <a:schemeClr val="tx1"/>
                </a:solidFill>
                <a:latin typeface="Georgia" charset="0"/>
              </a:rPr>
              <a:t> of </a:t>
            </a:r>
            <a:r>
              <a:rPr lang="sv-SE" sz="1350" dirty="0" err="1">
                <a:solidFill>
                  <a:schemeClr val="tx1"/>
                </a:solidFill>
                <a:latin typeface="Georgia" charset="0"/>
              </a:rPr>
              <a:t>Embedded</a:t>
            </a:r>
            <a:r>
              <a:rPr lang="sv-SE" sz="1350" dirty="0">
                <a:solidFill>
                  <a:schemeClr val="tx1"/>
                </a:solidFill>
                <a:latin typeface="Georgia" charset="0"/>
              </a:rPr>
              <a:t> Systems</a:t>
            </a:r>
          </a:p>
          <a:p>
            <a:pPr>
              <a:buFont typeface="Arial" charset="0"/>
              <a:buChar char="•"/>
            </a:pPr>
            <a:r>
              <a:rPr lang="sv-SE" sz="1350" dirty="0">
                <a:solidFill>
                  <a:schemeClr val="tx1"/>
                </a:solidFill>
                <a:latin typeface="Georgia" charset="0"/>
              </a:rPr>
              <a:t>2025 Dec – </a:t>
            </a:r>
            <a:r>
              <a:rPr lang="sv-SE" sz="1350" dirty="0" err="1">
                <a:solidFill>
                  <a:schemeClr val="tx1"/>
                </a:solidFill>
                <a:latin typeface="Georgia" charset="0"/>
              </a:rPr>
              <a:t>Now</a:t>
            </a:r>
            <a:r>
              <a:rPr lang="sv-SE" sz="1350" dirty="0">
                <a:solidFill>
                  <a:schemeClr val="tx1"/>
                </a:solidFill>
                <a:latin typeface="Georgia" charset="0"/>
              </a:rPr>
              <a:t>: Formal </a:t>
            </a:r>
            <a:r>
              <a:rPr lang="sv-SE" sz="1350" dirty="0" err="1">
                <a:solidFill>
                  <a:schemeClr val="tx1"/>
                </a:solidFill>
                <a:latin typeface="Georgia" charset="0"/>
              </a:rPr>
              <a:t>Methods</a:t>
            </a:r>
            <a:r>
              <a:rPr lang="sv-SE" sz="1350" dirty="0">
                <a:solidFill>
                  <a:schemeClr val="tx1"/>
                </a:solidFill>
                <a:latin typeface="Georgia" charset="0"/>
              </a:rPr>
              <a:t> </a:t>
            </a:r>
            <a:r>
              <a:rPr lang="sv-SE" sz="1350" dirty="0" err="1">
                <a:solidFill>
                  <a:schemeClr val="tx1"/>
                </a:solidFill>
                <a:latin typeface="Georgia" charset="0"/>
              </a:rPr>
              <a:t>Developer</a:t>
            </a:r>
            <a:r>
              <a:rPr lang="sv-SE" sz="1350" dirty="0">
                <a:solidFill>
                  <a:schemeClr val="tx1"/>
                </a:solidFill>
                <a:latin typeface="Georgia" charset="0"/>
              </a:rPr>
              <a:t> at P.</a:t>
            </a:r>
            <a:endParaRPr lang="en-GB" sz="1350" dirty="0">
              <a:solidFill>
                <a:schemeClr val="tx1"/>
              </a:solidFill>
              <a:latin typeface="Georgia" charset="0"/>
            </a:endParaRPr>
          </a:p>
          <a:p>
            <a:pPr lvl="1"/>
            <a:endParaRPr lang="en-GB" sz="1350" dirty="0">
              <a:solidFill>
                <a:schemeClr val="tx1"/>
              </a:solidFill>
              <a:latin typeface="Georgia" charset="0"/>
            </a:endParaRPr>
          </a:p>
          <a:p>
            <a:pPr eaLnBrk="1" hangingPunct="1"/>
            <a:r>
              <a:rPr lang="en-GB" sz="1350" dirty="0">
                <a:solidFill>
                  <a:schemeClr val="tx1"/>
                </a:solidFill>
                <a:latin typeface="Georgia" charset="0"/>
              </a:rPr>
              <a:t>Contact info: ronggufly@gmail.com</a:t>
            </a:r>
          </a:p>
          <a:p>
            <a:pPr eaLnBrk="1" hangingPunct="1"/>
            <a:endParaRPr lang="en-GB" sz="1350" dirty="0">
              <a:solidFill>
                <a:schemeClr val="tx1"/>
              </a:solidFill>
              <a:latin typeface="Georgia" charset="0"/>
            </a:endParaRPr>
          </a:p>
          <a:p>
            <a:pPr lvl="1">
              <a:buFont typeface="Arial" charset="0"/>
              <a:buChar char="•"/>
            </a:pPr>
            <a:endParaRPr lang="en-GB" sz="1350" dirty="0">
              <a:solidFill>
                <a:schemeClr val="tx1"/>
              </a:solidFill>
              <a:latin typeface="Georgia" charset="0"/>
            </a:endParaRPr>
          </a:p>
        </p:txBody>
      </p:sp>
    </p:spTree>
    <p:extLst>
      <p:ext uri="{BB962C8B-B14F-4D97-AF65-F5344CB8AC3E}">
        <p14:creationId xmlns:p14="http://schemas.microsoft.com/office/powerpoint/2010/main" val="35835837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09A27-C589-A7F4-D60F-B2BFF82C6704}"/>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760D3122-8D26-72BA-3479-F1D555A7B777}"/>
              </a:ext>
            </a:extLst>
          </p:cNvPr>
          <p:cNvSpPr>
            <a:spLocks noGrp="1"/>
          </p:cNvSpPr>
          <p:nvPr>
            <p:ph sz="quarter" idx="10"/>
          </p:nvPr>
        </p:nvSpPr>
        <p:spPr/>
        <p:txBody>
          <a:bodyPr/>
          <a:lstStyle/>
          <a:p>
            <a:endParaRPr lang="en-SE"/>
          </a:p>
        </p:txBody>
      </p:sp>
      <p:pic>
        <p:nvPicPr>
          <p:cNvPr id="5" name="Picture 4" descr="A screenshot of a website&#10;&#10;AI-generated content may be incorrect.">
            <a:extLst>
              <a:ext uri="{FF2B5EF4-FFF2-40B4-BE49-F238E27FC236}">
                <a16:creationId xmlns:a16="http://schemas.microsoft.com/office/drawing/2014/main" id="{C8F969EE-7833-7AA0-35FF-5A392F3DAEDD}"/>
              </a:ext>
            </a:extLst>
          </p:cNvPr>
          <p:cNvPicPr>
            <a:picLocks noChangeAspect="1"/>
          </p:cNvPicPr>
          <p:nvPr/>
        </p:nvPicPr>
        <p:blipFill>
          <a:blip r:embed="rId2"/>
          <a:stretch>
            <a:fillRect/>
          </a:stretch>
        </p:blipFill>
        <p:spPr>
          <a:xfrm>
            <a:off x="0" y="209089"/>
            <a:ext cx="9144000" cy="4725322"/>
          </a:xfrm>
          <a:prstGeom prst="rect">
            <a:avLst/>
          </a:prstGeom>
        </p:spPr>
      </p:pic>
    </p:spTree>
    <p:extLst>
      <p:ext uri="{BB962C8B-B14F-4D97-AF65-F5344CB8AC3E}">
        <p14:creationId xmlns:p14="http://schemas.microsoft.com/office/powerpoint/2010/main" val="50537817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376661" y="561337"/>
            <a:ext cx="5621833" cy="857250"/>
          </a:xfrm>
        </p:spPr>
        <p:txBody>
          <a:bodyPr/>
          <a:lstStyle/>
          <a:p>
            <a:pPr algn="l" eaLnBrk="1" hangingPunct="1"/>
            <a:r>
              <a:rPr lang="en-US" sz="3000" b="1" dirty="0">
                <a:latin typeface="Arial" charset="0"/>
              </a:rPr>
              <a:t>Models </a:t>
            </a:r>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p:sp>
        <p:nvSpPr>
          <p:cNvPr id="12311" name="Oval 23"/>
          <p:cNvSpPr>
            <a:spLocks noChangeArrowheads="1"/>
          </p:cNvSpPr>
          <p:nvPr/>
        </p:nvSpPr>
        <p:spPr bwMode="auto">
          <a:xfrm>
            <a:off x="7434263" y="1416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sp>
        <p:nvSpPr>
          <p:cNvPr id="24" name="Rectangle 1027"/>
          <p:cNvSpPr txBox="1">
            <a:spLocks noChangeArrowheads="1"/>
          </p:cNvSpPr>
          <p:nvPr/>
        </p:nvSpPr>
        <p:spPr>
          <a:xfrm>
            <a:off x="1354107" y="1453200"/>
            <a:ext cx="6133734" cy="31289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90000"/>
              </a:lnSpc>
            </a:pPr>
            <a:r>
              <a:rPr lang="en-US" sz="1800" dirty="0"/>
              <a:t>Model:</a:t>
            </a:r>
          </a:p>
          <a:p>
            <a:pPr lvl="1">
              <a:lnSpc>
                <a:spcPct val="90000"/>
              </a:lnSpc>
            </a:pPr>
            <a:r>
              <a:rPr lang="en-US" sz="1500" dirty="0"/>
              <a:t>Abstract representation of reality,</a:t>
            </a:r>
          </a:p>
          <a:p>
            <a:pPr lvl="1">
              <a:lnSpc>
                <a:spcPct val="90000"/>
              </a:lnSpc>
            </a:pPr>
            <a:r>
              <a:rPr lang="en-US" sz="1500" dirty="0"/>
              <a:t>Facilitates the understanding of its workings.</a:t>
            </a:r>
          </a:p>
          <a:p>
            <a:pPr lvl="1">
              <a:lnSpc>
                <a:spcPct val="90000"/>
              </a:lnSpc>
            </a:pPr>
            <a:endParaRPr lang="en-US" sz="1500" dirty="0"/>
          </a:p>
          <a:p>
            <a:pPr>
              <a:lnSpc>
                <a:spcPct val="90000"/>
              </a:lnSpc>
            </a:pPr>
            <a:r>
              <a:rPr lang="en-US" sz="1800" dirty="0"/>
              <a:t>System model:</a:t>
            </a:r>
          </a:p>
          <a:p>
            <a:pPr lvl="1">
              <a:lnSpc>
                <a:spcPct val="90000"/>
              </a:lnSpc>
            </a:pPr>
            <a:r>
              <a:rPr lang="en-US" sz="1500" dirty="0"/>
              <a:t>Helps one understand the functionality of the system,</a:t>
            </a:r>
          </a:p>
          <a:p>
            <a:pPr lvl="1">
              <a:lnSpc>
                <a:spcPct val="90000"/>
              </a:lnSpc>
            </a:pPr>
            <a:r>
              <a:rPr lang="en-US" sz="1500" dirty="0"/>
              <a:t>Used to communicate with customers,</a:t>
            </a:r>
          </a:p>
          <a:p>
            <a:pPr lvl="1">
              <a:lnSpc>
                <a:spcPct val="90000"/>
              </a:lnSpc>
            </a:pPr>
            <a:r>
              <a:rPr lang="en-US" sz="1500" dirty="0"/>
              <a:t>If given semantics: are amenable to rigorous analysis.</a:t>
            </a:r>
          </a:p>
        </p:txBody>
      </p:sp>
      <p:pic>
        <p:nvPicPr>
          <p:cNvPr id="3" name="Picture 2">
            <a:extLst>
              <a:ext uri="{FF2B5EF4-FFF2-40B4-BE49-F238E27FC236}">
                <a16:creationId xmlns:a16="http://schemas.microsoft.com/office/drawing/2014/main" id="{D6DDDF0E-978D-406C-882C-3831704063E7}"/>
              </a:ext>
            </a:extLst>
          </p:cNvPr>
          <p:cNvPicPr>
            <a:picLocks noChangeAspect="1"/>
          </p:cNvPicPr>
          <p:nvPr/>
        </p:nvPicPr>
        <p:blipFill>
          <a:blip r:embed="rId3"/>
          <a:stretch>
            <a:fillRect/>
          </a:stretch>
        </p:blipFill>
        <p:spPr>
          <a:xfrm>
            <a:off x="1411486" y="250032"/>
            <a:ext cx="6858000" cy="4698378"/>
          </a:xfrm>
          <a:prstGeom prst="rect">
            <a:avLst/>
          </a:prstGeom>
        </p:spPr>
      </p:pic>
      <p:pic>
        <p:nvPicPr>
          <p:cNvPr id="317442" name="Picture 2" descr="Use Case Diagram Template | Moqups">
            <a:extLst>
              <a:ext uri="{FF2B5EF4-FFF2-40B4-BE49-F238E27FC236}">
                <a16:creationId xmlns:a16="http://schemas.microsoft.com/office/drawing/2014/main" id="{062D0534-0037-4C35-BAB2-1D89ECB310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9972" y="27471"/>
            <a:ext cx="6321028"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2113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7442"/>
                                        </p:tgtEl>
                                        <p:attrNameLst>
                                          <p:attrName>style.visibility</p:attrName>
                                        </p:attrNameLst>
                                      </p:cBhvr>
                                      <p:to>
                                        <p:strVal val="visible"/>
                                      </p:to>
                                    </p:set>
                                    <p:animEffect transition="in" filter="fade">
                                      <p:cBhvr>
                                        <p:cTn id="17" dur="500"/>
                                        <p:tgtEl>
                                          <p:spTgt spid="3174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317442"/>
                                        </p:tgtEl>
                                      </p:cBhvr>
                                    </p:animEffect>
                                    <p:set>
                                      <p:cBhvr>
                                        <p:cTn id="22" dur="1" fill="hold">
                                          <p:stCondLst>
                                            <p:cond delay="499"/>
                                          </p:stCondLst>
                                        </p:cTn>
                                        <p:tgtEl>
                                          <p:spTgt spid="3174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609966" y="535038"/>
            <a:ext cx="5621833" cy="857250"/>
          </a:xfrm>
        </p:spPr>
        <p:txBody>
          <a:bodyPr/>
          <a:lstStyle/>
          <a:p>
            <a:pPr algn="l" eaLnBrk="1" hangingPunct="1"/>
            <a:r>
              <a:rPr lang="en-US" sz="3000" b="1" dirty="0">
                <a:latin typeface="Arial" charset="0"/>
              </a:rPr>
              <a:t>Models </a:t>
            </a:r>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p:sp>
        <p:nvSpPr>
          <p:cNvPr id="12311" name="Oval 23"/>
          <p:cNvSpPr>
            <a:spLocks noChangeArrowheads="1"/>
          </p:cNvSpPr>
          <p:nvPr/>
        </p:nvSpPr>
        <p:spPr bwMode="auto">
          <a:xfrm>
            <a:off x="7434263" y="1416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sp>
        <p:nvSpPr>
          <p:cNvPr id="24" name="Rectangle 1027"/>
          <p:cNvSpPr txBox="1">
            <a:spLocks noChangeArrowheads="1"/>
          </p:cNvSpPr>
          <p:nvPr/>
        </p:nvSpPr>
        <p:spPr>
          <a:xfrm>
            <a:off x="1354016" y="1314450"/>
            <a:ext cx="6133734" cy="31289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1800" dirty="0"/>
              <a:t>Different perspectives:</a:t>
            </a:r>
            <a:endParaRPr lang="en-US" sz="2400" dirty="0"/>
          </a:p>
          <a:p>
            <a:pPr lvl="1"/>
            <a:r>
              <a:rPr lang="en-US" sz="1500" dirty="0">
                <a:solidFill>
                  <a:schemeClr val="accent2"/>
                </a:solidFill>
              </a:rPr>
              <a:t>External </a:t>
            </a:r>
            <a:r>
              <a:rPr lang="en-US" sz="1500" dirty="0"/>
              <a:t>perspective: the system’s context / environment, </a:t>
            </a:r>
          </a:p>
          <a:p>
            <a:pPr lvl="1"/>
            <a:r>
              <a:rPr lang="en-US" sz="1500" dirty="0">
                <a:solidFill>
                  <a:schemeClr val="accent2"/>
                </a:solidFill>
              </a:rPr>
              <a:t>Behavioral</a:t>
            </a:r>
            <a:r>
              <a:rPr lang="en-US" sz="1500" dirty="0"/>
              <a:t> perspective: the overall system behavior,</a:t>
            </a:r>
          </a:p>
          <a:p>
            <a:pPr lvl="1"/>
            <a:r>
              <a:rPr lang="en-US" sz="1500" dirty="0">
                <a:solidFill>
                  <a:schemeClr val="accent2"/>
                </a:solidFill>
              </a:rPr>
              <a:t>Structural</a:t>
            </a:r>
            <a:r>
              <a:rPr lang="en-US" sz="1500" dirty="0"/>
              <a:t> perspective: the system’s architecture.</a:t>
            </a:r>
          </a:p>
          <a:p>
            <a:pPr lvl="1"/>
            <a:endParaRPr lang="en-US" sz="1500" dirty="0"/>
          </a:p>
          <a:p>
            <a:r>
              <a:rPr lang="en-US" sz="1800" dirty="0"/>
              <a:t>Examples: </a:t>
            </a:r>
          </a:p>
          <a:p>
            <a:pPr lvl="1"/>
            <a:r>
              <a:rPr lang="en-US" sz="1500" dirty="0">
                <a:solidFill>
                  <a:schemeClr val="accent2"/>
                </a:solidFill>
              </a:rPr>
              <a:t>Data flow </a:t>
            </a:r>
            <a:r>
              <a:rPr lang="en-US" sz="1500" dirty="0"/>
              <a:t>models: show how data is processed as it moves through the system,</a:t>
            </a:r>
          </a:p>
          <a:p>
            <a:pPr lvl="1"/>
            <a:r>
              <a:rPr lang="en-US" sz="1500" dirty="0">
                <a:solidFill>
                  <a:schemeClr val="accent2"/>
                </a:solidFill>
              </a:rPr>
              <a:t>State machine </a:t>
            </a:r>
            <a:r>
              <a:rPr lang="en-US" sz="1500" dirty="0"/>
              <a:t>models: show the systems response to events.</a:t>
            </a:r>
          </a:p>
          <a:p>
            <a:pPr lvl="1"/>
            <a:endParaRPr lang="en-US" sz="1500" dirty="0"/>
          </a:p>
        </p:txBody>
      </p:sp>
      <p:pic>
        <p:nvPicPr>
          <p:cNvPr id="318466" name="Picture 2" descr="Free DFD Tutorial and DFD the best DFD drawing tool, Try Now! Free">
            <a:extLst>
              <a:ext uri="{FF2B5EF4-FFF2-40B4-BE49-F238E27FC236}">
                <a16:creationId xmlns:a16="http://schemas.microsoft.com/office/drawing/2014/main" id="{830CEE26-E1C6-4565-A069-7E21149B0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611" y="194220"/>
            <a:ext cx="6221437" cy="484814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4EAB00BF-4F66-4C67-B0F5-14887DA05D09}"/>
              </a:ext>
            </a:extLst>
          </p:cNvPr>
          <p:cNvPicPr>
            <a:picLocks noChangeAspect="1"/>
          </p:cNvPicPr>
          <p:nvPr/>
        </p:nvPicPr>
        <p:blipFill>
          <a:blip r:embed="rId4"/>
          <a:stretch>
            <a:fillRect/>
          </a:stretch>
        </p:blipFill>
        <p:spPr>
          <a:xfrm>
            <a:off x="1143000" y="1249233"/>
            <a:ext cx="6858000" cy="2645034"/>
          </a:xfrm>
          <a:prstGeom prst="rect">
            <a:avLst/>
          </a:prstGeom>
        </p:spPr>
      </p:pic>
      <p:pic>
        <p:nvPicPr>
          <p:cNvPr id="318472" name="Picture 8" descr="Programming Tutorials: C++ Program to Check Leap Year - Whether a Entered  Year is Leap Year or Not">
            <a:extLst>
              <a:ext uri="{FF2B5EF4-FFF2-40B4-BE49-F238E27FC236}">
                <a16:creationId xmlns:a16="http://schemas.microsoft.com/office/drawing/2014/main" id="{D1E2BA91-261A-4F74-8E23-10A7B323DC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5014" y="309504"/>
            <a:ext cx="5172075" cy="4800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BFC0BAB-459B-4D70-AE36-64EDE3F7D7D0}"/>
              </a:ext>
            </a:extLst>
          </p:cNvPr>
          <p:cNvSpPr txBox="1"/>
          <p:nvPr/>
        </p:nvSpPr>
        <p:spPr>
          <a:xfrm>
            <a:off x="5025523" y="4453618"/>
            <a:ext cx="1914307" cy="461665"/>
          </a:xfrm>
          <a:prstGeom prst="rect">
            <a:avLst/>
          </a:prstGeom>
          <a:noFill/>
        </p:spPr>
        <p:txBody>
          <a:bodyPr wrap="none" rtlCol="0">
            <a:spAutoFit/>
          </a:bodyPr>
          <a:lstStyle/>
          <a:p>
            <a:r>
              <a:rPr lang="en-US" sz="2400" dirty="0">
                <a:solidFill>
                  <a:srgbClr val="FF0000"/>
                </a:solidFill>
              </a:rPr>
              <a:t>Is it a model?</a:t>
            </a:r>
          </a:p>
        </p:txBody>
      </p:sp>
      <p:cxnSp>
        <p:nvCxnSpPr>
          <p:cNvPr id="5" name="Straight Arrow Connector 4">
            <a:extLst>
              <a:ext uri="{FF2B5EF4-FFF2-40B4-BE49-F238E27FC236}">
                <a16:creationId xmlns:a16="http://schemas.microsoft.com/office/drawing/2014/main" id="{3A066B6F-E8F4-4539-A690-FA6AE7A1B009}"/>
              </a:ext>
            </a:extLst>
          </p:cNvPr>
          <p:cNvCxnSpPr/>
          <p:nvPr/>
        </p:nvCxnSpPr>
        <p:spPr>
          <a:xfrm>
            <a:off x="1266313" y="2139702"/>
            <a:ext cx="227345" cy="43204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8961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8466"/>
                                        </p:tgtEl>
                                        <p:attrNameLst>
                                          <p:attrName>style.visibility</p:attrName>
                                        </p:attrNameLst>
                                      </p:cBhvr>
                                      <p:to>
                                        <p:strVal val="visible"/>
                                      </p:to>
                                    </p:set>
                                    <p:animEffect transition="in" filter="fade">
                                      <p:cBhvr>
                                        <p:cTn id="7" dur="500"/>
                                        <p:tgtEl>
                                          <p:spTgt spid="3184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318466"/>
                                        </p:tgtEl>
                                      </p:cBhvr>
                                    </p:animEffect>
                                    <p:set>
                                      <p:cBhvr>
                                        <p:cTn id="12" dur="1" fill="hold">
                                          <p:stCondLst>
                                            <p:cond delay="499"/>
                                          </p:stCondLst>
                                        </p:cTn>
                                        <p:tgtEl>
                                          <p:spTgt spid="31846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2"/>
                                        </p:tgtEl>
                                      </p:cBhvr>
                                    </p:animEffect>
                                    <p:set>
                                      <p:cBhvr>
                                        <p:cTn id="25" dur="1" fill="hold">
                                          <p:stCondLst>
                                            <p:cond delay="499"/>
                                          </p:stCondLst>
                                        </p:cTn>
                                        <p:tgtEl>
                                          <p:spTgt spid="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18472"/>
                                        </p:tgtEl>
                                        <p:attrNameLst>
                                          <p:attrName>style.visibility</p:attrName>
                                        </p:attrNameLst>
                                      </p:cBhvr>
                                      <p:to>
                                        <p:strVal val="visible"/>
                                      </p:to>
                                    </p:set>
                                    <p:animEffect transition="in" filter="fade">
                                      <p:cBhvr>
                                        <p:cTn id="30" dur="500"/>
                                        <p:tgtEl>
                                          <p:spTgt spid="31847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354016" y="456642"/>
            <a:ext cx="5621833" cy="857250"/>
          </a:xfrm>
        </p:spPr>
        <p:txBody>
          <a:bodyPr/>
          <a:lstStyle/>
          <a:p>
            <a:pPr algn="l" eaLnBrk="1" hangingPunct="1"/>
            <a:r>
              <a:rPr lang="en-US" sz="3000" b="1" dirty="0">
                <a:latin typeface="Arial" charset="0"/>
              </a:rPr>
              <a:t>Formal Models </a:t>
            </a:r>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mc:AlternateContent xmlns:mc="http://schemas.openxmlformats.org/markup-compatibility/2006" xmlns:a14="http://schemas.microsoft.com/office/drawing/2010/main">
        <mc:Choice Requires="a14">
          <p:sp>
            <p:nvSpPr>
              <p:cNvPr id="24" name="Rectangle 1027"/>
              <p:cNvSpPr txBox="1">
                <a:spLocks noChangeArrowheads="1"/>
              </p:cNvSpPr>
              <p:nvPr/>
            </p:nvSpPr>
            <p:spPr>
              <a:xfrm>
                <a:off x="1354016" y="1314450"/>
                <a:ext cx="6133734" cy="31289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a:r>
                  <a:rPr lang="en-GB" sz="1500" b="1" dirty="0"/>
                  <a:t>Formal model </a:t>
                </a:r>
                <a:r>
                  <a:rPr lang="en-GB" sz="1500" dirty="0"/>
                  <a:t>- a mathematical</a:t>
                </a:r>
                <a:r>
                  <a:rPr lang="en-GB" sz="1500" i="1" dirty="0"/>
                  <a:t> </a:t>
                </a:r>
                <a:r>
                  <a:rPr lang="en-GB" sz="1500" dirty="0"/>
                  <a:t>model representing:</a:t>
                </a:r>
              </a:p>
              <a:p>
                <a:pPr lvl="1" algn="just">
                  <a:buFontTx/>
                  <a:buChar char="•"/>
                </a:pPr>
                <a:r>
                  <a:rPr lang="en-GB" sz="1500" dirty="0"/>
                  <a:t>A </a:t>
                </a:r>
                <a:r>
                  <a:rPr lang="en-US" sz="1500" dirty="0"/>
                  <a:t>set of variables, and </a:t>
                </a:r>
              </a:p>
              <a:p>
                <a:pPr lvl="1" algn="just">
                  <a:buFontTx/>
                  <a:buChar char="•"/>
                </a:pPr>
                <a:r>
                  <a:rPr lang="en-US" sz="1500" dirty="0"/>
                  <a:t>A set of logical and quantitative relationships between them</a:t>
                </a:r>
                <a:r>
                  <a:rPr lang="en-US" sz="1200" dirty="0"/>
                  <a:t>. </a:t>
                </a:r>
              </a:p>
              <a:p>
                <a:pPr algn="just"/>
                <a:endParaRPr lang="en-US" sz="1500" dirty="0"/>
              </a:p>
              <a:p>
                <a:pPr algn="just"/>
                <a:r>
                  <a:rPr lang="en-US" sz="1500" dirty="0"/>
                  <a:t> Formal models: enable reasoning about systems, within an idealized logical framework. </a:t>
                </a:r>
              </a:p>
              <a:p>
                <a:pPr lvl="1" algn="just"/>
                <a:r>
                  <a:rPr lang="en-US" sz="1200" dirty="0"/>
                  <a:t>If A happens, B will eventually happen.</a:t>
                </a:r>
              </a:p>
              <a:p>
                <a:pPr lvl="1" algn="just"/>
                <a:r>
                  <a:rPr lang="en-US" sz="1200" dirty="0"/>
                  <a:t>Signal </a:t>
                </a:r>
                <a14:m>
                  <m:oMath xmlns:m="http://schemas.openxmlformats.org/officeDocument/2006/math">
                    <m:r>
                      <a:rPr lang="en-US" sz="1200" i="1">
                        <a:latin typeface="Cambria Math" panose="02040503050406030204" pitchFamily="18" charset="0"/>
                        <a:ea typeface="Cambria Math" panose="02040503050406030204" pitchFamily="18" charset="0"/>
                      </a:rPr>
                      <m:t>𝛼</m:t>
                    </m:r>
                  </m:oMath>
                </a14:m>
                <a:r>
                  <a:rPr lang="en-US" sz="1200" dirty="0"/>
                  <a:t> is always above 9.1.</a:t>
                </a:r>
              </a:p>
              <a:p>
                <a:pPr algn="just"/>
                <a:endParaRPr lang="en-US" sz="1500" dirty="0"/>
              </a:p>
              <a:p>
                <a:pPr algn="just"/>
                <a:r>
                  <a:rPr lang="en-US" sz="1500" dirty="0">
                    <a:solidFill>
                      <a:schemeClr val="accent2"/>
                    </a:solidFill>
                  </a:rPr>
                  <a:t> </a:t>
                </a:r>
                <a:r>
                  <a:rPr lang="en-US" sz="1500" dirty="0"/>
                  <a:t>Idealized</a:t>
                </a:r>
                <a:r>
                  <a:rPr lang="en-US" sz="1500" dirty="0">
                    <a:solidFill>
                      <a:schemeClr val="accent2"/>
                    </a:solidFill>
                  </a:rPr>
                  <a:t>: </a:t>
                </a:r>
                <a:r>
                  <a:rPr lang="en-US" sz="1500" dirty="0"/>
                  <a:t>the model may make explicit assumptions that are known to be false in some detail.</a:t>
                </a:r>
              </a:p>
              <a:p>
                <a:pPr lvl="1" algn="just">
                  <a:buFontTx/>
                  <a:buChar char="•"/>
                </a:pPr>
                <a:r>
                  <a:rPr lang="en-US" sz="1500" dirty="0"/>
                  <a:t>such assumptions: e.g., simplify the model while allowing the production of acceptably accurate solutions.</a:t>
                </a:r>
                <a:endParaRPr lang="en-GB" sz="1500" dirty="0"/>
              </a:p>
              <a:p>
                <a:pPr lvl="1"/>
                <a:endParaRPr lang="en-US" sz="1500" dirty="0"/>
              </a:p>
            </p:txBody>
          </p:sp>
        </mc:Choice>
        <mc:Fallback xmlns="">
          <p:sp>
            <p:nvSpPr>
              <p:cNvPr id="24" name="Rectangle 1027"/>
              <p:cNvSpPr txBox="1">
                <a:spLocks noRot="1" noChangeAspect="1" noMove="1" noResize="1" noEditPoints="1" noAdjustHandles="1" noChangeArrowheads="1" noChangeShapeType="1" noTextEdit="1"/>
              </p:cNvSpPr>
              <p:nvPr/>
            </p:nvSpPr>
            <p:spPr>
              <a:xfrm>
                <a:off x="1354016" y="1314450"/>
                <a:ext cx="6133734" cy="3128963"/>
              </a:xfrm>
              <a:prstGeom prst="rect">
                <a:avLst/>
              </a:prstGeom>
              <a:blipFill>
                <a:blip r:embed="rId3"/>
                <a:stretch>
                  <a:fillRect l="-298" t="-585" r="-398" b="-9747"/>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941BEFB0-1F8B-4318-9F28-E145E4FB2935}"/>
              </a:ext>
            </a:extLst>
          </p:cNvPr>
          <p:cNvCxnSpPr>
            <a:cxnSpLocks/>
          </p:cNvCxnSpPr>
          <p:nvPr/>
        </p:nvCxnSpPr>
        <p:spPr>
          <a:xfrm>
            <a:off x="3167844" y="1599642"/>
            <a:ext cx="189021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05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4EB"/>
        </a:solidFill>
        <a:effectLst/>
      </p:bgPr>
    </p:bg>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182291" y="423673"/>
            <a:ext cx="5621833" cy="857250"/>
          </a:xfrm>
        </p:spPr>
        <p:txBody>
          <a:bodyPr/>
          <a:lstStyle/>
          <a:p>
            <a:pPr algn="l" eaLnBrk="1" hangingPunct="1"/>
            <a:r>
              <a:rPr lang="en-US" sz="3000" b="1" dirty="0">
                <a:latin typeface="Arial" charset="0"/>
              </a:rPr>
              <a:t>Model Analysis</a:t>
            </a:r>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p:sp>
        <p:nvSpPr>
          <p:cNvPr id="12311" name="Oval 23"/>
          <p:cNvSpPr>
            <a:spLocks noChangeArrowheads="1"/>
          </p:cNvSpPr>
          <p:nvPr/>
        </p:nvSpPr>
        <p:spPr bwMode="auto">
          <a:xfrm>
            <a:off x="7434263" y="1416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sp>
        <p:nvSpPr>
          <p:cNvPr id="24" name="Rectangle 1027"/>
          <p:cNvSpPr txBox="1">
            <a:spLocks noChangeArrowheads="1"/>
          </p:cNvSpPr>
          <p:nvPr/>
        </p:nvSpPr>
        <p:spPr>
          <a:xfrm>
            <a:off x="1354016" y="1167594"/>
            <a:ext cx="6133734" cy="31289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r>
              <a:rPr lang="en-US" sz="1800" dirty="0">
                <a:solidFill>
                  <a:schemeClr val="tx2"/>
                </a:solidFill>
              </a:rPr>
              <a:t>Investigation conducted to provide information about the quality of the product or service.</a:t>
            </a:r>
          </a:p>
          <a:p>
            <a:pPr lvl="1"/>
            <a:endParaRPr lang="en-US" sz="900" dirty="0">
              <a:solidFill>
                <a:schemeClr val="tx2"/>
              </a:solidFill>
            </a:endParaRPr>
          </a:p>
          <a:p>
            <a:pPr lvl="1"/>
            <a:r>
              <a:rPr lang="en-US" sz="1800" dirty="0">
                <a:solidFill>
                  <a:schemeClr val="tx2"/>
                </a:solidFill>
              </a:rPr>
              <a:t>Intended to discover software bugs.</a:t>
            </a:r>
          </a:p>
          <a:p>
            <a:pPr lvl="1"/>
            <a:endParaRPr lang="en-US" sz="900" dirty="0">
              <a:solidFill>
                <a:schemeClr val="tx2"/>
              </a:solidFill>
            </a:endParaRPr>
          </a:p>
          <a:p>
            <a:pPr lvl="1"/>
            <a:r>
              <a:rPr lang="en-US" sz="1800" dirty="0">
                <a:solidFill>
                  <a:schemeClr val="tx2"/>
                </a:solidFill>
              </a:rPr>
              <a:t>Prerequisites:</a:t>
            </a:r>
          </a:p>
          <a:p>
            <a:pPr lvl="2"/>
            <a:r>
              <a:rPr lang="en-US" sz="1500" dirty="0">
                <a:solidFill>
                  <a:schemeClr val="tx2"/>
                </a:solidFill>
              </a:rPr>
              <a:t>System model,</a:t>
            </a:r>
          </a:p>
          <a:p>
            <a:pPr lvl="2"/>
            <a:r>
              <a:rPr lang="en-US" sz="1500" dirty="0">
                <a:solidFill>
                  <a:schemeClr val="tx2"/>
                </a:solidFill>
              </a:rPr>
              <a:t>System requirement.</a:t>
            </a:r>
          </a:p>
          <a:p>
            <a:pPr lvl="2"/>
            <a:endParaRPr lang="en-US" sz="1500" dirty="0">
              <a:solidFill>
                <a:schemeClr val="tx2"/>
              </a:solidFill>
            </a:endParaRPr>
          </a:p>
          <a:p>
            <a:pPr lvl="1"/>
            <a:r>
              <a:rPr lang="en-US" sz="1800" dirty="0">
                <a:solidFill>
                  <a:schemeClr val="tx2"/>
                </a:solidFill>
              </a:rPr>
              <a:t>Techniques</a:t>
            </a:r>
          </a:p>
          <a:p>
            <a:pPr lvl="2"/>
            <a:endParaRPr lang="en-US" sz="900" dirty="0">
              <a:solidFill>
                <a:schemeClr val="tx2"/>
              </a:solidFill>
            </a:endParaRPr>
          </a:p>
          <a:p>
            <a:pPr algn="just"/>
            <a:endParaRPr lang="en-US" sz="1500" dirty="0"/>
          </a:p>
        </p:txBody>
      </p:sp>
      <p:pic>
        <p:nvPicPr>
          <p:cNvPr id="8" name="Picture 7">
            <a:extLst>
              <a:ext uri="{FF2B5EF4-FFF2-40B4-BE49-F238E27FC236}">
                <a16:creationId xmlns:a16="http://schemas.microsoft.com/office/drawing/2014/main" id="{988F2EFB-142D-4B4E-BC37-330519236703}"/>
              </a:ext>
            </a:extLst>
          </p:cNvPr>
          <p:cNvPicPr>
            <a:picLocks noChangeAspect="1"/>
          </p:cNvPicPr>
          <p:nvPr/>
        </p:nvPicPr>
        <p:blipFill>
          <a:blip r:embed="rId4"/>
          <a:stretch>
            <a:fillRect/>
          </a:stretch>
        </p:blipFill>
        <p:spPr>
          <a:xfrm>
            <a:off x="1100612" y="1202425"/>
            <a:ext cx="6858000" cy="2386013"/>
          </a:xfrm>
          <a:prstGeom prst="rect">
            <a:avLst/>
          </a:prstGeom>
        </p:spPr>
      </p:pic>
      <p:sp>
        <p:nvSpPr>
          <p:cNvPr id="17" name="TextBox 16">
            <a:extLst>
              <a:ext uri="{FF2B5EF4-FFF2-40B4-BE49-F238E27FC236}">
                <a16:creationId xmlns:a16="http://schemas.microsoft.com/office/drawing/2014/main" id="{D3C219E0-2188-4CE2-A582-13A55B1A81A8}"/>
              </a:ext>
            </a:extLst>
          </p:cNvPr>
          <p:cNvSpPr txBox="1"/>
          <p:nvPr/>
        </p:nvSpPr>
        <p:spPr>
          <a:xfrm>
            <a:off x="1656251" y="3918956"/>
            <a:ext cx="3429000" cy="1061829"/>
          </a:xfrm>
          <a:prstGeom prst="rect">
            <a:avLst/>
          </a:prstGeom>
          <a:noFill/>
        </p:spPr>
        <p:txBody>
          <a:bodyPr wrap="square">
            <a:spAutoFit/>
          </a:bodyPr>
          <a:lstStyle/>
          <a:p>
            <a:pPr lvl="1"/>
            <a:r>
              <a:rPr lang="en-US" sz="1800" dirty="0">
                <a:solidFill>
                  <a:schemeClr val="tx2"/>
                </a:solidFill>
              </a:rPr>
              <a:t>Verification:</a:t>
            </a:r>
            <a:endParaRPr lang="en-GB" sz="1500" dirty="0">
              <a:solidFill>
                <a:schemeClr val="tx2"/>
              </a:solidFill>
            </a:endParaRPr>
          </a:p>
          <a:p>
            <a:pPr marL="600075" lvl="1" indent="-257175">
              <a:buFontTx/>
              <a:buChar char="-"/>
            </a:pPr>
            <a:r>
              <a:rPr lang="en-GB" sz="1500" dirty="0">
                <a:solidFill>
                  <a:schemeClr val="tx2"/>
                </a:solidFill>
              </a:rPr>
              <a:t>Formal verification</a:t>
            </a:r>
          </a:p>
          <a:p>
            <a:pPr marL="600075" lvl="1" indent="-257175">
              <a:buFontTx/>
              <a:buChar char="-"/>
            </a:pPr>
            <a:r>
              <a:rPr lang="en-GB" sz="1500" dirty="0">
                <a:solidFill>
                  <a:schemeClr val="tx2"/>
                </a:solidFill>
              </a:rPr>
              <a:t>Simulation-based testing</a:t>
            </a:r>
          </a:p>
          <a:p>
            <a:pPr marL="600075" lvl="1" indent="-257175">
              <a:buFontTx/>
              <a:buChar char="-"/>
            </a:pPr>
            <a:r>
              <a:rPr lang="en-GB" sz="1500" dirty="0">
                <a:solidFill>
                  <a:schemeClr val="tx2"/>
                </a:solidFill>
              </a:rPr>
              <a:t>Physical testing</a:t>
            </a:r>
          </a:p>
        </p:txBody>
      </p:sp>
      <p:sp>
        <p:nvSpPr>
          <p:cNvPr id="18" name="TextBox 17">
            <a:extLst>
              <a:ext uri="{FF2B5EF4-FFF2-40B4-BE49-F238E27FC236}">
                <a16:creationId xmlns:a16="http://schemas.microsoft.com/office/drawing/2014/main" id="{E1A5D305-4DD9-4EA0-80D9-AFC5E65E40F0}"/>
              </a:ext>
            </a:extLst>
          </p:cNvPr>
          <p:cNvSpPr txBox="1"/>
          <p:nvPr/>
        </p:nvSpPr>
        <p:spPr>
          <a:xfrm>
            <a:off x="4529612" y="3960399"/>
            <a:ext cx="3429000" cy="1061829"/>
          </a:xfrm>
          <a:prstGeom prst="rect">
            <a:avLst/>
          </a:prstGeom>
          <a:noFill/>
        </p:spPr>
        <p:txBody>
          <a:bodyPr wrap="square">
            <a:spAutoFit/>
          </a:bodyPr>
          <a:lstStyle/>
          <a:p>
            <a:pPr lvl="1"/>
            <a:r>
              <a:rPr lang="en-US" sz="1800" dirty="0">
                <a:solidFill>
                  <a:schemeClr val="tx2"/>
                </a:solidFill>
              </a:rPr>
              <a:t>Validation:</a:t>
            </a:r>
            <a:endParaRPr lang="en-GB" sz="1500" dirty="0">
              <a:solidFill>
                <a:schemeClr val="tx2"/>
              </a:solidFill>
            </a:endParaRPr>
          </a:p>
          <a:p>
            <a:pPr marL="600075" lvl="1" indent="-257175">
              <a:buFontTx/>
              <a:buChar char="-"/>
            </a:pPr>
            <a:r>
              <a:rPr lang="en-GB" sz="1500" dirty="0">
                <a:solidFill>
                  <a:schemeClr val="tx2"/>
                </a:solidFill>
              </a:rPr>
              <a:t>Physical testing</a:t>
            </a:r>
          </a:p>
          <a:p>
            <a:pPr marL="600075" lvl="1" indent="-257175">
              <a:buFontTx/>
              <a:buChar char="-"/>
            </a:pPr>
            <a:r>
              <a:rPr lang="en-GB" sz="1500" dirty="0">
                <a:solidFill>
                  <a:schemeClr val="tx2"/>
                </a:solidFill>
              </a:rPr>
              <a:t>User validation</a:t>
            </a:r>
          </a:p>
          <a:p>
            <a:pPr marL="600075" lvl="1" indent="-257175">
              <a:buFontTx/>
              <a:buChar char="-"/>
            </a:pPr>
            <a:r>
              <a:rPr lang="en-GB" sz="1500" dirty="0">
                <a:solidFill>
                  <a:schemeClr val="tx2"/>
                </a:solidFill>
              </a:rPr>
              <a:t>Test scenarios</a:t>
            </a:r>
          </a:p>
        </p:txBody>
      </p:sp>
    </p:spTree>
    <p:extLst>
      <p:ext uri="{BB962C8B-B14F-4D97-AF65-F5344CB8AC3E}">
        <p14:creationId xmlns:p14="http://schemas.microsoft.com/office/powerpoint/2010/main" val="75591268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761083" y="510779"/>
            <a:ext cx="5621833" cy="857250"/>
          </a:xfrm>
        </p:spPr>
        <p:txBody>
          <a:bodyPr/>
          <a:lstStyle/>
          <a:p>
            <a:pPr algn="l" eaLnBrk="1" hangingPunct="1"/>
            <a:r>
              <a:rPr lang="en-US" sz="3000" b="1" dirty="0">
                <a:latin typeface="Arial" charset="0"/>
              </a:rPr>
              <a:t>Formal Verification</a:t>
            </a:r>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p:sp>
        <p:nvSpPr>
          <p:cNvPr id="12311" name="Oval 23"/>
          <p:cNvSpPr>
            <a:spLocks noChangeArrowheads="1"/>
          </p:cNvSpPr>
          <p:nvPr/>
        </p:nvSpPr>
        <p:spPr bwMode="auto">
          <a:xfrm>
            <a:off x="7005787" y="4464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sp>
        <p:nvSpPr>
          <p:cNvPr id="24" name="Rectangle 1027"/>
          <p:cNvSpPr txBox="1">
            <a:spLocks noChangeArrowheads="1"/>
          </p:cNvSpPr>
          <p:nvPr/>
        </p:nvSpPr>
        <p:spPr>
          <a:xfrm>
            <a:off x="1156307" y="1568052"/>
            <a:ext cx="6350333" cy="31289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r>
              <a:rPr lang="en-GB" sz="1800" dirty="0"/>
              <a:t>Checking </a:t>
            </a:r>
            <a:r>
              <a:rPr lang="en-GB" sz="1800" dirty="0">
                <a:solidFill>
                  <a:schemeClr val="accent2"/>
                </a:solidFill>
              </a:rPr>
              <a:t>ALL</a:t>
            </a:r>
            <a:r>
              <a:rPr lang="en-GB" sz="1800" dirty="0"/>
              <a:t> system behaviours (i.e., exhaustive verification),</a:t>
            </a:r>
          </a:p>
          <a:p>
            <a:pPr lvl="1"/>
            <a:r>
              <a:rPr lang="en-GB" sz="1800" dirty="0"/>
              <a:t>Property to check is given in some </a:t>
            </a:r>
            <a:r>
              <a:rPr lang="en-GB" sz="1800" dirty="0">
                <a:solidFill>
                  <a:schemeClr val="accent2"/>
                </a:solidFill>
              </a:rPr>
              <a:t>logic.</a:t>
            </a:r>
          </a:p>
          <a:p>
            <a:pPr lvl="1"/>
            <a:endParaRPr lang="en-GB" sz="900" dirty="0">
              <a:solidFill>
                <a:schemeClr val="accent2"/>
              </a:solidFill>
            </a:endParaRPr>
          </a:p>
          <a:p>
            <a:pPr lvl="1"/>
            <a:r>
              <a:rPr lang="en-GB" sz="1800" dirty="0">
                <a:solidFill>
                  <a:schemeClr val="accent2"/>
                </a:solidFill>
              </a:rPr>
              <a:t>Algorithmic Verification </a:t>
            </a:r>
            <a:r>
              <a:rPr lang="en-GB" sz="1800" dirty="0"/>
              <a:t>(model checking)</a:t>
            </a:r>
          </a:p>
          <a:p>
            <a:pPr lvl="2"/>
            <a:r>
              <a:rPr lang="en-GB" sz="1500" dirty="0"/>
              <a:t>Exploration of the state space, and check it against logic expressions (a.k.a., properties)</a:t>
            </a:r>
          </a:p>
          <a:p>
            <a:pPr lvl="2"/>
            <a:r>
              <a:rPr lang="en-GB" sz="1500" dirty="0"/>
              <a:t>Scalability is still a challenge!</a:t>
            </a:r>
          </a:p>
          <a:p>
            <a:pPr lvl="2"/>
            <a:endParaRPr lang="en-GB" sz="900" dirty="0"/>
          </a:p>
          <a:p>
            <a:pPr lvl="1"/>
            <a:endParaRPr lang="en-GB" sz="1800" dirty="0">
              <a:solidFill>
                <a:schemeClr val="accent2"/>
              </a:solidFill>
            </a:endParaRPr>
          </a:p>
          <a:p>
            <a:pPr algn="just"/>
            <a:endParaRPr lang="en-US" sz="1500" dirty="0"/>
          </a:p>
        </p:txBody>
      </p:sp>
    </p:spTree>
    <p:extLst>
      <p:ext uri="{BB962C8B-B14F-4D97-AF65-F5344CB8AC3E}">
        <p14:creationId xmlns:p14="http://schemas.microsoft.com/office/powerpoint/2010/main" val="206499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4" end="4"/>
                                            </p:txEl>
                                          </p:spTgt>
                                        </p:tgtEl>
                                        <p:attrNameLst>
                                          <p:attrName>style.visibility</p:attrName>
                                        </p:attrNameLst>
                                      </p:cBhvr>
                                      <p:to>
                                        <p:strVal val="visible"/>
                                      </p:to>
                                    </p:set>
                                    <p:animEffect transition="in" filter="fade">
                                      <p:cBhvr>
                                        <p:cTn id="7" dur="500"/>
                                        <p:tgtEl>
                                          <p:spTgt spid="2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5" end="5"/>
                                            </p:txEl>
                                          </p:spTgt>
                                        </p:tgtEl>
                                        <p:attrNameLst>
                                          <p:attrName>style.visibility</p:attrName>
                                        </p:attrNameLst>
                                      </p:cBhvr>
                                      <p:to>
                                        <p:strVal val="visible"/>
                                      </p:to>
                                    </p:set>
                                    <p:animEffect transition="in" filter="fade">
                                      <p:cBhvr>
                                        <p:cTn id="10"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761083" y="535492"/>
            <a:ext cx="5621833" cy="857250"/>
          </a:xfrm>
        </p:spPr>
        <p:txBody>
          <a:bodyPr/>
          <a:lstStyle/>
          <a:p>
            <a:pPr algn="l" eaLnBrk="1" hangingPunct="1"/>
            <a:r>
              <a:rPr lang="en-US" sz="3000" b="1" dirty="0">
                <a:latin typeface="Arial" charset="0"/>
              </a:rPr>
              <a:t>Model Checking</a:t>
            </a:r>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p:sp>
        <p:nvSpPr>
          <p:cNvPr id="12311" name="Oval 23"/>
          <p:cNvSpPr>
            <a:spLocks noChangeArrowheads="1"/>
          </p:cNvSpPr>
          <p:nvPr/>
        </p:nvSpPr>
        <p:spPr bwMode="auto">
          <a:xfrm>
            <a:off x="7434263" y="1416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pic>
        <p:nvPicPr>
          <p:cNvPr id="3" name="Picture 2">
            <a:extLst>
              <a:ext uri="{FF2B5EF4-FFF2-40B4-BE49-F238E27FC236}">
                <a16:creationId xmlns:a16="http://schemas.microsoft.com/office/drawing/2014/main" id="{DDBD2240-9073-4D62-9508-8C84A82E9CD8}"/>
              </a:ext>
            </a:extLst>
          </p:cNvPr>
          <p:cNvPicPr>
            <a:picLocks noChangeAspect="1"/>
          </p:cNvPicPr>
          <p:nvPr/>
        </p:nvPicPr>
        <p:blipFill>
          <a:blip r:embed="rId3"/>
          <a:stretch>
            <a:fillRect/>
          </a:stretch>
        </p:blipFill>
        <p:spPr>
          <a:xfrm>
            <a:off x="1804383" y="1956793"/>
            <a:ext cx="5535234" cy="1648270"/>
          </a:xfrm>
          <a:prstGeom prst="rect">
            <a:avLst/>
          </a:prstGeom>
        </p:spPr>
      </p:pic>
      <p:sp>
        <p:nvSpPr>
          <p:cNvPr id="149" name="Explosion: 14 Points 148">
            <a:extLst>
              <a:ext uri="{FF2B5EF4-FFF2-40B4-BE49-F238E27FC236}">
                <a16:creationId xmlns:a16="http://schemas.microsoft.com/office/drawing/2014/main" id="{4F92D8FA-1CFB-45DA-9167-FAC79373F8C4}"/>
              </a:ext>
            </a:extLst>
          </p:cNvPr>
          <p:cNvSpPr/>
          <p:nvPr/>
        </p:nvSpPr>
        <p:spPr>
          <a:xfrm>
            <a:off x="5436097" y="1160439"/>
            <a:ext cx="2841131" cy="2822622"/>
          </a:xfrm>
          <a:prstGeom prst="irregularSeal2">
            <a:avLst/>
          </a:prstGeom>
          <a:solidFill>
            <a:srgbClr val="C00000"/>
          </a:solidFill>
          <a:ln w="25400" cap="flat" cmpd="sng" algn="ctr">
            <a:noFill/>
            <a:prstDash val="solid"/>
          </a:ln>
          <a:effectLst/>
        </p:spPr>
        <p:txBody>
          <a:bodyPr rtlCol="0" anchor="ctr"/>
          <a:lstStyle/>
          <a:p>
            <a:pPr algn="ctr">
              <a:defRPr/>
            </a:pPr>
            <a:r>
              <a:rPr lang="en-US" sz="1225" b="1" kern="0" dirty="0">
                <a:solidFill>
                  <a:schemeClr val="bg1"/>
                </a:solidFill>
                <a:latin typeface="Georgia"/>
              </a:rPr>
              <a:t>State space explosion problem</a:t>
            </a:r>
          </a:p>
        </p:txBody>
      </p:sp>
    </p:spTree>
    <p:extLst>
      <p:ext uri="{BB962C8B-B14F-4D97-AF65-F5344CB8AC3E}">
        <p14:creationId xmlns:p14="http://schemas.microsoft.com/office/powerpoint/2010/main" val="3440684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circle(out)">
                                      <p:cBhvr>
                                        <p:cTn id="7"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812430" y="486066"/>
            <a:ext cx="5621833" cy="857250"/>
          </a:xfrm>
        </p:spPr>
        <p:txBody>
          <a:bodyPr/>
          <a:lstStyle/>
          <a:p>
            <a:pPr algn="l" eaLnBrk="1" hangingPunct="1"/>
            <a:r>
              <a:rPr lang="en-US" sz="3000" b="1" dirty="0">
                <a:latin typeface="Arial" charset="0"/>
              </a:rPr>
              <a:t>Formal Verification</a:t>
            </a:r>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p:sp>
        <p:nvSpPr>
          <p:cNvPr id="12311" name="Oval 23"/>
          <p:cNvSpPr>
            <a:spLocks noChangeArrowheads="1"/>
          </p:cNvSpPr>
          <p:nvPr/>
        </p:nvSpPr>
        <p:spPr bwMode="auto">
          <a:xfrm>
            <a:off x="7434263" y="1416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sp>
        <p:nvSpPr>
          <p:cNvPr id="24" name="Rectangle 1027"/>
          <p:cNvSpPr txBox="1">
            <a:spLocks noChangeArrowheads="1"/>
          </p:cNvSpPr>
          <p:nvPr/>
        </p:nvSpPr>
        <p:spPr>
          <a:xfrm>
            <a:off x="1304588" y="1422967"/>
            <a:ext cx="6350333" cy="312896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r>
              <a:rPr lang="en-GB" sz="1800" dirty="0"/>
              <a:t>Checking </a:t>
            </a:r>
            <a:r>
              <a:rPr lang="en-GB" sz="1800" dirty="0">
                <a:solidFill>
                  <a:schemeClr val="accent2"/>
                </a:solidFill>
              </a:rPr>
              <a:t>ALL</a:t>
            </a:r>
            <a:r>
              <a:rPr lang="en-GB" sz="1800" dirty="0"/>
              <a:t> system behaviours (i.e., exhaustive verification),</a:t>
            </a:r>
          </a:p>
          <a:p>
            <a:pPr lvl="1"/>
            <a:r>
              <a:rPr lang="en-GB" sz="1800" dirty="0"/>
              <a:t>Property to check is given in some </a:t>
            </a:r>
            <a:r>
              <a:rPr lang="en-GB" sz="1800" dirty="0">
                <a:solidFill>
                  <a:schemeClr val="accent2"/>
                </a:solidFill>
              </a:rPr>
              <a:t>logic.</a:t>
            </a:r>
          </a:p>
          <a:p>
            <a:pPr lvl="1"/>
            <a:endParaRPr lang="en-GB" sz="900" dirty="0">
              <a:solidFill>
                <a:schemeClr val="accent2"/>
              </a:solidFill>
            </a:endParaRPr>
          </a:p>
          <a:p>
            <a:pPr lvl="1"/>
            <a:r>
              <a:rPr lang="en-GB" sz="1800" dirty="0">
                <a:solidFill>
                  <a:schemeClr val="accent2"/>
                </a:solidFill>
              </a:rPr>
              <a:t>Algorithmic Verification </a:t>
            </a:r>
            <a:r>
              <a:rPr lang="en-GB" sz="1800" dirty="0"/>
              <a:t>(model checking)</a:t>
            </a:r>
          </a:p>
          <a:p>
            <a:pPr lvl="2"/>
            <a:r>
              <a:rPr lang="en-GB" sz="1500" dirty="0"/>
              <a:t>Exploration of the state space,</a:t>
            </a:r>
          </a:p>
          <a:p>
            <a:pPr lvl="2"/>
            <a:r>
              <a:rPr lang="en-GB" sz="1500" dirty="0"/>
              <a:t>Scalability is still a challenge!</a:t>
            </a:r>
          </a:p>
          <a:p>
            <a:pPr lvl="2"/>
            <a:endParaRPr lang="en-GB" sz="900" dirty="0"/>
          </a:p>
          <a:p>
            <a:pPr lvl="1"/>
            <a:r>
              <a:rPr lang="en-GB" sz="1800" dirty="0">
                <a:solidFill>
                  <a:schemeClr val="accent2"/>
                </a:solidFill>
              </a:rPr>
              <a:t>Deductive Verification </a:t>
            </a:r>
            <a:r>
              <a:rPr lang="en-GB" sz="1800" dirty="0"/>
              <a:t>(theorem proving) </a:t>
            </a:r>
          </a:p>
          <a:p>
            <a:pPr lvl="2"/>
            <a:r>
              <a:rPr lang="en-GB" sz="1500" dirty="0"/>
              <a:t>Uses axioms, rules to prove the correctness of a given model,</a:t>
            </a:r>
          </a:p>
          <a:p>
            <a:pPr lvl="2"/>
            <a:r>
              <a:rPr lang="en-GB" sz="1500" dirty="0"/>
              <a:t>Not fully automated (hindered application).</a:t>
            </a:r>
            <a:endParaRPr lang="en-GB" sz="1500" dirty="0">
              <a:solidFill>
                <a:schemeClr val="accent2"/>
              </a:solidFill>
            </a:endParaRPr>
          </a:p>
          <a:p>
            <a:pPr lvl="1"/>
            <a:endParaRPr lang="en-GB" sz="1800" dirty="0">
              <a:solidFill>
                <a:schemeClr val="accent2"/>
              </a:solidFill>
            </a:endParaRPr>
          </a:p>
          <a:p>
            <a:pPr algn="just"/>
            <a:endParaRPr lang="en-US" sz="1500" dirty="0"/>
          </a:p>
        </p:txBody>
      </p:sp>
    </p:spTree>
    <p:extLst>
      <p:ext uri="{BB962C8B-B14F-4D97-AF65-F5344CB8AC3E}">
        <p14:creationId xmlns:p14="http://schemas.microsoft.com/office/powerpoint/2010/main" val="3695322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904107" y="508182"/>
            <a:ext cx="5621833" cy="857250"/>
          </a:xfrm>
        </p:spPr>
        <p:txBody>
          <a:bodyPr/>
          <a:lstStyle/>
          <a:p>
            <a:pPr algn="l" eaLnBrk="1" hangingPunct="1"/>
            <a:r>
              <a:rPr lang="en-US" sz="3000" b="1" dirty="0">
                <a:latin typeface="Arial" charset="0"/>
              </a:rPr>
              <a:t>Theorem Proving</a:t>
            </a:r>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p:sp>
        <p:nvSpPr>
          <p:cNvPr id="12311" name="Oval 23"/>
          <p:cNvSpPr>
            <a:spLocks noChangeArrowheads="1"/>
          </p:cNvSpPr>
          <p:nvPr/>
        </p:nvSpPr>
        <p:spPr bwMode="auto">
          <a:xfrm>
            <a:off x="7434263" y="1416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sp>
        <p:nvSpPr>
          <p:cNvPr id="3" name="TextBox 2">
            <a:extLst>
              <a:ext uri="{FF2B5EF4-FFF2-40B4-BE49-F238E27FC236}">
                <a16:creationId xmlns:a16="http://schemas.microsoft.com/office/drawing/2014/main" id="{DA65DC45-47A2-4EBA-BBAF-320A37ADA18C}"/>
              </a:ext>
            </a:extLst>
          </p:cNvPr>
          <p:cNvSpPr txBox="1"/>
          <p:nvPr/>
        </p:nvSpPr>
        <p:spPr>
          <a:xfrm>
            <a:off x="2189559" y="1383618"/>
            <a:ext cx="3711337" cy="1200329"/>
          </a:xfrm>
          <a:prstGeom prst="rect">
            <a:avLst/>
          </a:prstGeom>
          <a:noFill/>
        </p:spPr>
        <p:txBody>
          <a:bodyPr wrap="none" rtlCol="0">
            <a:spAutoFit/>
          </a:bodyPr>
          <a:lstStyle/>
          <a:p>
            <a:r>
              <a:rPr lang="en-US" sz="1800" b="1" dirty="0">
                <a:solidFill>
                  <a:srgbClr val="4D5156"/>
                </a:solidFill>
                <a:latin typeface="arial" panose="020B0604020202020204" pitchFamily="34" charset="0"/>
              </a:rPr>
              <a:t>Example A:</a:t>
            </a:r>
          </a:p>
          <a:p>
            <a:r>
              <a:rPr lang="en-US" sz="1800" dirty="0">
                <a:solidFill>
                  <a:srgbClr val="4D5156"/>
                </a:solidFill>
                <a:latin typeface="arial" panose="020B0604020202020204" pitchFamily="34" charset="0"/>
              </a:rPr>
              <a:t>Precondition 1: All men are mortal;</a:t>
            </a:r>
          </a:p>
          <a:p>
            <a:r>
              <a:rPr lang="en-US" sz="1800" dirty="0">
                <a:solidFill>
                  <a:srgbClr val="4D5156"/>
                </a:solidFill>
                <a:latin typeface="arial" panose="020B0604020202020204" pitchFamily="34" charset="0"/>
              </a:rPr>
              <a:t>Precondition 2: Socrates is a man;</a:t>
            </a:r>
          </a:p>
          <a:p>
            <a:r>
              <a:rPr lang="en-US" sz="1800" dirty="0">
                <a:solidFill>
                  <a:srgbClr val="4D5156"/>
                </a:solidFill>
                <a:latin typeface="arial" panose="020B0604020202020204" pitchFamily="34" charset="0"/>
              </a:rPr>
              <a:t>Conclusion: Socrates is mortal.</a:t>
            </a:r>
            <a:endParaRPr lang="en-US" sz="1800" dirty="0"/>
          </a:p>
        </p:txBody>
      </p:sp>
      <p:sp>
        <p:nvSpPr>
          <p:cNvPr id="8" name="TextBox 7">
            <a:extLst>
              <a:ext uri="{FF2B5EF4-FFF2-40B4-BE49-F238E27FC236}">
                <a16:creationId xmlns:a16="http://schemas.microsoft.com/office/drawing/2014/main" id="{6C79F092-B208-4620-88A9-FA554DC0929C}"/>
              </a:ext>
            </a:extLst>
          </p:cNvPr>
          <p:cNvSpPr txBox="1"/>
          <p:nvPr/>
        </p:nvSpPr>
        <p:spPr>
          <a:xfrm>
            <a:off x="2189559" y="2679762"/>
            <a:ext cx="1441420" cy="369332"/>
          </a:xfrm>
          <a:prstGeom prst="rect">
            <a:avLst/>
          </a:prstGeom>
          <a:noFill/>
        </p:spPr>
        <p:txBody>
          <a:bodyPr wrap="none" rtlCol="0">
            <a:spAutoFit/>
          </a:bodyPr>
          <a:lstStyle/>
          <a:p>
            <a:r>
              <a:rPr lang="en-US" sz="1800" b="1" dirty="0">
                <a:solidFill>
                  <a:srgbClr val="4D5156"/>
                </a:solidFill>
                <a:latin typeface="arial" panose="020B0604020202020204" pitchFamily="34" charset="0"/>
              </a:rPr>
              <a:t>Example B:</a:t>
            </a:r>
          </a:p>
        </p:txBody>
      </p:sp>
      <p:pic>
        <p:nvPicPr>
          <p:cNvPr id="319490" name="Picture 2" descr="PDF] Automated Theorem Proving for Assertions in Separation Logic with All  Connectives | Semantic Scholar">
            <a:extLst>
              <a:ext uri="{FF2B5EF4-FFF2-40B4-BE49-F238E27FC236}">
                <a16:creationId xmlns:a16="http://schemas.microsoft.com/office/drawing/2014/main" id="{BE1B4F18-7D12-4628-8729-5AA9EAEC4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8788" y="108012"/>
            <a:ext cx="5621834" cy="4987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306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9490"/>
                                        </p:tgtEl>
                                        <p:attrNameLst>
                                          <p:attrName>style.visibility</p:attrName>
                                        </p:attrNameLst>
                                      </p:cBhvr>
                                      <p:to>
                                        <p:strVal val="visible"/>
                                      </p:to>
                                    </p:set>
                                    <p:animEffect transition="in" filter="fade">
                                      <p:cBhvr>
                                        <p:cTn id="7" dur="500"/>
                                        <p:tgtEl>
                                          <p:spTgt spid="319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title"/>
          </p:nvPr>
        </p:nvSpPr>
        <p:spPr/>
        <p:txBody>
          <a:bodyPr/>
          <a:lstStyle/>
          <a:p>
            <a:pPr defTabSz="548879"/>
            <a:r>
              <a:rPr lang="en-US" b="1" dirty="0">
                <a:latin typeface="Arial" charset="0"/>
              </a:rPr>
              <a:t>Model Checking</a:t>
            </a:r>
            <a:endParaRPr lang="sv-SE" b="1" dirty="0">
              <a:latin typeface="Arial" charset="0"/>
            </a:endParaRPr>
          </a:p>
        </p:txBody>
      </p:sp>
      <p:sp>
        <p:nvSpPr>
          <p:cNvPr id="25603" name="Rectangle 4"/>
          <p:cNvSpPr>
            <a:spLocks noGrp="1" noChangeArrowheads="1"/>
          </p:cNvSpPr>
          <p:nvPr>
            <p:ph type="body" idx="4294967295"/>
          </p:nvPr>
        </p:nvSpPr>
        <p:spPr>
          <a:xfrm>
            <a:off x="724981" y="3890563"/>
            <a:ext cx="5080365" cy="1164431"/>
          </a:xfrm>
        </p:spPr>
        <p:txBody>
          <a:bodyPr>
            <a:normAutofit fontScale="92500" lnSpcReduction="10000"/>
          </a:bodyPr>
          <a:lstStyle/>
          <a:p>
            <a:pPr marL="338138" indent="-338138" defTabSz="548879">
              <a:lnSpc>
                <a:spcPct val="80000"/>
              </a:lnSpc>
              <a:buNone/>
            </a:pPr>
            <a:r>
              <a:rPr lang="en-US" sz="1800" dirty="0">
                <a:latin typeface="Arial" charset="0"/>
              </a:rPr>
              <a:t> </a:t>
            </a:r>
            <a:r>
              <a:rPr lang="en-US" sz="1800" b="1" dirty="0">
                <a:solidFill>
                  <a:schemeClr val="tx2"/>
                </a:solidFill>
                <a:latin typeface="Arial" charset="0"/>
              </a:rPr>
              <a:t>A</a:t>
            </a:r>
            <a:r>
              <a:rPr lang="en-US" sz="1800" dirty="0">
                <a:latin typeface="Arial" charset="0"/>
              </a:rPr>
              <a:t> – Model: Network of Timed Automata</a:t>
            </a:r>
          </a:p>
          <a:p>
            <a:pPr marL="338138" indent="-338138" defTabSz="548879">
              <a:lnSpc>
                <a:spcPct val="80000"/>
              </a:lnSpc>
              <a:buNone/>
            </a:pPr>
            <a:r>
              <a:rPr lang="en-US" sz="1800" dirty="0">
                <a:latin typeface="Arial" charset="0"/>
              </a:rPr>
              <a:t> </a:t>
            </a:r>
            <a:r>
              <a:rPr lang="en-US" sz="1800" b="1" dirty="0">
                <a:solidFill>
                  <a:schemeClr val="folHlink"/>
                </a:solidFill>
                <a:latin typeface="Arial" charset="0"/>
              </a:rPr>
              <a:t>F</a:t>
            </a:r>
            <a:r>
              <a:rPr lang="en-US" sz="1800" dirty="0">
                <a:latin typeface="Arial" charset="0"/>
              </a:rPr>
              <a:t> – Requirement: temporal logical formula, e.g.</a:t>
            </a:r>
          </a:p>
          <a:p>
            <a:pPr marL="676275" lvl="1" indent="-203597" defTabSz="548879">
              <a:lnSpc>
                <a:spcPct val="80000"/>
              </a:lnSpc>
            </a:pPr>
            <a:r>
              <a:rPr lang="en-US" sz="1500" dirty="0">
                <a:latin typeface="Arial" charset="0"/>
              </a:rPr>
              <a:t>Invariant: something bad will never happen</a:t>
            </a:r>
          </a:p>
          <a:p>
            <a:pPr marL="676275" lvl="1" indent="-203597" defTabSz="548879">
              <a:lnSpc>
                <a:spcPct val="80000"/>
              </a:lnSpc>
            </a:pPr>
            <a:r>
              <a:rPr lang="en-US" sz="1500" dirty="0">
                <a:latin typeface="Arial" charset="0"/>
              </a:rPr>
              <a:t>Reachability: something will eventually happen</a:t>
            </a:r>
          </a:p>
          <a:p>
            <a:pPr marL="676275" lvl="1" indent="-203597" defTabSz="548879">
              <a:lnSpc>
                <a:spcPct val="80000"/>
              </a:lnSpc>
            </a:pPr>
            <a:r>
              <a:rPr lang="en-US" sz="1500" dirty="0">
                <a:latin typeface="Arial" charset="0"/>
              </a:rPr>
              <a:t>Liveness: something will always eventually happen</a:t>
            </a:r>
            <a:endParaRPr lang="sv-SE" sz="1500" dirty="0">
              <a:latin typeface="Arial" charset="0"/>
            </a:endParaRPr>
          </a:p>
        </p:txBody>
      </p:sp>
      <p:pic>
        <p:nvPicPr>
          <p:cNvPr id="25786" name="Picture 25785">
            <a:extLst>
              <a:ext uri="{FF2B5EF4-FFF2-40B4-BE49-F238E27FC236}">
                <a16:creationId xmlns:a16="http://schemas.microsoft.com/office/drawing/2014/main" id="{261D25EA-0E83-6B72-9F20-230070742E2E}"/>
              </a:ext>
            </a:extLst>
          </p:cNvPr>
          <p:cNvPicPr>
            <a:picLocks noChangeAspect="1"/>
          </p:cNvPicPr>
          <p:nvPr/>
        </p:nvPicPr>
        <p:blipFill>
          <a:blip r:embed="rId3"/>
          <a:stretch>
            <a:fillRect/>
          </a:stretch>
        </p:blipFill>
        <p:spPr>
          <a:xfrm>
            <a:off x="1549189" y="1349949"/>
            <a:ext cx="6371183" cy="2285417"/>
          </a:xfrm>
          <a:prstGeom prst="rect">
            <a:avLst/>
          </a:prstGeom>
        </p:spPr>
      </p:pic>
      <p:sp>
        <p:nvSpPr>
          <p:cNvPr id="25787" name="TextBox 25786">
            <a:extLst>
              <a:ext uri="{FF2B5EF4-FFF2-40B4-BE49-F238E27FC236}">
                <a16:creationId xmlns:a16="http://schemas.microsoft.com/office/drawing/2014/main" id="{1DEF195B-42FA-6E10-1F4D-EC665551A393}"/>
              </a:ext>
            </a:extLst>
          </p:cNvPr>
          <p:cNvSpPr txBox="1"/>
          <p:nvPr/>
        </p:nvSpPr>
        <p:spPr>
          <a:xfrm>
            <a:off x="5196840" y="2192575"/>
            <a:ext cx="280846" cy="300082"/>
          </a:xfrm>
          <a:prstGeom prst="rect">
            <a:avLst/>
          </a:prstGeom>
          <a:noFill/>
        </p:spPr>
        <p:txBody>
          <a:bodyPr wrap="none" rtlCol="0">
            <a:spAutoFit/>
          </a:bodyPr>
          <a:lstStyle/>
          <a:p>
            <a:r>
              <a:rPr lang="en-US" dirty="0"/>
              <a:t>1</a:t>
            </a:r>
          </a:p>
        </p:txBody>
      </p:sp>
      <p:sp>
        <p:nvSpPr>
          <p:cNvPr id="25788" name="TextBox 25787">
            <a:extLst>
              <a:ext uri="{FF2B5EF4-FFF2-40B4-BE49-F238E27FC236}">
                <a16:creationId xmlns:a16="http://schemas.microsoft.com/office/drawing/2014/main" id="{F058D6B7-9333-221B-B3D0-8D09AFD439AB}"/>
              </a:ext>
            </a:extLst>
          </p:cNvPr>
          <p:cNvSpPr txBox="1"/>
          <p:nvPr/>
        </p:nvSpPr>
        <p:spPr>
          <a:xfrm>
            <a:off x="5477687" y="3890563"/>
            <a:ext cx="3369134" cy="507831"/>
          </a:xfrm>
          <a:prstGeom prst="rect">
            <a:avLst/>
          </a:prstGeom>
          <a:noFill/>
        </p:spPr>
        <p:txBody>
          <a:bodyPr wrap="square" rtlCol="0">
            <a:spAutoFit/>
          </a:bodyPr>
          <a:lstStyle/>
          <a:p>
            <a:r>
              <a:rPr lang="en-US" dirty="0"/>
              <a:t>1: A model checker developed by Uppsala University and Aalborg University</a:t>
            </a:r>
          </a:p>
        </p:txBody>
      </p:sp>
    </p:spTree>
    <p:extLst>
      <p:ext uri="{BB962C8B-B14F-4D97-AF65-F5344CB8AC3E}">
        <p14:creationId xmlns:p14="http://schemas.microsoft.com/office/powerpoint/2010/main" val="3576370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fade">
                                      <p:cBhvr>
                                        <p:cTn id="12" dur="500"/>
                                        <p:tgtEl>
                                          <p:spTgt spid="2560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animEffect transition="in" filter="fade">
                                      <p:cBhvr>
                                        <p:cTn id="15" dur="500"/>
                                        <p:tgtEl>
                                          <p:spTgt spid="2560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603">
                                            <p:txEl>
                                              <p:pRg st="3" end="3"/>
                                            </p:txEl>
                                          </p:spTgt>
                                        </p:tgtEl>
                                        <p:attrNameLst>
                                          <p:attrName>style.visibility</p:attrName>
                                        </p:attrNameLst>
                                      </p:cBhvr>
                                      <p:to>
                                        <p:strVal val="visible"/>
                                      </p:to>
                                    </p:set>
                                    <p:animEffect transition="in" filter="fade">
                                      <p:cBhvr>
                                        <p:cTn id="18" dur="500"/>
                                        <p:tgtEl>
                                          <p:spTgt spid="2560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603">
                                            <p:txEl>
                                              <p:pRg st="4" end="4"/>
                                            </p:txEl>
                                          </p:spTgt>
                                        </p:tgtEl>
                                        <p:attrNameLst>
                                          <p:attrName>style.visibility</p:attrName>
                                        </p:attrNameLst>
                                      </p:cBhvr>
                                      <p:to>
                                        <p:strVal val="visible"/>
                                      </p:to>
                                    </p:set>
                                    <p:animEffect transition="in" filter="fade">
                                      <p:cBhvr>
                                        <p:cTn id="21"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pPr eaLnBrk="1" hangingPunct="1"/>
            <a:r>
              <a:rPr lang="en-US" b="1" dirty="0">
                <a:latin typeface="Arial" charset="0"/>
              </a:rPr>
              <a:t>Real-Time Systems</a:t>
            </a:r>
          </a:p>
        </p:txBody>
      </p:sp>
      <p:sp>
        <p:nvSpPr>
          <p:cNvPr id="23554" name="AutoShape 3"/>
          <p:cNvSpPr>
            <a:spLocks noChangeArrowheads="1"/>
          </p:cNvSpPr>
          <p:nvPr/>
        </p:nvSpPr>
        <p:spPr bwMode="auto">
          <a:xfrm>
            <a:off x="2462212" y="1532733"/>
            <a:ext cx="1309688" cy="1076325"/>
          </a:xfrm>
          <a:prstGeom prst="star16">
            <a:avLst>
              <a:gd name="adj" fmla="val 37500"/>
            </a:avLst>
          </a:prstGeom>
          <a:solidFill>
            <a:schemeClr val="folHlink"/>
          </a:solidFill>
          <a:ln w="12700">
            <a:solidFill>
              <a:schemeClr val="tx1"/>
            </a:solidFill>
            <a:miter lim="800000"/>
            <a:headEnd/>
            <a:tailEnd/>
          </a:ln>
        </p:spPr>
        <p:txBody>
          <a:bodyPr wrap="none" anchor="ctr"/>
          <a:lstStyle/>
          <a:p>
            <a:endParaRPr lang="sv-SE" sz="1013"/>
          </a:p>
        </p:txBody>
      </p:sp>
      <p:sp>
        <p:nvSpPr>
          <p:cNvPr id="23555" name="Line 4"/>
          <p:cNvSpPr>
            <a:spLocks noChangeShapeType="1"/>
          </p:cNvSpPr>
          <p:nvPr/>
        </p:nvSpPr>
        <p:spPr bwMode="auto">
          <a:xfrm>
            <a:off x="3564731" y="1756571"/>
            <a:ext cx="1213247"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23556" name="Line 5"/>
          <p:cNvSpPr>
            <a:spLocks noChangeShapeType="1"/>
          </p:cNvSpPr>
          <p:nvPr/>
        </p:nvSpPr>
        <p:spPr bwMode="auto">
          <a:xfrm flipH="1">
            <a:off x="3670697" y="2213771"/>
            <a:ext cx="1054894"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23557" name="Rectangle 6"/>
          <p:cNvSpPr>
            <a:spLocks noChangeArrowheads="1"/>
          </p:cNvSpPr>
          <p:nvPr/>
        </p:nvSpPr>
        <p:spPr bwMode="auto">
          <a:xfrm>
            <a:off x="2812657" y="2601915"/>
            <a:ext cx="779059" cy="5026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algn="ctr" eaLnBrk="0" hangingPunct="0"/>
            <a:r>
              <a:rPr lang="en-US" sz="1800" b="1">
                <a:solidFill>
                  <a:srgbClr val="0033CC"/>
                </a:solidFill>
                <a:latin typeface="Tahoma" charset="0"/>
              </a:rPr>
              <a:t>Plant</a:t>
            </a:r>
            <a:endParaRPr lang="en-US" sz="1800">
              <a:latin typeface="Tahoma" charset="0"/>
            </a:endParaRPr>
          </a:p>
          <a:p>
            <a:pPr algn="ctr" eaLnBrk="0" hangingPunct="0"/>
            <a:r>
              <a:rPr lang="en-US" sz="1013" i="1">
                <a:latin typeface="Tahoma" charset="0"/>
              </a:rPr>
              <a:t>Continuous</a:t>
            </a:r>
          </a:p>
        </p:txBody>
      </p:sp>
      <p:sp>
        <p:nvSpPr>
          <p:cNvPr id="23558" name="Rectangle 7"/>
          <p:cNvSpPr>
            <a:spLocks noChangeArrowheads="1"/>
          </p:cNvSpPr>
          <p:nvPr/>
        </p:nvSpPr>
        <p:spPr bwMode="auto">
          <a:xfrm>
            <a:off x="4225421" y="2544765"/>
            <a:ext cx="2361223" cy="5026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algn="ctr" eaLnBrk="0" hangingPunct="0"/>
            <a:r>
              <a:rPr lang="en-US" sz="1800" b="1">
                <a:solidFill>
                  <a:srgbClr val="0033CC"/>
                </a:solidFill>
                <a:latin typeface="Tahoma" charset="0"/>
              </a:rPr>
              <a:t>Controller Program</a:t>
            </a:r>
            <a:endParaRPr lang="en-US" sz="1800">
              <a:latin typeface="Tahoma" charset="0"/>
            </a:endParaRPr>
          </a:p>
          <a:p>
            <a:pPr algn="ctr" eaLnBrk="0" hangingPunct="0"/>
            <a:r>
              <a:rPr lang="en-US" sz="1013" i="1">
                <a:latin typeface="Tahoma" charset="0"/>
              </a:rPr>
              <a:t>Discrete</a:t>
            </a:r>
            <a:endParaRPr lang="en-US" sz="1500" i="1">
              <a:latin typeface="Tahoma" charset="0"/>
            </a:endParaRPr>
          </a:p>
        </p:txBody>
      </p:sp>
      <p:sp>
        <p:nvSpPr>
          <p:cNvPr id="23559" name="Rectangle 8"/>
          <p:cNvSpPr>
            <a:spLocks noChangeArrowheads="1"/>
          </p:cNvSpPr>
          <p:nvPr/>
        </p:nvSpPr>
        <p:spPr bwMode="auto">
          <a:xfrm>
            <a:off x="2138363" y="4180683"/>
            <a:ext cx="655628" cy="3467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800" b="1">
                <a:latin typeface="Tahoma" charset="0"/>
              </a:rPr>
              <a:t>E.g.:</a:t>
            </a:r>
          </a:p>
        </p:txBody>
      </p:sp>
      <p:sp>
        <p:nvSpPr>
          <p:cNvPr id="23560" name="Rectangle 9"/>
          <p:cNvSpPr>
            <a:spLocks noChangeArrowheads="1"/>
          </p:cNvSpPr>
          <p:nvPr/>
        </p:nvSpPr>
        <p:spPr bwMode="auto">
          <a:xfrm>
            <a:off x="2809875" y="4237834"/>
            <a:ext cx="2994409" cy="3814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13" dirty="0">
                <a:latin typeface="Tahoma" charset="0"/>
              </a:rPr>
              <a:t>Air Bags, Cruise Control, Production Lines, Robots</a:t>
            </a:r>
          </a:p>
          <a:p>
            <a:pPr eaLnBrk="0" hangingPunct="0"/>
            <a:r>
              <a:rPr lang="en-US" sz="1013" dirty="0">
                <a:latin typeface="Tahoma" charset="0"/>
              </a:rPr>
              <a:t>Real-time Protocols</a:t>
            </a:r>
          </a:p>
        </p:txBody>
      </p:sp>
      <p:sp>
        <p:nvSpPr>
          <p:cNvPr id="23561" name="Rectangle 10"/>
          <p:cNvSpPr>
            <a:spLocks noChangeArrowheads="1"/>
          </p:cNvSpPr>
          <p:nvPr/>
        </p:nvSpPr>
        <p:spPr bwMode="auto">
          <a:xfrm>
            <a:off x="4725590" y="1642271"/>
            <a:ext cx="1529954" cy="790575"/>
          </a:xfrm>
          <a:prstGeom prst="rect">
            <a:avLst/>
          </a:prstGeom>
          <a:solidFill>
            <a:schemeClr val="accent2"/>
          </a:solidFill>
          <a:ln w="28575">
            <a:solidFill>
              <a:schemeClr val="tx1"/>
            </a:solidFill>
            <a:miter lim="800000"/>
            <a:headEnd/>
            <a:tailEnd/>
          </a:ln>
        </p:spPr>
        <p:txBody>
          <a:bodyPr wrap="none" anchor="ctr"/>
          <a:lstStyle/>
          <a:p>
            <a:endParaRPr lang="sv-SE" sz="1013"/>
          </a:p>
        </p:txBody>
      </p:sp>
      <p:sp>
        <p:nvSpPr>
          <p:cNvPr id="23562" name="Arc 11"/>
          <p:cNvSpPr>
            <a:spLocks/>
          </p:cNvSpPr>
          <p:nvPr/>
        </p:nvSpPr>
        <p:spPr bwMode="auto">
          <a:xfrm>
            <a:off x="2708671" y="1967311"/>
            <a:ext cx="223838" cy="148829"/>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23563" name="Arc 12"/>
          <p:cNvSpPr>
            <a:spLocks/>
          </p:cNvSpPr>
          <p:nvPr/>
        </p:nvSpPr>
        <p:spPr bwMode="auto">
          <a:xfrm>
            <a:off x="2933700" y="1801814"/>
            <a:ext cx="290513" cy="195263"/>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2"/>
                  <a:pt x="9620" y="45"/>
                  <a:pt x="21518" y="0"/>
                </a:cubicBezTo>
              </a:path>
              <a:path w="21600" h="21600" stroke="0" extrusionOk="0">
                <a:moveTo>
                  <a:pt x="0" y="21600"/>
                </a:moveTo>
                <a:cubicBezTo>
                  <a:pt x="0" y="9702"/>
                  <a:pt x="9620" y="45"/>
                  <a:pt x="21518" y="0"/>
                </a:cubicBezTo>
                <a:lnTo>
                  <a:pt x="21600" y="21600"/>
                </a:lnTo>
                <a:lnTo>
                  <a:pt x="0" y="2160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23564" name="Rectangle 13"/>
          <p:cNvSpPr>
            <a:spLocks noChangeArrowheads="1"/>
          </p:cNvSpPr>
          <p:nvPr/>
        </p:nvSpPr>
        <p:spPr bwMode="auto">
          <a:xfrm>
            <a:off x="1618060" y="171450"/>
            <a:ext cx="5380434"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nchor="b"/>
          <a:lstStyle/>
          <a:p>
            <a:pPr algn="ctr"/>
            <a:endParaRPr lang="en-GB" sz="3300">
              <a:solidFill>
                <a:schemeClr val="tx2"/>
              </a:solidFill>
            </a:endParaRPr>
          </a:p>
        </p:txBody>
      </p:sp>
      <p:sp>
        <p:nvSpPr>
          <p:cNvPr id="12302" name="Text Box 14"/>
          <p:cNvSpPr txBox="1">
            <a:spLocks noChangeArrowheads="1"/>
          </p:cNvSpPr>
          <p:nvPr/>
        </p:nvSpPr>
        <p:spPr bwMode="auto">
          <a:xfrm>
            <a:off x="2131219" y="3262711"/>
            <a:ext cx="4867275" cy="784830"/>
          </a:xfrm>
          <a:prstGeom prst="rect">
            <a:avLst/>
          </a:prstGeom>
          <a:solidFill>
            <a:srgbClr val="BFDFFF"/>
          </a:solidFill>
          <a:ln w="12700">
            <a:solidFill>
              <a:srgbClr val="9FCFFF"/>
            </a:solidFill>
            <a:miter lim="800000"/>
            <a:headEnd/>
            <a:tailEnd/>
          </a:ln>
          <a:effectLst>
            <a:outerShdw dist="107763" dir="2700000" algn="ctr" rotWithShape="0">
              <a:schemeClr val="bg2"/>
            </a:outerShdw>
          </a:effectLst>
        </p:spPr>
        <p:txBody>
          <a:bodyPr>
            <a:spAutoFit/>
          </a:bodyPr>
          <a:lstStyle/>
          <a:p>
            <a:pPr eaLnBrk="0" hangingPunct="0">
              <a:defRPr/>
            </a:pPr>
            <a:r>
              <a:rPr lang="en-US" sz="1500" b="1">
                <a:solidFill>
                  <a:srgbClr val="0033CC"/>
                </a:solidFill>
                <a:latin typeface="Tahoma" pitchFamily="34" charset="0"/>
              </a:rPr>
              <a:t>Real-Time System</a:t>
            </a:r>
            <a:endParaRPr lang="en-US" sz="1500">
              <a:solidFill>
                <a:srgbClr val="0033CC"/>
              </a:solidFill>
              <a:latin typeface="Tahoma" pitchFamily="34" charset="0"/>
            </a:endParaRPr>
          </a:p>
          <a:p>
            <a:pPr eaLnBrk="0" hangingPunct="0">
              <a:defRPr/>
            </a:pPr>
            <a:r>
              <a:rPr lang="en-US" sz="1500">
                <a:latin typeface="Tahoma" pitchFamily="34" charset="0"/>
              </a:rPr>
              <a:t>A system where correctness not only depends on the logical order of events but also on their </a:t>
            </a:r>
            <a:r>
              <a:rPr lang="en-US" sz="1500" b="1">
                <a:solidFill>
                  <a:srgbClr val="FF0000"/>
                </a:solidFill>
                <a:latin typeface="Tahoma" pitchFamily="34" charset="0"/>
              </a:rPr>
              <a:t>timing</a:t>
            </a:r>
            <a:r>
              <a:rPr lang="en-US" sz="1500">
                <a:solidFill>
                  <a:srgbClr val="FF0000"/>
                </a:solidFill>
                <a:latin typeface="Tahoma" pitchFamily="34" charset="0"/>
              </a:rPr>
              <a:t>!!</a:t>
            </a:r>
            <a:endParaRPr lang="en-US" sz="1500">
              <a:solidFill>
                <a:schemeClr val="folHlink"/>
              </a:solidFill>
              <a:latin typeface="Tahoma" pitchFamily="34" charset="0"/>
            </a:endParaRPr>
          </a:p>
        </p:txBody>
      </p:sp>
      <p:sp>
        <p:nvSpPr>
          <p:cNvPr id="23566" name="Text Box 15"/>
          <p:cNvSpPr txBox="1">
            <a:spLocks noChangeArrowheads="1"/>
          </p:cNvSpPr>
          <p:nvPr/>
        </p:nvSpPr>
        <p:spPr bwMode="auto">
          <a:xfrm>
            <a:off x="3881438" y="1527971"/>
            <a:ext cx="77136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da-DK" sz="1200" b="1">
                <a:latin typeface="Tahoma" charset="0"/>
              </a:rPr>
              <a:t>sensors</a:t>
            </a:r>
            <a:endParaRPr lang="en-GB" sz="1200">
              <a:latin typeface="Tahoma" charset="0"/>
            </a:endParaRPr>
          </a:p>
        </p:txBody>
      </p:sp>
      <p:sp>
        <p:nvSpPr>
          <p:cNvPr id="23567" name="Text Box 16"/>
          <p:cNvSpPr txBox="1">
            <a:spLocks noChangeArrowheads="1"/>
          </p:cNvSpPr>
          <p:nvPr/>
        </p:nvSpPr>
        <p:spPr bwMode="auto">
          <a:xfrm>
            <a:off x="3829051" y="2213771"/>
            <a:ext cx="91563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da-DK" sz="1200" b="1">
                <a:latin typeface="Tahoma" charset="0"/>
              </a:rPr>
              <a:t>actuators</a:t>
            </a:r>
            <a:endParaRPr lang="en-GB" sz="1200">
              <a:latin typeface="Tahoma" charset="0"/>
            </a:endParaRPr>
          </a:p>
        </p:txBody>
      </p:sp>
      <p:sp>
        <p:nvSpPr>
          <p:cNvPr id="23568" name="Rectangle 17"/>
          <p:cNvSpPr>
            <a:spLocks noChangeArrowheads="1"/>
          </p:cNvSpPr>
          <p:nvPr/>
        </p:nvSpPr>
        <p:spPr bwMode="auto">
          <a:xfrm>
            <a:off x="4825999" y="1732371"/>
            <a:ext cx="542136" cy="276999"/>
          </a:xfrm>
          <a:prstGeom prst="rect">
            <a:avLst/>
          </a:prstGeom>
          <a:solidFill>
            <a:schemeClr val="accent1"/>
          </a:solidFill>
          <a:ln w="12700">
            <a:solidFill>
              <a:schemeClr val="tx1"/>
            </a:solidFill>
            <a:miter lim="800000"/>
            <a:headEnd type="none" w="sm" len="sm"/>
            <a:tailEnd type="none" w="sm" len="sm"/>
          </a:ln>
        </p:spPr>
        <p:txBody>
          <a:bodyPr wrap="none" anchor="ctr">
            <a:spAutoFit/>
          </a:bodyPr>
          <a:lstStyle/>
          <a:p>
            <a:pPr algn="ctr" eaLnBrk="0" hangingPunct="0"/>
            <a:r>
              <a:rPr lang="da-DK" sz="1200" b="1">
                <a:solidFill>
                  <a:schemeClr val="tx2"/>
                </a:solidFill>
                <a:latin typeface="Tahoma" charset="0"/>
              </a:rPr>
              <a:t>Task</a:t>
            </a:r>
            <a:endParaRPr lang="en-GB" sz="1200" b="1">
              <a:solidFill>
                <a:schemeClr val="tx2"/>
              </a:solidFill>
              <a:latin typeface="Tahoma" charset="0"/>
            </a:endParaRPr>
          </a:p>
        </p:txBody>
      </p:sp>
      <p:sp>
        <p:nvSpPr>
          <p:cNvPr id="23569" name="Rectangle 18"/>
          <p:cNvSpPr>
            <a:spLocks noChangeArrowheads="1"/>
          </p:cNvSpPr>
          <p:nvPr/>
        </p:nvSpPr>
        <p:spPr bwMode="auto">
          <a:xfrm>
            <a:off x="5109367" y="1863340"/>
            <a:ext cx="542136" cy="276999"/>
          </a:xfrm>
          <a:prstGeom prst="rect">
            <a:avLst/>
          </a:prstGeom>
          <a:solidFill>
            <a:schemeClr val="accent1"/>
          </a:solidFill>
          <a:ln w="12700">
            <a:solidFill>
              <a:schemeClr val="tx1"/>
            </a:solidFill>
            <a:miter lim="800000"/>
            <a:headEnd type="none" w="sm" len="sm"/>
            <a:tailEnd type="none" w="sm" len="sm"/>
          </a:ln>
        </p:spPr>
        <p:txBody>
          <a:bodyPr wrap="none" anchor="ctr">
            <a:spAutoFit/>
          </a:bodyPr>
          <a:lstStyle/>
          <a:p>
            <a:pPr algn="ctr" eaLnBrk="0" hangingPunct="0"/>
            <a:r>
              <a:rPr lang="da-DK" sz="1200" b="1">
                <a:solidFill>
                  <a:schemeClr val="tx2"/>
                </a:solidFill>
                <a:latin typeface="Tahoma" charset="0"/>
              </a:rPr>
              <a:t>Task</a:t>
            </a:r>
            <a:endParaRPr lang="en-GB" sz="1200" b="1">
              <a:solidFill>
                <a:schemeClr val="tx2"/>
              </a:solidFill>
              <a:latin typeface="Tahoma" charset="0"/>
            </a:endParaRPr>
          </a:p>
        </p:txBody>
      </p:sp>
      <p:sp>
        <p:nvSpPr>
          <p:cNvPr id="23570" name="Rectangle 19"/>
          <p:cNvSpPr>
            <a:spLocks noChangeArrowheads="1"/>
          </p:cNvSpPr>
          <p:nvPr/>
        </p:nvSpPr>
        <p:spPr bwMode="auto">
          <a:xfrm>
            <a:off x="5320108" y="1977640"/>
            <a:ext cx="542136" cy="276999"/>
          </a:xfrm>
          <a:prstGeom prst="rect">
            <a:avLst/>
          </a:prstGeom>
          <a:solidFill>
            <a:schemeClr val="accent1"/>
          </a:solidFill>
          <a:ln w="12700">
            <a:solidFill>
              <a:schemeClr val="tx1"/>
            </a:solidFill>
            <a:miter lim="800000"/>
            <a:headEnd type="none" w="sm" len="sm"/>
            <a:tailEnd type="none" w="sm" len="sm"/>
          </a:ln>
        </p:spPr>
        <p:txBody>
          <a:bodyPr wrap="none" anchor="ctr">
            <a:spAutoFit/>
          </a:bodyPr>
          <a:lstStyle/>
          <a:p>
            <a:pPr algn="ctr" eaLnBrk="0" hangingPunct="0"/>
            <a:r>
              <a:rPr lang="da-DK" sz="1200" b="1">
                <a:solidFill>
                  <a:schemeClr val="tx2"/>
                </a:solidFill>
                <a:latin typeface="Tahoma" charset="0"/>
              </a:rPr>
              <a:t>Task</a:t>
            </a:r>
            <a:endParaRPr lang="en-GB" sz="1200" b="1">
              <a:solidFill>
                <a:schemeClr val="tx2"/>
              </a:solidFill>
              <a:latin typeface="Tahoma" charset="0"/>
            </a:endParaRPr>
          </a:p>
        </p:txBody>
      </p:sp>
      <p:sp>
        <p:nvSpPr>
          <p:cNvPr id="23571" name="Rectangle 20"/>
          <p:cNvSpPr>
            <a:spLocks noChangeArrowheads="1"/>
          </p:cNvSpPr>
          <p:nvPr/>
        </p:nvSpPr>
        <p:spPr bwMode="auto">
          <a:xfrm>
            <a:off x="5574901" y="2091940"/>
            <a:ext cx="542136" cy="276999"/>
          </a:xfrm>
          <a:prstGeom prst="rect">
            <a:avLst/>
          </a:prstGeom>
          <a:solidFill>
            <a:schemeClr val="accent1"/>
          </a:solidFill>
          <a:ln w="12700">
            <a:solidFill>
              <a:schemeClr val="tx1"/>
            </a:solidFill>
            <a:miter lim="800000"/>
            <a:headEnd type="none" w="sm" len="sm"/>
            <a:tailEnd type="none" w="sm" len="sm"/>
          </a:ln>
        </p:spPr>
        <p:txBody>
          <a:bodyPr wrap="none" anchor="ctr">
            <a:spAutoFit/>
          </a:bodyPr>
          <a:lstStyle/>
          <a:p>
            <a:pPr algn="ctr" eaLnBrk="0" hangingPunct="0"/>
            <a:r>
              <a:rPr lang="da-DK" sz="1200" b="1">
                <a:solidFill>
                  <a:schemeClr val="tx2"/>
                </a:solidFill>
                <a:latin typeface="Tahoma" charset="0"/>
              </a:rPr>
              <a:t>Task</a:t>
            </a:r>
            <a:endParaRPr lang="en-GB" sz="1200" b="1">
              <a:solidFill>
                <a:schemeClr val="tx2"/>
              </a:solidFill>
              <a:latin typeface="Tahoma" charset="0"/>
            </a:endParaRPr>
          </a:p>
        </p:txBody>
      </p:sp>
      <p:sp>
        <p:nvSpPr>
          <p:cNvPr id="12311" name="Oval 23"/>
          <p:cNvSpPr>
            <a:spLocks noChangeArrowheads="1"/>
          </p:cNvSpPr>
          <p:nvPr/>
        </p:nvSpPr>
        <p:spPr bwMode="auto">
          <a:xfrm>
            <a:off x="7434263" y="141685"/>
            <a:ext cx="107156" cy="108347"/>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sv-SE" sz="1013"/>
          </a:p>
        </p:txBody>
      </p:sp>
    </p:spTree>
    <p:extLst>
      <p:ext uri="{BB962C8B-B14F-4D97-AF65-F5344CB8AC3E}">
        <p14:creationId xmlns:p14="http://schemas.microsoft.com/office/powerpoint/2010/main" val="1021681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title"/>
          </p:nvPr>
        </p:nvSpPr>
        <p:spPr>
          <a:xfrm>
            <a:off x="1485900" y="426286"/>
            <a:ext cx="6172200" cy="857250"/>
          </a:xfrm>
        </p:spPr>
        <p:txBody>
          <a:bodyPr/>
          <a:lstStyle/>
          <a:p>
            <a:pPr eaLnBrk="1" hangingPunct="1"/>
            <a:r>
              <a:rPr lang="da-DK" sz="3000" b="1" dirty="0">
                <a:latin typeface="Arial" charset="0"/>
              </a:rPr>
              <a:t>Real-Time Model-</a:t>
            </a:r>
            <a:r>
              <a:rPr lang="da-DK" sz="3000" b="1" dirty="0" err="1">
                <a:latin typeface="Arial" charset="0"/>
              </a:rPr>
              <a:t>Checking</a:t>
            </a:r>
            <a:r>
              <a:rPr lang="da-DK" sz="3000" b="1" dirty="0">
                <a:latin typeface="Arial" charset="0"/>
              </a:rPr>
              <a:t> </a:t>
            </a:r>
            <a:endParaRPr lang="en-GB" sz="3000" b="1" i="1" dirty="0">
              <a:solidFill>
                <a:srgbClr val="FF0000"/>
              </a:solidFill>
              <a:latin typeface="Arial" charset="0"/>
            </a:endParaRPr>
          </a:p>
        </p:txBody>
      </p:sp>
      <p:pic>
        <p:nvPicPr>
          <p:cNvPr id="24709" name="Picture 24708">
            <a:extLst>
              <a:ext uri="{FF2B5EF4-FFF2-40B4-BE49-F238E27FC236}">
                <a16:creationId xmlns:a16="http://schemas.microsoft.com/office/drawing/2014/main" id="{BCFB6FBC-B7CC-1491-44FF-1BF315053B26}"/>
              </a:ext>
            </a:extLst>
          </p:cNvPr>
          <p:cNvPicPr>
            <a:picLocks noChangeAspect="1"/>
          </p:cNvPicPr>
          <p:nvPr/>
        </p:nvPicPr>
        <p:blipFill>
          <a:blip r:embed="rId3"/>
          <a:stretch>
            <a:fillRect/>
          </a:stretch>
        </p:blipFill>
        <p:spPr>
          <a:xfrm>
            <a:off x="1293340" y="1124960"/>
            <a:ext cx="6249084" cy="387890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639261" y="462667"/>
            <a:ext cx="6172200" cy="857250"/>
          </a:xfrm>
        </p:spPr>
        <p:txBody>
          <a:bodyPr/>
          <a:lstStyle/>
          <a:p>
            <a:pPr eaLnBrk="1" hangingPunct="1"/>
            <a:r>
              <a:rPr lang="en-US" sz="2700" b="1" dirty="0">
                <a:latin typeface="Arial" charset="0"/>
              </a:rPr>
              <a:t>Formal modeling and verification</a:t>
            </a:r>
          </a:p>
        </p:txBody>
      </p:sp>
      <p:pic>
        <p:nvPicPr>
          <p:cNvPr id="2765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1782" y="1507107"/>
            <a:ext cx="2430066" cy="18228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638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800" y="3126358"/>
            <a:ext cx="2430066" cy="182165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652" name="Text Box 5"/>
          <p:cNvSpPr txBox="1">
            <a:spLocks noChangeArrowheads="1"/>
          </p:cNvSpPr>
          <p:nvPr/>
        </p:nvSpPr>
        <p:spPr bwMode="auto">
          <a:xfrm>
            <a:off x="1739857" y="2370311"/>
            <a:ext cx="1116011" cy="346249"/>
          </a:xfrm>
          <a:prstGeom prst="rect">
            <a:avLst/>
          </a:prstGeom>
          <a:gradFill rotWithShape="1">
            <a:gsLst>
              <a:gs pos="0">
                <a:srgbClr val="CCCCFF"/>
              </a:gs>
              <a:gs pos="50000">
                <a:srgbClr val="F0F0FF"/>
              </a:gs>
              <a:gs pos="100000">
                <a:srgbClr val="CCCCFF"/>
              </a:gs>
            </a:gsLst>
            <a:lin ang="5400000" scaled="1"/>
          </a:gra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50" b="1"/>
              <a:t>Modeling</a:t>
            </a:r>
          </a:p>
        </p:txBody>
      </p:sp>
      <p:pic>
        <p:nvPicPr>
          <p:cNvPr id="1639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2392" y="1507107"/>
            <a:ext cx="2430065" cy="18228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6391" name="Text Box 7"/>
          <p:cNvSpPr txBox="1">
            <a:spLocks noChangeArrowheads="1"/>
          </p:cNvSpPr>
          <p:nvPr/>
        </p:nvSpPr>
        <p:spPr bwMode="auto">
          <a:xfrm>
            <a:off x="5898710" y="1345183"/>
            <a:ext cx="1268296" cy="346249"/>
          </a:xfrm>
          <a:prstGeom prst="rect">
            <a:avLst/>
          </a:prstGeom>
          <a:gradFill rotWithShape="1">
            <a:gsLst>
              <a:gs pos="0">
                <a:srgbClr val="CCCCFF"/>
              </a:gs>
              <a:gs pos="50000">
                <a:srgbClr val="F0F0FF"/>
              </a:gs>
              <a:gs pos="100000">
                <a:srgbClr val="CCCCFF"/>
              </a:gs>
            </a:gsLst>
            <a:lin ang="5400000" scaled="1"/>
          </a:gra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50" b="1"/>
              <a:t>Simulation</a:t>
            </a:r>
          </a:p>
        </p:txBody>
      </p:sp>
      <p:sp>
        <p:nvSpPr>
          <p:cNvPr id="16392" name="Text Box 8"/>
          <p:cNvSpPr txBox="1">
            <a:spLocks noChangeArrowheads="1"/>
          </p:cNvSpPr>
          <p:nvPr/>
        </p:nvSpPr>
        <p:spPr bwMode="auto">
          <a:xfrm>
            <a:off x="2604250" y="4045520"/>
            <a:ext cx="1325556" cy="346249"/>
          </a:xfrm>
          <a:prstGeom prst="rect">
            <a:avLst/>
          </a:prstGeom>
          <a:gradFill rotWithShape="1">
            <a:gsLst>
              <a:gs pos="0">
                <a:srgbClr val="CCCCFF"/>
              </a:gs>
              <a:gs pos="50000">
                <a:srgbClr val="F0F0FF"/>
              </a:gs>
              <a:gs pos="100000">
                <a:srgbClr val="CCCCFF"/>
              </a:gs>
            </a:gsLst>
            <a:lin ang="5400000" scaled="1"/>
          </a:gra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650" b="1"/>
              <a:t>Verification</a:t>
            </a:r>
          </a:p>
        </p:txBody>
      </p:sp>
      <p:sp>
        <p:nvSpPr>
          <p:cNvPr id="16395" name="AutoShape 11"/>
          <p:cNvSpPr>
            <a:spLocks noChangeArrowheads="1"/>
          </p:cNvSpPr>
          <p:nvPr/>
        </p:nvSpPr>
        <p:spPr bwMode="auto">
          <a:xfrm>
            <a:off x="3846072" y="1557639"/>
            <a:ext cx="1241822" cy="493058"/>
          </a:xfrm>
          <a:prstGeom prst="leftRightArrow">
            <a:avLst>
              <a:gd name="adj1" fmla="val 50000"/>
              <a:gd name="adj2" fmla="val 51002"/>
            </a:avLst>
          </a:prstGeom>
          <a:solidFill>
            <a:schemeClr val="bg1"/>
          </a:solidFill>
          <a:ln w="12700">
            <a:solidFill>
              <a:schemeClr val="tx1"/>
            </a:solidFill>
            <a:miter lim="800000"/>
            <a:headEnd/>
            <a:tailEnd/>
          </a:ln>
        </p:spPr>
        <p:txBody>
          <a:bodyPr anchor="ctr">
            <a:spAutoFit/>
          </a:bodyPr>
          <a:lstStyle/>
          <a:p>
            <a:endParaRPr lang="sv-SE" sz="1013"/>
          </a:p>
        </p:txBody>
      </p:sp>
      <p:sp>
        <p:nvSpPr>
          <p:cNvPr id="16396" name="AutoShape 12"/>
          <p:cNvSpPr>
            <a:spLocks noChangeArrowheads="1"/>
          </p:cNvSpPr>
          <p:nvPr/>
        </p:nvSpPr>
        <p:spPr bwMode="auto">
          <a:xfrm>
            <a:off x="5898710" y="3318337"/>
            <a:ext cx="971550" cy="862732"/>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17694720 60000 65536"/>
              <a:gd name="T17" fmla="*/ 11796480 60000 65536"/>
              <a:gd name="T18" fmla="*/ 17694720 60000 65536"/>
              <a:gd name="T19" fmla="*/ 11796480 60000 65536"/>
              <a:gd name="T20" fmla="*/ 5898240 60000 65536"/>
              <a:gd name="T21" fmla="*/ 5898240 60000 65536"/>
              <a:gd name="T22" fmla="*/ 0 60000 65536"/>
              <a:gd name="T23" fmla="*/ 0 60000 65536"/>
              <a:gd name="T24" fmla="*/ 3085 w 21600"/>
              <a:gd name="T25" fmla="*/ 12343 h 21600"/>
              <a:gd name="T26" fmla="*/ 18514 w 21600"/>
              <a:gd name="T27" fmla="*/ 1851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15429" y="0"/>
                </a:moveTo>
                <a:lnTo>
                  <a:pt x="9257" y="6171"/>
                </a:lnTo>
                <a:lnTo>
                  <a:pt x="12343" y="6171"/>
                </a:lnTo>
                <a:lnTo>
                  <a:pt x="12343" y="12343"/>
                </a:lnTo>
                <a:lnTo>
                  <a:pt x="6171" y="12343"/>
                </a:lnTo>
                <a:lnTo>
                  <a:pt x="6171" y="9257"/>
                </a:lnTo>
                <a:lnTo>
                  <a:pt x="0" y="15429"/>
                </a:lnTo>
                <a:lnTo>
                  <a:pt x="6171" y="21600"/>
                </a:lnTo>
                <a:lnTo>
                  <a:pt x="6171" y="18514"/>
                </a:lnTo>
                <a:lnTo>
                  <a:pt x="18514" y="18514"/>
                </a:lnTo>
                <a:lnTo>
                  <a:pt x="18514" y="6171"/>
                </a:lnTo>
                <a:lnTo>
                  <a:pt x="21600" y="6171"/>
                </a:lnTo>
                <a:lnTo>
                  <a:pt x="15429" y="0"/>
                </a:lnTo>
                <a:close/>
              </a:path>
            </a:pathLst>
          </a:custGeom>
          <a:solidFill>
            <a:schemeClr val="bg1"/>
          </a:solidFill>
          <a:ln w="12700">
            <a:solidFill>
              <a:schemeClr val="tx1"/>
            </a:solidFill>
            <a:miter lim="800000"/>
            <a:headEnd/>
            <a:tailEnd/>
          </a:ln>
        </p:spPr>
        <p:txBody>
          <a:bodyPr anchor="ctr">
            <a:spAutoFit/>
          </a:bodyPr>
          <a:lstStyle/>
          <a:p>
            <a:endParaRPr lang="sv-SE" sz="1013"/>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16390"/>
                                        </p:tgtEl>
                                        <p:attrNameLst>
                                          <p:attrName>style.visibility</p:attrName>
                                        </p:attrNameLst>
                                      </p:cBhvr>
                                      <p:to>
                                        <p:strVal val="visible"/>
                                      </p:to>
                                    </p:set>
                                    <p:animEffect transition="in" filter="blinds(horizontal)">
                                      <p:cBhvr>
                                        <p:cTn id="7" dur="500"/>
                                        <p:tgtEl>
                                          <p:spTgt spid="1639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391"/>
                                        </p:tgtEl>
                                        <p:attrNameLst>
                                          <p:attrName>style.visibility</p:attrName>
                                        </p:attrNameLst>
                                      </p:cBhvr>
                                      <p:to>
                                        <p:strVal val="visible"/>
                                      </p:to>
                                    </p:set>
                                    <p:animEffect transition="in" filter="blinds(horizontal)">
                                      <p:cBhvr>
                                        <p:cTn id="10" dur="500"/>
                                        <p:tgtEl>
                                          <p:spTgt spid="16391"/>
                                        </p:tgtEl>
                                      </p:cBhvr>
                                    </p:animEffect>
                                  </p:childTnLst>
                                </p:cTn>
                              </p:par>
                              <p:par>
                                <p:cTn id="11" presetID="3" presetClass="entr" presetSubtype="10" fill="hold" nodeType="withEffect">
                                  <p:stCondLst>
                                    <p:cond delay="0"/>
                                  </p:stCondLst>
                                  <p:childTnLst>
                                    <p:set>
                                      <p:cBhvr>
                                        <p:cTn id="12" dur="1" fill="hold">
                                          <p:stCondLst>
                                            <p:cond delay="0"/>
                                          </p:stCondLst>
                                        </p:cTn>
                                        <p:tgtEl>
                                          <p:spTgt spid="16388"/>
                                        </p:tgtEl>
                                        <p:attrNameLst>
                                          <p:attrName>style.visibility</p:attrName>
                                        </p:attrNameLst>
                                      </p:cBhvr>
                                      <p:to>
                                        <p:strVal val="visible"/>
                                      </p:to>
                                    </p:set>
                                    <p:animEffect transition="in" filter="blinds(horizontal)">
                                      <p:cBhvr>
                                        <p:cTn id="13" dur="500"/>
                                        <p:tgtEl>
                                          <p:spTgt spid="1638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6392"/>
                                        </p:tgtEl>
                                        <p:attrNameLst>
                                          <p:attrName>style.visibility</p:attrName>
                                        </p:attrNameLst>
                                      </p:cBhvr>
                                      <p:to>
                                        <p:strVal val="visible"/>
                                      </p:to>
                                    </p:set>
                                    <p:animEffect transition="in" filter="blinds(horizontal)">
                                      <p:cBhvr>
                                        <p:cTn id="16" dur="500"/>
                                        <p:tgtEl>
                                          <p:spTgt spid="1639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6396"/>
                                        </p:tgtEl>
                                        <p:attrNameLst>
                                          <p:attrName>style.visibility</p:attrName>
                                        </p:attrNameLst>
                                      </p:cBhvr>
                                      <p:to>
                                        <p:strVal val="visible"/>
                                      </p:to>
                                    </p:set>
                                    <p:animEffect transition="in" filter="blinds(horizontal)">
                                      <p:cBhvr>
                                        <p:cTn id="21" dur="500"/>
                                        <p:tgtEl>
                                          <p:spTgt spid="1639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6395"/>
                                        </p:tgtEl>
                                        <p:attrNameLst>
                                          <p:attrName>style.visibility</p:attrName>
                                        </p:attrNameLst>
                                      </p:cBhvr>
                                      <p:to>
                                        <p:strVal val="visible"/>
                                      </p:to>
                                    </p:set>
                                    <p:animEffect transition="in" filter="blinds(horizontal)">
                                      <p:cBhvr>
                                        <p:cTn id="26" dur="500"/>
                                        <p:tgtEl>
                                          <p:spTgt spid="16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1" grpId="0" animBg="1"/>
      <p:bldP spid="16392" grpId="0" animBg="1"/>
      <p:bldP spid="16395" grpId="0" animBg="1"/>
      <p:bldP spid="1639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2150839" y="492149"/>
            <a:ext cx="5499503" cy="502295"/>
          </a:xfrm>
        </p:spPr>
        <p:txBody>
          <a:bodyPr/>
          <a:lstStyle/>
          <a:p>
            <a:r>
              <a:rPr lang="sv-SE" b="1" dirty="0" err="1"/>
              <a:t>Example</a:t>
            </a:r>
            <a:r>
              <a:rPr lang="sv-SE" b="1" dirty="0"/>
              <a:t> </a:t>
            </a:r>
            <a:r>
              <a:rPr lang="sv-SE" b="1" dirty="0" err="1"/>
              <a:t>model-based</a:t>
            </a:r>
            <a:r>
              <a:rPr lang="sv-SE" b="1" dirty="0"/>
              <a:t> </a:t>
            </a:r>
            <a:r>
              <a:rPr lang="sv-SE" b="1" dirty="0" err="1"/>
              <a:t>verification</a:t>
            </a:r>
            <a:endParaRPr lang="sv-SE" b="1" dirty="0"/>
          </a:p>
        </p:txBody>
      </p:sp>
      <p:sp>
        <p:nvSpPr>
          <p:cNvPr id="4" name="Platshållare för bildnummer 3"/>
          <p:cNvSpPr>
            <a:spLocks noGrp="1"/>
          </p:cNvSpPr>
          <p:nvPr>
            <p:ph type="sldNum" sz="quarter" idx="11"/>
          </p:nvPr>
        </p:nvSpPr>
        <p:spPr/>
        <p:txBody>
          <a:bodyPr/>
          <a:lstStyle/>
          <a:p>
            <a:pPr>
              <a:defRPr/>
            </a:pPr>
            <a:fld id="{232C9D09-DAEF-0445-B83E-EC70F98EBB51}" type="slidenum">
              <a:rPr lang="sv-SE" smtClean="0"/>
              <a:pPr>
                <a:defRPr/>
              </a:pPr>
              <a:t>16</a:t>
            </a:fld>
            <a:endParaRPr lang="sv-SE"/>
          </a:p>
        </p:txBody>
      </p:sp>
      <p:pic>
        <p:nvPicPr>
          <p:cNvPr id="5" name="Picture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654" y="1285875"/>
            <a:ext cx="6378178" cy="3429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Oval 1028"/>
          <p:cNvSpPr>
            <a:spLocks noChangeArrowheads="1"/>
          </p:cNvSpPr>
          <p:nvPr/>
        </p:nvSpPr>
        <p:spPr bwMode="auto">
          <a:xfrm>
            <a:off x="5715000" y="3143250"/>
            <a:ext cx="171450" cy="171450"/>
          </a:xfrm>
          <a:prstGeom prst="ellipse">
            <a:avLst/>
          </a:prstGeom>
          <a:solidFill>
            <a:srgbClr val="CC3300"/>
          </a:solidFill>
          <a:ln w="9525">
            <a:solidFill>
              <a:schemeClr val="tx1"/>
            </a:solidFill>
            <a:round/>
            <a:headEnd/>
            <a:tailEnd/>
          </a:ln>
        </p:spPr>
        <p:txBody>
          <a:bodyPr wrap="none" anchor="ctr"/>
          <a:lstStyle/>
          <a:p>
            <a:endParaRPr lang="sv-SE" sz="1013"/>
          </a:p>
        </p:txBody>
      </p:sp>
      <p:sp>
        <p:nvSpPr>
          <p:cNvPr id="7" name="Line 1029"/>
          <p:cNvSpPr>
            <a:spLocks noChangeShapeType="1"/>
          </p:cNvSpPr>
          <p:nvPr/>
        </p:nvSpPr>
        <p:spPr bwMode="auto">
          <a:xfrm flipH="1">
            <a:off x="5829300" y="1285875"/>
            <a:ext cx="1153716" cy="1857375"/>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8" name="Text Box 1030"/>
          <p:cNvSpPr txBox="1">
            <a:spLocks noChangeArrowheads="1"/>
          </p:cNvSpPr>
          <p:nvPr/>
        </p:nvSpPr>
        <p:spPr bwMode="auto">
          <a:xfrm>
            <a:off x="6354198" y="799568"/>
            <a:ext cx="1566174" cy="553998"/>
          </a:xfrm>
          <a:prstGeom prst="rect">
            <a:avLst/>
          </a:prstGeom>
          <a:solidFill>
            <a:schemeClr val="accent1"/>
          </a:solidFill>
          <a:ln w="9525">
            <a:solidFill>
              <a:schemeClr val="tx1"/>
            </a:solidFill>
            <a:miter lim="800000"/>
            <a:headEnd/>
            <a:tailEnd/>
          </a:ln>
          <a:effectLst>
            <a:outerShdw blurRad="88900" dist="63500" dir="2700000" algn="tl" rotWithShape="0">
              <a:srgbClr val="000000">
                <a:alpha val="43000"/>
              </a:srgbClr>
            </a:outerShdw>
          </a:effectLst>
        </p:spPr>
        <p:txBody>
          <a:bodyPr wrap="square">
            <a:spAutoFit/>
          </a:bodyPr>
          <a:lstStyle/>
          <a:p>
            <a:pPr>
              <a:defRPr/>
            </a:pPr>
            <a:r>
              <a:rPr lang="sv-SE" sz="1500" b="1" dirty="0">
                <a:effectLst>
                  <a:outerShdw blurRad="38100" dist="38100" dir="2700000" algn="tl">
                    <a:srgbClr val="C0C0C0"/>
                  </a:outerShdw>
                </a:effectLst>
                <a:latin typeface="Times New Roman" pitchFamily="18" charset="0"/>
              </a:rPr>
              <a:t>Is </a:t>
            </a:r>
            <a:r>
              <a:rPr lang="sv-SE" sz="1500" b="1" dirty="0" err="1">
                <a:effectLst>
                  <a:outerShdw blurRad="38100" dist="38100" dir="2700000" algn="tl">
                    <a:srgbClr val="C0C0C0"/>
                  </a:outerShdw>
                </a:effectLst>
                <a:latin typeface="Times New Roman" pitchFamily="18" charset="0"/>
              </a:rPr>
              <a:t>this</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error</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state</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reachable</a:t>
            </a:r>
            <a:r>
              <a:rPr lang="sv-SE" sz="1500" b="1" dirty="0">
                <a:effectLst>
                  <a:outerShdw blurRad="38100" dist="38100" dir="2700000" algn="tl">
                    <a:srgbClr val="C0C0C0"/>
                  </a:outerShdw>
                </a:effectLst>
                <a:latin typeface="Times New Roman" pitchFamily="18" charset="0"/>
              </a:rPr>
              <a:t>?</a:t>
            </a:r>
          </a:p>
        </p:txBody>
      </p:sp>
      <p:sp>
        <p:nvSpPr>
          <p:cNvPr id="15" name="Oval 1028"/>
          <p:cNvSpPr>
            <a:spLocks noChangeArrowheads="1"/>
          </p:cNvSpPr>
          <p:nvPr/>
        </p:nvSpPr>
        <p:spPr bwMode="auto">
          <a:xfrm>
            <a:off x="3014700" y="3727300"/>
            <a:ext cx="171450" cy="171450"/>
          </a:xfrm>
          <a:prstGeom prst="ellipse">
            <a:avLst/>
          </a:prstGeom>
          <a:solidFill>
            <a:srgbClr val="CC3300"/>
          </a:solidFill>
          <a:ln w="9525">
            <a:solidFill>
              <a:schemeClr val="tx1"/>
            </a:solidFill>
            <a:round/>
            <a:headEnd/>
            <a:tailEnd/>
          </a:ln>
        </p:spPr>
        <p:txBody>
          <a:bodyPr wrap="none" anchor="ctr"/>
          <a:lstStyle/>
          <a:p>
            <a:endParaRPr lang="sv-SE" sz="1013"/>
          </a:p>
        </p:txBody>
      </p:sp>
      <p:sp>
        <p:nvSpPr>
          <p:cNvPr id="16" name="Line 1029"/>
          <p:cNvSpPr>
            <a:spLocks noChangeShapeType="1"/>
          </p:cNvSpPr>
          <p:nvPr/>
        </p:nvSpPr>
        <p:spPr bwMode="auto">
          <a:xfrm flipH="1" flipV="1">
            <a:off x="3167844" y="3889065"/>
            <a:ext cx="1242138" cy="626901"/>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17" name="Text Box 1030"/>
          <p:cNvSpPr txBox="1">
            <a:spLocks noChangeArrowheads="1"/>
          </p:cNvSpPr>
          <p:nvPr/>
        </p:nvSpPr>
        <p:spPr bwMode="auto">
          <a:xfrm>
            <a:off x="4409982" y="4191930"/>
            <a:ext cx="1944216" cy="784830"/>
          </a:xfrm>
          <a:prstGeom prst="rect">
            <a:avLst/>
          </a:prstGeom>
          <a:solidFill>
            <a:schemeClr val="accent1"/>
          </a:solidFill>
          <a:ln w="9525">
            <a:solidFill>
              <a:schemeClr val="tx1"/>
            </a:solidFill>
            <a:miter lim="800000"/>
            <a:headEnd/>
            <a:tailEnd/>
          </a:ln>
          <a:effectLst>
            <a:outerShdw blurRad="88900" dist="63500" dir="2700000" algn="tl" rotWithShape="0">
              <a:srgbClr val="000000">
                <a:alpha val="43000"/>
              </a:srgbClr>
            </a:outerShdw>
          </a:effectLst>
        </p:spPr>
        <p:txBody>
          <a:bodyPr wrap="square">
            <a:spAutoFit/>
          </a:bodyPr>
          <a:lstStyle/>
          <a:p>
            <a:pPr>
              <a:defRPr/>
            </a:pPr>
            <a:r>
              <a:rPr lang="sv-SE" sz="1500" b="1" dirty="0">
                <a:effectLst>
                  <a:outerShdw blurRad="38100" dist="38100" dir="2700000" algn="tl">
                    <a:srgbClr val="C0C0C0"/>
                  </a:outerShdw>
                </a:effectLst>
                <a:latin typeface="Times New Roman" pitchFamily="18" charset="0"/>
              </a:rPr>
              <a:t>Is </a:t>
            </a:r>
            <a:r>
              <a:rPr lang="sv-SE" sz="1500" b="1" dirty="0" err="1">
                <a:effectLst>
                  <a:outerShdw blurRad="38100" dist="38100" dir="2700000" algn="tl">
                    <a:srgbClr val="C0C0C0"/>
                  </a:outerShdw>
                </a:effectLst>
                <a:latin typeface="Times New Roman" pitchFamily="18" charset="0"/>
              </a:rPr>
              <a:t>this</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component</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always</a:t>
            </a:r>
            <a:r>
              <a:rPr lang="sv-SE" sz="1500" b="1" dirty="0">
                <a:effectLst>
                  <a:outerShdw blurRad="38100" dist="38100" dir="2700000" algn="tl">
                    <a:srgbClr val="C0C0C0"/>
                  </a:outerShdw>
                </a:effectLst>
                <a:latin typeface="Times New Roman" pitchFamily="18" charset="0"/>
              </a:rPr>
              <a:t> operating in </a:t>
            </a:r>
            <a:r>
              <a:rPr lang="sv-SE" sz="1500" b="1" dirty="0" err="1">
                <a:effectLst>
                  <a:outerShdw blurRad="38100" dist="38100" dir="2700000" algn="tl">
                    <a:srgbClr val="C0C0C0"/>
                  </a:outerShdw>
                </a:effectLst>
                <a:latin typeface="Times New Roman" pitchFamily="18" charset="0"/>
              </a:rPr>
              <a:t>this</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state</a:t>
            </a:r>
            <a:r>
              <a:rPr lang="sv-SE" sz="1500" b="1" dirty="0">
                <a:effectLst>
                  <a:outerShdw blurRad="38100" dist="38100" dir="2700000" algn="tl">
                    <a:srgbClr val="C0C0C0"/>
                  </a:outerShdw>
                </a:effectLst>
                <a:latin typeface="Times New Roman" pitchFamily="18" charset="0"/>
              </a:rPr>
              <a:t>?</a:t>
            </a:r>
          </a:p>
        </p:txBody>
      </p:sp>
      <p:sp>
        <p:nvSpPr>
          <p:cNvPr id="18" name="Oval 1028"/>
          <p:cNvSpPr>
            <a:spLocks noChangeArrowheads="1"/>
          </p:cNvSpPr>
          <p:nvPr/>
        </p:nvSpPr>
        <p:spPr bwMode="auto">
          <a:xfrm>
            <a:off x="2744670" y="2368283"/>
            <a:ext cx="171450" cy="171450"/>
          </a:xfrm>
          <a:prstGeom prst="ellipse">
            <a:avLst/>
          </a:prstGeom>
          <a:solidFill>
            <a:srgbClr val="CC3300"/>
          </a:solidFill>
          <a:ln w="9525">
            <a:solidFill>
              <a:schemeClr val="tx1"/>
            </a:solidFill>
            <a:round/>
            <a:headEnd/>
            <a:tailEnd/>
          </a:ln>
        </p:spPr>
        <p:txBody>
          <a:bodyPr wrap="none" anchor="ctr"/>
          <a:lstStyle/>
          <a:p>
            <a:endParaRPr lang="sv-SE" sz="1013"/>
          </a:p>
        </p:txBody>
      </p:sp>
      <p:sp>
        <p:nvSpPr>
          <p:cNvPr id="19" name="Line 1029"/>
          <p:cNvSpPr>
            <a:spLocks noChangeShapeType="1"/>
          </p:cNvSpPr>
          <p:nvPr/>
        </p:nvSpPr>
        <p:spPr bwMode="auto">
          <a:xfrm flipH="1">
            <a:off x="2912976" y="1545636"/>
            <a:ext cx="1118964" cy="876653"/>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21" name="Oval 1028"/>
          <p:cNvSpPr>
            <a:spLocks noChangeArrowheads="1"/>
          </p:cNvSpPr>
          <p:nvPr/>
        </p:nvSpPr>
        <p:spPr bwMode="auto">
          <a:xfrm>
            <a:off x="4025652" y="3016355"/>
            <a:ext cx="171450" cy="171450"/>
          </a:xfrm>
          <a:prstGeom prst="ellipse">
            <a:avLst/>
          </a:prstGeom>
          <a:solidFill>
            <a:srgbClr val="CC3300"/>
          </a:solidFill>
          <a:ln w="9525">
            <a:solidFill>
              <a:schemeClr val="tx1"/>
            </a:solidFill>
            <a:round/>
            <a:headEnd/>
            <a:tailEnd/>
          </a:ln>
        </p:spPr>
        <p:txBody>
          <a:bodyPr wrap="none" anchor="ctr"/>
          <a:lstStyle/>
          <a:p>
            <a:endParaRPr lang="sv-SE" sz="1013"/>
          </a:p>
        </p:txBody>
      </p:sp>
      <p:sp>
        <p:nvSpPr>
          <p:cNvPr id="22" name="Line 1029"/>
          <p:cNvSpPr>
            <a:spLocks noChangeShapeType="1"/>
          </p:cNvSpPr>
          <p:nvPr/>
        </p:nvSpPr>
        <p:spPr bwMode="auto">
          <a:xfrm flipH="1">
            <a:off x="4139952" y="1491630"/>
            <a:ext cx="486054" cy="1524725"/>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20" name="Text Box 1030"/>
          <p:cNvSpPr txBox="1">
            <a:spLocks noChangeArrowheads="1"/>
          </p:cNvSpPr>
          <p:nvPr/>
        </p:nvSpPr>
        <p:spPr bwMode="auto">
          <a:xfrm>
            <a:off x="3491880" y="1059582"/>
            <a:ext cx="1836204" cy="784830"/>
          </a:xfrm>
          <a:prstGeom prst="rect">
            <a:avLst/>
          </a:prstGeom>
          <a:solidFill>
            <a:schemeClr val="accent1"/>
          </a:solidFill>
          <a:ln w="9525">
            <a:solidFill>
              <a:schemeClr val="tx1"/>
            </a:solidFill>
            <a:miter lim="800000"/>
            <a:headEnd/>
            <a:tailEnd/>
          </a:ln>
          <a:effectLst>
            <a:outerShdw blurRad="88900" dist="63500" dir="2700000" algn="tl" rotWithShape="0">
              <a:srgbClr val="000000">
                <a:alpha val="43000"/>
              </a:srgbClr>
            </a:outerShdw>
          </a:effectLst>
        </p:spPr>
        <p:txBody>
          <a:bodyPr wrap="square">
            <a:spAutoFit/>
          </a:bodyPr>
          <a:lstStyle/>
          <a:p>
            <a:pPr>
              <a:defRPr/>
            </a:pPr>
            <a:r>
              <a:rPr lang="sv-SE" sz="1500" b="1" dirty="0">
                <a:effectLst>
                  <a:outerShdw blurRad="38100" dist="38100" dir="2700000" algn="tl">
                    <a:srgbClr val="C0C0C0"/>
                  </a:outerShdw>
                </a:effectLst>
                <a:latin typeface="Times New Roman" pitchFamily="18" charset="0"/>
              </a:rPr>
              <a:t>Max </a:t>
            </a:r>
            <a:r>
              <a:rPr lang="sv-SE" sz="1500" b="1" dirty="0" err="1">
                <a:effectLst>
                  <a:outerShdw blurRad="38100" dist="38100" dir="2700000" algn="tl">
                    <a:srgbClr val="C0C0C0"/>
                  </a:outerShdw>
                </a:effectLst>
                <a:latin typeface="Times New Roman" pitchFamily="18" charset="0"/>
              </a:rPr>
              <a:t>response</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time</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between</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reaching</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these</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two</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states</a:t>
            </a:r>
            <a:r>
              <a:rPr lang="sv-SE" sz="1500" b="1" dirty="0">
                <a:effectLst>
                  <a:outerShdw blurRad="38100" dist="38100" dir="2700000" algn="tl">
                    <a:srgbClr val="C0C0C0"/>
                  </a:outerShdw>
                </a:effectLst>
                <a:latin typeface="Times New Roman" pitchFamily="18" charset="0"/>
              </a:rPr>
              <a:t>?</a:t>
            </a:r>
          </a:p>
        </p:txBody>
      </p:sp>
      <p:sp>
        <p:nvSpPr>
          <p:cNvPr id="23" name="Oval 1028"/>
          <p:cNvSpPr>
            <a:spLocks noChangeArrowheads="1"/>
          </p:cNvSpPr>
          <p:nvPr/>
        </p:nvSpPr>
        <p:spPr bwMode="auto">
          <a:xfrm>
            <a:off x="3815916" y="3543858"/>
            <a:ext cx="171450" cy="171450"/>
          </a:xfrm>
          <a:prstGeom prst="ellipse">
            <a:avLst/>
          </a:prstGeom>
          <a:solidFill>
            <a:srgbClr val="CC3300"/>
          </a:solidFill>
          <a:ln w="9525">
            <a:solidFill>
              <a:schemeClr val="tx1"/>
            </a:solidFill>
            <a:round/>
            <a:headEnd/>
            <a:tailEnd/>
          </a:ln>
        </p:spPr>
        <p:txBody>
          <a:bodyPr wrap="none" anchor="ctr"/>
          <a:lstStyle/>
          <a:p>
            <a:endParaRPr lang="sv-SE" sz="1013"/>
          </a:p>
        </p:txBody>
      </p:sp>
      <p:sp>
        <p:nvSpPr>
          <p:cNvPr id="24" name="Line 1029"/>
          <p:cNvSpPr>
            <a:spLocks noChangeShapeType="1"/>
          </p:cNvSpPr>
          <p:nvPr/>
        </p:nvSpPr>
        <p:spPr bwMode="auto">
          <a:xfrm>
            <a:off x="3059832" y="3144645"/>
            <a:ext cx="810090" cy="453219"/>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25" name="Text Box 1030"/>
          <p:cNvSpPr txBox="1">
            <a:spLocks noChangeArrowheads="1"/>
          </p:cNvSpPr>
          <p:nvPr/>
        </p:nvSpPr>
        <p:spPr bwMode="auto">
          <a:xfrm>
            <a:off x="1223628" y="2787774"/>
            <a:ext cx="1944216" cy="553998"/>
          </a:xfrm>
          <a:prstGeom prst="rect">
            <a:avLst/>
          </a:prstGeom>
          <a:solidFill>
            <a:schemeClr val="accent1"/>
          </a:solidFill>
          <a:ln w="9525">
            <a:solidFill>
              <a:schemeClr val="tx1"/>
            </a:solidFill>
            <a:miter lim="800000"/>
            <a:headEnd/>
            <a:tailEnd/>
          </a:ln>
          <a:effectLst>
            <a:outerShdw blurRad="88900" dist="63500" dir="2700000" algn="tl" rotWithShape="0">
              <a:srgbClr val="000000">
                <a:alpha val="43000"/>
              </a:srgbClr>
            </a:outerShdw>
          </a:effectLst>
        </p:spPr>
        <p:txBody>
          <a:bodyPr wrap="square">
            <a:spAutoFit/>
          </a:bodyPr>
          <a:lstStyle/>
          <a:p>
            <a:pPr>
              <a:defRPr/>
            </a:pPr>
            <a:r>
              <a:rPr lang="sv-SE" sz="1500" b="1" dirty="0">
                <a:effectLst>
                  <a:outerShdw blurRad="38100" dist="38100" dir="2700000" algn="tl">
                    <a:srgbClr val="C0C0C0"/>
                  </a:outerShdw>
                </a:effectLst>
                <a:latin typeface="Times New Roman" pitchFamily="18" charset="0"/>
              </a:rPr>
              <a:t>Is </a:t>
            </a:r>
            <a:r>
              <a:rPr lang="sv-SE" sz="1500" b="1" dirty="0" err="1">
                <a:effectLst>
                  <a:outerShdw blurRad="38100" dist="38100" dir="2700000" algn="tl">
                    <a:srgbClr val="C0C0C0"/>
                  </a:outerShdw>
                </a:effectLst>
                <a:latin typeface="Times New Roman" pitchFamily="18" charset="0"/>
              </a:rPr>
              <a:t>this</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variable</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value</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always</a:t>
            </a:r>
            <a:r>
              <a:rPr lang="sv-SE" sz="1500" b="1" dirty="0">
                <a:effectLst>
                  <a:outerShdw blurRad="38100" dist="38100" dir="2700000" algn="tl">
                    <a:srgbClr val="C0C0C0"/>
                  </a:outerShdw>
                </a:effectLst>
                <a:latin typeface="Times New Roman" pitchFamily="18" charset="0"/>
              </a:rPr>
              <a:t> less </a:t>
            </a:r>
            <a:r>
              <a:rPr lang="sv-SE" sz="1500" b="1" dirty="0" err="1">
                <a:effectLst>
                  <a:outerShdw blurRad="38100" dist="38100" dir="2700000" algn="tl">
                    <a:srgbClr val="C0C0C0"/>
                  </a:outerShdw>
                </a:effectLst>
                <a:latin typeface="Times New Roman" pitchFamily="18" charset="0"/>
              </a:rPr>
              <a:t>than</a:t>
            </a:r>
            <a:r>
              <a:rPr lang="sv-SE" sz="1500" b="1" dirty="0">
                <a:effectLst>
                  <a:outerShdw blurRad="38100" dist="38100" dir="2700000" algn="tl">
                    <a:srgbClr val="C0C0C0"/>
                  </a:outerShdw>
                </a:effectLst>
                <a:latin typeface="Times New Roman" pitchFamily="18" charset="0"/>
              </a:rPr>
              <a:t> 64?</a:t>
            </a:r>
          </a:p>
        </p:txBody>
      </p:sp>
      <p:sp>
        <p:nvSpPr>
          <p:cNvPr id="26" name="Oval 1028"/>
          <p:cNvSpPr>
            <a:spLocks noChangeArrowheads="1"/>
          </p:cNvSpPr>
          <p:nvPr/>
        </p:nvSpPr>
        <p:spPr bwMode="auto">
          <a:xfrm>
            <a:off x="7380312" y="3975906"/>
            <a:ext cx="171450" cy="171450"/>
          </a:xfrm>
          <a:prstGeom prst="ellipse">
            <a:avLst/>
          </a:prstGeom>
          <a:solidFill>
            <a:srgbClr val="CC3300"/>
          </a:solidFill>
          <a:ln w="9525">
            <a:solidFill>
              <a:schemeClr val="tx1"/>
            </a:solidFill>
            <a:round/>
            <a:headEnd/>
            <a:tailEnd/>
          </a:ln>
        </p:spPr>
        <p:txBody>
          <a:bodyPr wrap="none" anchor="ctr"/>
          <a:lstStyle/>
          <a:p>
            <a:endParaRPr lang="sv-SE" sz="1013"/>
          </a:p>
        </p:txBody>
      </p:sp>
      <p:sp>
        <p:nvSpPr>
          <p:cNvPr id="27" name="Line 1029"/>
          <p:cNvSpPr>
            <a:spLocks noChangeShapeType="1"/>
          </p:cNvSpPr>
          <p:nvPr/>
        </p:nvSpPr>
        <p:spPr bwMode="auto">
          <a:xfrm>
            <a:off x="6983016" y="3004051"/>
            <a:ext cx="451302" cy="971855"/>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28" name="Text Box 1030"/>
          <p:cNvSpPr txBox="1">
            <a:spLocks noChangeArrowheads="1"/>
          </p:cNvSpPr>
          <p:nvPr/>
        </p:nvSpPr>
        <p:spPr bwMode="auto">
          <a:xfrm>
            <a:off x="6354198" y="2517744"/>
            <a:ext cx="1566174" cy="784830"/>
          </a:xfrm>
          <a:prstGeom prst="rect">
            <a:avLst/>
          </a:prstGeom>
          <a:solidFill>
            <a:schemeClr val="accent1"/>
          </a:solidFill>
          <a:ln w="9525">
            <a:solidFill>
              <a:schemeClr val="tx1"/>
            </a:solidFill>
            <a:miter lim="800000"/>
            <a:headEnd/>
            <a:tailEnd/>
          </a:ln>
          <a:effectLst>
            <a:outerShdw blurRad="88900" dist="63500" dir="2700000" algn="tl" rotWithShape="0">
              <a:srgbClr val="000000">
                <a:alpha val="43000"/>
              </a:srgbClr>
            </a:outerShdw>
          </a:effectLst>
        </p:spPr>
        <p:txBody>
          <a:bodyPr wrap="square">
            <a:spAutoFit/>
          </a:bodyPr>
          <a:lstStyle/>
          <a:p>
            <a:pPr>
              <a:defRPr/>
            </a:pPr>
            <a:r>
              <a:rPr lang="sv-SE" sz="1500" b="1" dirty="0">
                <a:effectLst>
                  <a:outerShdw blurRad="38100" dist="38100" dir="2700000" algn="tl">
                    <a:srgbClr val="C0C0C0"/>
                  </a:outerShdw>
                </a:effectLst>
                <a:latin typeface="Times New Roman" pitchFamily="18" charset="0"/>
              </a:rPr>
              <a:t>Is the system </a:t>
            </a:r>
            <a:r>
              <a:rPr lang="sv-SE" sz="1500" b="1" dirty="0" err="1">
                <a:effectLst>
                  <a:outerShdw blurRad="38100" dist="38100" dir="2700000" algn="tl">
                    <a:srgbClr val="C0C0C0"/>
                  </a:outerShdw>
                </a:effectLst>
                <a:latin typeface="Times New Roman" pitchFamily="18" charset="0"/>
              </a:rPr>
              <a:t>guaranteed</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to</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reach</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this</a:t>
            </a:r>
            <a:r>
              <a:rPr lang="sv-SE" sz="1500" b="1" dirty="0">
                <a:effectLst>
                  <a:outerShdw blurRad="38100" dist="38100" dir="2700000" algn="tl">
                    <a:srgbClr val="C0C0C0"/>
                  </a:outerShdw>
                </a:effectLst>
                <a:latin typeface="Times New Roman" pitchFamily="18" charset="0"/>
              </a:rPr>
              <a:t> </a:t>
            </a:r>
            <a:r>
              <a:rPr lang="sv-SE" sz="1500" b="1" dirty="0" err="1">
                <a:effectLst>
                  <a:outerShdw blurRad="38100" dist="38100" dir="2700000" algn="tl">
                    <a:srgbClr val="C0C0C0"/>
                  </a:outerShdw>
                </a:effectLst>
                <a:latin typeface="Times New Roman" pitchFamily="18" charset="0"/>
              </a:rPr>
              <a:t>state</a:t>
            </a:r>
            <a:r>
              <a:rPr lang="sv-SE" sz="1500" b="1" dirty="0">
                <a:effectLst>
                  <a:outerShdw blurRad="38100" dist="38100" dir="2700000" algn="tl">
                    <a:srgbClr val="C0C0C0"/>
                  </a:outerShdw>
                </a:effectLst>
                <a:latin typeface="Times New Roman" pitchFamily="18" charset="0"/>
              </a:rPr>
              <a:t>?</a:t>
            </a:r>
          </a:p>
        </p:txBody>
      </p:sp>
    </p:spTree>
    <p:extLst>
      <p:ext uri="{BB962C8B-B14F-4D97-AF65-F5344CB8AC3E}">
        <p14:creationId xmlns:p14="http://schemas.microsoft.com/office/powerpoint/2010/main" val="9328533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0-#ppt_w/2"/>
                                          </p:val>
                                        </p:tav>
                                        <p:tav tm="100000">
                                          <p:val>
                                            <p:strVal val="#ppt_x"/>
                                          </p:val>
                                        </p:tav>
                                      </p:tavLst>
                                    </p:anim>
                                    <p:anim calcmode="lin" valueType="num">
                                      <p:cBhvr additive="base">
                                        <p:cTn id="3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0-#ppt_w/2"/>
                                          </p:val>
                                        </p:tav>
                                        <p:tav tm="100000">
                                          <p:val>
                                            <p:strVal val="#ppt_x"/>
                                          </p:val>
                                        </p:tav>
                                      </p:tavLst>
                                    </p:anim>
                                    <p:anim calcmode="lin" valueType="num">
                                      <p:cBhvr additive="base">
                                        <p:cTn id="36" dur="500" fill="hold"/>
                                        <p:tgtEl>
                                          <p:spTgt spid="18"/>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0-#ppt_w/2"/>
                                          </p:val>
                                        </p:tav>
                                        <p:tav tm="100000">
                                          <p:val>
                                            <p:strVal val="#ppt_x"/>
                                          </p:val>
                                        </p:tav>
                                      </p:tavLst>
                                    </p:anim>
                                    <p:anim calcmode="lin" valueType="num">
                                      <p:cBhvr additive="base">
                                        <p:cTn id="40" dur="500" fill="hold"/>
                                        <p:tgtEl>
                                          <p:spTgt spid="19"/>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0-#ppt_w/2"/>
                                          </p:val>
                                        </p:tav>
                                        <p:tav tm="100000">
                                          <p:val>
                                            <p:strVal val="#ppt_x"/>
                                          </p:val>
                                        </p:tav>
                                      </p:tavLst>
                                    </p:anim>
                                    <p:anim calcmode="lin" valueType="num">
                                      <p:cBhvr additive="base">
                                        <p:cTn id="44" dur="500" fill="hold"/>
                                        <p:tgtEl>
                                          <p:spTgt spid="20"/>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0-#ppt_w/2"/>
                                          </p:val>
                                        </p:tav>
                                        <p:tav tm="100000">
                                          <p:val>
                                            <p:strVal val="#ppt_x"/>
                                          </p:val>
                                        </p:tav>
                                      </p:tavLst>
                                    </p:anim>
                                    <p:anim calcmode="lin" valueType="num">
                                      <p:cBhvr additive="base">
                                        <p:cTn id="48" dur="500" fill="hold"/>
                                        <p:tgtEl>
                                          <p:spTgt spid="21"/>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0-#ppt_w/2"/>
                                          </p:val>
                                        </p:tav>
                                        <p:tav tm="100000">
                                          <p:val>
                                            <p:strVal val="#ppt_x"/>
                                          </p:val>
                                        </p:tav>
                                      </p:tavLst>
                                    </p:anim>
                                    <p:anim calcmode="lin" valueType="num">
                                      <p:cBhvr additive="base">
                                        <p:cTn id="52"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0-#ppt_w/2"/>
                                          </p:val>
                                        </p:tav>
                                        <p:tav tm="100000">
                                          <p:val>
                                            <p:strVal val="#ppt_x"/>
                                          </p:val>
                                        </p:tav>
                                      </p:tavLst>
                                    </p:anim>
                                    <p:anim calcmode="lin" valueType="num">
                                      <p:cBhvr additive="base">
                                        <p:cTn id="58" dur="500" fill="hold"/>
                                        <p:tgtEl>
                                          <p:spTgt spid="23"/>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0-#ppt_w/2"/>
                                          </p:val>
                                        </p:tav>
                                        <p:tav tm="100000">
                                          <p:val>
                                            <p:strVal val="#ppt_x"/>
                                          </p:val>
                                        </p:tav>
                                      </p:tavLst>
                                    </p:anim>
                                    <p:anim calcmode="lin" valueType="num">
                                      <p:cBhvr additive="base">
                                        <p:cTn id="62" dur="500" fill="hold"/>
                                        <p:tgtEl>
                                          <p:spTgt spid="24"/>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fill="hold"/>
                                        <p:tgtEl>
                                          <p:spTgt spid="25"/>
                                        </p:tgtEl>
                                        <p:attrNameLst>
                                          <p:attrName>ppt_x</p:attrName>
                                        </p:attrNameLst>
                                      </p:cBhvr>
                                      <p:tavLst>
                                        <p:tav tm="0">
                                          <p:val>
                                            <p:strVal val="0-#ppt_w/2"/>
                                          </p:val>
                                        </p:tav>
                                        <p:tav tm="100000">
                                          <p:val>
                                            <p:strVal val="#ppt_x"/>
                                          </p:val>
                                        </p:tav>
                                      </p:tavLst>
                                    </p:anim>
                                    <p:anim calcmode="lin" valueType="num">
                                      <p:cBhvr additive="base">
                                        <p:cTn id="66"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500" fill="hold"/>
                                        <p:tgtEl>
                                          <p:spTgt spid="26"/>
                                        </p:tgtEl>
                                        <p:attrNameLst>
                                          <p:attrName>ppt_x</p:attrName>
                                        </p:attrNameLst>
                                      </p:cBhvr>
                                      <p:tavLst>
                                        <p:tav tm="0">
                                          <p:val>
                                            <p:strVal val="0-#ppt_w/2"/>
                                          </p:val>
                                        </p:tav>
                                        <p:tav tm="100000">
                                          <p:val>
                                            <p:strVal val="#ppt_x"/>
                                          </p:val>
                                        </p:tav>
                                      </p:tavLst>
                                    </p:anim>
                                    <p:anim calcmode="lin" valueType="num">
                                      <p:cBhvr additive="base">
                                        <p:cTn id="72" dur="500" fill="hold"/>
                                        <p:tgtEl>
                                          <p:spTgt spid="26"/>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 calcmode="lin" valueType="num">
                                      <p:cBhvr additive="base">
                                        <p:cTn id="75" dur="500" fill="hold"/>
                                        <p:tgtEl>
                                          <p:spTgt spid="27"/>
                                        </p:tgtEl>
                                        <p:attrNameLst>
                                          <p:attrName>ppt_x</p:attrName>
                                        </p:attrNameLst>
                                      </p:cBhvr>
                                      <p:tavLst>
                                        <p:tav tm="0">
                                          <p:val>
                                            <p:strVal val="0-#ppt_w/2"/>
                                          </p:val>
                                        </p:tav>
                                        <p:tav tm="100000">
                                          <p:val>
                                            <p:strVal val="#ppt_x"/>
                                          </p:val>
                                        </p:tav>
                                      </p:tavLst>
                                    </p:anim>
                                    <p:anim calcmode="lin" valueType="num">
                                      <p:cBhvr additive="base">
                                        <p:cTn id="76" dur="500" fill="hold"/>
                                        <p:tgtEl>
                                          <p:spTgt spid="27"/>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 calcmode="lin" valueType="num">
                                      <p:cBhvr additive="base">
                                        <p:cTn id="79" dur="500" fill="hold"/>
                                        <p:tgtEl>
                                          <p:spTgt spid="28"/>
                                        </p:tgtEl>
                                        <p:attrNameLst>
                                          <p:attrName>ppt_x</p:attrName>
                                        </p:attrNameLst>
                                      </p:cBhvr>
                                      <p:tavLst>
                                        <p:tav tm="0">
                                          <p:val>
                                            <p:strVal val="0-#ppt_w/2"/>
                                          </p:val>
                                        </p:tav>
                                        <p:tav tm="100000">
                                          <p:val>
                                            <p:strVal val="#ppt_x"/>
                                          </p:val>
                                        </p:tav>
                                      </p:tavLst>
                                    </p:anim>
                                    <p:anim calcmode="lin" valueType="num">
                                      <p:cBhvr additive="base">
                                        <p:cTn id="80"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autoUpdateAnimBg="0"/>
      <p:bldP spid="15" grpId="0" animBg="1"/>
      <p:bldP spid="16" grpId="0" animBg="1"/>
      <p:bldP spid="17" grpId="0" animBg="1" autoUpdateAnimBg="0"/>
      <p:bldP spid="18" grpId="0" animBg="1"/>
      <p:bldP spid="19" grpId="0" animBg="1"/>
      <p:bldP spid="21" grpId="0" animBg="1"/>
      <p:bldP spid="22" grpId="0" animBg="1"/>
      <p:bldP spid="20" grpId="0" animBg="1" autoUpdateAnimBg="0"/>
      <p:bldP spid="23" grpId="0" animBg="1"/>
      <p:bldP spid="24" grpId="0" animBg="1"/>
      <p:bldP spid="25" grpId="0" animBg="1" autoUpdateAnimBg="0"/>
      <p:bldP spid="26" grpId="0" animBg="1"/>
      <p:bldP spid="27" grpId="0" animBg="1"/>
      <p:bldP spid="2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817726" y="639443"/>
            <a:ext cx="7266425" cy="885180"/>
          </a:xfrm>
        </p:spPr>
        <p:txBody>
          <a:bodyPr/>
          <a:lstStyle/>
          <a:p>
            <a:pPr eaLnBrk="1" hangingPunct="1"/>
            <a:r>
              <a:rPr lang="en-GB" b="1" dirty="0">
                <a:latin typeface="Arial" charset="0"/>
              </a:rPr>
              <a:t>Example: Light Control</a:t>
            </a:r>
          </a:p>
        </p:txBody>
      </p:sp>
      <p:sp>
        <p:nvSpPr>
          <p:cNvPr id="33794" name="Text Box 3"/>
          <p:cNvSpPr txBox="1">
            <a:spLocks noChangeArrowheads="1"/>
          </p:cNvSpPr>
          <p:nvPr/>
        </p:nvSpPr>
        <p:spPr bwMode="auto">
          <a:xfrm>
            <a:off x="2087166" y="3511154"/>
            <a:ext cx="4950458"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800" b="1">
                <a:solidFill>
                  <a:schemeClr val="folHlink"/>
                </a:solidFill>
                <a:latin typeface="Tahoma" charset="0"/>
              </a:rPr>
              <a:t>Wanted Behaviour:</a:t>
            </a:r>
            <a:r>
              <a:rPr lang="en-GB" sz="1800">
                <a:latin typeface="Tahoma" charset="0"/>
              </a:rPr>
              <a:t>  </a:t>
            </a:r>
          </a:p>
          <a:p>
            <a:pPr>
              <a:buFontTx/>
              <a:buChar char="•"/>
            </a:pPr>
            <a:r>
              <a:rPr lang="en-GB" sz="1800">
                <a:latin typeface="Tahoma" charset="0"/>
              </a:rPr>
              <a:t> </a:t>
            </a:r>
            <a:r>
              <a:rPr lang="en-GB" sz="1800">
                <a:solidFill>
                  <a:schemeClr val="folHlink"/>
                </a:solidFill>
                <a:latin typeface="Tahoma" charset="0"/>
              </a:rPr>
              <a:t>pressed</a:t>
            </a:r>
            <a:r>
              <a:rPr lang="en-GB" sz="1800">
                <a:latin typeface="Tahoma" charset="0"/>
              </a:rPr>
              <a:t> once = </a:t>
            </a:r>
            <a:r>
              <a:rPr lang="en-GB" sz="1800">
                <a:solidFill>
                  <a:schemeClr val="hlink"/>
                </a:solidFill>
              </a:rPr>
              <a:t>light</a:t>
            </a:r>
            <a:r>
              <a:rPr lang="en-GB" sz="1800"/>
              <a:t> </a:t>
            </a:r>
            <a:endParaRPr lang="en-GB" sz="1800">
              <a:latin typeface="Tahoma" charset="0"/>
            </a:endParaRPr>
          </a:p>
          <a:p>
            <a:pPr>
              <a:buFontTx/>
              <a:buChar char="•"/>
            </a:pPr>
            <a:r>
              <a:rPr lang="en-GB" sz="1800">
                <a:latin typeface="Tahoma" charset="0"/>
              </a:rPr>
              <a:t> </a:t>
            </a:r>
            <a:r>
              <a:rPr lang="en-GB" sz="1800">
                <a:solidFill>
                  <a:schemeClr val="folHlink"/>
                </a:solidFill>
                <a:latin typeface="Tahoma" charset="0"/>
              </a:rPr>
              <a:t>pressed</a:t>
            </a:r>
            <a:r>
              <a:rPr lang="en-GB" sz="1800">
                <a:latin typeface="Tahoma" charset="0"/>
              </a:rPr>
              <a:t> twice </a:t>
            </a:r>
            <a:r>
              <a:rPr lang="en-GB" sz="1800">
                <a:solidFill>
                  <a:srgbClr val="FF0000"/>
                </a:solidFill>
                <a:latin typeface="Tahoma" charset="0"/>
              </a:rPr>
              <a:t>quickly </a:t>
            </a:r>
            <a:r>
              <a:rPr lang="en-GB" sz="1800">
                <a:latin typeface="Tahoma" charset="0"/>
              </a:rPr>
              <a:t>= </a:t>
            </a:r>
            <a:r>
              <a:rPr lang="en-GB" sz="1800">
                <a:solidFill>
                  <a:schemeClr val="hlink"/>
                </a:solidFill>
                <a:latin typeface="Tahoma" charset="0"/>
              </a:rPr>
              <a:t>light</a:t>
            </a:r>
            <a:r>
              <a:rPr lang="en-GB" sz="1800">
                <a:latin typeface="Tahoma" charset="0"/>
              </a:rPr>
              <a:t> will get </a:t>
            </a:r>
            <a:r>
              <a:rPr lang="en-GB" sz="1800">
                <a:solidFill>
                  <a:schemeClr val="hlink"/>
                </a:solidFill>
                <a:latin typeface="Tahoma" charset="0"/>
              </a:rPr>
              <a:t>brighter</a:t>
            </a:r>
            <a:endParaRPr lang="en-GB" sz="1800">
              <a:latin typeface="Tahoma" charset="0"/>
            </a:endParaRPr>
          </a:p>
          <a:p>
            <a:pPr>
              <a:buFontTx/>
              <a:buChar char="•"/>
            </a:pPr>
            <a:r>
              <a:rPr lang="en-GB" sz="1800">
                <a:latin typeface="Tahoma" charset="0"/>
              </a:rPr>
              <a:t> </a:t>
            </a:r>
            <a:r>
              <a:rPr lang="en-GB" sz="1800">
                <a:solidFill>
                  <a:schemeClr val="folHlink"/>
                </a:solidFill>
                <a:latin typeface="Tahoma" charset="0"/>
              </a:rPr>
              <a:t>pressed</a:t>
            </a:r>
            <a:r>
              <a:rPr lang="en-GB" sz="1800">
                <a:latin typeface="Tahoma" charset="0"/>
              </a:rPr>
              <a:t> again = light </a:t>
            </a:r>
            <a:r>
              <a:rPr lang="en-GB" sz="1800">
                <a:solidFill>
                  <a:schemeClr val="hlink"/>
                </a:solidFill>
                <a:latin typeface="Tahoma" charset="0"/>
              </a:rPr>
              <a:t>off.</a:t>
            </a:r>
          </a:p>
        </p:txBody>
      </p:sp>
      <p:sp>
        <p:nvSpPr>
          <p:cNvPr id="2" name="TextBox 1"/>
          <p:cNvSpPr txBox="1"/>
          <p:nvPr/>
        </p:nvSpPr>
        <p:spPr>
          <a:xfrm>
            <a:off x="4085947" y="1491630"/>
            <a:ext cx="601447" cy="1200329"/>
          </a:xfrm>
          <a:prstGeom prst="rect">
            <a:avLst/>
          </a:prstGeom>
          <a:noFill/>
        </p:spPr>
        <p:txBody>
          <a:bodyPr wrap="none" rtlCol="0">
            <a:spAutoFit/>
          </a:bodyPr>
          <a:lstStyle/>
          <a:p>
            <a:r>
              <a:rPr lang="en-US" sz="7200" b="1"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ubrik 1"/>
          <p:cNvSpPr>
            <a:spLocks noGrp="1"/>
          </p:cNvSpPr>
          <p:nvPr>
            <p:ph type="title"/>
          </p:nvPr>
        </p:nvSpPr>
        <p:spPr bwMode="auto">
          <a:xfrm>
            <a:off x="1709681" y="590583"/>
            <a:ext cx="4420791" cy="502444"/>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numCol="1" compatLnSpc="1">
            <a:prstTxWarp prst="textNoShape">
              <a:avLst/>
            </a:prstTxWarp>
            <a:normAutofit fontScale="90000"/>
          </a:bodyPr>
          <a:lstStyle/>
          <a:p>
            <a:r>
              <a:rPr lang="en-US" sz="3300" b="1" dirty="0">
                <a:latin typeface="Arial" charset="0"/>
                <a:ea typeface="ヒラギノ角ゴ ProN W3" charset="0"/>
              </a:rPr>
              <a:t>Finite state automata</a:t>
            </a:r>
          </a:p>
        </p:txBody>
      </p:sp>
      <p:sp>
        <p:nvSpPr>
          <p:cNvPr id="3" name="Platshållare för innehåll 2"/>
          <p:cNvSpPr>
            <a:spLocks noGrp="1"/>
          </p:cNvSpPr>
          <p:nvPr>
            <p:ph sz="quarter" idx="10"/>
          </p:nvPr>
        </p:nvSpPr>
        <p:spPr bwMode="auto">
          <a:xfrm>
            <a:off x="1709681" y="1361643"/>
            <a:ext cx="4420791" cy="1572057"/>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buClr>
                <a:schemeClr val="tx1"/>
              </a:buClr>
              <a:buFont typeface="Arial" charset="0"/>
              <a:buChar char="•"/>
            </a:pPr>
            <a:r>
              <a:rPr lang="en-US" sz="2100" dirty="0">
                <a:latin typeface="Tahoma" charset="0"/>
                <a:ea typeface="Tahoma" charset="0"/>
                <a:cs typeface="Tahoma" charset="0"/>
              </a:rPr>
              <a:t> Finite state graph, with:</a:t>
            </a:r>
          </a:p>
          <a:p>
            <a:pPr lvl="1">
              <a:buClr>
                <a:schemeClr val="tx1"/>
              </a:buClr>
              <a:buFont typeface="Arial" charset="0"/>
              <a:buChar char="•"/>
            </a:pPr>
            <a:r>
              <a:rPr lang="en-US" sz="2100" dirty="0">
                <a:latin typeface="Tahoma" charset="0"/>
                <a:ea typeface="Tahoma" charset="0"/>
                <a:cs typeface="Tahoma" charset="0"/>
              </a:rPr>
              <a:t>Set of nodes (states),</a:t>
            </a:r>
          </a:p>
          <a:p>
            <a:pPr lvl="1">
              <a:buClr>
                <a:schemeClr val="tx1"/>
              </a:buClr>
              <a:buFont typeface="Arial" charset="0"/>
              <a:buChar char="•"/>
            </a:pPr>
            <a:r>
              <a:rPr lang="en-US" sz="2100" dirty="0">
                <a:latin typeface="Tahoma" charset="0"/>
                <a:ea typeface="Tahoma" charset="0"/>
                <a:cs typeface="Tahoma" charset="0"/>
              </a:rPr>
              <a:t>Set of edges (transitions),</a:t>
            </a:r>
          </a:p>
          <a:p>
            <a:pPr lvl="1">
              <a:buClr>
                <a:schemeClr val="tx1"/>
              </a:buClr>
              <a:buFont typeface="Arial" charset="0"/>
              <a:buChar char="•"/>
            </a:pPr>
            <a:r>
              <a:rPr lang="en-US" sz="2100" dirty="0">
                <a:latin typeface="Tahoma" charset="0"/>
                <a:ea typeface="Tahoma" charset="0"/>
                <a:cs typeface="Tahoma" charset="0"/>
              </a:rPr>
              <a:t>Set of labels (actions).</a:t>
            </a:r>
          </a:p>
        </p:txBody>
      </p:sp>
      <p:sp>
        <p:nvSpPr>
          <p:cNvPr id="23555" name="Platshållare för bildnummer 3"/>
          <p:cNvSpPr>
            <a:spLocks noGrp="1"/>
          </p:cNvSpPr>
          <p:nvPr>
            <p:ph type="sldNum" sz="quarter" idx="1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250">
                <a:solidFill>
                  <a:srgbClr val="FFFFFF"/>
                </a:solidFill>
                <a:latin typeface="Gill Sans" charset="0"/>
                <a:ea typeface="ヒラギノ角ゴ ProN W3" charset="0"/>
                <a:cs typeface="ヒラギノ角ゴ ProN W3" charset="0"/>
                <a:sym typeface="Gill Sans" charset="0"/>
              </a:defRPr>
            </a:lvl1pPr>
            <a:lvl2pPr marL="557213" indent="-214313" eaLnBrk="0" hangingPunct="0">
              <a:defRPr sz="2250">
                <a:solidFill>
                  <a:srgbClr val="FFFFFF"/>
                </a:solidFill>
                <a:latin typeface="Gill Sans" charset="0"/>
                <a:ea typeface="ヒラギノ角ゴ ProN W3" charset="0"/>
                <a:cs typeface="ヒラギノ角ゴ ProN W3" charset="0"/>
                <a:sym typeface="Gill Sans" charset="0"/>
              </a:defRPr>
            </a:lvl2pPr>
            <a:lvl3pPr marL="857250" indent="-171450" eaLnBrk="0" hangingPunct="0">
              <a:defRPr sz="2250">
                <a:solidFill>
                  <a:srgbClr val="FFFFFF"/>
                </a:solidFill>
                <a:latin typeface="Gill Sans" charset="0"/>
                <a:ea typeface="ヒラギノ角ゴ ProN W3" charset="0"/>
                <a:cs typeface="ヒラギノ角ゴ ProN W3" charset="0"/>
                <a:sym typeface="Gill Sans" charset="0"/>
              </a:defRPr>
            </a:lvl3pPr>
            <a:lvl4pPr marL="1200150" indent="-171450" eaLnBrk="0" hangingPunct="0">
              <a:defRPr sz="2250">
                <a:solidFill>
                  <a:srgbClr val="FFFFFF"/>
                </a:solidFill>
                <a:latin typeface="Gill Sans" charset="0"/>
                <a:ea typeface="ヒラギノ角ゴ ProN W3" charset="0"/>
                <a:cs typeface="ヒラギノ角ゴ ProN W3" charset="0"/>
                <a:sym typeface="Gill Sans" charset="0"/>
              </a:defRPr>
            </a:lvl4pPr>
            <a:lvl5pPr marL="1543050" indent="-171450" eaLnBrk="0" hangingPunct="0">
              <a:defRPr sz="2250">
                <a:solidFill>
                  <a:srgbClr val="FFFFFF"/>
                </a:solidFill>
                <a:latin typeface="Gill Sans" charset="0"/>
                <a:ea typeface="ヒラギノ角ゴ ProN W3" charset="0"/>
                <a:cs typeface="ヒラギノ角ゴ ProN W3" charset="0"/>
                <a:sym typeface="Gill Sans" charset="0"/>
              </a:defRPr>
            </a:lvl5pPr>
            <a:lvl6pPr marL="1885950" indent="-171450" eaLnBrk="0" fontAlgn="base" hangingPunct="0">
              <a:spcBef>
                <a:spcPct val="0"/>
              </a:spcBef>
              <a:spcAft>
                <a:spcPct val="0"/>
              </a:spcAft>
              <a:defRPr sz="2250">
                <a:solidFill>
                  <a:srgbClr val="FFFFFF"/>
                </a:solidFill>
                <a:latin typeface="Gill Sans" charset="0"/>
                <a:ea typeface="ヒラギノ角ゴ ProN W3" charset="0"/>
                <a:cs typeface="ヒラギノ角ゴ ProN W3" charset="0"/>
                <a:sym typeface="Gill Sans" charset="0"/>
              </a:defRPr>
            </a:lvl6pPr>
            <a:lvl7pPr marL="2228850" indent="-171450" eaLnBrk="0" fontAlgn="base" hangingPunct="0">
              <a:spcBef>
                <a:spcPct val="0"/>
              </a:spcBef>
              <a:spcAft>
                <a:spcPct val="0"/>
              </a:spcAft>
              <a:defRPr sz="2250">
                <a:solidFill>
                  <a:srgbClr val="FFFFFF"/>
                </a:solidFill>
                <a:latin typeface="Gill Sans" charset="0"/>
                <a:ea typeface="ヒラギノ角ゴ ProN W3" charset="0"/>
                <a:cs typeface="ヒラギノ角ゴ ProN W3" charset="0"/>
                <a:sym typeface="Gill Sans" charset="0"/>
              </a:defRPr>
            </a:lvl7pPr>
            <a:lvl8pPr marL="2571750" indent="-171450" eaLnBrk="0" fontAlgn="base" hangingPunct="0">
              <a:spcBef>
                <a:spcPct val="0"/>
              </a:spcBef>
              <a:spcAft>
                <a:spcPct val="0"/>
              </a:spcAft>
              <a:defRPr sz="2250">
                <a:solidFill>
                  <a:srgbClr val="FFFFFF"/>
                </a:solidFill>
                <a:latin typeface="Gill Sans" charset="0"/>
                <a:ea typeface="ヒラギノ角ゴ ProN W3" charset="0"/>
                <a:cs typeface="ヒラギノ角ゴ ProN W3" charset="0"/>
                <a:sym typeface="Gill Sans" charset="0"/>
              </a:defRPr>
            </a:lvl8pPr>
            <a:lvl9pPr marL="2914650" indent="-171450" eaLnBrk="0" fontAlgn="base" hangingPunct="0">
              <a:spcBef>
                <a:spcPct val="0"/>
              </a:spcBef>
              <a:spcAft>
                <a:spcPct val="0"/>
              </a:spcAft>
              <a:defRPr sz="2250">
                <a:solidFill>
                  <a:srgbClr val="FFFFFF"/>
                </a:solidFill>
                <a:latin typeface="Gill Sans" charset="0"/>
                <a:ea typeface="ヒラギノ角ゴ ProN W3" charset="0"/>
                <a:cs typeface="ヒラギノ角ゴ ProN W3" charset="0"/>
                <a:sym typeface="Gill Sans" charset="0"/>
              </a:defRPr>
            </a:lvl9pPr>
          </a:lstStyle>
          <a:p>
            <a:pPr eaLnBrk="1" hangingPunct="1"/>
            <a:fld id="{9D034D41-C98C-D743-A5CB-738E82F974E1}" type="slidenum">
              <a:rPr lang="en-US" sz="1050">
                <a:solidFill>
                  <a:srgbClr val="404040"/>
                </a:solidFill>
                <a:latin typeface="Georgia" charset="0"/>
                <a:cs typeface="Georgia" charset="0"/>
              </a:rPr>
              <a:pPr eaLnBrk="1" hangingPunct="1"/>
              <a:t>18</a:t>
            </a:fld>
            <a:endParaRPr lang="en-US" sz="1050">
              <a:solidFill>
                <a:srgbClr val="404040"/>
              </a:solidFill>
              <a:latin typeface="Georgia" charset="0"/>
              <a:cs typeface="Georgia" charset="0"/>
            </a:endParaRPr>
          </a:p>
        </p:txBody>
      </p:sp>
      <p:sp>
        <p:nvSpPr>
          <p:cNvPr id="2" name="Oval 1">
            <a:extLst>
              <a:ext uri="{FF2B5EF4-FFF2-40B4-BE49-F238E27FC236}">
                <a16:creationId xmlns:a16="http://schemas.microsoft.com/office/drawing/2014/main" id="{65718750-2DDD-74BA-C465-1AC24909FCB6}"/>
              </a:ext>
            </a:extLst>
          </p:cNvPr>
          <p:cNvSpPr/>
          <p:nvPr/>
        </p:nvSpPr>
        <p:spPr>
          <a:xfrm>
            <a:off x="2286000" y="3378472"/>
            <a:ext cx="609600" cy="5867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On</a:t>
            </a:r>
          </a:p>
        </p:txBody>
      </p:sp>
      <p:sp>
        <p:nvSpPr>
          <p:cNvPr id="4" name="Oval 3">
            <a:extLst>
              <a:ext uri="{FF2B5EF4-FFF2-40B4-BE49-F238E27FC236}">
                <a16:creationId xmlns:a16="http://schemas.microsoft.com/office/drawing/2014/main" id="{FAFF67CA-FA23-47DA-FBE9-86468852E7C1}"/>
              </a:ext>
            </a:extLst>
          </p:cNvPr>
          <p:cNvSpPr/>
          <p:nvPr/>
        </p:nvSpPr>
        <p:spPr>
          <a:xfrm>
            <a:off x="5105400" y="3378472"/>
            <a:ext cx="609600" cy="5867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Off</a:t>
            </a:r>
          </a:p>
        </p:txBody>
      </p:sp>
      <p:sp>
        <p:nvSpPr>
          <p:cNvPr id="5" name="Freeform: Shape 4">
            <a:extLst>
              <a:ext uri="{FF2B5EF4-FFF2-40B4-BE49-F238E27FC236}">
                <a16:creationId xmlns:a16="http://schemas.microsoft.com/office/drawing/2014/main" id="{7D909991-B4A4-81D5-41C0-B0023723B649}"/>
              </a:ext>
            </a:extLst>
          </p:cNvPr>
          <p:cNvSpPr/>
          <p:nvPr/>
        </p:nvSpPr>
        <p:spPr>
          <a:xfrm>
            <a:off x="2720340" y="3202316"/>
            <a:ext cx="2415540" cy="320936"/>
          </a:xfrm>
          <a:custGeom>
            <a:avLst/>
            <a:gdLst>
              <a:gd name="connsiteX0" fmla="*/ 0 w 2415540"/>
              <a:gd name="connsiteY0" fmla="*/ 199016 h 320936"/>
              <a:gd name="connsiteX1" fmla="*/ 274320 w 2415540"/>
              <a:gd name="connsiteY1" fmla="*/ 54236 h 320936"/>
              <a:gd name="connsiteX2" fmla="*/ 624840 w 2415540"/>
              <a:gd name="connsiteY2" fmla="*/ 896 h 320936"/>
              <a:gd name="connsiteX3" fmla="*/ 1371600 w 2415540"/>
              <a:gd name="connsiteY3" fmla="*/ 46616 h 320936"/>
              <a:gd name="connsiteX4" fmla="*/ 2415540 w 2415540"/>
              <a:gd name="connsiteY4" fmla="*/ 320936 h 320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540" h="320936">
                <a:moveTo>
                  <a:pt x="0" y="199016"/>
                </a:moveTo>
                <a:cubicBezTo>
                  <a:pt x="85090" y="143136"/>
                  <a:pt x="170180" y="87256"/>
                  <a:pt x="274320" y="54236"/>
                </a:cubicBezTo>
                <a:cubicBezTo>
                  <a:pt x="378460" y="21216"/>
                  <a:pt x="441960" y="2166"/>
                  <a:pt x="624840" y="896"/>
                </a:cubicBezTo>
                <a:cubicBezTo>
                  <a:pt x="807720" y="-374"/>
                  <a:pt x="1073150" y="-6724"/>
                  <a:pt x="1371600" y="46616"/>
                </a:cubicBezTo>
                <a:cubicBezTo>
                  <a:pt x="1670050" y="99956"/>
                  <a:pt x="2042795" y="210446"/>
                  <a:pt x="2415540" y="320936"/>
                </a:cubicBezTo>
              </a:path>
            </a:pathLst>
          </a:cu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Freeform: Shape 5">
            <a:extLst>
              <a:ext uri="{FF2B5EF4-FFF2-40B4-BE49-F238E27FC236}">
                <a16:creationId xmlns:a16="http://schemas.microsoft.com/office/drawing/2014/main" id="{BAD74D05-B4B9-8741-FD86-8B74112E82DC}"/>
              </a:ext>
            </a:extLst>
          </p:cNvPr>
          <p:cNvSpPr/>
          <p:nvPr/>
        </p:nvSpPr>
        <p:spPr>
          <a:xfrm rot="10800000">
            <a:off x="2857500" y="3804744"/>
            <a:ext cx="2415540" cy="320936"/>
          </a:xfrm>
          <a:custGeom>
            <a:avLst/>
            <a:gdLst>
              <a:gd name="connsiteX0" fmla="*/ 0 w 2415540"/>
              <a:gd name="connsiteY0" fmla="*/ 199016 h 320936"/>
              <a:gd name="connsiteX1" fmla="*/ 274320 w 2415540"/>
              <a:gd name="connsiteY1" fmla="*/ 54236 h 320936"/>
              <a:gd name="connsiteX2" fmla="*/ 624840 w 2415540"/>
              <a:gd name="connsiteY2" fmla="*/ 896 h 320936"/>
              <a:gd name="connsiteX3" fmla="*/ 1371600 w 2415540"/>
              <a:gd name="connsiteY3" fmla="*/ 46616 h 320936"/>
              <a:gd name="connsiteX4" fmla="*/ 2415540 w 2415540"/>
              <a:gd name="connsiteY4" fmla="*/ 320936 h 320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540" h="320936">
                <a:moveTo>
                  <a:pt x="0" y="199016"/>
                </a:moveTo>
                <a:cubicBezTo>
                  <a:pt x="85090" y="143136"/>
                  <a:pt x="170180" y="87256"/>
                  <a:pt x="274320" y="54236"/>
                </a:cubicBezTo>
                <a:cubicBezTo>
                  <a:pt x="378460" y="21216"/>
                  <a:pt x="441960" y="2166"/>
                  <a:pt x="624840" y="896"/>
                </a:cubicBezTo>
                <a:cubicBezTo>
                  <a:pt x="807720" y="-374"/>
                  <a:pt x="1073150" y="-6724"/>
                  <a:pt x="1371600" y="46616"/>
                </a:cubicBezTo>
                <a:cubicBezTo>
                  <a:pt x="1670050" y="99956"/>
                  <a:pt x="2042795" y="210446"/>
                  <a:pt x="2415540" y="320936"/>
                </a:cubicBezTo>
              </a:path>
            </a:pathLst>
          </a:cu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0C519E60-FF48-4A6F-04DA-F51E24479A66}"/>
              </a:ext>
            </a:extLst>
          </p:cNvPr>
          <p:cNvSpPr txBox="1"/>
          <p:nvPr/>
        </p:nvSpPr>
        <p:spPr>
          <a:xfrm>
            <a:off x="3773201" y="2933700"/>
            <a:ext cx="292068" cy="300082"/>
          </a:xfrm>
          <a:prstGeom prst="rect">
            <a:avLst/>
          </a:prstGeom>
          <a:noFill/>
        </p:spPr>
        <p:txBody>
          <a:bodyPr wrap="none" rtlCol="0">
            <a:spAutoFit/>
          </a:bodyPr>
          <a:lstStyle/>
          <a:p>
            <a:r>
              <a:rPr lang="en-US" dirty="0"/>
              <a:t>A</a:t>
            </a:r>
          </a:p>
        </p:txBody>
      </p:sp>
      <p:sp>
        <p:nvSpPr>
          <p:cNvPr id="9" name="TextBox 8">
            <a:extLst>
              <a:ext uri="{FF2B5EF4-FFF2-40B4-BE49-F238E27FC236}">
                <a16:creationId xmlns:a16="http://schemas.microsoft.com/office/drawing/2014/main" id="{C04CDF2F-B701-6AFF-5409-A3835A8AC68F}"/>
              </a:ext>
            </a:extLst>
          </p:cNvPr>
          <p:cNvSpPr txBox="1"/>
          <p:nvPr/>
        </p:nvSpPr>
        <p:spPr>
          <a:xfrm>
            <a:off x="3915424" y="4094215"/>
            <a:ext cx="292068" cy="300082"/>
          </a:xfrm>
          <a:prstGeom prst="rect">
            <a:avLst/>
          </a:prstGeom>
          <a:noFill/>
        </p:spPr>
        <p:txBody>
          <a:bodyPr wrap="none" rtlCol="0">
            <a:spAutoFit/>
          </a:bodyPr>
          <a:lstStyle/>
          <a:p>
            <a:r>
              <a:rPr lang="en-US" dirty="0"/>
              <a:t>B</a:t>
            </a:r>
          </a:p>
        </p:txBody>
      </p:sp>
      <p:cxnSp>
        <p:nvCxnSpPr>
          <p:cNvPr id="11" name="Straight Arrow Connector 10">
            <a:extLst>
              <a:ext uri="{FF2B5EF4-FFF2-40B4-BE49-F238E27FC236}">
                <a16:creationId xmlns:a16="http://schemas.microsoft.com/office/drawing/2014/main" id="{056A968B-A110-E0AE-9257-EAAF75316281}"/>
              </a:ext>
            </a:extLst>
          </p:cNvPr>
          <p:cNvCxnSpPr>
            <a:endCxn id="2" idx="1"/>
          </p:cNvCxnSpPr>
          <p:nvPr/>
        </p:nvCxnSpPr>
        <p:spPr>
          <a:xfrm>
            <a:off x="1798320" y="2933700"/>
            <a:ext cx="576954" cy="530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7F4709B3-6E37-AFEF-D6FF-0F4FED164CA5}"/>
              </a:ext>
            </a:extLst>
          </p:cNvPr>
          <p:cNvSpPr txBox="1"/>
          <p:nvPr/>
        </p:nvSpPr>
        <p:spPr>
          <a:xfrm>
            <a:off x="2083206" y="2933700"/>
            <a:ext cx="240772" cy="300082"/>
          </a:xfrm>
          <a:prstGeom prst="rect">
            <a:avLst/>
          </a:prstGeom>
          <a:noFill/>
        </p:spPr>
        <p:txBody>
          <a:bodyPr wrap="none" rtlCol="0">
            <a:spAutoFit/>
          </a:bodyPr>
          <a:lstStyle/>
          <a:p>
            <a:r>
              <a:rPr lang="en-US" dirty="0"/>
              <a:t>I</a:t>
            </a:r>
          </a:p>
        </p:txBody>
      </p:sp>
    </p:spTree>
    <p:extLst>
      <p:ext uri="{BB962C8B-B14F-4D97-AF65-F5344CB8AC3E}">
        <p14:creationId xmlns:p14="http://schemas.microsoft.com/office/powerpoint/2010/main" val="114116971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3"/>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CE7ADF99-0CCD-2749-8B4F-D5B2849A88F8}" type="slidenum">
              <a:rPr lang="en-US" sz="900" b="0">
                <a:solidFill>
                  <a:schemeClr val="bg2"/>
                </a:solidFill>
              </a:rPr>
              <a:pPr/>
              <a:t>19</a:t>
            </a:fld>
            <a:endParaRPr lang="en-US" sz="900" b="0">
              <a:solidFill>
                <a:schemeClr val="bg2"/>
              </a:solidFill>
            </a:endParaRPr>
          </a:p>
        </p:txBody>
      </p:sp>
      <p:sp>
        <p:nvSpPr>
          <p:cNvPr id="35842" name="Rectangle 1026"/>
          <p:cNvSpPr>
            <a:spLocks noGrp="1" noChangeArrowheads="1"/>
          </p:cNvSpPr>
          <p:nvPr>
            <p:ph type="title"/>
          </p:nvPr>
        </p:nvSpPr>
        <p:spPr>
          <a:xfrm>
            <a:off x="787670" y="488232"/>
            <a:ext cx="7266425" cy="885180"/>
          </a:xfrm>
        </p:spPr>
        <p:txBody>
          <a:bodyPr/>
          <a:lstStyle/>
          <a:p>
            <a:r>
              <a:rPr lang="sv-SE" sz="2400" dirty="0" err="1">
                <a:latin typeface="Arial Black" charset="0"/>
              </a:rPr>
              <a:t>Finite</a:t>
            </a:r>
            <a:r>
              <a:rPr lang="sv-SE" sz="2400" dirty="0">
                <a:latin typeface="Arial Black" charset="0"/>
              </a:rPr>
              <a:t> </a:t>
            </a:r>
            <a:r>
              <a:rPr lang="sv-SE" sz="2400" dirty="0" err="1">
                <a:latin typeface="Arial Black" charset="0"/>
              </a:rPr>
              <a:t>state</a:t>
            </a:r>
            <a:r>
              <a:rPr lang="sv-SE" sz="2400" dirty="0">
                <a:latin typeface="Arial Black" charset="0"/>
              </a:rPr>
              <a:t> </a:t>
            </a:r>
            <a:r>
              <a:rPr lang="sv-SE" sz="2400" dirty="0" err="1">
                <a:latin typeface="Arial Black" charset="0"/>
              </a:rPr>
              <a:t>automata</a:t>
            </a:r>
            <a:r>
              <a:rPr lang="sv-SE" sz="2400" dirty="0">
                <a:latin typeface="Arial Black" charset="0"/>
              </a:rPr>
              <a:t> </a:t>
            </a:r>
            <a:r>
              <a:rPr lang="sv-SE" sz="2400" dirty="0" err="1">
                <a:solidFill>
                  <a:srgbClr val="FF0000"/>
                </a:solidFill>
                <a:latin typeface="Arial Black" charset="0"/>
              </a:rPr>
              <a:t>with</a:t>
            </a:r>
            <a:r>
              <a:rPr lang="sv-SE" sz="2400" dirty="0">
                <a:solidFill>
                  <a:srgbClr val="FF0000"/>
                </a:solidFill>
                <a:latin typeface="Arial Black" charset="0"/>
              </a:rPr>
              <a:t> </a:t>
            </a:r>
            <a:r>
              <a:rPr lang="sv-SE" sz="2400" dirty="0" err="1">
                <a:solidFill>
                  <a:srgbClr val="FF0000"/>
                </a:solidFill>
                <a:latin typeface="Arial Black" charset="0"/>
              </a:rPr>
              <a:t>variables</a:t>
            </a:r>
            <a:endParaRPr lang="en-GB" sz="2400" dirty="0">
              <a:solidFill>
                <a:srgbClr val="FF0000"/>
              </a:solidFill>
              <a:latin typeface="Arial Black" charset="0"/>
            </a:endParaRPr>
          </a:p>
        </p:txBody>
      </p:sp>
      <p:sp>
        <p:nvSpPr>
          <p:cNvPr id="35843" name="Rectangle 1027"/>
          <p:cNvSpPr>
            <a:spLocks noGrp="1" noChangeArrowheads="1"/>
          </p:cNvSpPr>
          <p:nvPr>
            <p:ph type="body" idx="1"/>
          </p:nvPr>
        </p:nvSpPr>
        <p:spPr>
          <a:xfrm>
            <a:off x="864943" y="1445689"/>
            <a:ext cx="6133734" cy="3128963"/>
          </a:xfrm>
        </p:spPr>
        <p:txBody>
          <a:bodyPr/>
          <a:lstStyle/>
          <a:p>
            <a:r>
              <a:rPr lang="sv-SE" dirty="0" err="1">
                <a:latin typeface="Tahoma" charset="0"/>
              </a:rPr>
              <a:t>Extend</a:t>
            </a:r>
            <a:r>
              <a:rPr lang="sv-SE" dirty="0">
                <a:latin typeface="Tahoma" charset="0"/>
              </a:rPr>
              <a:t> </a:t>
            </a:r>
            <a:r>
              <a:rPr lang="sv-SE" dirty="0" err="1">
                <a:latin typeface="Tahoma" charset="0"/>
              </a:rPr>
              <a:t>Finite</a:t>
            </a:r>
            <a:r>
              <a:rPr lang="sv-SE" dirty="0">
                <a:latin typeface="Tahoma" charset="0"/>
              </a:rPr>
              <a:t> State </a:t>
            </a:r>
            <a:r>
              <a:rPr lang="sv-SE" dirty="0" err="1">
                <a:latin typeface="Tahoma" charset="0"/>
              </a:rPr>
              <a:t>Automata</a:t>
            </a:r>
            <a:r>
              <a:rPr lang="sv-SE" dirty="0">
                <a:latin typeface="Tahoma" charset="0"/>
              </a:rPr>
              <a:t> </a:t>
            </a:r>
            <a:r>
              <a:rPr lang="sv-SE" dirty="0" err="1">
                <a:latin typeface="Tahoma" charset="0"/>
              </a:rPr>
              <a:t>with</a:t>
            </a:r>
            <a:r>
              <a:rPr lang="sv-SE" dirty="0">
                <a:latin typeface="Tahoma" charset="0"/>
              </a:rPr>
              <a:t> </a:t>
            </a:r>
            <a:r>
              <a:rPr lang="sv-SE" dirty="0" err="1">
                <a:latin typeface="Tahoma" charset="0"/>
              </a:rPr>
              <a:t>variables</a:t>
            </a:r>
            <a:r>
              <a:rPr lang="sv-SE" dirty="0">
                <a:latin typeface="Tahoma" charset="0"/>
              </a:rPr>
              <a:t> </a:t>
            </a:r>
            <a:r>
              <a:rPr lang="sv-SE" dirty="0" err="1">
                <a:latin typeface="Tahoma" charset="0"/>
              </a:rPr>
              <a:t>e.g</a:t>
            </a:r>
            <a:r>
              <a:rPr lang="sv-SE" dirty="0">
                <a:latin typeface="Tahoma" charset="0"/>
              </a:rPr>
              <a:t>.</a:t>
            </a:r>
          </a:p>
          <a:p>
            <a:pPr lvl="1"/>
            <a:r>
              <a:rPr lang="sv-SE" sz="1500" dirty="0" err="1">
                <a:latin typeface="Times New Roman" charset="0"/>
                <a:ea typeface="ＭＳ Ｐゴシック" charset="0"/>
              </a:rPr>
              <a:t>Relational</a:t>
            </a:r>
            <a:r>
              <a:rPr lang="sv-SE" sz="1500" dirty="0">
                <a:latin typeface="Times New Roman" charset="0"/>
                <a:ea typeface="ＭＳ Ｐゴシック" charset="0"/>
              </a:rPr>
              <a:t> </a:t>
            </a:r>
            <a:r>
              <a:rPr lang="sv-SE" sz="1500" dirty="0" err="1">
                <a:latin typeface="Times New Roman" charset="0"/>
                <a:ea typeface="ＭＳ Ｐゴシック" charset="0"/>
              </a:rPr>
              <a:t>automata</a:t>
            </a:r>
            <a:r>
              <a:rPr lang="sv-SE" sz="1500" dirty="0">
                <a:latin typeface="Times New Roman" charset="0"/>
                <a:ea typeface="ＭＳ Ｐゴシック" charset="0"/>
              </a:rPr>
              <a:t> and/or </a:t>
            </a:r>
            <a:r>
              <a:rPr lang="sv-SE" sz="1500" dirty="0" err="1">
                <a:latin typeface="Times New Roman" charset="0"/>
                <a:ea typeface="ＭＳ Ｐゴシック" charset="0"/>
              </a:rPr>
              <a:t>guarded</a:t>
            </a:r>
            <a:r>
              <a:rPr lang="sv-SE" sz="1500" dirty="0">
                <a:latin typeface="Times New Roman" charset="0"/>
                <a:ea typeface="ＭＳ Ｐゴシック" charset="0"/>
              </a:rPr>
              <a:t> </a:t>
            </a:r>
            <a:r>
              <a:rPr lang="sv-SE" sz="1500" dirty="0" err="1">
                <a:latin typeface="Times New Roman" charset="0"/>
                <a:ea typeface="ＭＳ Ｐゴシック" charset="0"/>
              </a:rPr>
              <a:t>commands</a:t>
            </a:r>
            <a:endParaRPr lang="sv-SE" sz="1500" dirty="0">
              <a:latin typeface="Times New Roman" charset="0"/>
              <a:ea typeface="ＭＳ Ｐゴシック" charset="0"/>
            </a:endParaRPr>
          </a:p>
          <a:p>
            <a:pPr lvl="2"/>
            <a:r>
              <a:rPr lang="sv-SE" sz="1350" dirty="0" err="1">
                <a:latin typeface="Tahoma" charset="0"/>
                <a:ea typeface="ＭＳ Ｐゴシック" charset="0"/>
              </a:rPr>
              <a:t>Guards</a:t>
            </a:r>
            <a:r>
              <a:rPr lang="sv-SE" sz="1350" dirty="0">
                <a:latin typeface="Tahoma" charset="0"/>
                <a:ea typeface="ＭＳ Ｐゴシック" charset="0"/>
              </a:rPr>
              <a:t> and </a:t>
            </a:r>
            <a:r>
              <a:rPr lang="sv-SE" sz="1350" dirty="0" err="1">
                <a:latin typeface="Tahoma" charset="0"/>
                <a:ea typeface="ＭＳ Ｐゴシック" charset="0"/>
              </a:rPr>
              <a:t>assignments</a:t>
            </a:r>
            <a:r>
              <a:rPr lang="sv-SE" sz="1350" dirty="0">
                <a:latin typeface="Tahoma" charset="0"/>
                <a:ea typeface="ＭＳ Ｐゴシック" charset="0"/>
              </a:rPr>
              <a:t> on </a:t>
            </a:r>
            <a:r>
              <a:rPr lang="sv-SE" sz="1350" dirty="0" err="1">
                <a:latin typeface="Tahoma" charset="0"/>
                <a:ea typeface="ＭＳ Ｐゴシック" charset="0"/>
              </a:rPr>
              <a:t>transitions</a:t>
            </a:r>
            <a:endParaRPr lang="sv-SE" sz="1350" dirty="0">
              <a:latin typeface="Tahoma" charset="0"/>
              <a:ea typeface="ＭＳ Ｐゴシック" charset="0"/>
            </a:endParaRPr>
          </a:p>
          <a:p>
            <a:r>
              <a:rPr lang="sv-SE" dirty="0" err="1">
                <a:latin typeface="Tahoma" charset="0"/>
              </a:rPr>
              <a:t>Semantics</a:t>
            </a:r>
            <a:r>
              <a:rPr lang="sv-SE" dirty="0">
                <a:latin typeface="Tahoma" charset="0"/>
              </a:rPr>
              <a:t>: Transition Systems</a:t>
            </a:r>
          </a:p>
        </p:txBody>
      </p:sp>
      <p:sp>
        <p:nvSpPr>
          <p:cNvPr id="35844" name="Oval 1028"/>
          <p:cNvSpPr>
            <a:spLocks noChangeArrowheads="1"/>
          </p:cNvSpPr>
          <p:nvPr/>
        </p:nvSpPr>
        <p:spPr bwMode="auto">
          <a:xfrm>
            <a:off x="6787662" y="3728577"/>
            <a:ext cx="191780" cy="318870"/>
          </a:xfrm>
          <a:prstGeom prst="ellipse">
            <a:avLst/>
          </a:prstGeom>
          <a:solidFill>
            <a:srgbClr val="FFFFFF"/>
          </a:solidFill>
          <a:ln w="12700">
            <a:solidFill>
              <a:schemeClr val="tx1"/>
            </a:solidFill>
            <a:round/>
            <a:headEnd type="none" w="sm" len="sm"/>
            <a:tailEnd type="none" w="sm" len="sm"/>
          </a:ln>
        </p:spPr>
        <p:txBody>
          <a:bodyPr wrap="none" lIns="67500" tIns="35100" rIns="67500" bIns="35100" anchor="ctr">
            <a:spAutoFit/>
          </a:bodyPr>
          <a:lstStyle/>
          <a:p>
            <a:endParaRPr lang="sv-SE" sz="1013"/>
          </a:p>
        </p:txBody>
      </p:sp>
      <p:sp>
        <p:nvSpPr>
          <p:cNvPr id="35845" name="Oval 1029"/>
          <p:cNvSpPr>
            <a:spLocks noChangeArrowheads="1"/>
          </p:cNvSpPr>
          <p:nvPr/>
        </p:nvSpPr>
        <p:spPr bwMode="auto">
          <a:xfrm>
            <a:off x="6787661" y="1956927"/>
            <a:ext cx="211016" cy="318870"/>
          </a:xfrm>
          <a:prstGeom prst="ellipse">
            <a:avLst/>
          </a:prstGeom>
          <a:solidFill>
            <a:srgbClr val="FFFFFF"/>
          </a:solidFill>
          <a:ln w="12700">
            <a:solidFill>
              <a:schemeClr val="tx1"/>
            </a:solidFill>
            <a:round/>
            <a:headEnd type="none" w="sm" len="sm"/>
            <a:tailEnd type="none" w="sm" len="sm"/>
          </a:ln>
        </p:spPr>
        <p:txBody>
          <a:bodyPr lIns="67500" tIns="35100" rIns="67500" bIns="35100" anchor="ctr">
            <a:spAutoFit/>
          </a:bodyPr>
          <a:lstStyle/>
          <a:p>
            <a:endParaRPr lang="sv-SE" sz="1013"/>
          </a:p>
        </p:txBody>
      </p:sp>
      <p:sp>
        <p:nvSpPr>
          <p:cNvPr id="35846" name="Line 1031"/>
          <p:cNvSpPr>
            <a:spLocks noChangeShapeType="1"/>
          </p:cNvSpPr>
          <p:nvPr/>
        </p:nvSpPr>
        <p:spPr bwMode="auto">
          <a:xfrm>
            <a:off x="6893169" y="2230661"/>
            <a:ext cx="0" cy="154305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wrap="none" lIns="67500" tIns="35100" rIns="67500" bIns="35100">
            <a:spAutoFit/>
          </a:bodyPr>
          <a:lstStyle/>
          <a:p>
            <a:endParaRPr lang="sv-SE" sz="1013"/>
          </a:p>
        </p:txBody>
      </p:sp>
      <p:sp>
        <p:nvSpPr>
          <p:cNvPr id="35847" name="Text Box 1033"/>
          <p:cNvSpPr txBox="1">
            <a:spLocks noChangeArrowheads="1"/>
          </p:cNvSpPr>
          <p:nvPr/>
        </p:nvSpPr>
        <p:spPr bwMode="auto">
          <a:xfrm>
            <a:off x="6893170" y="2287812"/>
            <a:ext cx="702179" cy="3017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lIns="67500" tIns="35100" rIns="67500" bIns="35100">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r>
              <a:rPr lang="sv-SE" sz="1500" dirty="0" err="1">
                <a:solidFill>
                  <a:srgbClr val="00B050"/>
                </a:solidFill>
              </a:rPr>
              <a:t>guard</a:t>
            </a:r>
            <a:endParaRPr lang="en-GB" sz="1500" dirty="0">
              <a:solidFill>
                <a:srgbClr val="00B050"/>
              </a:solidFill>
            </a:endParaRPr>
          </a:p>
        </p:txBody>
      </p:sp>
      <p:sp>
        <p:nvSpPr>
          <p:cNvPr id="35848" name="Text Box 1034"/>
          <p:cNvSpPr txBox="1">
            <a:spLocks noChangeArrowheads="1"/>
          </p:cNvSpPr>
          <p:nvPr/>
        </p:nvSpPr>
        <p:spPr bwMode="auto">
          <a:xfrm>
            <a:off x="6893170" y="2859312"/>
            <a:ext cx="732635" cy="3017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lIns="67500" tIns="35100" rIns="67500" bIns="35100">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r>
              <a:rPr lang="sv-SE" sz="1500" dirty="0">
                <a:solidFill>
                  <a:srgbClr val="0070C0"/>
                </a:solidFill>
              </a:rPr>
              <a:t>action</a:t>
            </a:r>
            <a:endParaRPr lang="en-GB" sz="1500" dirty="0">
              <a:solidFill>
                <a:srgbClr val="0070C0"/>
              </a:solidFill>
            </a:endParaRPr>
          </a:p>
        </p:txBody>
      </p:sp>
      <p:sp>
        <p:nvSpPr>
          <p:cNvPr id="35849" name="Text Box 1035"/>
          <p:cNvSpPr txBox="1">
            <a:spLocks noChangeArrowheads="1"/>
          </p:cNvSpPr>
          <p:nvPr/>
        </p:nvSpPr>
        <p:spPr bwMode="auto">
          <a:xfrm>
            <a:off x="6883279" y="3378424"/>
            <a:ext cx="1678407" cy="3017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lIns="67500" tIns="35100" rIns="67500" bIns="35100">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a:r>
              <a:rPr lang="sv-SE" sz="1500" dirty="0" err="1">
                <a:solidFill>
                  <a:srgbClr val="7030A0"/>
                </a:solidFill>
              </a:rPr>
              <a:t>reset</a:t>
            </a:r>
            <a:r>
              <a:rPr lang="sv-SE" sz="1500" dirty="0">
                <a:solidFill>
                  <a:srgbClr val="7030A0"/>
                </a:solidFill>
              </a:rPr>
              <a:t>, or </a:t>
            </a:r>
            <a:r>
              <a:rPr lang="sv-SE" sz="1500" dirty="0" err="1">
                <a:solidFill>
                  <a:srgbClr val="7030A0"/>
                </a:solidFill>
              </a:rPr>
              <a:t>update</a:t>
            </a:r>
            <a:endParaRPr lang="en-GB" sz="1500" dirty="0">
              <a:solidFill>
                <a:srgbClr val="7030A0"/>
              </a:solidFill>
            </a:endParaRPr>
          </a:p>
        </p:txBody>
      </p:sp>
      <p:sp>
        <p:nvSpPr>
          <p:cNvPr id="2" name="Oval 1">
            <a:extLst>
              <a:ext uri="{FF2B5EF4-FFF2-40B4-BE49-F238E27FC236}">
                <a16:creationId xmlns:a16="http://schemas.microsoft.com/office/drawing/2014/main" id="{DEC00C71-85BE-7F74-F54C-28FA18FA0FE0}"/>
              </a:ext>
            </a:extLst>
          </p:cNvPr>
          <p:cNvSpPr/>
          <p:nvPr/>
        </p:nvSpPr>
        <p:spPr>
          <a:xfrm>
            <a:off x="2110897" y="3827444"/>
            <a:ext cx="609600" cy="5867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On</a:t>
            </a:r>
          </a:p>
        </p:txBody>
      </p:sp>
      <p:sp>
        <p:nvSpPr>
          <p:cNvPr id="3" name="Oval 2">
            <a:extLst>
              <a:ext uri="{FF2B5EF4-FFF2-40B4-BE49-F238E27FC236}">
                <a16:creationId xmlns:a16="http://schemas.microsoft.com/office/drawing/2014/main" id="{F837FE40-863F-9175-DC05-A8B9EB89A1C3}"/>
              </a:ext>
            </a:extLst>
          </p:cNvPr>
          <p:cNvSpPr/>
          <p:nvPr/>
        </p:nvSpPr>
        <p:spPr>
          <a:xfrm>
            <a:off x="4930297" y="3827444"/>
            <a:ext cx="609600" cy="5867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Off</a:t>
            </a:r>
          </a:p>
        </p:txBody>
      </p:sp>
      <p:sp>
        <p:nvSpPr>
          <p:cNvPr id="4" name="Freeform: Shape 3">
            <a:extLst>
              <a:ext uri="{FF2B5EF4-FFF2-40B4-BE49-F238E27FC236}">
                <a16:creationId xmlns:a16="http://schemas.microsoft.com/office/drawing/2014/main" id="{EF33A233-95FD-A468-8FE1-DACC7187FE43}"/>
              </a:ext>
            </a:extLst>
          </p:cNvPr>
          <p:cNvSpPr/>
          <p:nvPr/>
        </p:nvSpPr>
        <p:spPr>
          <a:xfrm>
            <a:off x="2545237" y="3651288"/>
            <a:ext cx="2415540" cy="320936"/>
          </a:xfrm>
          <a:custGeom>
            <a:avLst/>
            <a:gdLst>
              <a:gd name="connsiteX0" fmla="*/ 0 w 2415540"/>
              <a:gd name="connsiteY0" fmla="*/ 199016 h 320936"/>
              <a:gd name="connsiteX1" fmla="*/ 274320 w 2415540"/>
              <a:gd name="connsiteY1" fmla="*/ 54236 h 320936"/>
              <a:gd name="connsiteX2" fmla="*/ 624840 w 2415540"/>
              <a:gd name="connsiteY2" fmla="*/ 896 h 320936"/>
              <a:gd name="connsiteX3" fmla="*/ 1371600 w 2415540"/>
              <a:gd name="connsiteY3" fmla="*/ 46616 h 320936"/>
              <a:gd name="connsiteX4" fmla="*/ 2415540 w 2415540"/>
              <a:gd name="connsiteY4" fmla="*/ 320936 h 320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540" h="320936">
                <a:moveTo>
                  <a:pt x="0" y="199016"/>
                </a:moveTo>
                <a:cubicBezTo>
                  <a:pt x="85090" y="143136"/>
                  <a:pt x="170180" y="87256"/>
                  <a:pt x="274320" y="54236"/>
                </a:cubicBezTo>
                <a:cubicBezTo>
                  <a:pt x="378460" y="21216"/>
                  <a:pt x="441960" y="2166"/>
                  <a:pt x="624840" y="896"/>
                </a:cubicBezTo>
                <a:cubicBezTo>
                  <a:pt x="807720" y="-374"/>
                  <a:pt x="1073150" y="-6724"/>
                  <a:pt x="1371600" y="46616"/>
                </a:cubicBezTo>
                <a:cubicBezTo>
                  <a:pt x="1670050" y="99956"/>
                  <a:pt x="2042795" y="210446"/>
                  <a:pt x="2415540" y="320936"/>
                </a:cubicBezTo>
              </a:path>
            </a:pathLst>
          </a:cu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Freeform: Shape 4">
            <a:extLst>
              <a:ext uri="{FF2B5EF4-FFF2-40B4-BE49-F238E27FC236}">
                <a16:creationId xmlns:a16="http://schemas.microsoft.com/office/drawing/2014/main" id="{139F9BFE-BB2A-CFB3-037C-40EBD230BAC0}"/>
              </a:ext>
            </a:extLst>
          </p:cNvPr>
          <p:cNvSpPr/>
          <p:nvPr/>
        </p:nvSpPr>
        <p:spPr>
          <a:xfrm rot="10800000">
            <a:off x="2682397" y="4253716"/>
            <a:ext cx="2415540" cy="320936"/>
          </a:xfrm>
          <a:custGeom>
            <a:avLst/>
            <a:gdLst>
              <a:gd name="connsiteX0" fmla="*/ 0 w 2415540"/>
              <a:gd name="connsiteY0" fmla="*/ 199016 h 320936"/>
              <a:gd name="connsiteX1" fmla="*/ 274320 w 2415540"/>
              <a:gd name="connsiteY1" fmla="*/ 54236 h 320936"/>
              <a:gd name="connsiteX2" fmla="*/ 624840 w 2415540"/>
              <a:gd name="connsiteY2" fmla="*/ 896 h 320936"/>
              <a:gd name="connsiteX3" fmla="*/ 1371600 w 2415540"/>
              <a:gd name="connsiteY3" fmla="*/ 46616 h 320936"/>
              <a:gd name="connsiteX4" fmla="*/ 2415540 w 2415540"/>
              <a:gd name="connsiteY4" fmla="*/ 320936 h 320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540" h="320936">
                <a:moveTo>
                  <a:pt x="0" y="199016"/>
                </a:moveTo>
                <a:cubicBezTo>
                  <a:pt x="85090" y="143136"/>
                  <a:pt x="170180" y="87256"/>
                  <a:pt x="274320" y="54236"/>
                </a:cubicBezTo>
                <a:cubicBezTo>
                  <a:pt x="378460" y="21216"/>
                  <a:pt x="441960" y="2166"/>
                  <a:pt x="624840" y="896"/>
                </a:cubicBezTo>
                <a:cubicBezTo>
                  <a:pt x="807720" y="-374"/>
                  <a:pt x="1073150" y="-6724"/>
                  <a:pt x="1371600" y="46616"/>
                </a:cubicBezTo>
                <a:cubicBezTo>
                  <a:pt x="1670050" y="99956"/>
                  <a:pt x="2042795" y="210446"/>
                  <a:pt x="2415540" y="320936"/>
                </a:cubicBezTo>
              </a:path>
            </a:pathLst>
          </a:cu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5AB3189C-A9B5-D500-D4F2-55B014AB7CA9}"/>
              </a:ext>
            </a:extLst>
          </p:cNvPr>
          <p:cNvSpPr txBox="1"/>
          <p:nvPr/>
        </p:nvSpPr>
        <p:spPr>
          <a:xfrm>
            <a:off x="2836098" y="3351205"/>
            <a:ext cx="782587" cy="300082"/>
          </a:xfrm>
          <a:prstGeom prst="rect">
            <a:avLst/>
          </a:prstGeom>
          <a:noFill/>
        </p:spPr>
        <p:txBody>
          <a:bodyPr wrap="none" rtlCol="0">
            <a:spAutoFit/>
          </a:bodyPr>
          <a:lstStyle/>
          <a:p>
            <a:r>
              <a:rPr lang="en-US" dirty="0">
                <a:solidFill>
                  <a:srgbClr val="00B050"/>
                </a:solidFill>
              </a:rPr>
              <a:t>Flag==1</a:t>
            </a:r>
          </a:p>
        </p:txBody>
      </p:sp>
      <p:sp>
        <p:nvSpPr>
          <p:cNvPr id="11" name="TextBox 10">
            <a:extLst>
              <a:ext uri="{FF2B5EF4-FFF2-40B4-BE49-F238E27FC236}">
                <a16:creationId xmlns:a16="http://schemas.microsoft.com/office/drawing/2014/main" id="{AC80475C-F80D-F332-8E50-A3EB0A85E5E0}"/>
              </a:ext>
            </a:extLst>
          </p:cNvPr>
          <p:cNvSpPr txBox="1"/>
          <p:nvPr/>
        </p:nvSpPr>
        <p:spPr>
          <a:xfrm>
            <a:off x="4029588" y="4556062"/>
            <a:ext cx="782587" cy="300082"/>
          </a:xfrm>
          <a:prstGeom prst="rect">
            <a:avLst/>
          </a:prstGeom>
          <a:noFill/>
        </p:spPr>
        <p:txBody>
          <a:bodyPr wrap="none" rtlCol="0">
            <a:spAutoFit/>
          </a:bodyPr>
          <a:lstStyle/>
          <a:p>
            <a:r>
              <a:rPr lang="en-US" dirty="0">
                <a:solidFill>
                  <a:srgbClr val="00B050"/>
                </a:solidFill>
              </a:rPr>
              <a:t>Flag==2</a:t>
            </a:r>
          </a:p>
        </p:txBody>
      </p:sp>
      <p:cxnSp>
        <p:nvCxnSpPr>
          <p:cNvPr id="13" name="Straight Arrow Connector 12">
            <a:extLst>
              <a:ext uri="{FF2B5EF4-FFF2-40B4-BE49-F238E27FC236}">
                <a16:creationId xmlns:a16="http://schemas.microsoft.com/office/drawing/2014/main" id="{318CA68C-9290-C2DF-50CF-48247849DEC1}"/>
              </a:ext>
            </a:extLst>
          </p:cNvPr>
          <p:cNvCxnSpPr/>
          <p:nvPr/>
        </p:nvCxnSpPr>
        <p:spPr>
          <a:xfrm>
            <a:off x="1676990" y="3342315"/>
            <a:ext cx="576954" cy="530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81170548-D866-43B5-F1CB-E0164719498D}"/>
              </a:ext>
            </a:extLst>
          </p:cNvPr>
          <p:cNvSpPr txBox="1"/>
          <p:nvPr/>
        </p:nvSpPr>
        <p:spPr>
          <a:xfrm>
            <a:off x="1311345" y="3566618"/>
            <a:ext cx="731290" cy="300082"/>
          </a:xfrm>
          <a:prstGeom prst="rect">
            <a:avLst/>
          </a:prstGeom>
          <a:noFill/>
        </p:spPr>
        <p:txBody>
          <a:bodyPr wrap="none" rtlCol="0">
            <a:spAutoFit/>
          </a:bodyPr>
          <a:lstStyle/>
          <a:p>
            <a:r>
              <a:rPr lang="en-US" dirty="0">
                <a:solidFill>
                  <a:srgbClr val="7030A0"/>
                </a:solidFill>
              </a:rPr>
              <a:t>Flag:=1</a:t>
            </a:r>
          </a:p>
        </p:txBody>
      </p:sp>
      <p:sp>
        <p:nvSpPr>
          <p:cNvPr id="15" name="TextBox 14">
            <a:extLst>
              <a:ext uri="{FF2B5EF4-FFF2-40B4-BE49-F238E27FC236}">
                <a16:creationId xmlns:a16="http://schemas.microsoft.com/office/drawing/2014/main" id="{BD1B7F00-0BCF-CD04-97EA-7DB1435B31E4}"/>
              </a:ext>
            </a:extLst>
          </p:cNvPr>
          <p:cNvSpPr txBox="1"/>
          <p:nvPr/>
        </p:nvSpPr>
        <p:spPr>
          <a:xfrm>
            <a:off x="4029588" y="3473629"/>
            <a:ext cx="731290" cy="300082"/>
          </a:xfrm>
          <a:prstGeom prst="rect">
            <a:avLst/>
          </a:prstGeom>
          <a:noFill/>
        </p:spPr>
        <p:txBody>
          <a:bodyPr wrap="none" rtlCol="0">
            <a:spAutoFit/>
          </a:bodyPr>
          <a:lstStyle/>
          <a:p>
            <a:r>
              <a:rPr lang="en-US" dirty="0">
                <a:solidFill>
                  <a:srgbClr val="7030A0"/>
                </a:solidFill>
              </a:rPr>
              <a:t>Flag:=2</a:t>
            </a:r>
          </a:p>
        </p:txBody>
      </p:sp>
      <p:sp>
        <p:nvSpPr>
          <p:cNvPr id="16" name="TextBox 15">
            <a:extLst>
              <a:ext uri="{FF2B5EF4-FFF2-40B4-BE49-F238E27FC236}">
                <a16:creationId xmlns:a16="http://schemas.microsoft.com/office/drawing/2014/main" id="{751E2ED2-D709-75F2-2A91-D8EB9E23CCD3}"/>
              </a:ext>
            </a:extLst>
          </p:cNvPr>
          <p:cNvSpPr txBox="1"/>
          <p:nvPr/>
        </p:nvSpPr>
        <p:spPr>
          <a:xfrm>
            <a:off x="2755217" y="4438797"/>
            <a:ext cx="731290" cy="300082"/>
          </a:xfrm>
          <a:prstGeom prst="rect">
            <a:avLst/>
          </a:prstGeom>
          <a:noFill/>
        </p:spPr>
        <p:txBody>
          <a:bodyPr wrap="none" rtlCol="0">
            <a:spAutoFit/>
          </a:bodyPr>
          <a:lstStyle/>
          <a:p>
            <a:r>
              <a:rPr lang="en-US" dirty="0">
                <a:solidFill>
                  <a:srgbClr val="7030A0"/>
                </a:solidFill>
              </a:rPr>
              <a:t>Flag:=1</a:t>
            </a:r>
          </a:p>
        </p:txBody>
      </p:sp>
      <p:sp>
        <p:nvSpPr>
          <p:cNvPr id="17" name="TextBox 16">
            <a:extLst>
              <a:ext uri="{FF2B5EF4-FFF2-40B4-BE49-F238E27FC236}">
                <a16:creationId xmlns:a16="http://schemas.microsoft.com/office/drawing/2014/main" id="{6D31B63C-1210-14F7-CDB5-71013460EE33}"/>
              </a:ext>
            </a:extLst>
          </p:cNvPr>
          <p:cNvSpPr txBox="1"/>
          <p:nvPr/>
        </p:nvSpPr>
        <p:spPr>
          <a:xfrm>
            <a:off x="3703750" y="3412418"/>
            <a:ext cx="269626" cy="300082"/>
          </a:xfrm>
          <a:prstGeom prst="rect">
            <a:avLst/>
          </a:prstGeom>
          <a:noFill/>
        </p:spPr>
        <p:txBody>
          <a:bodyPr wrap="none" rtlCol="0">
            <a:spAutoFit/>
          </a:bodyPr>
          <a:lstStyle/>
          <a:p>
            <a:r>
              <a:rPr lang="en-US" dirty="0">
                <a:solidFill>
                  <a:srgbClr val="0070C0"/>
                </a:solidFill>
              </a:rPr>
              <a:t>a</a:t>
            </a:r>
          </a:p>
        </p:txBody>
      </p:sp>
      <p:sp>
        <p:nvSpPr>
          <p:cNvPr id="18" name="TextBox 17">
            <a:extLst>
              <a:ext uri="{FF2B5EF4-FFF2-40B4-BE49-F238E27FC236}">
                <a16:creationId xmlns:a16="http://schemas.microsoft.com/office/drawing/2014/main" id="{935CE72D-86F0-ABCB-D9F2-AFEC0A40E3F4}"/>
              </a:ext>
            </a:extLst>
          </p:cNvPr>
          <p:cNvSpPr txBox="1"/>
          <p:nvPr/>
        </p:nvSpPr>
        <p:spPr>
          <a:xfrm>
            <a:off x="3611259" y="4525332"/>
            <a:ext cx="279244" cy="300082"/>
          </a:xfrm>
          <a:prstGeom prst="rect">
            <a:avLst/>
          </a:prstGeom>
          <a:noFill/>
        </p:spPr>
        <p:txBody>
          <a:bodyPr wrap="none" rtlCol="0">
            <a:spAutoFit/>
          </a:bodyPr>
          <a:lstStyle/>
          <a:p>
            <a:r>
              <a:rPr lang="en-US" dirty="0">
                <a:solidFill>
                  <a:srgbClr val="0070C0"/>
                </a:solidFill>
              </a:rPr>
              <a:t>b</a:t>
            </a:r>
          </a:p>
        </p:txBody>
      </p:sp>
    </p:spTree>
    <p:extLst>
      <p:ext uri="{BB962C8B-B14F-4D97-AF65-F5344CB8AC3E}">
        <p14:creationId xmlns:p14="http://schemas.microsoft.com/office/powerpoint/2010/main" val="29214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5843">
                                            <p:txEl>
                                              <p:pRg st="3" end="3"/>
                                            </p:txEl>
                                          </p:spTgt>
                                        </p:tgtEl>
                                        <p:attrNameLst>
                                          <p:attrName>style.visibility</p:attrName>
                                        </p:attrNameLst>
                                      </p:cBhvr>
                                      <p:to>
                                        <p:strVal val="visible"/>
                                      </p:to>
                                    </p:set>
                                    <p:animEffect transition="in" filter="fade">
                                      <p:cBhvr>
                                        <p:cTn id="45" dur="500"/>
                                        <p:tgtEl>
                                          <p:spTgt spid="358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p:bldP spid="11" grpId="0"/>
      <p:bldP spid="14" grpId="0"/>
      <p:bldP spid="15" grpId="0"/>
      <p:bldP spid="16" grpId="0"/>
      <p:bldP spid="17"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929182" y="1026999"/>
            <a:ext cx="7266425" cy="885180"/>
          </a:xfrm>
        </p:spPr>
        <p:txBody>
          <a:bodyPr/>
          <a:lstStyle/>
          <a:p>
            <a:pPr eaLnBrk="1" hangingPunct="1"/>
            <a:r>
              <a:rPr lang="en-GB" b="1" dirty="0">
                <a:latin typeface="Arial" charset="0"/>
              </a:rPr>
              <a:t>Light Control</a:t>
            </a:r>
          </a:p>
        </p:txBody>
      </p:sp>
      <p:sp>
        <p:nvSpPr>
          <p:cNvPr id="33794" name="Text Box 3"/>
          <p:cNvSpPr txBox="1">
            <a:spLocks noChangeArrowheads="1"/>
          </p:cNvSpPr>
          <p:nvPr/>
        </p:nvSpPr>
        <p:spPr bwMode="auto">
          <a:xfrm>
            <a:off x="2087166" y="3511154"/>
            <a:ext cx="4950458"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800" b="1" dirty="0">
                <a:solidFill>
                  <a:schemeClr val="folHlink"/>
                </a:solidFill>
                <a:latin typeface="Tahoma" charset="0"/>
              </a:rPr>
              <a:t>Wanted Behaviour:</a:t>
            </a:r>
            <a:r>
              <a:rPr lang="en-GB" sz="1800" dirty="0">
                <a:latin typeface="Tahoma" charset="0"/>
              </a:rPr>
              <a:t>  </a:t>
            </a:r>
          </a:p>
          <a:p>
            <a:pPr>
              <a:buFontTx/>
              <a:buChar char="•"/>
            </a:pPr>
            <a:r>
              <a:rPr lang="en-GB" sz="1800" dirty="0">
                <a:latin typeface="Tahoma" charset="0"/>
              </a:rPr>
              <a:t> </a:t>
            </a:r>
            <a:r>
              <a:rPr lang="en-GB" sz="1800" dirty="0">
                <a:solidFill>
                  <a:schemeClr val="folHlink"/>
                </a:solidFill>
                <a:latin typeface="Tahoma" charset="0"/>
              </a:rPr>
              <a:t>pressed</a:t>
            </a:r>
            <a:r>
              <a:rPr lang="en-GB" sz="1800" dirty="0">
                <a:latin typeface="Tahoma" charset="0"/>
              </a:rPr>
              <a:t> once = </a:t>
            </a:r>
            <a:r>
              <a:rPr lang="en-GB" sz="1800" dirty="0">
                <a:solidFill>
                  <a:schemeClr val="hlink"/>
                </a:solidFill>
              </a:rPr>
              <a:t>light</a:t>
            </a:r>
            <a:r>
              <a:rPr lang="en-GB" sz="1800" dirty="0"/>
              <a:t> </a:t>
            </a:r>
            <a:endParaRPr lang="en-GB" sz="1800" dirty="0">
              <a:latin typeface="Tahoma" charset="0"/>
            </a:endParaRPr>
          </a:p>
          <a:p>
            <a:pPr>
              <a:buFontTx/>
              <a:buChar char="•"/>
            </a:pPr>
            <a:r>
              <a:rPr lang="en-GB" sz="1800" dirty="0">
                <a:latin typeface="Tahoma" charset="0"/>
              </a:rPr>
              <a:t> </a:t>
            </a:r>
            <a:r>
              <a:rPr lang="en-GB" sz="1800" dirty="0">
                <a:solidFill>
                  <a:schemeClr val="folHlink"/>
                </a:solidFill>
                <a:latin typeface="Tahoma" charset="0"/>
              </a:rPr>
              <a:t>pressed</a:t>
            </a:r>
            <a:r>
              <a:rPr lang="en-GB" sz="1800" dirty="0">
                <a:latin typeface="Tahoma" charset="0"/>
              </a:rPr>
              <a:t> twice </a:t>
            </a:r>
            <a:r>
              <a:rPr lang="en-GB" sz="1800" dirty="0">
                <a:solidFill>
                  <a:srgbClr val="FF0000"/>
                </a:solidFill>
                <a:latin typeface="Tahoma" charset="0"/>
              </a:rPr>
              <a:t>quickly </a:t>
            </a:r>
            <a:r>
              <a:rPr lang="en-GB" sz="1800" dirty="0">
                <a:latin typeface="Tahoma" charset="0"/>
              </a:rPr>
              <a:t>= </a:t>
            </a:r>
            <a:r>
              <a:rPr lang="en-GB" sz="1800" dirty="0">
                <a:solidFill>
                  <a:schemeClr val="hlink"/>
                </a:solidFill>
                <a:latin typeface="Tahoma" charset="0"/>
              </a:rPr>
              <a:t>light</a:t>
            </a:r>
            <a:r>
              <a:rPr lang="en-GB" sz="1800" dirty="0">
                <a:latin typeface="Tahoma" charset="0"/>
              </a:rPr>
              <a:t> will get </a:t>
            </a:r>
            <a:r>
              <a:rPr lang="en-GB" sz="1800" dirty="0">
                <a:solidFill>
                  <a:schemeClr val="hlink"/>
                </a:solidFill>
                <a:latin typeface="Tahoma" charset="0"/>
              </a:rPr>
              <a:t>brighter</a:t>
            </a:r>
            <a:endParaRPr lang="en-GB" sz="1800" dirty="0">
              <a:latin typeface="Tahoma" charset="0"/>
            </a:endParaRPr>
          </a:p>
          <a:p>
            <a:pPr>
              <a:buFontTx/>
              <a:buChar char="•"/>
            </a:pPr>
            <a:r>
              <a:rPr lang="en-GB" sz="1800" dirty="0">
                <a:latin typeface="Tahoma" charset="0"/>
              </a:rPr>
              <a:t> </a:t>
            </a:r>
            <a:r>
              <a:rPr lang="en-GB" sz="1800" dirty="0">
                <a:solidFill>
                  <a:schemeClr val="folHlink"/>
                </a:solidFill>
                <a:latin typeface="Tahoma" charset="0"/>
              </a:rPr>
              <a:t>pressed</a:t>
            </a:r>
            <a:r>
              <a:rPr lang="en-GB" sz="1800" dirty="0">
                <a:latin typeface="Tahoma" charset="0"/>
              </a:rPr>
              <a:t> again = light </a:t>
            </a:r>
            <a:r>
              <a:rPr lang="en-GB" sz="1800" dirty="0">
                <a:solidFill>
                  <a:schemeClr val="hlink"/>
                </a:solidFill>
                <a:latin typeface="Tahoma" charset="0"/>
              </a:rPr>
              <a:t>off.</a:t>
            </a:r>
          </a:p>
        </p:txBody>
      </p:sp>
    </p:spTree>
    <p:extLst>
      <p:ext uri="{BB962C8B-B14F-4D97-AF65-F5344CB8AC3E}">
        <p14:creationId xmlns:p14="http://schemas.microsoft.com/office/powerpoint/2010/main" val="3120463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938787" y="1049859"/>
            <a:ext cx="7266425" cy="885180"/>
          </a:xfrm>
        </p:spPr>
        <p:txBody>
          <a:bodyPr/>
          <a:lstStyle/>
          <a:p>
            <a:pPr eaLnBrk="1" hangingPunct="1"/>
            <a:r>
              <a:rPr lang="en-GB" b="1" dirty="0">
                <a:latin typeface="Arial" charset="0"/>
              </a:rPr>
              <a:t>Light Control</a:t>
            </a:r>
          </a:p>
        </p:txBody>
      </p:sp>
      <p:sp>
        <p:nvSpPr>
          <p:cNvPr id="33794" name="Text Box 3"/>
          <p:cNvSpPr txBox="1">
            <a:spLocks noChangeArrowheads="1"/>
          </p:cNvSpPr>
          <p:nvPr/>
        </p:nvSpPr>
        <p:spPr bwMode="auto">
          <a:xfrm>
            <a:off x="2087166" y="3511154"/>
            <a:ext cx="4950458"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800" b="1" dirty="0">
                <a:solidFill>
                  <a:schemeClr val="folHlink"/>
                </a:solidFill>
                <a:latin typeface="Tahoma" charset="0"/>
              </a:rPr>
              <a:t>Wanted Behaviour:</a:t>
            </a:r>
            <a:r>
              <a:rPr lang="en-GB" sz="1800" dirty="0">
                <a:latin typeface="Tahoma" charset="0"/>
              </a:rPr>
              <a:t>  </a:t>
            </a:r>
          </a:p>
          <a:p>
            <a:pPr>
              <a:buFontTx/>
              <a:buChar char="•"/>
            </a:pPr>
            <a:r>
              <a:rPr lang="en-GB" sz="1800" dirty="0">
                <a:latin typeface="Tahoma" charset="0"/>
              </a:rPr>
              <a:t> </a:t>
            </a:r>
            <a:r>
              <a:rPr lang="en-GB" sz="1800" dirty="0">
                <a:solidFill>
                  <a:schemeClr val="folHlink"/>
                </a:solidFill>
                <a:latin typeface="Tahoma" charset="0"/>
              </a:rPr>
              <a:t>pressed</a:t>
            </a:r>
            <a:r>
              <a:rPr lang="en-GB" sz="1800" dirty="0">
                <a:latin typeface="Tahoma" charset="0"/>
              </a:rPr>
              <a:t> once = </a:t>
            </a:r>
            <a:r>
              <a:rPr lang="en-GB" sz="1800" dirty="0">
                <a:solidFill>
                  <a:schemeClr val="hlink"/>
                </a:solidFill>
              </a:rPr>
              <a:t>light</a:t>
            </a:r>
            <a:r>
              <a:rPr lang="en-GB" sz="1800" dirty="0"/>
              <a:t> </a:t>
            </a:r>
            <a:endParaRPr lang="en-GB" sz="1800" dirty="0">
              <a:latin typeface="Tahoma" charset="0"/>
            </a:endParaRPr>
          </a:p>
          <a:p>
            <a:pPr>
              <a:buFontTx/>
              <a:buChar char="•"/>
            </a:pPr>
            <a:r>
              <a:rPr lang="en-GB" sz="1800" dirty="0">
                <a:latin typeface="Tahoma" charset="0"/>
              </a:rPr>
              <a:t> </a:t>
            </a:r>
            <a:r>
              <a:rPr lang="en-GB" sz="1800" dirty="0">
                <a:solidFill>
                  <a:schemeClr val="folHlink"/>
                </a:solidFill>
                <a:latin typeface="Tahoma" charset="0"/>
              </a:rPr>
              <a:t>pressed</a:t>
            </a:r>
            <a:r>
              <a:rPr lang="en-GB" sz="1800" dirty="0">
                <a:latin typeface="Tahoma" charset="0"/>
              </a:rPr>
              <a:t> twice </a:t>
            </a:r>
            <a:r>
              <a:rPr lang="en-GB" sz="1800" dirty="0">
                <a:solidFill>
                  <a:srgbClr val="FF0000"/>
                </a:solidFill>
                <a:latin typeface="Tahoma" charset="0"/>
              </a:rPr>
              <a:t>quickly </a:t>
            </a:r>
            <a:r>
              <a:rPr lang="en-GB" sz="1800" dirty="0">
                <a:latin typeface="Tahoma" charset="0"/>
              </a:rPr>
              <a:t>= </a:t>
            </a:r>
            <a:r>
              <a:rPr lang="en-GB" sz="1800" dirty="0">
                <a:solidFill>
                  <a:schemeClr val="hlink"/>
                </a:solidFill>
                <a:latin typeface="Tahoma" charset="0"/>
              </a:rPr>
              <a:t>light</a:t>
            </a:r>
            <a:r>
              <a:rPr lang="en-GB" sz="1800" dirty="0">
                <a:latin typeface="Tahoma" charset="0"/>
              </a:rPr>
              <a:t> will get </a:t>
            </a:r>
            <a:r>
              <a:rPr lang="en-GB" sz="1800" dirty="0">
                <a:solidFill>
                  <a:schemeClr val="hlink"/>
                </a:solidFill>
                <a:latin typeface="Tahoma" charset="0"/>
              </a:rPr>
              <a:t>brighter</a:t>
            </a:r>
            <a:endParaRPr lang="en-GB" sz="1800" dirty="0">
              <a:latin typeface="Tahoma" charset="0"/>
            </a:endParaRPr>
          </a:p>
          <a:p>
            <a:pPr>
              <a:buFontTx/>
              <a:buChar char="•"/>
            </a:pPr>
            <a:r>
              <a:rPr lang="en-GB" sz="1800" dirty="0">
                <a:latin typeface="Tahoma" charset="0"/>
              </a:rPr>
              <a:t> </a:t>
            </a:r>
            <a:r>
              <a:rPr lang="en-GB" sz="1800" dirty="0">
                <a:solidFill>
                  <a:schemeClr val="folHlink"/>
                </a:solidFill>
                <a:latin typeface="Tahoma" charset="0"/>
              </a:rPr>
              <a:t>pressed</a:t>
            </a:r>
            <a:r>
              <a:rPr lang="en-GB" sz="1800" dirty="0">
                <a:latin typeface="Tahoma" charset="0"/>
              </a:rPr>
              <a:t> again = light </a:t>
            </a:r>
            <a:r>
              <a:rPr lang="en-GB" sz="1800" dirty="0">
                <a:solidFill>
                  <a:schemeClr val="hlink"/>
                </a:solidFill>
                <a:latin typeface="Tahoma" charset="0"/>
              </a:rPr>
              <a:t>off.</a:t>
            </a:r>
          </a:p>
        </p:txBody>
      </p:sp>
      <p:sp>
        <p:nvSpPr>
          <p:cNvPr id="33795" name="Oval 4"/>
          <p:cNvSpPr>
            <a:spLocks noChangeArrowheads="1"/>
          </p:cNvSpPr>
          <p:nvPr/>
        </p:nvSpPr>
        <p:spPr bwMode="auto">
          <a:xfrm>
            <a:off x="2514600" y="2228850"/>
            <a:ext cx="633413" cy="62865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pPr algn="ctr" eaLnBrk="0" hangingPunct="0"/>
            <a:r>
              <a:rPr lang="en-GB" sz="1500">
                <a:solidFill>
                  <a:schemeClr val="hlink"/>
                </a:solidFill>
                <a:latin typeface="Tahoma" charset="0"/>
              </a:rPr>
              <a:t>Off</a:t>
            </a:r>
          </a:p>
        </p:txBody>
      </p:sp>
      <p:sp>
        <p:nvSpPr>
          <p:cNvPr id="33796" name="Oval 5"/>
          <p:cNvSpPr>
            <a:spLocks noChangeArrowheads="1"/>
          </p:cNvSpPr>
          <p:nvPr/>
        </p:nvSpPr>
        <p:spPr bwMode="auto">
          <a:xfrm>
            <a:off x="4307681" y="2228850"/>
            <a:ext cx="633413" cy="628650"/>
          </a:xfrm>
          <a:prstGeom prst="ellipse">
            <a:avLst/>
          </a:prstGeom>
          <a:solidFill>
            <a:srgbClr val="FFCC99"/>
          </a:solidFill>
          <a:ln w="12700">
            <a:solidFill>
              <a:schemeClr val="tx1"/>
            </a:solidFill>
            <a:round/>
            <a:headEnd type="none" w="sm" len="sm"/>
            <a:tailEnd type="none" w="sm" len="sm"/>
          </a:ln>
        </p:spPr>
        <p:txBody>
          <a:bodyPr wrap="none" anchor="ctr"/>
          <a:lstStyle/>
          <a:p>
            <a:pPr algn="ctr" eaLnBrk="0" hangingPunct="0"/>
            <a:r>
              <a:rPr lang="en-GB" sz="1500">
                <a:solidFill>
                  <a:schemeClr val="hlink"/>
                </a:solidFill>
                <a:latin typeface="Tahoma" charset="0"/>
              </a:rPr>
              <a:t>Light</a:t>
            </a:r>
            <a:endParaRPr lang="en-GB" sz="1500">
              <a:latin typeface="Tahoma" charset="0"/>
            </a:endParaRPr>
          </a:p>
        </p:txBody>
      </p:sp>
      <p:sp>
        <p:nvSpPr>
          <p:cNvPr id="33797" name="Oval 6"/>
          <p:cNvSpPr>
            <a:spLocks noChangeArrowheads="1"/>
          </p:cNvSpPr>
          <p:nvPr/>
        </p:nvSpPr>
        <p:spPr bwMode="auto">
          <a:xfrm>
            <a:off x="5995987" y="2228850"/>
            <a:ext cx="633413" cy="628650"/>
          </a:xfrm>
          <a:prstGeom prst="ellipse">
            <a:avLst/>
          </a:prstGeom>
          <a:solidFill>
            <a:srgbClr val="FF9900"/>
          </a:solidFill>
          <a:ln w="12700">
            <a:solidFill>
              <a:schemeClr val="tx1"/>
            </a:solidFill>
            <a:round/>
            <a:headEnd type="none" w="sm" len="sm"/>
            <a:tailEnd type="none" w="sm" len="sm"/>
          </a:ln>
        </p:spPr>
        <p:txBody>
          <a:bodyPr wrap="none" anchor="ctr"/>
          <a:lstStyle/>
          <a:p>
            <a:pPr algn="ctr" eaLnBrk="0" hangingPunct="0"/>
            <a:r>
              <a:rPr lang="en-GB" sz="1500">
                <a:solidFill>
                  <a:schemeClr val="hlink"/>
                </a:solidFill>
                <a:latin typeface="Tahoma" charset="0"/>
              </a:rPr>
              <a:t>Bright</a:t>
            </a:r>
            <a:endParaRPr lang="en-GB" sz="1500">
              <a:latin typeface="Tahoma" charset="0"/>
            </a:endParaRPr>
          </a:p>
        </p:txBody>
      </p:sp>
      <p:cxnSp>
        <p:nvCxnSpPr>
          <p:cNvPr id="33798" name="AutoShape 7"/>
          <p:cNvCxnSpPr>
            <a:cxnSpLocks noChangeShapeType="1"/>
            <a:stCxn id="33795" idx="6"/>
            <a:endCxn id="33796" idx="2"/>
          </p:cNvCxnSpPr>
          <p:nvPr/>
        </p:nvCxnSpPr>
        <p:spPr bwMode="auto">
          <a:xfrm>
            <a:off x="3148013" y="2543175"/>
            <a:ext cx="1159669" cy="0"/>
          </a:xfrm>
          <a:prstGeom prst="straightConnector1">
            <a:avLst/>
          </a:prstGeom>
          <a:noFill/>
          <a:ln w="127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cxnSp>
      <p:cxnSp>
        <p:nvCxnSpPr>
          <p:cNvPr id="33799" name="AutoShape 8"/>
          <p:cNvCxnSpPr>
            <a:cxnSpLocks noChangeShapeType="1"/>
            <a:stCxn id="33796" idx="6"/>
            <a:endCxn id="33797" idx="2"/>
          </p:cNvCxnSpPr>
          <p:nvPr/>
        </p:nvCxnSpPr>
        <p:spPr bwMode="auto">
          <a:xfrm>
            <a:off x="4941094" y="2543175"/>
            <a:ext cx="1054894" cy="0"/>
          </a:xfrm>
          <a:prstGeom prst="straightConnector1">
            <a:avLst/>
          </a:prstGeom>
          <a:noFill/>
          <a:ln w="127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cxnSp>
      <p:cxnSp>
        <p:nvCxnSpPr>
          <p:cNvPr id="33800" name="AutoShape 9"/>
          <p:cNvCxnSpPr>
            <a:cxnSpLocks noChangeShapeType="1"/>
            <a:stCxn id="33796" idx="4"/>
            <a:endCxn id="33795" idx="4"/>
          </p:cNvCxnSpPr>
          <p:nvPr/>
        </p:nvCxnSpPr>
        <p:spPr bwMode="auto">
          <a:xfrm rot="5400000">
            <a:off x="3727252" y="1961555"/>
            <a:ext cx="1191" cy="1793081"/>
          </a:xfrm>
          <a:prstGeom prst="curvedConnector3">
            <a:avLst>
              <a:gd name="adj1" fmla="val 14400005"/>
            </a:avLst>
          </a:prstGeom>
          <a:noFill/>
          <a:ln w="127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cxnSp>
      <p:cxnSp>
        <p:nvCxnSpPr>
          <p:cNvPr id="33801" name="AutoShape 10"/>
          <p:cNvCxnSpPr>
            <a:cxnSpLocks noChangeShapeType="1"/>
            <a:stCxn id="33797" idx="0"/>
            <a:endCxn id="33795" idx="0"/>
          </p:cNvCxnSpPr>
          <p:nvPr/>
        </p:nvCxnSpPr>
        <p:spPr bwMode="auto">
          <a:xfrm rot="-5400000" flipH="1" flipV="1">
            <a:off x="4571405" y="488752"/>
            <a:ext cx="1191" cy="3481388"/>
          </a:xfrm>
          <a:prstGeom prst="curvedConnector3">
            <a:avLst>
              <a:gd name="adj1" fmla="val -14400005"/>
            </a:avLst>
          </a:prstGeom>
          <a:noFill/>
          <a:ln w="127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cxnSp>
      <p:sp>
        <p:nvSpPr>
          <p:cNvPr id="33802" name="Text Box 11"/>
          <p:cNvSpPr txBox="1">
            <a:spLocks noChangeArrowheads="1"/>
          </p:cNvSpPr>
          <p:nvPr/>
        </p:nvSpPr>
        <p:spPr bwMode="auto">
          <a:xfrm>
            <a:off x="3148013" y="2290763"/>
            <a:ext cx="54457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dirty="0">
                <a:solidFill>
                  <a:schemeClr val="folHlink"/>
                </a:solidFill>
                <a:latin typeface="Tahoma" charset="0"/>
              </a:rPr>
              <a:t>press</a:t>
            </a:r>
            <a:endParaRPr lang="en-GB" sz="1200" dirty="0">
              <a:latin typeface="Tahoma" charset="0"/>
            </a:endParaRPr>
          </a:p>
        </p:txBody>
      </p:sp>
      <p:sp>
        <p:nvSpPr>
          <p:cNvPr id="33803" name="Text Box 12"/>
          <p:cNvSpPr txBox="1">
            <a:spLocks noChangeArrowheads="1"/>
          </p:cNvSpPr>
          <p:nvPr/>
        </p:nvSpPr>
        <p:spPr bwMode="auto">
          <a:xfrm>
            <a:off x="4941094" y="2290763"/>
            <a:ext cx="54457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dirty="0">
                <a:solidFill>
                  <a:schemeClr val="folHlink"/>
                </a:solidFill>
                <a:latin typeface="Tahoma" charset="0"/>
              </a:rPr>
              <a:t>press</a:t>
            </a:r>
            <a:endParaRPr lang="en-GB" sz="1200" dirty="0">
              <a:latin typeface="Tahoma" charset="0"/>
            </a:endParaRPr>
          </a:p>
        </p:txBody>
      </p:sp>
      <p:sp>
        <p:nvSpPr>
          <p:cNvPr id="33804" name="Text Box 13"/>
          <p:cNvSpPr txBox="1">
            <a:spLocks noChangeArrowheads="1"/>
          </p:cNvSpPr>
          <p:nvPr/>
        </p:nvSpPr>
        <p:spPr bwMode="auto">
          <a:xfrm>
            <a:off x="6312694" y="1976438"/>
            <a:ext cx="54457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dirty="0">
                <a:solidFill>
                  <a:schemeClr val="folHlink"/>
                </a:solidFill>
                <a:latin typeface="Tahoma" charset="0"/>
              </a:rPr>
              <a:t>press</a:t>
            </a:r>
            <a:endParaRPr lang="en-GB" sz="1200" dirty="0">
              <a:latin typeface="Tahoma" charset="0"/>
            </a:endParaRPr>
          </a:p>
        </p:txBody>
      </p:sp>
      <p:sp>
        <p:nvSpPr>
          <p:cNvPr id="33805" name="Text Box 14"/>
          <p:cNvSpPr txBox="1">
            <a:spLocks noChangeArrowheads="1"/>
          </p:cNvSpPr>
          <p:nvPr/>
        </p:nvSpPr>
        <p:spPr bwMode="auto">
          <a:xfrm>
            <a:off x="4624388" y="2971801"/>
            <a:ext cx="54457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dirty="0">
                <a:solidFill>
                  <a:schemeClr val="folHlink"/>
                </a:solidFill>
                <a:latin typeface="Tahoma" charset="0"/>
              </a:rPr>
              <a:t>press</a:t>
            </a:r>
            <a:endParaRPr lang="en-GB" sz="1200" dirty="0">
              <a:latin typeface="Tahoma" charset="0"/>
            </a:endParaRPr>
          </a:p>
        </p:txBody>
      </p:sp>
    </p:spTree>
    <p:extLst>
      <p:ext uri="{BB962C8B-B14F-4D97-AF65-F5344CB8AC3E}">
        <p14:creationId xmlns:p14="http://schemas.microsoft.com/office/powerpoint/2010/main" val="2648293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5"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7FD14E70-520E-574A-BE05-8AABE750044C}" type="slidenum">
              <a:rPr lang="en-US" sz="900" b="0">
                <a:solidFill>
                  <a:schemeClr val="bg2"/>
                </a:solidFill>
              </a:rPr>
              <a:pPr/>
              <a:t>22</a:t>
            </a:fld>
            <a:endParaRPr lang="en-US" sz="900" b="0">
              <a:solidFill>
                <a:schemeClr val="bg2"/>
              </a:solidFill>
            </a:endParaRPr>
          </a:p>
        </p:txBody>
      </p:sp>
      <p:sp>
        <p:nvSpPr>
          <p:cNvPr id="36866" name="Rectangle 2"/>
          <p:cNvSpPr>
            <a:spLocks noGrp="1" noChangeArrowheads="1"/>
          </p:cNvSpPr>
          <p:nvPr>
            <p:ph type="title"/>
          </p:nvPr>
        </p:nvSpPr>
        <p:spPr>
          <a:xfrm>
            <a:off x="1485900" y="554041"/>
            <a:ext cx="6172200" cy="857250"/>
          </a:xfrm>
        </p:spPr>
        <p:txBody>
          <a:bodyPr/>
          <a:lstStyle/>
          <a:p>
            <a:r>
              <a:rPr lang="sv-SE" sz="3000" dirty="0" err="1">
                <a:solidFill>
                  <a:srgbClr val="000066"/>
                </a:solidFill>
                <a:latin typeface="Arial Black" charset="0"/>
              </a:rPr>
              <a:t>Timed</a:t>
            </a:r>
            <a:r>
              <a:rPr lang="sv-SE" sz="3000" dirty="0">
                <a:solidFill>
                  <a:srgbClr val="000066"/>
                </a:solidFill>
                <a:latin typeface="Arial Black" charset="0"/>
              </a:rPr>
              <a:t> </a:t>
            </a:r>
            <a:r>
              <a:rPr lang="sv-SE" sz="3000" dirty="0" err="1">
                <a:solidFill>
                  <a:srgbClr val="000066"/>
                </a:solidFill>
                <a:latin typeface="Arial Black" charset="0"/>
              </a:rPr>
              <a:t>Automata</a:t>
            </a:r>
            <a:r>
              <a:rPr lang="sv-SE" sz="3000" dirty="0">
                <a:solidFill>
                  <a:srgbClr val="000066"/>
                </a:solidFill>
                <a:latin typeface="Arial Black" charset="0"/>
              </a:rPr>
              <a:t>  </a:t>
            </a:r>
            <a:r>
              <a:rPr lang="en-US" sz="1350" b="1" i="1" dirty="0" err="1">
                <a:solidFill>
                  <a:schemeClr val="hlink"/>
                </a:solidFill>
                <a:latin typeface="Tahoma" charset="0"/>
              </a:rPr>
              <a:t>Alur</a:t>
            </a:r>
            <a:r>
              <a:rPr lang="en-US" sz="1350" b="1" i="1" dirty="0">
                <a:solidFill>
                  <a:schemeClr val="hlink"/>
                </a:solidFill>
                <a:latin typeface="Tahoma" charset="0"/>
              </a:rPr>
              <a:t> &amp; Dill 1990</a:t>
            </a:r>
            <a:endParaRPr lang="sv-SE" sz="1350" b="1" i="1" dirty="0">
              <a:solidFill>
                <a:schemeClr val="hlink"/>
              </a:solidFill>
              <a:latin typeface="Tahoma" charset="0"/>
            </a:endParaRPr>
          </a:p>
        </p:txBody>
      </p:sp>
      <p:sp>
        <p:nvSpPr>
          <p:cNvPr id="36867" name="Rectangle 3"/>
          <p:cNvSpPr>
            <a:spLocks noGrp="1" noChangeArrowheads="1"/>
          </p:cNvSpPr>
          <p:nvPr>
            <p:ph type="body" sz="half" idx="1"/>
          </p:nvPr>
        </p:nvSpPr>
        <p:spPr>
          <a:xfrm>
            <a:off x="4743450" y="1371600"/>
            <a:ext cx="3008069" cy="3128963"/>
          </a:xfrm>
        </p:spPr>
        <p:txBody>
          <a:bodyPr/>
          <a:lstStyle/>
          <a:p>
            <a:r>
              <a:rPr lang="sv-SE" sz="1800">
                <a:solidFill>
                  <a:srgbClr val="CC3300"/>
                </a:solidFill>
                <a:latin typeface="Tahoma" charset="0"/>
              </a:rPr>
              <a:t>Guard</a:t>
            </a:r>
            <a:endParaRPr lang="sv-SE" sz="1500">
              <a:latin typeface="Tahoma" charset="0"/>
            </a:endParaRPr>
          </a:p>
          <a:p>
            <a:pPr lvl="1"/>
            <a:r>
              <a:rPr lang="sv-SE" sz="1350">
                <a:latin typeface="Times New Roman" charset="0"/>
                <a:ea typeface="ＭＳ Ｐゴシック" charset="0"/>
              </a:rPr>
              <a:t>Timing constraints  </a:t>
            </a:r>
            <a:r>
              <a:rPr lang="sv-SE" sz="1500">
                <a:latin typeface="Times New Roman" charset="0"/>
                <a:ea typeface="ＭＳ Ｐゴシック" charset="0"/>
              </a:rPr>
              <a:t>e.g. </a:t>
            </a:r>
            <a:r>
              <a:rPr lang="sv-SE" sz="1500">
                <a:solidFill>
                  <a:srgbClr val="FF0000"/>
                </a:solidFill>
                <a:latin typeface="Times New Roman" charset="0"/>
                <a:ea typeface="ＭＳ Ｐゴシック" charset="0"/>
              </a:rPr>
              <a:t>X&gt;10</a:t>
            </a:r>
          </a:p>
          <a:p>
            <a:pPr lvl="2">
              <a:buFontTx/>
              <a:buNone/>
            </a:pPr>
            <a:endParaRPr lang="sv-SE" sz="1350">
              <a:solidFill>
                <a:schemeClr val="tx1"/>
              </a:solidFill>
              <a:latin typeface="Tahoma" charset="0"/>
              <a:ea typeface="ＭＳ Ｐゴシック" charset="0"/>
            </a:endParaRPr>
          </a:p>
          <a:p>
            <a:r>
              <a:rPr lang="sv-SE" sz="1800">
                <a:solidFill>
                  <a:srgbClr val="0000FF"/>
                </a:solidFill>
                <a:latin typeface="Tahoma" charset="0"/>
              </a:rPr>
              <a:t>Action</a:t>
            </a:r>
          </a:p>
          <a:p>
            <a:pPr lvl="1"/>
            <a:r>
              <a:rPr lang="sv-SE" sz="1500">
                <a:latin typeface="Times New Roman" charset="0"/>
                <a:ea typeface="ＭＳ Ｐゴシック" charset="0"/>
              </a:rPr>
              <a:t> Synchronization e.g. </a:t>
            </a:r>
            <a:r>
              <a:rPr lang="sv-SE" sz="1800">
                <a:solidFill>
                  <a:srgbClr val="000099"/>
                </a:solidFill>
                <a:latin typeface="Times New Roman" charset="0"/>
                <a:ea typeface="ＭＳ Ｐゴシック" charset="0"/>
              </a:rPr>
              <a:t>a</a:t>
            </a:r>
          </a:p>
          <a:p>
            <a:pPr lvl="1">
              <a:buFontTx/>
              <a:buNone/>
            </a:pPr>
            <a:endParaRPr lang="sv-SE" sz="1800" b="1">
              <a:solidFill>
                <a:srgbClr val="000099"/>
              </a:solidFill>
              <a:latin typeface="Times New Roman" charset="0"/>
              <a:ea typeface="ＭＳ Ｐゴシック" charset="0"/>
            </a:endParaRPr>
          </a:p>
          <a:p>
            <a:r>
              <a:rPr lang="sv-SE" sz="1800">
                <a:solidFill>
                  <a:srgbClr val="FF0000"/>
                </a:solidFill>
                <a:latin typeface="Tahoma" charset="0"/>
              </a:rPr>
              <a:t>Clock reset</a:t>
            </a:r>
          </a:p>
          <a:p>
            <a:pPr lvl="1"/>
            <a:r>
              <a:rPr lang="sv-SE" sz="1500">
                <a:latin typeface="Times New Roman" charset="0"/>
                <a:ea typeface="ＭＳ Ｐゴシック" charset="0"/>
              </a:rPr>
              <a:t>Reset clock to 0 e.g. </a:t>
            </a:r>
            <a:r>
              <a:rPr lang="sv-SE" sz="1500">
                <a:solidFill>
                  <a:srgbClr val="FF0000"/>
                </a:solidFill>
                <a:latin typeface="Times New Roman" charset="0"/>
                <a:ea typeface="ＭＳ Ｐゴシック" charset="0"/>
              </a:rPr>
              <a:t>X:=0</a:t>
            </a:r>
          </a:p>
        </p:txBody>
      </p:sp>
      <p:sp>
        <p:nvSpPr>
          <p:cNvPr id="36868" name="Line 4"/>
          <p:cNvSpPr>
            <a:spLocks noChangeShapeType="1"/>
          </p:cNvSpPr>
          <p:nvPr/>
        </p:nvSpPr>
        <p:spPr bwMode="auto">
          <a:xfrm>
            <a:off x="2694366" y="2053698"/>
            <a:ext cx="1100" cy="914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sp>
        <p:nvSpPr>
          <p:cNvPr id="575493" name="Text Box 5"/>
          <p:cNvSpPr txBox="1">
            <a:spLocks noChangeArrowheads="1"/>
          </p:cNvSpPr>
          <p:nvPr/>
        </p:nvSpPr>
        <p:spPr bwMode="auto">
          <a:xfrm>
            <a:off x="2755912" y="2339448"/>
            <a:ext cx="28725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a:solidFill>
                  <a:srgbClr val="0000FF"/>
                </a:solidFill>
                <a:latin typeface="Times New Roman" charset="0"/>
              </a:rPr>
              <a:t>a</a:t>
            </a:r>
          </a:p>
        </p:txBody>
      </p:sp>
      <p:sp>
        <p:nvSpPr>
          <p:cNvPr id="575494" name="Text Box 6"/>
          <p:cNvSpPr txBox="1">
            <a:spLocks noChangeArrowheads="1"/>
          </p:cNvSpPr>
          <p:nvPr/>
        </p:nvSpPr>
        <p:spPr bwMode="auto">
          <a:xfrm>
            <a:off x="2739427" y="2119183"/>
            <a:ext cx="494046" cy="2539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050">
                <a:solidFill>
                  <a:srgbClr val="CC3300"/>
                </a:solidFill>
                <a:latin typeface="Times New Roman" charset="0"/>
              </a:rPr>
              <a:t>X&gt;10</a:t>
            </a:r>
          </a:p>
        </p:txBody>
      </p:sp>
      <p:sp>
        <p:nvSpPr>
          <p:cNvPr id="36872" name="Oval 8"/>
          <p:cNvSpPr>
            <a:spLocks noChangeArrowheads="1"/>
          </p:cNvSpPr>
          <p:nvPr/>
        </p:nvSpPr>
        <p:spPr bwMode="auto">
          <a:xfrm>
            <a:off x="2465766" y="1653648"/>
            <a:ext cx="400050" cy="400050"/>
          </a:xfrm>
          <a:prstGeom prst="ellipse">
            <a:avLst/>
          </a:prstGeom>
          <a:solidFill>
            <a:schemeClr val="bg1"/>
          </a:solidFill>
          <a:ln w="9525">
            <a:solidFill>
              <a:schemeClr val="tx1"/>
            </a:solidFill>
            <a:miter lim="800000"/>
            <a:headEnd/>
            <a:tailEnd/>
          </a:ln>
        </p:spPr>
        <p:txBody>
          <a:bodyPr wrap="none" anchor="ctr"/>
          <a:lstStyle/>
          <a:p>
            <a:r>
              <a:rPr lang="sv-SE" sz="1013" dirty="0"/>
              <a:t>1</a:t>
            </a:r>
          </a:p>
        </p:txBody>
      </p:sp>
      <p:sp>
        <p:nvSpPr>
          <p:cNvPr id="36873" name="Oval 9"/>
          <p:cNvSpPr>
            <a:spLocks noChangeArrowheads="1"/>
          </p:cNvSpPr>
          <p:nvPr/>
        </p:nvSpPr>
        <p:spPr bwMode="auto">
          <a:xfrm>
            <a:off x="2494341" y="2973084"/>
            <a:ext cx="400050" cy="400050"/>
          </a:xfrm>
          <a:prstGeom prst="ellipse">
            <a:avLst/>
          </a:prstGeom>
          <a:solidFill>
            <a:schemeClr val="bg1"/>
          </a:solidFill>
          <a:ln w="9525">
            <a:solidFill>
              <a:schemeClr val="tx1"/>
            </a:solidFill>
            <a:miter lim="800000"/>
            <a:headEnd/>
            <a:tailEnd/>
          </a:ln>
        </p:spPr>
        <p:txBody>
          <a:bodyPr wrap="none" anchor="ctr"/>
          <a:lstStyle/>
          <a:p>
            <a:r>
              <a:rPr lang="sv-SE" sz="1013" dirty="0"/>
              <a:t>2</a:t>
            </a:r>
          </a:p>
        </p:txBody>
      </p:sp>
      <p:sp>
        <p:nvSpPr>
          <p:cNvPr id="575500" name="Text Box 12"/>
          <p:cNvSpPr txBox="1">
            <a:spLocks noChangeArrowheads="1"/>
          </p:cNvSpPr>
          <p:nvPr/>
        </p:nvSpPr>
        <p:spPr bwMode="auto">
          <a:xfrm>
            <a:off x="2744922" y="2690683"/>
            <a:ext cx="471604" cy="2539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050">
                <a:solidFill>
                  <a:srgbClr val="CC3300"/>
                </a:solidFill>
                <a:latin typeface="Times New Roman" charset="0"/>
              </a:rPr>
              <a:t>X:=0</a:t>
            </a:r>
          </a:p>
        </p:txBody>
      </p:sp>
    </p:spTree>
    <p:extLst>
      <p:ext uri="{BB962C8B-B14F-4D97-AF65-F5344CB8AC3E}">
        <p14:creationId xmlns:p14="http://schemas.microsoft.com/office/powerpoint/2010/main" val="405939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2" name="Text Box 13"/>
          <p:cNvSpPr txBox="1">
            <a:spLocks noChangeArrowheads="1"/>
          </p:cNvSpPr>
          <p:nvPr/>
        </p:nvSpPr>
        <p:spPr bwMode="auto">
          <a:xfrm>
            <a:off x="2627710" y="3854054"/>
            <a:ext cx="4428520"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800" b="1" dirty="0">
                <a:solidFill>
                  <a:schemeClr val="folHlink"/>
                </a:solidFill>
                <a:latin typeface="Tahoma" charset="0"/>
              </a:rPr>
              <a:t>SOLUTION: </a:t>
            </a:r>
            <a:r>
              <a:rPr lang="en-GB" sz="1800" dirty="0">
                <a:solidFill>
                  <a:schemeClr val="tx2"/>
                </a:solidFill>
                <a:latin typeface="Tahoma" charset="0"/>
              </a:rPr>
              <a:t>Add real-valued clock </a:t>
            </a:r>
            <a:r>
              <a:rPr lang="en-GB" sz="1800" b="1" dirty="0">
                <a:solidFill>
                  <a:srgbClr val="FF0000"/>
                </a:solidFill>
                <a:latin typeface="Tahoma" charset="0"/>
              </a:rPr>
              <a:t>x</a:t>
            </a:r>
            <a:r>
              <a:rPr lang="en-GB" sz="1800" dirty="0">
                <a:solidFill>
                  <a:schemeClr val="tx2"/>
                </a:solidFill>
                <a:latin typeface="Tahoma" charset="0"/>
              </a:rPr>
              <a:t> to</a:t>
            </a:r>
            <a:br>
              <a:rPr lang="en-GB" sz="1800" dirty="0">
                <a:solidFill>
                  <a:schemeClr val="tx2"/>
                </a:solidFill>
                <a:latin typeface="Tahoma" charset="0"/>
              </a:rPr>
            </a:br>
            <a:r>
              <a:rPr lang="en-GB" sz="1800" dirty="0">
                <a:solidFill>
                  <a:schemeClr val="tx2"/>
                </a:solidFill>
                <a:latin typeface="Tahoma" charset="0"/>
              </a:rPr>
              <a:t>measure the delay between </a:t>
            </a:r>
            <a:r>
              <a:rPr lang="en-GB" sz="1800" dirty="0">
                <a:solidFill>
                  <a:schemeClr val="folHlink"/>
                </a:solidFill>
                <a:latin typeface="Tahoma" charset="0"/>
              </a:rPr>
              <a:t>press </a:t>
            </a:r>
            <a:r>
              <a:rPr lang="en-GB" sz="1800" dirty="0">
                <a:solidFill>
                  <a:schemeClr val="tx2"/>
                </a:solidFill>
                <a:latin typeface="Tahoma" charset="0"/>
              </a:rPr>
              <a:t>events </a:t>
            </a:r>
          </a:p>
        </p:txBody>
      </p:sp>
      <p:sp>
        <p:nvSpPr>
          <p:cNvPr id="35856" name="Text Box 17"/>
          <p:cNvSpPr txBox="1">
            <a:spLocks noChangeArrowheads="1"/>
          </p:cNvSpPr>
          <p:nvPr/>
        </p:nvSpPr>
        <p:spPr bwMode="auto">
          <a:xfrm>
            <a:off x="5580267" y="974962"/>
            <a:ext cx="1703030" cy="392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sv-SE" sz="1950" b="1" dirty="0"/>
              <a:t>  </a:t>
            </a:r>
            <a:r>
              <a:rPr lang="sv-SE" sz="1950" b="1" dirty="0" err="1"/>
              <a:t>with</a:t>
            </a:r>
            <a:r>
              <a:rPr lang="sv-SE" sz="1950" b="1" dirty="0"/>
              <a:t> Timing</a:t>
            </a:r>
          </a:p>
        </p:txBody>
      </p:sp>
      <p:sp>
        <p:nvSpPr>
          <p:cNvPr id="35857" name="Rectangle 23"/>
          <p:cNvSpPr>
            <a:spLocks noChangeArrowheads="1"/>
          </p:cNvSpPr>
          <p:nvPr/>
        </p:nvSpPr>
        <p:spPr bwMode="auto">
          <a:xfrm>
            <a:off x="1220198" y="561815"/>
            <a:ext cx="6172200"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r>
              <a:rPr lang="en-GB" sz="1500" dirty="0">
                <a:solidFill>
                  <a:schemeClr val="tx2"/>
                </a:solidFill>
              </a:rPr>
              <a:t>Timed Automata:</a:t>
            </a:r>
            <a:br>
              <a:rPr lang="en-GB" sz="3300" dirty="0">
                <a:solidFill>
                  <a:schemeClr val="tx2"/>
                </a:solidFill>
              </a:rPr>
            </a:br>
            <a:r>
              <a:rPr lang="en-GB" sz="3300" b="1" dirty="0">
                <a:solidFill>
                  <a:schemeClr val="tx2"/>
                </a:solidFill>
              </a:rPr>
              <a:t>Light Control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Oval 2"/>
          <p:cNvSpPr>
            <a:spLocks noChangeArrowheads="1"/>
          </p:cNvSpPr>
          <p:nvPr/>
        </p:nvSpPr>
        <p:spPr bwMode="auto">
          <a:xfrm>
            <a:off x="2514600" y="2228850"/>
            <a:ext cx="633413" cy="62865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pPr algn="ctr" eaLnBrk="0" hangingPunct="0"/>
            <a:r>
              <a:rPr lang="en-GB" sz="1500">
                <a:solidFill>
                  <a:schemeClr val="hlink"/>
                </a:solidFill>
                <a:latin typeface="Tahoma" charset="0"/>
              </a:rPr>
              <a:t>Off</a:t>
            </a:r>
          </a:p>
        </p:txBody>
      </p:sp>
      <p:sp>
        <p:nvSpPr>
          <p:cNvPr id="35842" name="Oval 3"/>
          <p:cNvSpPr>
            <a:spLocks noChangeArrowheads="1"/>
          </p:cNvSpPr>
          <p:nvPr/>
        </p:nvSpPr>
        <p:spPr bwMode="auto">
          <a:xfrm>
            <a:off x="4307681" y="2228850"/>
            <a:ext cx="633413" cy="628650"/>
          </a:xfrm>
          <a:prstGeom prst="ellipse">
            <a:avLst/>
          </a:prstGeom>
          <a:solidFill>
            <a:srgbClr val="FFCC99"/>
          </a:solidFill>
          <a:ln w="12700">
            <a:solidFill>
              <a:schemeClr val="tx1"/>
            </a:solidFill>
            <a:round/>
            <a:headEnd type="none" w="sm" len="sm"/>
            <a:tailEnd type="none" w="sm" len="sm"/>
          </a:ln>
        </p:spPr>
        <p:txBody>
          <a:bodyPr wrap="none" anchor="ctr"/>
          <a:lstStyle/>
          <a:p>
            <a:pPr algn="ctr" eaLnBrk="0" hangingPunct="0"/>
            <a:r>
              <a:rPr lang="en-GB" sz="1500">
                <a:solidFill>
                  <a:schemeClr val="hlink"/>
                </a:solidFill>
                <a:latin typeface="Tahoma" charset="0"/>
              </a:rPr>
              <a:t>Light</a:t>
            </a:r>
            <a:endParaRPr lang="en-GB" sz="1500">
              <a:latin typeface="Tahoma" charset="0"/>
            </a:endParaRPr>
          </a:p>
        </p:txBody>
      </p:sp>
      <p:sp>
        <p:nvSpPr>
          <p:cNvPr id="35843" name="Oval 4"/>
          <p:cNvSpPr>
            <a:spLocks noChangeArrowheads="1"/>
          </p:cNvSpPr>
          <p:nvPr/>
        </p:nvSpPr>
        <p:spPr bwMode="auto">
          <a:xfrm>
            <a:off x="5995987" y="2228850"/>
            <a:ext cx="633413" cy="628650"/>
          </a:xfrm>
          <a:prstGeom prst="ellipse">
            <a:avLst/>
          </a:prstGeom>
          <a:solidFill>
            <a:srgbClr val="FF9900"/>
          </a:solidFill>
          <a:ln w="12700">
            <a:solidFill>
              <a:schemeClr val="tx1"/>
            </a:solidFill>
            <a:round/>
            <a:headEnd type="none" w="sm" len="sm"/>
            <a:tailEnd type="none" w="sm" len="sm"/>
          </a:ln>
        </p:spPr>
        <p:txBody>
          <a:bodyPr wrap="none" anchor="ctr"/>
          <a:lstStyle/>
          <a:p>
            <a:pPr algn="ctr" eaLnBrk="0" hangingPunct="0"/>
            <a:r>
              <a:rPr lang="en-GB" sz="1500">
                <a:solidFill>
                  <a:schemeClr val="hlink"/>
                </a:solidFill>
                <a:latin typeface="Tahoma" charset="0"/>
              </a:rPr>
              <a:t>Bright</a:t>
            </a:r>
            <a:endParaRPr lang="en-GB" sz="1500">
              <a:latin typeface="Tahoma" charset="0"/>
            </a:endParaRPr>
          </a:p>
        </p:txBody>
      </p:sp>
      <p:cxnSp>
        <p:nvCxnSpPr>
          <p:cNvPr id="35844" name="AutoShape 5"/>
          <p:cNvCxnSpPr>
            <a:cxnSpLocks noChangeShapeType="1"/>
            <a:stCxn id="35841" idx="6"/>
            <a:endCxn id="35842" idx="2"/>
          </p:cNvCxnSpPr>
          <p:nvPr/>
        </p:nvCxnSpPr>
        <p:spPr bwMode="auto">
          <a:xfrm>
            <a:off x="3148013" y="2543175"/>
            <a:ext cx="1159669" cy="0"/>
          </a:xfrm>
          <a:prstGeom prst="straightConnector1">
            <a:avLst/>
          </a:prstGeom>
          <a:noFill/>
          <a:ln w="127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cxnSp>
      <p:cxnSp>
        <p:nvCxnSpPr>
          <p:cNvPr id="35845" name="AutoShape 6"/>
          <p:cNvCxnSpPr>
            <a:cxnSpLocks noChangeShapeType="1"/>
            <a:stCxn id="35842" idx="6"/>
            <a:endCxn id="35843" idx="2"/>
          </p:cNvCxnSpPr>
          <p:nvPr/>
        </p:nvCxnSpPr>
        <p:spPr bwMode="auto">
          <a:xfrm>
            <a:off x="4941094" y="2543175"/>
            <a:ext cx="1054894" cy="0"/>
          </a:xfrm>
          <a:prstGeom prst="straightConnector1">
            <a:avLst/>
          </a:prstGeom>
          <a:noFill/>
          <a:ln w="127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cxnSp>
      <p:cxnSp>
        <p:nvCxnSpPr>
          <p:cNvPr id="35846" name="AutoShape 7"/>
          <p:cNvCxnSpPr>
            <a:cxnSpLocks noChangeShapeType="1"/>
            <a:stCxn id="35842" idx="4"/>
            <a:endCxn id="35841" idx="4"/>
          </p:cNvCxnSpPr>
          <p:nvPr/>
        </p:nvCxnSpPr>
        <p:spPr bwMode="auto">
          <a:xfrm rot="5400000">
            <a:off x="3727252" y="1961555"/>
            <a:ext cx="1191" cy="1793081"/>
          </a:xfrm>
          <a:prstGeom prst="curvedConnector3">
            <a:avLst>
              <a:gd name="adj1" fmla="val 14400005"/>
            </a:avLst>
          </a:prstGeom>
          <a:noFill/>
          <a:ln w="127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cxnSp>
      <p:cxnSp>
        <p:nvCxnSpPr>
          <p:cNvPr id="35847" name="AutoShape 8"/>
          <p:cNvCxnSpPr>
            <a:cxnSpLocks noChangeShapeType="1"/>
            <a:stCxn id="35843" idx="0"/>
            <a:endCxn id="35841" idx="0"/>
          </p:cNvCxnSpPr>
          <p:nvPr/>
        </p:nvCxnSpPr>
        <p:spPr bwMode="auto">
          <a:xfrm rot="-5400000" flipH="1" flipV="1">
            <a:off x="4571405" y="488752"/>
            <a:ext cx="1191" cy="3481388"/>
          </a:xfrm>
          <a:prstGeom prst="curvedConnector3">
            <a:avLst>
              <a:gd name="adj1" fmla="val -14400005"/>
            </a:avLst>
          </a:prstGeom>
          <a:noFill/>
          <a:ln w="127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cxnSp>
      <p:sp>
        <p:nvSpPr>
          <p:cNvPr id="35848" name="Text Box 9"/>
          <p:cNvSpPr txBox="1">
            <a:spLocks noChangeArrowheads="1"/>
          </p:cNvSpPr>
          <p:nvPr/>
        </p:nvSpPr>
        <p:spPr bwMode="auto">
          <a:xfrm>
            <a:off x="3148013" y="2290763"/>
            <a:ext cx="54457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dirty="0">
                <a:solidFill>
                  <a:schemeClr val="folHlink"/>
                </a:solidFill>
                <a:latin typeface="Tahoma" charset="0"/>
              </a:rPr>
              <a:t>press</a:t>
            </a:r>
            <a:endParaRPr lang="en-GB" sz="1200" dirty="0">
              <a:latin typeface="Tahoma" charset="0"/>
            </a:endParaRPr>
          </a:p>
        </p:txBody>
      </p:sp>
      <p:sp>
        <p:nvSpPr>
          <p:cNvPr id="35849" name="Text Box 10"/>
          <p:cNvSpPr txBox="1">
            <a:spLocks noChangeArrowheads="1"/>
          </p:cNvSpPr>
          <p:nvPr/>
        </p:nvSpPr>
        <p:spPr bwMode="auto">
          <a:xfrm>
            <a:off x="4941094" y="2290763"/>
            <a:ext cx="54457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dirty="0">
                <a:solidFill>
                  <a:schemeClr val="folHlink"/>
                </a:solidFill>
                <a:latin typeface="Tahoma" charset="0"/>
              </a:rPr>
              <a:t>press</a:t>
            </a:r>
            <a:endParaRPr lang="en-GB" sz="1200" dirty="0">
              <a:latin typeface="Tahoma" charset="0"/>
            </a:endParaRPr>
          </a:p>
        </p:txBody>
      </p:sp>
      <p:sp>
        <p:nvSpPr>
          <p:cNvPr id="35850" name="Text Box 11"/>
          <p:cNvSpPr txBox="1">
            <a:spLocks noChangeArrowheads="1"/>
          </p:cNvSpPr>
          <p:nvPr/>
        </p:nvSpPr>
        <p:spPr bwMode="auto">
          <a:xfrm>
            <a:off x="6312694" y="1976438"/>
            <a:ext cx="54457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dirty="0">
                <a:solidFill>
                  <a:schemeClr val="folHlink"/>
                </a:solidFill>
                <a:latin typeface="Tahoma" charset="0"/>
              </a:rPr>
              <a:t>press</a:t>
            </a:r>
            <a:endParaRPr lang="en-GB" sz="1200" dirty="0">
              <a:latin typeface="Tahoma" charset="0"/>
            </a:endParaRPr>
          </a:p>
        </p:txBody>
      </p:sp>
      <p:sp>
        <p:nvSpPr>
          <p:cNvPr id="35851" name="Text Box 12"/>
          <p:cNvSpPr txBox="1">
            <a:spLocks noChangeArrowheads="1"/>
          </p:cNvSpPr>
          <p:nvPr/>
        </p:nvSpPr>
        <p:spPr bwMode="auto">
          <a:xfrm>
            <a:off x="4624388" y="2971801"/>
            <a:ext cx="54457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dirty="0">
                <a:solidFill>
                  <a:schemeClr val="folHlink"/>
                </a:solidFill>
                <a:latin typeface="Tahoma" charset="0"/>
              </a:rPr>
              <a:t>press</a:t>
            </a:r>
            <a:endParaRPr lang="en-GB" sz="1200" dirty="0">
              <a:latin typeface="Tahoma" charset="0"/>
            </a:endParaRPr>
          </a:p>
        </p:txBody>
      </p:sp>
      <p:sp>
        <p:nvSpPr>
          <p:cNvPr id="35852" name="Text Box 13"/>
          <p:cNvSpPr txBox="1">
            <a:spLocks noChangeArrowheads="1"/>
          </p:cNvSpPr>
          <p:nvPr/>
        </p:nvSpPr>
        <p:spPr bwMode="auto">
          <a:xfrm>
            <a:off x="2627710" y="3854054"/>
            <a:ext cx="4428520"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800" b="1" dirty="0">
                <a:solidFill>
                  <a:schemeClr val="folHlink"/>
                </a:solidFill>
                <a:latin typeface="Tahoma" charset="0"/>
              </a:rPr>
              <a:t>SOLUTION: </a:t>
            </a:r>
            <a:r>
              <a:rPr lang="en-GB" sz="1800" dirty="0">
                <a:solidFill>
                  <a:schemeClr val="tx2"/>
                </a:solidFill>
                <a:latin typeface="Tahoma" charset="0"/>
              </a:rPr>
              <a:t>Add real-valued clock </a:t>
            </a:r>
            <a:r>
              <a:rPr lang="en-GB" sz="1800" b="1" dirty="0">
                <a:solidFill>
                  <a:srgbClr val="FF0000"/>
                </a:solidFill>
                <a:latin typeface="Tahoma" charset="0"/>
              </a:rPr>
              <a:t>x</a:t>
            </a:r>
            <a:r>
              <a:rPr lang="en-GB" sz="1800" dirty="0">
                <a:solidFill>
                  <a:schemeClr val="tx2"/>
                </a:solidFill>
                <a:latin typeface="Tahoma" charset="0"/>
              </a:rPr>
              <a:t> to</a:t>
            </a:r>
            <a:br>
              <a:rPr lang="en-GB" sz="1800" dirty="0">
                <a:solidFill>
                  <a:schemeClr val="tx2"/>
                </a:solidFill>
                <a:latin typeface="Tahoma" charset="0"/>
              </a:rPr>
            </a:br>
            <a:r>
              <a:rPr lang="en-GB" sz="1800" dirty="0">
                <a:solidFill>
                  <a:schemeClr val="tx2"/>
                </a:solidFill>
                <a:latin typeface="Tahoma" charset="0"/>
              </a:rPr>
              <a:t>measure the delay between </a:t>
            </a:r>
            <a:r>
              <a:rPr lang="en-GB" sz="1800" dirty="0">
                <a:solidFill>
                  <a:schemeClr val="folHlink"/>
                </a:solidFill>
                <a:latin typeface="Tahoma" charset="0"/>
              </a:rPr>
              <a:t>press </a:t>
            </a:r>
            <a:r>
              <a:rPr lang="en-GB" sz="1800" dirty="0">
                <a:solidFill>
                  <a:schemeClr val="tx2"/>
                </a:solidFill>
                <a:latin typeface="Tahoma" charset="0"/>
              </a:rPr>
              <a:t>events </a:t>
            </a:r>
          </a:p>
        </p:txBody>
      </p:sp>
      <p:sp>
        <p:nvSpPr>
          <p:cNvPr id="35853" name="Text Box 14"/>
          <p:cNvSpPr txBox="1">
            <a:spLocks noChangeArrowheads="1"/>
          </p:cNvSpPr>
          <p:nvPr/>
        </p:nvSpPr>
        <p:spPr bwMode="auto">
          <a:xfrm>
            <a:off x="3821906" y="2270523"/>
            <a:ext cx="57099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b="1">
                <a:solidFill>
                  <a:schemeClr val="tx2"/>
                </a:solidFill>
                <a:latin typeface="Tahoma" charset="0"/>
              </a:rPr>
              <a:t>X:=0</a:t>
            </a:r>
          </a:p>
        </p:txBody>
      </p:sp>
      <p:sp>
        <p:nvSpPr>
          <p:cNvPr id="35854" name="Text Box 15"/>
          <p:cNvSpPr txBox="1">
            <a:spLocks noChangeArrowheads="1"/>
          </p:cNvSpPr>
          <p:nvPr/>
        </p:nvSpPr>
        <p:spPr bwMode="auto">
          <a:xfrm>
            <a:off x="4972050" y="2571751"/>
            <a:ext cx="641522"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b="1">
                <a:solidFill>
                  <a:schemeClr val="tx2"/>
                </a:solidFill>
                <a:latin typeface="Tahoma" charset="0"/>
              </a:rPr>
              <a:t>X&lt;=3</a:t>
            </a:r>
          </a:p>
        </p:txBody>
      </p:sp>
      <p:sp>
        <p:nvSpPr>
          <p:cNvPr id="35855" name="Text Box 16"/>
          <p:cNvSpPr txBox="1">
            <a:spLocks noChangeArrowheads="1"/>
          </p:cNvSpPr>
          <p:nvPr/>
        </p:nvSpPr>
        <p:spPr bwMode="auto">
          <a:xfrm>
            <a:off x="4624388" y="3200401"/>
            <a:ext cx="51488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GB" sz="1200" b="1">
                <a:solidFill>
                  <a:schemeClr val="tx2"/>
                </a:solidFill>
                <a:latin typeface="Tahoma" charset="0"/>
              </a:rPr>
              <a:t>X&gt;3</a:t>
            </a:r>
          </a:p>
        </p:txBody>
      </p:sp>
      <p:sp>
        <p:nvSpPr>
          <p:cNvPr id="2" name="Text Box 17">
            <a:extLst>
              <a:ext uri="{FF2B5EF4-FFF2-40B4-BE49-F238E27FC236}">
                <a16:creationId xmlns:a16="http://schemas.microsoft.com/office/drawing/2014/main" id="{8212C44D-F557-A171-E82C-3DAB7A9031CD}"/>
              </a:ext>
            </a:extLst>
          </p:cNvPr>
          <p:cNvSpPr txBox="1">
            <a:spLocks noChangeArrowheads="1"/>
          </p:cNvSpPr>
          <p:nvPr/>
        </p:nvSpPr>
        <p:spPr bwMode="auto">
          <a:xfrm>
            <a:off x="5580267" y="974962"/>
            <a:ext cx="1703030" cy="392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sv-SE" sz="1950" b="1" dirty="0"/>
              <a:t>  </a:t>
            </a:r>
            <a:r>
              <a:rPr lang="sv-SE" sz="1950" b="1" dirty="0" err="1"/>
              <a:t>with</a:t>
            </a:r>
            <a:r>
              <a:rPr lang="sv-SE" sz="1950" b="1" dirty="0"/>
              <a:t> Timing</a:t>
            </a:r>
          </a:p>
        </p:txBody>
      </p:sp>
      <p:sp>
        <p:nvSpPr>
          <p:cNvPr id="3" name="Rectangle 23">
            <a:extLst>
              <a:ext uri="{FF2B5EF4-FFF2-40B4-BE49-F238E27FC236}">
                <a16:creationId xmlns:a16="http://schemas.microsoft.com/office/drawing/2014/main" id="{F7BFA439-4501-FC27-967F-74A58EE8602E}"/>
              </a:ext>
            </a:extLst>
          </p:cNvPr>
          <p:cNvSpPr>
            <a:spLocks noChangeArrowheads="1"/>
          </p:cNvSpPr>
          <p:nvPr/>
        </p:nvSpPr>
        <p:spPr bwMode="auto">
          <a:xfrm>
            <a:off x="1220198" y="561815"/>
            <a:ext cx="6172200"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r>
              <a:rPr lang="en-GB" sz="1500" dirty="0">
                <a:solidFill>
                  <a:schemeClr val="tx2"/>
                </a:solidFill>
              </a:rPr>
              <a:t>Timed Automata:</a:t>
            </a:r>
            <a:br>
              <a:rPr lang="en-GB" sz="3300" dirty="0">
                <a:solidFill>
                  <a:schemeClr val="tx2"/>
                </a:solidFill>
              </a:rPr>
            </a:br>
            <a:r>
              <a:rPr lang="en-GB" sz="3300" b="1" dirty="0">
                <a:solidFill>
                  <a:schemeClr val="tx2"/>
                </a:solidFill>
              </a:rPr>
              <a:t>Light Control</a:t>
            </a:r>
          </a:p>
        </p:txBody>
      </p:sp>
      <p:sp>
        <p:nvSpPr>
          <p:cNvPr id="4" name="TextBox 3">
            <a:extLst>
              <a:ext uri="{FF2B5EF4-FFF2-40B4-BE49-F238E27FC236}">
                <a16:creationId xmlns:a16="http://schemas.microsoft.com/office/drawing/2014/main" id="{39C4D3AB-A978-484E-B146-0DA4A616BB3E}"/>
              </a:ext>
            </a:extLst>
          </p:cNvPr>
          <p:cNvSpPr txBox="1"/>
          <p:nvPr/>
        </p:nvSpPr>
        <p:spPr>
          <a:xfrm>
            <a:off x="5052060" y="4559678"/>
            <a:ext cx="3952108" cy="307777"/>
          </a:xfrm>
          <a:prstGeom prst="rect">
            <a:avLst/>
          </a:prstGeom>
          <a:noFill/>
        </p:spPr>
        <p:txBody>
          <a:bodyPr wrap="none" rtlCol="0">
            <a:spAutoFit/>
          </a:bodyPr>
          <a:lstStyle/>
          <a:p>
            <a:r>
              <a:rPr lang="en-US" sz="1400" b="1" i="1" dirty="0"/>
              <a:t>Analysis</a:t>
            </a:r>
            <a:r>
              <a:rPr lang="en-US" sz="1400" i="1" dirty="0"/>
              <a:t>: can the light become bright eventually?</a:t>
            </a:r>
          </a:p>
        </p:txBody>
      </p:sp>
    </p:spTree>
    <p:extLst>
      <p:ext uri="{BB962C8B-B14F-4D97-AF65-F5344CB8AC3E}">
        <p14:creationId xmlns:p14="http://schemas.microsoft.com/office/powerpoint/2010/main" val="3859848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1657350" y="386635"/>
            <a:ext cx="6172200" cy="857250"/>
          </a:xfrm>
        </p:spPr>
        <p:txBody>
          <a:bodyPr>
            <a:normAutofit/>
          </a:bodyPr>
          <a:lstStyle/>
          <a:p>
            <a:pPr eaLnBrk="1" hangingPunct="1"/>
            <a:r>
              <a:rPr lang="en-GB" sz="2800" b="1" dirty="0">
                <a:latin typeface="Arial" charset="0"/>
              </a:rPr>
              <a:t>Timed Automata: Semantics</a:t>
            </a:r>
            <a:endParaRPr lang="en-GB" sz="2800" b="1" i="1" dirty="0">
              <a:solidFill>
                <a:srgbClr val="777777"/>
              </a:solidFill>
              <a:latin typeface="Arial" charset="0"/>
            </a:endParaRPr>
          </a:p>
        </p:txBody>
      </p:sp>
      <p:sp>
        <p:nvSpPr>
          <p:cNvPr id="37890" name="Oval 3"/>
          <p:cNvSpPr>
            <a:spLocks noChangeArrowheads="1"/>
          </p:cNvSpPr>
          <p:nvPr/>
        </p:nvSpPr>
        <p:spPr bwMode="auto">
          <a:xfrm>
            <a:off x="2180035" y="1624013"/>
            <a:ext cx="540544" cy="639366"/>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37891" name="Oval 4"/>
          <p:cNvSpPr>
            <a:spLocks noChangeArrowheads="1"/>
          </p:cNvSpPr>
          <p:nvPr/>
        </p:nvSpPr>
        <p:spPr bwMode="auto">
          <a:xfrm>
            <a:off x="2200275" y="3705225"/>
            <a:ext cx="539354" cy="639366"/>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37892" name="Line 5"/>
          <p:cNvSpPr>
            <a:spLocks noChangeShapeType="1"/>
          </p:cNvSpPr>
          <p:nvPr/>
        </p:nvSpPr>
        <p:spPr bwMode="auto">
          <a:xfrm flipH="1">
            <a:off x="2441972" y="2268141"/>
            <a:ext cx="8334" cy="14192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893" name="Line 6"/>
          <p:cNvSpPr>
            <a:spLocks noChangeShapeType="1"/>
          </p:cNvSpPr>
          <p:nvPr/>
        </p:nvSpPr>
        <p:spPr bwMode="auto">
          <a:xfrm>
            <a:off x="2074069" y="1627585"/>
            <a:ext cx="153591" cy="13096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894" name="Line 7"/>
          <p:cNvSpPr>
            <a:spLocks noChangeShapeType="1"/>
          </p:cNvSpPr>
          <p:nvPr/>
        </p:nvSpPr>
        <p:spPr bwMode="auto">
          <a:xfrm flipH="1">
            <a:off x="2638425" y="1600200"/>
            <a:ext cx="197644" cy="120254"/>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895" name="Line 8"/>
          <p:cNvSpPr>
            <a:spLocks noChangeShapeType="1"/>
          </p:cNvSpPr>
          <p:nvPr/>
        </p:nvSpPr>
        <p:spPr bwMode="auto">
          <a:xfrm>
            <a:off x="2424113" y="1404938"/>
            <a:ext cx="0" cy="2226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896" name="Line 9"/>
          <p:cNvSpPr>
            <a:spLocks noChangeShapeType="1"/>
          </p:cNvSpPr>
          <p:nvPr/>
        </p:nvSpPr>
        <p:spPr bwMode="auto">
          <a:xfrm flipH="1">
            <a:off x="2013348" y="4254103"/>
            <a:ext cx="248840" cy="15716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897" name="Line 10"/>
          <p:cNvSpPr>
            <a:spLocks noChangeShapeType="1"/>
          </p:cNvSpPr>
          <p:nvPr/>
        </p:nvSpPr>
        <p:spPr bwMode="auto">
          <a:xfrm>
            <a:off x="2450306" y="4355306"/>
            <a:ext cx="42863" cy="21431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898" name="Line 11"/>
          <p:cNvSpPr>
            <a:spLocks noChangeShapeType="1"/>
          </p:cNvSpPr>
          <p:nvPr/>
        </p:nvSpPr>
        <p:spPr bwMode="auto">
          <a:xfrm>
            <a:off x="2605088" y="4291013"/>
            <a:ext cx="161925" cy="25955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899" name="Line 12"/>
          <p:cNvSpPr>
            <a:spLocks noChangeShapeType="1"/>
          </p:cNvSpPr>
          <p:nvPr/>
        </p:nvSpPr>
        <p:spPr bwMode="auto">
          <a:xfrm>
            <a:off x="2715817" y="4188619"/>
            <a:ext cx="248840" cy="17621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900" name="Rectangle 13"/>
          <p:cNvSpPr>
            <a:spLocks noChangeArrowheads="1"/>
          </p:cNvSpPr>
          <p:nvPr/>
        </p:nvSpPr>
        <p:spPr bwMode="auto">
          <a:xfrm>
            <a:off x="2343150" y="1613298"/>
            <a:ext cx="237244"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n</a:t>
            </a:r>
          </a:p>
        </p:txBody>
      </p:sp>
      <p:sp>
        <p:nvSpPr>
          <p:cNvPr id="37901" name="Rectangle 14"/>
          <p:cNvSpPr>
            <a:spLocks noChangeArrowheads="1"/>
          </p:cNvSpPr>
          <p:nvPr/>
        </p:nvSpPr>
        <p:spPr bwMode="auto">
          <a:xfrm>
            <a:off x="2351485" y="3729038"/>
            <a:ext cx="286937"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m</a:t>
            </a:r>
          </a:p>
        </p:txBody>
      </p:sp>
      <p:sp>
        <p:nvSpPr>
          <p:cNvPr id="37902" name="Rectangle 15"/>
          <p:cNvSpPr>
            <a:spLocks noChangeArrowheads="1"/>
          </p:cNvSpPr>
          <p:nvPr/>
        </p:nvSpPr>
        <p:spPr bwMode="auto">
          <a:xfrm>
            <a:off x="2455069" y="2792016"/>
            <a:ext cx="230832"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a</a:t>
            </a:r>
          </a:p>
        </p:txBody>
      </p:sp>
      <p:sp>
        <p:nvSpPr>
          <p:cNvPr id="37903" name="Rectangle 16"/>
          <p:cNvSpPr>
            <a:spLocks noChangeArrowheads="1"/>
          </p:cNvSpPr>
          <p:nvPr/>
        </p:nvSpPr>
        <p:spPr bwMode="auto">
          <a:xfrm>
            <a:off x="6205538" y="114300"/>
            <a:ext cx="1660711" cy="3005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500" b="1" i="1">
                <a:solidFill>
                  <a:srgbClr val="0066CC"/>
                </a:solidFill>
                <a:latin typeface="Tahoma" charset="0"/>
              </a:rPr>
              <a:t>Alur &amp; Dill 1990</a:t>
            </a:r>
          </a:p>
        </p:txBody>
      </p:sp>
      <p:sp>
        <p:nvSpPr>
          <p:cNvPr id="37904" name="Rectangle 17"/>
          <p:cNvSpPr>
            <a:spLocks noChangeArrowheads="1"/>
          </p:cNvSpPr>
          <p:nvPr/>
        </p:nvSpPr>
        <p:spPr bwMode="auto">
          <a:xfrm>
            <a:off x="4343400" y="1257300"/>
            <a:ext cx="1514837" cy="3467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800" b="1">
                <a:solidFill>
                  <a:srgbClr val="0033CC"/>
                </a:solidFill>
                <a:latin typeface="Tahoma" charset="0"/>
              </a:rPr>
              <a:t>Clocks</a:t>
            </a:r>
            <a:r>
              <a:rPr lang="en-US" sz="1800" b="1">
                <a:solidFill>
                  <a:srgbClr val="000099"/>
                </a:solidFill>
                <a:latin typeface="Tahoma" charset="0"/>
              </a:rPr>
              <a:t>:</a:t>
            </a:r>
            <a:r>
              <a:rPr lang="en-US" sz="1800" b="1">
                <a:latin typeface="Tahoma" charset="0"/>
              </a:rPr>
              <a:t>  </a:t>
            </a:r>
            <a:r>
              <a:rPr lang="en-US" sz="1800" b="1" i="1">
                <a:latin typeface="Tahoma" charset="0"/>
              </a:rPr>
              <a:t>x, y</a:t>
            </a:r>
          </a:p>
        </p:txBody>
      </p:sp>
      <p:sp>
        <p:nvSpPr>
          <p:cNvPr id="37905" name="Rectangle 18"/>
          <p:cNvSpPr>
            <a:spLocks noChangeArrowheads="1"/>
          </p:cNvSpPr>
          <p:nvPr/>
        </p:nvSpPr>
        <p:spPr bwMode="auto">
          <a:xfrm>
            <a:off x="2480072" y="2383632"/>
            <a:ext cx="1106072"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x&lt;=5 &amp; y&gt;3</a:t>
            </a:r>
          </a:p>
        </p:txBody>
      </p:sp>
      <p:sp>
        <p:nvSpPr>
          <p:cNvPr id="37906" name="Rectangle 19"/>
          <p:cNvSpPr>
            <a:spLocks noChangeArrowheads="1"/>
          </p:cNvSpPr>
          <p:nvPr/>
        </p:nvSpPr>
        <p:spPr bwMode="auto">
          <a:xfrm>
            <a:off x="2497932" y="3328988"/>
            <a:ext cx="60272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x := 0</a:t>
            </a:r>
          </a:p>
        </p:txBody>
      </p:sp>
      <p:sp>
        <p:nvSpPr>
          <p:cNvPr id="37907" name="Rectangle 20"/>
          <p:cNvSpPr>
            <a:spLocks noChangeArrowheads="1"/>
          </p:cNvSpPr>
          <p:nvPr/>
        </p:nvSpPr>
        <p:spPr bwMode="auto">
          <a:xfrm>
            <a:off x="5047060" y="1600201"/>
            <a:ext cx="2601673" cy="577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dirty="0">
                <a:latin typeface="Tahoma" charset="0"/>
              </a:rPr>
              <a:t>Guard </a:t>
            </a:r>
          </a:p>
          <a:p>
            <a:pPr eaLnBrk="0" hangingPunct="0"/>
            <a:r>
              <a:rPr lang="en-US" sz="1050" dirty="0">
                <a:latin typeface="Tahoma" charset="0"/>
              </a:rPr>
              <a:t>Boolean combination of </a:t>
            </a:r>
            <a:r>
              <a:rPr lang="en-US" sz="1050" b="1" dirty="0">
                <a:solidFill>
                  <a:srgbClr val="000099"/>
                </a:solidFill>
                <a:latin typeface="Tahoma" charset="0"/>
              </a:rPr>
              <a:t>integer bounds</a:t>
            </a:r>
          </a:p>
          <a:p>
            <a:pPr eaLnBrk="0" hangingPunct="0"/>
            <a:r>
              <a:rPr lang="en-US" sz="1050" dirty="0">
                <a:latin typeface="Tahoma" charset="0"/>
              </a:rPr>
              <a:t>on </a:t>
            </a:r>
            <a:r>
              <a:rPr lang="en-US" sz="1050" b="1" dirty="0">
                <a:solidFill>
                  <a:srgbClr val="FF0000"/>
                </a:solidFill>
                <a:latin typeface="Tahoma" charset="0"/>
              </a:rPr>
              <a:t>clocks</a:t>
            </a:r>
            <a:endParaRPr lang="en-US" sz="1050" dirty="0">
              <a:latin typeface="Tahoma" charset="0"/>
            </a:endParaRPr>
          </a:p>
        </p:txBody>
      </p:sp>
      <p:sp>
        <p:nvSpPr>
          <p:cNvPr id="37908" name="Rectangle 21"/>
          <p:cNvSpPr>
            <a:spLocks noChangeArrowheads="1"/>
          </p:cNvSpPr>
          <p:nvPr/>
        </p:nvSpPr>
        <p:spPr bwMode="auto">
          <a:xfrm>
            <a:off x="5017022" y="2183396"/>
            <a:ext cx="1752082" cy="4159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dirty="0">
                <a:latin typeface="Tahoma" charset="0"/>
              </a:rPr>
              <a:t>Reset</a:t>
            </a:r>
            <a:endParaRPr lang="en-US" sz="1200" b="1" dirty="0">
              <a:latin typeface="Tahoma" charset="0"/>
            </a:endParaRPr>
          </a:p>
          <a:p>
            <a:pPr eaLnBrk="0" hangingPunct="0"/>
            <a:r>
              <a:rPr lang="en-US" sz="1050" dirty="0">
                <a:latin typeface="Tahoma" charset="0"/>
              </a:rPr>
              <a:t>Action performed on clocks</a:t>
            </a:r>
          </a:p>
        </p:txBody>
      </p:sp>
      <p:sp>
        <p:nvSpPr>
          <p:cNvPr id="37909" name="Rectangle 22"/>
          <p:cNvSpPr>
            <a:spLocks noChangeArrowheads="1"/>
          </p:cNvSpPr>
          <p:nvPr/>
        </p:nvSpPr>
        <p:spPr bwMode="auto">
          <a:xfrm>
            <a:off x="4245497" y="3168043"/>
            <a:ext cx="867224" cy="225609"/>
          </a:xfrm>
          <a:prstGeom prst="rect">
            <a:avLst/>
          </a:prstGeom>
          <a:solidFill>
            <a:srgbClr val="FFBFB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13" b="1">
                <a:solidFill>
                  <a:srgbClr val="0033CC"/>
                </a:solidFill>
                <a:latin typeface="Tahoma" charset="0"/>
              </a:rPr>
              <a:t>Transitions</a:t>
            </a:r>
          </a:p>
        </p:txBody>
      </p:sp>
      <p:sp>
        <p:nvSpPr>
          <p:cNvPr id="37910" name="Rectangle 23"/>
          <p:cNvSpPr>
            <a:spLocks noChangeArrowheads="1"/>
          </p:cNvSpPr>
          <p:nvPr/>
        </p:nvSpPr>
        <p:spPr bwMode="auto">
          <a:xfrm>
            <a:off x="4443141" y="4097922"/>
            <a:ext cx="3534965" cy="439064"/>
          </a:xfrm>
          <a:prstGeom prst="rect">
            <a:avLst/>
          </a:prstGeom>
          <a:solidFill>
            <a:srgbClr val="FFBFB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spAutoFit/>
          </a:bodyPr>
          <a:lstStyle/>
          <a:p>
            <a:pPr eaLnBrk="0" hangingPunct="0"/>
            <a:r>
              <a:rPr lang="en-US" sz="1013">
                <a:latin typeface="Tahoma" charset="0"/>
              </a:rPr>
              <a:t>(</a:t>
            </a:r>
            <a:r>
              <a:rPr lang="en-US" sz="1200">
                <a:latin typeface="Tahoma" charset="0"/>
              </a:rPr>
              <a:t> </a:t>
            </a:r>
            <a:r>
              <a:rPr lang="en-US" sz="1200" b="1" i="1">
                <a:latin typeface="Tahoma" charset="0"/>
              </a:rPr>
              <a:t>n </a:t>
            </a:r>
            <a:r>
              <a:rPr lang="en-US" sz="1200">
                <a:latin typeface="Tahoma" charset="0"/>
              </a:rPr>
              <a:t>, </a:t>
            </a:r>
            <a:r>
              <a:rPr lang="en-US" sz="1200" b="1" i="1">
                <a:latin typeface="Tahoma" charset="0"/>
              </a:rPr>
              <a:t>x</a:t>
            </a:r>
            <a:r>
              <a:rPr lang="en-US" sz="1200">
                <a:latin typeface="Tahoma" charset="0"/>
              </a:rPr>
              <a:t>=2.4 ,</a:t>
            </a:r>
            <a:r>
              <a:rPr lang="en-US" sz="1200" b="1" i="1">
                <a:latin typeface="Tahoma" charset="0"/>
              </a:rPr>
              <a:t> y</a:t>
            </a:r>
            <a:r>
              <a:rPr lang="en-US" sz="1200">
                <a:latin typeface="Tahoma" charset="0"/>
              </a:rPr>
              <a:t>=3.1415 </a:t>
            </a:r>
            <a:r>
              <a:rPr lang="en-US" sz="1013">
                <a:latin typeface="Tahoma" charset="0"/>
              </a:rPr>
              <a:t>)</a:t>
            </a:r>
            <a:r>
              <a:rPr lang="en-US" sz="1200">
                <a:latin typeface="Tahoma" charset="0"/>
              </a:rPr>
              <a:t>   </a:t>
            </a:r>
          </a:p>
          <a:p>
            <a:pPr eaLnBrk="0" hangingPunct="0"/>
            <a:r>
              <a:rPr lang="en-US" sz="1200">
                <a:latin typeface="Tahoma" charset="0"/>
              </a:rPr>
              <a:t>                                 </a:t>
            </a:r>
            <a:r>
              <a:rPr lang="en-US" sz="1013">
                <a:latin typeface="Tahoma" charset="0"/>
              </a:rPr>
              <a:t>(</a:t>
            </a:r>
            <a:r>
              <a:rPr lang="en-US" sz="1200">
                <a:latin typeface="Tahoma" charset="0"/>
              </a:rPr>
              <a:t> </a:t>
            </a:r>
            <a:r>
              <a:rPr lang="en-US" sz="1200" b="1" i="1">
                <a:latin typeface="Tahoma" charset="0"/>
              </a:rPr>
              <a:t>n</a:t>
            </a:r>
            <a:r>
              <a:rPr lang="en-US" sz="1200">
                <a:latin typeface="Tahoma" charset="0"/>
              </a:rPr>
              <a:t> , </a:t>
            </a:r>
            <a:r>
              <a:rPr lang="en-US" sz="1200" b="1" i="1">
                <a:latin typeface="Tahoma" charset="0"/>
              </a:rPr>
              <a:t>x</a:t>
            </a:r>
            <a:r>
              <a:rPr lang="en-US" sz="1200">
                <a:latin typeface="Tahoma" charset="0"/>
              </a:rPr>
              <a:t>=3.5 , </a:t>
            </a:r>
            <a:r>
              <a:rPr lang="en-US" sz="1200" b="1" i="1">
                <a:latin typeface="Tahoma" charset="0"/>
              </a:rPr>
              <a:t>y</a:t>
            </a:r>
            <a:r>
              <a:rPr lang="en-US" sz="1200">
                <a:latin typeface="Tahoma" charset="0"/>
              </a:rPr>
              <a:t>=4.2415 </a:t>
            </a:r>
            <a:r>
              <a:rPr lang="en-US" sz="1013">
                <a:latin typeface="Tahoma" charset="0"/>
              </a:rPr>
              <a:t>)</a:t>
            </a:r>
          </a:p>
        </p:txBody>
      </p:sp>
      <p:sp>
        <p:nvSpPr>
          <p:cNvPr id="37911" name="Rectangle 24"/>
          <p:cNvSpPr>
            <a:spLocks noChangeArrowheads="1"/>
          </p:cNvSpPr>
          <p:nvPr/>
        </p:nvSpPr>
        <p:spPr bwMode="auto">
          <a:xfrm>
            <a:off x="6342188" y="4055059"/>
            <a:ext cx="553036"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i="1">
                <a:latin typeface="Tahoma" charset="0"/>
              </a:rPr>
              <a:t>e(1.1)</a:t>
            </a:r>
          </a:p>
        </p:txBody>
      </p:sp>
      <p:sp>
        <p:nvSpPr>
          <p:cNvPr id="37912" name="Line 25"/>
          <p:cNvSpPr>
            <a:spLocks noChangeShapeType="1"/>
          </p:cNvSpPr>
          <p:nvPr/>
        </p:nvSpPr>
        <p:spPr bwMode="auto">
          <a:xfrm>
            <a:off x="6180263" y="4311043"/>
            <a:ext cx="77033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913" name="Rectangle 26"/>
          <p:cNvSpPr>
            <a:spLocks noChangeArrowheads="1"/>
          </p:cNvSpPr>
          <p:nvPr/>
        </p:nvSpPr>
        <p:spPr bwMode="auto">
          <a:xfrm>
            <a:off x="4443141" y="3469272"/>
            <a:ext cx="3363515" cy="439064"/>
          </a:xfrm>
          <a:prstGeom prst="rect">
            <a:avLst/>
          </a:prstGeom>
          <a:solidFill>
            <a:srgbClr val="FFBFB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spAutoFit/>
          </a:bodyPr>
          <a:lstStyle/>
          <a:p>
            <a:pPr eaLnBrk="0" hangingPunct="0"/>
            <a:r>
              <a:rPr lang="en-US" sz="1013">
                <a:latin typeface="Tahoma" charset="0"/>
              </a:rPr>
              <a:t>(</a:t>
            </a:r>
            <a:r>
              <a:rPr lang="en-US" sz="1200">
                <a:latin typeface="Tahoma" charset="0"/>
              </a:rPr>
              <a:t> </a:t>
            </a:r>
            <a:r>
              <a:rPr lang="en-US" sz="1200" b="1" i="1">
                <a:latin typeface="Tahoma" charset="0"/>
              </a:rPr>
              <a:t>n </a:t>
            </a:r>
            <a:r>
              <a:rPr lang="en-US" sz="1200">
                <a:latin typeface="Tahoma" charset="0"/>
              </a:rPr>
              <a:t>, </a:t>
            </a:r>
            <a:r>
              <a:rPr lang="en-US" sz="1200" b="1" i="1">
                <a:latin typeface="Tahoma" charset="0"/>
              </a:rPr>
              <a:t>x</a:t>
            </a:r>
            <a:r>
              <a:rPr lang="en-US" sz="1200">
                <a:latin typeface="Tahoma" charset="0"/>
              </a:rPr>
              <a:t>=2.4 ,</a:t>
            </a:r>
            <a:r>
              <a:rPr lang="en-US" sz="1200" b="1" i="1">
                <a:latin typeface="Tahoma" charset="0"/>
              </a:rPr>
              <a:t> y</a:t>
            </a:r>
            <a:r>
              <a:rPr lang="en-US" sz="1200">
                <a:latin typeface="Tahoma" charset="0"/>
              </a:rPr>
              <a:t>=3.1415 </a:t>
            </a:r>
            <a:r>
              <a:rPr lang="en-US" sz="1013">
                <a:latin typeface="Tahoma" charset="0"/>
              </a:rPr>
              <a:t>)</a:t>
            </a:r>
            <a:r>
              <a:rPr lang="en-US" sz="1200">
                <a:latin typeface="Tahoma" charset="0"/>
              </a:rPr>
              <a:t>   </a:t>
            </a:r>
          </a:p>
          <a:p>
            <a:pPr eaLnBrk="0" hangingPunct="0"/>
            <a:r>
              <a:rPr lang="en-US" sz="1200">
                <a:latin typeface="Tahoma" charset="0"/>
              </a:rPr>
              <a:t>                                 </a:t>
            </a:r>
            <a:r>
              <a:rPr lang="en-US" sz="1013">
                <a:latin typeface="Tahoma" charset="0"/>
              </a:rPr>
              <a:t>(</a:t>
            </a:r>
            <a:r>
              <a:rPr lang="en-US" sz="1200">
                <a:latin typeface="Tahoma" charset="0"/>
              </a:rPr>
              <a:t> </a:t>
            </a:r>
            <a:r>
              <a:rPr lang="en-US" sz="1200" b="1" i="1">
                <a:latin typeface="Tahoma" charset="0"/>
              </a:rPr>
              <a:t>m </a:t>
            </a:r>
            <a:r>
              <a:rPr lang="en-US" sz="1200">
                <a:latin typeface="Tahoma" charset="0"/>
              </a:rPr>
              <a:t>, </a:t>
            </a:r>
            <a:r>
              <a:rPr lang="en-US" sz="1200" b="1" i="1">
                <a:latin typeface="Tahoma" charset="0"/>
              </a:rPr>
              <a:t>x</a:t>
            </a:r>
            <a:r>
              <a:rPr lang="en-US" sz="1200">
                <a:latin typeface="Tahoma" charset="0"/>
              </a:rPr>
              <a:t>=0 , </a:t>
            </a:r>
            <a:r>
              <a:rPr lang="en-US" sz="1200" b="1" i="1">
                <a:latin typeface="Tahoma" charset="0"/>
              </a:rPr>
              <a:t>y</a:t>
            </a:r>
            <a:r>
              <a:rPr lang="en-US" sz="1200">
                <a:latin typeface="Tahoma" charset="0"/>
              </a:rPr>
              <a:t>=3.1415 </a:t>
            </a:r>
            <a:r>
              <a:rPr lang="en-US" sz="1013">
                <a:latin typeface="Tahoma" charset="0"/>
              </a:rPr>
              <a:t>)</a:t>
            </a:r>
          </a:p>
        </p:txBody>
      </p:sp>
      <p:sp>
        <p:nvSpPr>
          <p:cNvPr id="37914" name="Rectangle 27"/>
          <p:cNvSpPr>
            <a:spLocks noChangeArrowheads="1"/>
          </p:cNvSpPr>
          <p:nvPr/>
        </p:nvSpPr>
        <p:spPr bwMode="auto">
          <a:xfrm>
            <a:off x="6471966" y="3443078"/>
            <a:ext cx="230832"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a</a:t>
            </a:r>
          </a:p>
        </p:txBody>
      </p:sp>
      <p:sp>
        <p:nvSpPr>
          <p:cNvPr id="37915" name="Line 28"/>
          <p:cNvSpPr>
            <a:spLocks noChangeShapeType="1"/>
          </p:cNvSpPr>
          <p:nvPr/>
        </p:nvSpPr>
        <p:spPr bwMode="auto">
          <a:xfrm>
            <a:off x="6260035" y="3637150"/>
            <a:ext cx="770334"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916" name="Line 29"/>
          <p:cNvSpPr>
            <a:spLocks noChangeShapeType="1"/>
          </p:cNvSpPr>
          <p:nvPr/>
        </p:nvSpPr>
        <p:spPr bwMode="auto">
          <a:xfrm flipV="1">
            <a:off x="3654029" y="1893094"/>
            <a:ext cx="1388269" cy="463154"/>
          </a:xfrm>
          <a:prstGeom prst="line">
            <a:avLst/>
          </a:prstGeom>
          <a:noFill/>
          <a:ln w="12700">
            <a:solidFill>
              <a:srgbClr val="808080"/>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7917" name="Arc 30"/>
          <p:cNvSpPr>
            <a:spLocks/>
          </p:cNvSpPr>
          <p:nvPr/>
        </p:nvSpPr>
        <p:spPr bwMode="auto">
          <a:xfrm>
            <a:off x="3006786" y="2402585"/>
            <a:ext cx="2035512" cy="1053797"/>
          </a:xfrm>
          <a:custGeom>
            <a:avLst/>
            <a:gdLst>
              <a:gd name="T0" fmla="*/ 0 w 22298"/>
              <a:gd name="T1" fmla="*/ 2147483647 h 21600"/>
              <a:gd name="T2" fmla="*/ 2147483647 w 22298"/>
              <a:gd name="T3" fmla="*/ 2147483647 h 21600"/>
              <a:gd name="T4" fmla="*/ 2147483647 w 22298"/>
              <a:gd name="T5" fmla="*/ 2147483647 h 21600"/>
              <a:gd name="T6" fmla="*/ 0 60000 65536"/>
              <a:gd name="T7" fmla="*/ 0 60000 65536"/>
              <a:gd name="T8" fmla="*/ 0 60000 65536"/>
              <a:gd name="T9" fmla="*/ 0 w 22298"/>
              <a:gd name="T10" fmla="*/ 0 h 21600"/>
              <a:gd name="T11" fmla="*/ 22298 w 22298"/>
              <a:gd name="T12" fmla="*/ 21600 h 21600"/>
            </a:gdLst>
            <a:ahLst/>
            <a:cxnLst>
              <a:cxn ang="T6">
                <a:pos x="T0" y="T1"/>
              </a:cxn>
              <a:cxn ang="T7">
                <a:pos x="T2" y="T3"/>
              </a:cxn>
              <a:cxn ang="T8">
                <a:pos x="T4" y="T5"/>
              </a:cxn>
            </a:cxnLst>
            <a:rect l="T9" t="T10" r="T11" b="T12"/>
            <a:pathLst>
              <a:path w="22298" h="21600" fill="none" extrusionOk="0">
                <a:moveTo>
                  <a:pt x="-1" y="19514"/>
                </a:moveTo>
                <a:cubicBezTo>
                  <a:pt x="1073" y="8445"/>
                  <a:pt x="10377" y="-1"/>
                  <a:pt x="21499" y="0"/>
                </a:cubicBezTo>
                <a:cubicBezTo>
                  <a:pt x="21765" y="0"/>
                  <a:pt x="22031" y="4"/>
                  <a:pt x="22298" y="14"/>
                </a:cubicBezTo>
              </a:path>
              <a:path w="22298" h="21600" stroke="0" extrusionOk="0">
                <a:moveTo>
                  <a:pt x="-1" y="19514"/>
                </a:moveTo>
                <a:cubicBezTo>
                  <a:pt x="1073" y="8445"/>
                  <a:pt x="10377" y="-1"/>
                  <a:pt x="21499" y="0"/>
                </a:cubicBezTo>
                <a:cubicBezTo>
                  <a:pt x="21765" y="0"/>
                  <a:pt x="22031" y="4"/>
                  <a:pt x="22298" y="14"/>
                </a:cubicBezTo>
                <a:lnTo>
                  <a:pt x="21499" y="21600"/>
                </a:lnTo>
                <a:lnTo>
                  <a:pt x="-1" y="19514"/>
                </a:lnTo>
                <a:close/>
              </a:path>
            </a:pathLst>
          </a:custGeom>
          <a:noFill/>
          <a:ln w="12700" cap="rnd">
            <a:solidFill>
              <a:srgbClr val="808080"/>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37918" name="Rectangle 31"/>
          <p:cNvSpPr>
            <a:spLocks noChangeArrowheads="1"/>
          </p:cNvSpPr>
          <p:nvPr/>
        </p:nvSpPr>
        <p:spPr bwMode="auto">
          <a:xfrm>
            <a:off x="4280025" y="2612021"/>
            <a:ext cx="3526631" cy="410275"/>
          </a:xfrm>
          <a:prstGeom prst="rect">
            <a:avLst/>
          </a:prstGeom>
          <a:solidFill>
            <a:srgbClr val="FFBFB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spAutoFit/>
          </a:bodyPr>
          <a:lstStyle/>
          <a:p>
            <a:pPr eaLnBrk="0" hangingPunct="0"/>
            <a:r>
              <a:rPr lang="en-US" sz="1013" b="1">
                <a:solidFill>
                  <a:srgbClr val="0033CC"/>
                </a:solidFill>
                <a:latin typeface="Tahoma" charset="0"/>
              </a:rPr>
              <a:t>State</a:t>
            </a:r>
          </a:p>
          <a:p>
            <a:pPr eaLnBrk="0" hangingPunct="0"/>
            <a:r>
              <a:rPr lang="en-US" sz="1013" b="1">
                <a:latin typeface="Tahoma" charset="0"/>
              </a:rPr>
              <a:t>  </a:t>
            </a:r>
            <a:r>
              <a:rPr lang="en-US" sz="1013">
                <a:latin typeface="Tahoma" charset="0"/>
              </a:rPr>
              <a:t>(</a:t>
            </a:r>
            <a:r>
              <a:rPr lang="en-US" sz="1200">
                <a:latin typeface="Tahoma" charset="0"/>
              </a:rPr>
              <a:t> </a:t>
            </a:r>
            <a:r>
              <a:rPr lang="en-US" sz="1200" b="1" i="1">
                <a:latin typeface="Tahoma" charset="0"/>
              </a:rPr>
              <a:t>location </a:t>
            </a:r>
            <a:r>
              <a:rPr lang="en-US" sz="1200">
                <a:latin typeface="Tahoma" charset="0"/>
              </a:rPr>
              <a:t>, </a:t>
            </a:r>
            <a:r>
              <a:rPr lang="en-US" sz="1200" b="1" i="1">
                <a:latin typeface="Tahoma" charset="0"/>
              </a:rPr>
              <a:t>x</a:t>
            </a:r>
            <a:r>
              <a:rPr lang="en-US" sz="1200">
                <a:latin typeface="Tahoma" charset="0"/>
              </a:rPr>
              <a:t>=v , </a:t>
            </a:r>
            <a:r>
              <a:rPr lang="en-US" sz="1200" b="1" i="1">
                <a:latin typeface="Tahoma" charset="0"/>
              </a:rPr>
              <a:t>y</a:t>
            </a:r>
            <a:r>
              <a:rPr lang="en-US" sz="1200">
                <a:latin typeface="Tahoma" charset="0"/>
              </a:rPr>
              <a:t>=u </a:t>
            </a:r>
            <a:r>
              <a:rPr lang="en-US" sz="1013">
                <a:latin typeface="Tahoma" charset="0"/>
              </a:rPr>
              <a:t>) </a:t>
            </a:r>
            <a:r>
              <a:rPr lang="en-US" sz="1200">
                <a:latin typeface="Tahoma" charset="0"/>
              </a:rPr>
              <a:t>   where v,u are in </a:t>
            </a:r>
            <a:r>
              <a:rPr lang="en-US" sz="1200" b="1">
                <a:latin typeface="Bookman Old Style" charset="0"/>
              </a:rPr>
              <a:t>R</a:t>
            </a:r>
          </a:p>
        </p:txBody>
      </p:sp>
      <p:sp>
        <p:nvSpPr>
          <p:cNvPr id="37919" name="Text Box 32"/>
          <p:cNvSpPr txBox="1">
            <a:spLocks noChangeArrowheads="1"/>
          </p:cNvSpPr>
          <p:nvPr/>
        </p:nvSpPr>
        <p:spPr bwMode="auto">
          <a:xfrm>
            <a:off x="2964100" y="1221582"/>
            <a:ext cx="1313181" cy="5770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1050" b="1">
                <a:latin typeface="Tahoma" charset="0"/>
              </a:rPr>
              <a:t>Action</a:t>
            </a:r>
            <a:endParaRPr lang="en-US" sz="1050">
              <a:latin typeface="Tahoma" charset="0"/>
            </a:endParaRPr>
          </a:p>
          <a:p>
            <a:pPr algn="ctr"/>
            <a:r>
              <a:rPr lang="en-US" sz="1050">
                <a:latin typeface="Tahoma" charset="0"/>
              </a:rPr>
              <a:t>used</a:t>
            </a:r>
          </a:p>
          <a:p>
            <a:pPr algn="ctr"/>
            <a:r>
              <a:rPr lang="en-US" sz="1050">
                <a:latin typeface="Tahoma" charset="0"/>
              </a:rPr>
              <a:t>for synchronization</a:t>
            </a:r>
            <a:endParaRPr lang="en-US" sz="1050">
              <a:solidFill>
                <a:srgbClr val="FF0000"/>
              </a:solidFill>
              <a:latin typeface="Tahoma" charset="0"/>
            </a:endParaRPr>
          </a:p>
        </p:txBody>
      </p:sp>
      <p:sp>
        <p:nvSpPr>
          <p:cNvPr id="37920" name="Text Box 33"/>
          <p:cNvSpPr txBox="1">
            <a:spLocks noChangeArrowheads="1"/>
          </p:cNvSpPr>
          <p:nvPr/>
        </p:nvSpPr>
        <p:spPr bwMode="auto">
          <a:xfrm rot="-904299">
            <a:off x="3481978" y="3571144"/>
            <a:ext cx="1019831" cy="230832"/>
          </a:xfrm>
          <a:prstGeom prst="rect">
            <a:avLst/>
          </a:prstGeom>
          <a:solidFill>
            <a:srgbClr val="91C8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da-DK" sz="900" b="1">
                <a:solidFill>
                  <a:srgbClr val="000099"/>
                </a:solidFill>
                <a:latin typeface="Tahoma" charset="0"/>
              </a:rPr>
              <a:t>Discrete Trans</a:t>
            </a:r>
            <a:endParaRPr lang="en-GB" sz="900" b="1">
              <a:solidFill>
                <a:srgbClr val="000099"/>
              </a:solidFill>
              <a:latin typeface="Tahoma" charset="0"/>
            </a:endParaRPr>
          </a:p>
        </p:txBody>
      </p:sp>
      <p:sp>
        <p:nvSpPr>
          <p:cNvPr id="37921" name="Text Box 34"/>
          <p:cNvSpPr txBox="1">
            <a:spLocks noChangeArrowheads="1"/>
          </p:cNvSpPr>
          <p:nvPr/>
        </p:nvSpPr>
        <p:spPr bwMode="auto">
          <a:xfrm rot="-904299">
            <a:off x="3624201" y="4191460"/>
            <a:ext cx="867545" cy="230832"/>
          </a:xfrm>
          <a:prstGeom prst="rect">
            <a:avLst/>
          </a:prstGeom>
          <a:solidFill>
            <a:srgbClr val="91C8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da-DK" sz="900" b="1">
                <a:solidFill>
                  <a:srgbClr val="000099"/>
                </a:solidFill>
                <a:latin typeface="Tahoma" charset="0"/>
              </a:rPr>
              <a:t>Delay Trans</a:t>
            </a:r>
            <a:endParaRPr lang="en-GB" sz="900" b="1">
              <a:solidFill>
                <a:srgbClr val="000099"/>
              </a:solidFill>
              <a:latin typeface="Tahoma" charset="0"/>
            </a:endParaRPr>
          </a:p>
        </p:txBody>
      </p:sp>
      <p:sp>
        <p:nvSpPr>
          <p:cNvPr id="37922" name="Freeform 35"/>
          <p:cNvSpPr>
            <a:spLocks/>
          </p:cNvSpPr>
          <p:nvPr/>
        </p:nvSpPr>
        <p:spPr bwMode="auto">
          <a:xfrm>
            <a:off x="2087167" y="2232143"/>
            <a:ext cx="1144190" cy="248209"/>
          </a:xfrm>
          <a:custGeom>
            <a:avLst/>
            <a:gdLst>
              <a:gd name="T0" fmla="*/ 2147483647 w 961"/>
              <a:gd name="T1" fmla="*/ 2147483647 h 998"/>
              <a:gd name="T2" fmla="*/ 2147483647 w 961"/>
              <a:gd name="T3" fmla="*/ 2147483647 h 998"/>
              <a:gd name="T4" fmla="*/ 2147483647 w 961"/>
              <a:gd name="T5" fmla="*/ 2147483647 h 998"/>
              <a:gd name="T6" fmla="*/ 2147483647 w 961"/>
              <a:gd name="T7" fmla="*/ 0 h 998"/>
              <a:gd name="T8" fmla="*/ 0 60000 65536"/>
              <a:gd name="T9" fmla="*/ 0 60000 65536"/>
              <a:gd name="T10" fmla="*/ 0 60000 65536"/>
              <a:gd name="T11" fmla="*/ 0 60000 65536"/>
              <a:gd name="T12" fmla="*/ 0 w 961"/>
              <a:gd name="T13" fmla="*/ 0 h 998"/>
              <a:gd name="T14" fmla="*/ 961 w 961"/>
              <a:gd name="T15" fmla="*/ 998 h 998"/>
            </a:gdLst>
            <a:ahLst/>
            <a:cxnLst>
              <a:cxn ang="T8">
                <a:pos x="T0" y="T1"/>
              </a:cxn>
              <a:cxn ang="T9">
                <a:pos x="T2" y="T3"/>
              </a:cxn>
              <a:cxn ang="T10">
                <a:pos x="T4" y="T5"/>
              </a:cxn>
              <a:cxn ang="T11">
                <a:pos x="T6" y="T7"/>
              </a:cxn>
            </a:cxnLst>
            <a:rect l="T12" t="T13" r="T14" b="T15"/>
            <a:pathLst>
              <a:path w="961" h="998">
                <a:moveTo>
                  <a:pt x="273" y="998"/>
                </a:moveTo>
                <a:cubicBezTo>
                  <a:pt x="136" y="922"/>
                  <a:pt x="0" y="846"/>
                  <a:pt x="91" y="725"/>
                </a:cubicBezTo>
                <a:cubicBezTo>
                  <a:pt x="182" y="604"/>
                  <a:pt x="673" y="393"/>
                  <a:pt x="817" y="272"/>
                </a:cubicBezTo>
                <a:cubicBezTo>
                  <a:pt x="961" y="151"/>
                  <a:pt x="957" y="75"/>
                  <a:pt x="953" y="0"/>
                </a:cubicBezTo>
              </a:path>
            </a:pathLst>
          </a:custGeom>
          <a:noFill/>
          <a:ln w="9525">
            <a:solidFill>
              <a:srgbClr val="969696"/>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sv-SE" sz="1013"/>
          </a:p>
        </p:txBody>
      </p:sp>
      <p:sp>
        <p:nvSpPr>
          <p:cNvPr id="2" name="TextBox 1">
            <a:extLst>
              <a:ext uri="{FF2B5EF4-FFF2-40B4-BE49-F238E27FC236}">
                <a16:creationId xmlns:a16="http://schemas.microsoft.com/office/drawing/2014/main" id="{8B9E561A-9C80-46A0-9765-276993982426}"/>
              </a:ext>
            </a:extLst>
          </p:cNvPr>
          <p:cNvSpPr txBox="1"/>
          <p:nvPr/>
        </p:nvSpPr>
        <p:spPr>
          <a:xfrm>
            <a:off x="2633931" y="2649558"/>
            <a:ext cx="356188" cy="248209"/>
          </a:xfrm>
          <a:prstGeom prst="rect">
            <a:avLst/>
          </a:prstGeom>
          <a:noFill/>
        </p:spPr>
        <p:txBody>
          <a:bodyPr wrap="none" rtlCol="0">
            <a:spAutoFit/>
          </a:bodyPr>
          <a:lstStyle/>
          <a:p>
            <a:r>
              <a:rPr lang="en-US" sz="1013" dirty="0">
                <a:solidFill>
                  <a:srgbClr val="00B050"/>
                </a:solidFill>
              </a:rPr>
              <a:t>2.4</a:t>
            </a:r>
          </a:p>
        </p:txBody>
      </p:sp>
      <p:sp>
        <p:nvSpPr>
          <p:cNvPr id="37" name="TextBox 36">
            <a:extLst>
              <a:ext uri="{FF2B5EF4-FFF2-40B4-BE49-F238E27FC236}">
                <a16:creationId xmlns:a16="http://schemas.microsoft.com/office/drawing/2014/main" id="{C130DEE1-6C8D-441D-BD3E-1B295EA74515}"/>
              </a:ext>
            </a:extLst>
          </p:cNvPr>
          <p:cNvSpPr txBox="1"/>
          <p:nvPr/>
        </p:nvSpPr>
        <p:spPr>
          <a:xfrm>
            <a:off x="2625218" y="2886275"/>
            <a:ext cx="356188" cy="248209"/>
          </a:xfrm>
          <a:prstGeom prst="rect">
            <a:avLst/>
          </a:prstGeom>
          <a:noFill/>
        </p:spPr>
        <p:txBody>
          <a:bodyPr wrap="none" rtlCol="0">
            <a:spAutoFit/>
          </a:bodyPr>
          <a:lstStyle/>
          <a:p>
            <a:r>
              <a:rPr lang="en-US" sz="1013" dirty="0">
                <a:solidFill>
                  <a:srgbClr val="00B050"/>
                </a:solidFill>
              </a:rPr>
              <a:t>3.5</a:t>
            </a:r>
          </a:p>
        </p:txBody>
      </p:sp>
      <p:sp>
        <p:nvSpPr>
          <p:cNvPr id="38" name="TextBox 37">
            <a:extLst>
              <a:ext uri="{FF2B5EF4-FFF2-40B4-BE49-F238E27FC236}">
                <a16:creationId xmlns:a16="http://schemas.microsoft.com/office/drawing/2014/main" id="{F55C5EC6-5710-4C93-925E-7D8B83E31E96}"/>
              </a:ext>
            </a:extLst>
          </p:cNvPr>
          <p:cNvSpPr txBox="1"/>
          <p:nvPr/>
        </p:nvSpPr>
        <p:spPr>
          <a:xfrm>
            <a:off x="2633930" y="3123010"/>
            <a:ext cx="356188" cy="248209"/>
          </a:xfrm>
          <a:prstGeom prst="rect">
            <a:avLst/>
          </a:prstGeom>
          <a:noFill/>
        </p:spPr>
        <p:txBody>
          <a:bodyPr wrap="none" rtlCol="0">
            <a:spAutoFit/>
          </a:bodyPr>
          <a:lstStyle/>
          <a:p>
            <a:r>
              <a:rPr lang="en-US" sz="1013" dirty="0">
                <a:solidFill>
                  <a:srgbClr val="FF0000"/>
                </a:solidFill>
              </a:rPr>
              <a:t>5.4</a:t>
            </a:r>
          </a:p>
        </p:txBody>
      </p:sp>
      <p:sp>
        <p:nvSpPr>
          <p:cNvPr id="4" name="TextBox 3">
            <a:extLst>
              <a:ext uri="{FF2B5EF4-FFF2-40B4-BE49-F238E27FC236}">
                <a16:creationId xmlns:a16="http://schemas.microsoft.com/office/drawing/2014/main" id="{FF219BEA-25B3-1FC4-0605-8BCABFD06068}"/>
              </a:ext>
            </a:extLst>
          </p:cNvPr>
          <p:cNvSpPr txBox="1"/>
          <p:nvPr/>
        </p:nvSpPr>
        <p:spPr>
          <a:xfrm>
            <a:off x="1214389" y="2054283"/>
            <a:ext cx="1144190" cy="307777"/>
          </a:xfrm>
          <a:prstGeom prst="rect">
            <a:avLst/>
          </a:prstGeom>
          <a:noFill/>
        </p:spPr>
        <p:txBody>
          <a:bodyPr wrap="square">
            <a:spAutoFit/>
          </a:bodyPr>
          <a:lstStyle/>
          <a:p>
            <a:r>
              <a:rPr lang="en-US" sz="1400" b="1" i="1" dirty="0">
                <a:latin typeface="Tahoma" charset="0"/>
              </a:rPr>
              <a:t>Location</a:t>
            </a:r>
            <a:endParaRPr lang="en-US" dirty="0"/>
          </a:p>
        </p:txBody>
      </p:sp>
      <p:sp>
        <p:nvSpPr>
          <p:cNvPr id="5" name="TextBox 4">
            <a:extLst>
              <a:ext uri="{FF2B5EF4-FFF2-40B4-BE49-F238E27FC236}">
                <a16:creationId xmlns:a16="http://schemas.microsoft.com/office/drawing/2014/main" id="{51BA992F-38CF-75A4-4DB1-85F7CF196E53}"/>
              </a:ext>
            </a:extLst>
          </p:cNvPr>
          <p:cNvSpPr txBox="1"/>
          <p:nvPr/>
        </p:nvSpPr>
        <p:spPr>
          <a:xfrm>
            <a:off x="1147645" y="4059927"/>
            <a:ext cx="1144190" cy="307777"/>
          </a:xfrm>
          <a:prstGeom prst="rect">
            <a:avLst/>
          </a:prstGeom>
          <a:noFill/>
        </p:spPr>
        <p:txBody>
          <a:bodyPr wrap="square">
            <a:spAutoFit/>
          </a:bodyPr>
          <a:lstStyle/>
          <a:p>
            <a:r>
              <a:rPr lang="en-US" sz="1400" b="1" i="1" dirty="0">
                <a:latin typeface="Tahoma" charset="0"/>
              </a:rPr>
              <a:t>Location</a:t>
            </a:r>
            <a:endParaRPr lang="en-US" dirty="0"/>
          </a:p>
        </p:txBody>
      </p:sp>
      <p:sp>
        <p:nvSpPr>
          <p:cNvPr id="6" name="TextBox 5">
            <a:extLst>
              <a:ext uri="{FF2B5EF4-FFF2-40B4-BE49-F238E27FC236}">
                <a16:creationId xmlns:a16="http://schemas.microsoft.com/office/drawing/2014/main" id="{EDC9071B-A959-8435-807A-86C978B41304}"/>
              </a:ext>
            </a:extLst>
          </p:cNvPr>
          <p:cNvSpPr txBox="1"/>
          <p:nvPr/>
        </p:nvSpPr>
        <p:spPr>
          <a:xfrm>
            <a:off x="1779389" y="3172522"/>
            <a:ext cx="657819" cy="307777"/>
          </a:xfrm>
          <a:prstGeom prst="rect">
            <a:avLst/>
          </a:prstGeom>
          <a:noFill/>
        </p:spPr>
        <p:txBody>
          <a:bodyPr wrap="square">
            <a:spAutoFit/>
          </a:bodyPr>
          <a:lstStyle/>
          <a:p>
            <a:r>
              <a:rPr lang="en-US" sz="1400" b="1" i="1" dirty="0">
                <a:latin typeface="Tahoma" charset="0"/>
              </a:rPr>
              <a:t>Edge</a:t>
            </a:r>
            <a:endParaRPr lang="en-US" dirty="0"/>
          </a:p>
        </p:txBody>
      </p:sp>
      <p:sp>
        <p:nvSpPr>
          <p:cNvPr id="7" name="Rectangle 23">
            <a:extLst>
              <a:ext uri="{FF2B5EF4-FFF2-40B4-BE49-F238E27FC236}">
                <a16:creationId xmlns:a16="http://schemas.microsoft.com/office/drawing/2014/main" id="{ACA827DC-63AC-6FCC-8BDF-C2811C7BBBCC}"/>
              </a:ext>
            </a:extLst>
          </p:cNvPr>
          <p:cNvSpPr>
            <a:spLocks noChangeArrowheads="1"/>
          </p:cNvSpPr>
          <p:nvPr/>
        </p:nvSpPr>
        <p:spPr bwMode="auto">
          <a:xfrm>
            <a:off x="4435256" y="4592738"/>
            <a:ext cx="3534965" cy="439064"/>
          </a:xfrm>
          <a:prstGeom prst="rect">
            <a:avLst/>
          </a:prstGeom>
          <a:solidFill>
            <a:srgbClr val="FFBFB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spAutoFit/>
          </a:bodyPr>
          <a:lstStyle/>
          <a:p>
            <a:pPr eaLnBrk="0" hangingPunct="0"/>
            <a:r>
              <a:rPr lang="en-US" sz="1013" dirty="0">
                <a:latin typeface="Tahoma" charset="0"/>
              </a:rPr>
              <a:t>(</a:t>
            </a:r>
            <a:r>
              <a:rPr lang="en-US" sz="1200" dirty="0">
                <a:latin typeface="Tahoma" charset="0"/>
              </a:rPr>
              <a:t> </a:t>
            </a:r>
            <a:r>
              <a:rPr lang="en-US" sz="1200" b="1" i="1" dirty="0">
                <a:latin typeface="Tahoma" charset="0"/>
              </a:rPr>
              <a:t>n </a:t>
            </a:r>
            <a:r>
              <a:rPr lang="en-US" sz="1200" dirty="0">
                <a:latin typeface="Tahoma" charset="0"/>
              </a:rPr>
              <a:t>, </a:t>
            </a:r>
            <a:r>
              <a:rPr lang="en-US" sz="1200" b="1" i="1" dirty="0">
                <a:latin typeface="Tahoma" charset="0"/>
              </a:rPr>
              <a:t>x</a:t>
            </a:r>
            <a:r>
              <a:rPr lang="en-US" sz="1200" dirty="0">
                <a:latin typeface="Tahoma" charset="0"/>
              </a:rPr>
              <a:t>=2.4 ,</a:t>
            </a:r>
            <a:r>
              <a:rPr lang="en-US" sz="1200" b="1" i="1" dirty="0">
                <a:latin typeface="Tahoma" charset="0"/>
              </a:rPr>
              <a:t> y</a:t>
            </a:r>
            <a:r>
              <a:rPr lang="en-US" sz="1200" dirty="0">
                <a:latin typeface="Tahoma" charset="0"/>
              </a:rPr>
              <a:t>=3.1415 </a:t>
            </a:r>
            <a:r>
              <a:rPr lang="en-US" sz="1013" dirty="0">
                <a:latin typeface="Tahoma" charset="0"/>
              </a:rPr>
              <a:t>)</a:t>
            </a:r>
            <a:r>
              <a:rPr lang="en-US" sz="1200" dirty="0">
                <a:latin typeface="Tahoma" charset="0"/>
              </a:rPr>
              <a:t>   </a:t>
            </a:r>
          </a:p>
          <a:p>
            <a:pPr eaLnBrk="0" hangingPunct="0"/>
            <a:r>
              <a:rPr lang="en-US" sz="1200" dirty="0">
                <a:latin typeface="Tahoma" charset="0"/>
              </a:rPr>
              <a:t>                                 </a:t>
            </a:r>
            <a:r>
              <a:rPr lang="en-US" sz="1013" dirty="0">
                <a:latin typeface="Tahoma" charset="0"/>
              </a:rPr>
              <a:t>(</a:t>
            </a:r>
            <a:r>
              <a:rPr lang="en-US" sz="1200" dirty="0">
                <a:latin typeface="Tahoma" charset="0"/>
              </a:rPr>
              <a:t> </a:t>
            </a:r>
            <a:r>
              <a:rPr lang="en-US" sz="1200" b="1" i="1" dirty="0">
                <a:latin typeface="Tahoma" charset="0"/>
              </a:rPr>
              <a:t>n</a:t>
            </a:r>
            <a:r>
              <a:rPr lang="en-US" sz="1200" dirty="0">
                <a:latin typeface="Tahoma" charset="0"/>
              </a:rPr>
              <a:t> , </a:t>
            </a:r>
            <a:r>
              <a:rPr lang="en-US" sz="1200" b="1" i="1" dirty="0">
                <a:latin typeface="Tahoma" charset="0"/>
              </a:rPr>
              <a:t>x</a:t>
            </a:r>
            <a:r>
              <a:rPr lang="en-US" sz="1200" dirty="0">
                <a:latin typeface="Tahoma" charset="0"/>
              </a:rPr>
              <a:t>=5.4 , </a:t>
            </a:r>
            <a:r>
              <a:rPr lang="en-US" sz="1200" b="1" i="1" dirty="0">
                <a:latin typeface="Tahoma" charset="0"/>
              </a:rPr>
              <a:t>y</a:t>
            </a:r>
            <a:r>
              <a:rPr lang="en-US" sz="1200" dirty="0">
                <a:latin typeface="Tahoma" charset="0"/>
              </a:rPr>
              <a:t>=6.1415 </a:t>
            </a:r>
            <a:r>
              <a:rPr lang="en-US" sz="1013" dirty="0">
                <a:latin typeface="Tahoma" charset="0"/>
              </a:rPr>
              <a:t>)</a:t>
            </a:r>
          </a:p>
        </p:txBody>
      </p:sp>
      <p:sp>
        <p:nvSpPr>
          <p:cNvPr id="8" name="Rectangle 24">
            <a:extLst>
              <a:ext uri="{FF2B5EF4-FFF2-40B4-BE49-F238E27FC236}">
                <a16:creationId xmlns:a16="http://schemas.microsoft.com/office/drawing/2014/main" id="{BEDD0097-0594-DC79-C428-38C42EBB889D}"/>
              </a:ext>
            </a:extLst>
          </p:cNvPr>
          <p:cNvSpPr>
            <a:spLocks noChangeArrowheads="1"/>
          </p:cNvSpPr>
          <p:nvPr/>
        </p:nvSpPr>
        <p:spPr bwMode="auto">
          <a:xfrm>
            <a:off x="6334303" y="4549875"/>
            <a:ext cx="553036"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i="1" dirty="0">
                <a:latin typeface="Tahoma" charset="0"/>
              </a:rPr>
              <a:t>e(3.0)</a:t>
            </a:r>
          </a:p>
        </p:txBody>
      </p:sp>
      <p:sp>
        <p:nvSpPr>
          <p:cNvPr id="9" name="Line 25">
            <a:extLst>
              <a:ext uri="{FF2B5EF4-FFF2-40B4-BE49-F238E27FC236}">
                <a16:creationId xmlns:a16="http://schemas.microsoft.com/office/drawing/2014/main" id="{3EB9DAA8-B9DC-B803-BD26-A8F55AEAB151}"/>
              </a:ext>
            </a:extLst>
          </p:cNvPr>
          <p:cNvSpPr>
            <a:spLocks noChangeShapeType="1"/>
          </p:cNvSpPr>
          <p:nvPr/>
        </p:nvSpPr>
        <p:spPr bwMode="auto">
          <a:xfrm>
            <a:off x="6172378" y="4805859"/>
            <a:ext cx="77033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10" name="Text Box 34">
            <a:extLst>
              <a:ext uri="{FF2B5EF4-FFF2-40B4-BE49-F238E27FC236}">
                <a16:creationId xmlns:a16="http://schemas.microsoft.com/office/drawing/2014/main" id="{EEA3CF91-ECF9-ABFB-2FBB-C1036339EA57}"/>
              </a:ext>
            </a:extLst>
          </p:cNvPr>
          <p:cNvSpPr txBox="1">
            <a:spLocks noChangeArrowheads="1"/>
          </p:cNvSpPr>
          <p:nvPr/>
        </p:nvSpPr>
        <p:spPr bwMode="auto">
          <a:xfrm rot="-904299">
            <a:off x="3616316" y="4686276"/>
            <a:ext cx="867545" cy="230832"/>
          </a:xfrm>
          <a:prstGeom prst="rect">
            <a:avLst/>
          </a:prstGeom>
          <a:solidFill>
            <a:srgbClr val="91C8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da-DK" sz="900" b="1">
                <a:solidFill>
                  <a:srgbClr val="000099"/>
                </a:solidFill>
                <a:latin typeface="Tahoma" charset="0"/>
              </a:rPr>
              <a:t>Delay Trans</a:t>
            </a:r>
            <a:endParaRPr lang="en-GB" sz="900" b="1">
              <a:solidFill>
                <a:srgbClr val="000099"/>
              </a:solidFill>
              <a:latin typeface="Tahoma"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 grpId="0"/>
      <p:bldP spid="38" grpId="0"/>
      <p:bldP spid="7" grpId="0" animBg="1"/>
      <p:bldP spid="8" grpId="0"/>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ChangeArrowheads="1"/>
          </p:cNvSpPr>
          <p:nvPr/>
        </p:nvSpPr>
        <p:spPr bwMode="auto">
          <a:xfrm>
            <a:off x="4624387" y="2676246"/>
            <a:ext cx="3376613" cy="248209"/>
          </a:xfrm>
          <a:prstGeom prst="rect">
            <a:avLst/>
          </a:prstGeom>
          <a:solidFill>
            <a:srgbClr val="FFBFBF"/>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nchor="ctr">
            <a:spAutoFit/>
          </a:bodyPr>
          <a:lstStyle/>
          <a:p>
            <a:endParaRPr lang="sv-SE" sz="1013"/>
          </a:p>
        </p:txBody>
      </p:sp>
      <p:sp>
        <p:nvSpPr>
          <p:cNvPr id="39938" name="Oval 3"/>
          <p:cNvSpPr>
            <a:spLocks noChangeArrowheads="1"/>
          </p:cNvSpPr>
          <p:nvPr/>
        </p:nvSpPr>
        <p:spPr bwMode="auto">
          <a:xfrm>
            <a:off x="2788444" y="1423988"/>
            <a:ext cx="539354" cy="639366"/>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39939" name="Oval 4"/>
          <p:cNvSpPr>
            <a:spLocks noChangeArrowheads="1"/>
          </p:cNvSpPr>
          <p:nvPr/>
        </p:nvSpPr>
        <p:spPr bwMode="auto">
          <a:xfrm>
            <a:off x="2807494" y="3505200"/>
            <a:ext cx="540544" cy="639366"/>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39940" name="Line 5"/>
          <p:cNvSpPr>
            <a:spLocks noChangeShapeType="1"/>
          </p:cNvSpPr>
          <p:nvPr/>
        </p:nvSpPr>
        <p:spPr bwMode="auto">
          <a:xfrm flipH="1">
            <a:off x="3050382" y="2068116"/>
            <a:ext cx="8335" cy="14192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41" name="Line 6"/>
          <p:cNvSpPr>
            <a:spLocks noChangeShapeType="1"/>
          </p:cNvSpPr>
          <p:nvPr/>
        </p:nvSpPr>
        <p:spPr bwMode="auto">
          <a:xfrm>
            <a:off x="2681288" y="1427560"/>
            <a:ext cx="154781" cy="13096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42" name="Line 7"/>
          <p:cNvSpPr>
            <a:spLocks noChangeShapeType="1"/>
          </p:cNvSpPr>
          <p:nvPr/>
        </p:nvSpPr>
        <p:spPr bwMode="auto">
          <a:xfrm flipH="1">
            <a:off x="3246835" y="1400175"/>
            <a:ext cx="196453" cy="120254"/>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43" name="Line 8"/>
          <p:cNvSpPr>
            <a:spLocks noChangeShapeType="1"/>
          </p:cNvSpPr>
          <p:nvPr/>
        </p:nvSpPr>
        <p:spPr bwMode="auto">
          <a:xfrm>
            <a:off x="3032522" y="1204913"/>
            <a:ext cx="0" cy="2226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44" name="Line 9"/>
          <p:cNvSpPr>
            <a:spLocks noChangeShapeType="1"/>
          </p:cNvSpPr>
          <p:nvPr/>
        </p:nvSpPr>
        <p:spPr bwMode="auto">
          <a:xfrm flipH="1">
            <a:off x="2621756" y="4054078"/>
            <a:ext cx="247650" cy="15716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45" name="Line 10"/>
          <p:cNvSpPr>
            <a:spLocks noChangeShapeType="1"/>
          </p:cNvSpPr>
          <p:nvPr/>
        </p:nvSpPr>
        <p:spPr bwMode="auto">
          <a:xfrm>
            <a:off x="3057525" y="4155281"/>
            <a:ext cx="42863" cy="21431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46" name="Line 11"/>
          <p:cNvSpPr>
            <a:spLocks noChangeShapeType="1"/>
          </p:cNvSpPr>
          <p:nvPr/>
        </p:nvSpPr>
        <p:spPr bwMode="auto">
          <a:xfrm>
            <a:off x="3212306" y="4090988"/>
            <a:ext cx="163116" cy="25955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47" name="Line 12"/>
          <p:cNvSpPr>
            <a:spLocks noChangeShapeType="1"/>
          </p:cNvSpPr>
          <p:nvPr/>
        </p:nvSpPr>
        <p:spPr bwMode="auto">
          <a:xfrm>
            <a:off x="3323035" y="3988594"/>
            <a:ext cx="248840" cy="17621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48" name="Rectangle 13"/>
          <p:cNvSpPr>
            <a:spLocks noChangeArrowheads="1"/>
          </p:cNvSpPr>
          <p:nvPr/>
        </p:nvSpPr>
        <p:spPr bwMode="auto">
          <a:xfrm>
            <a:off x="2950369" y="1413273"/>
            <a:ext cx="237244"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n</a:t>
            </a:r>
          </a:p>
        </p:txBody>
      </p:sp>
      <p:sp>
        <p:nvSpPr>
          <p:cNvPr id="39949" name="Rectangle 14"/>
          <p:cNvSpPr>
            <a:spLocks noChangeArrowheads="1"/>
          </p:cNvSpPr>
          <p:nvPr/>
        </p:nvSpPr>
        <p:spPr bwMode="auto">
          <a:xfrm>
            <a:off x="2959894" y="3529013"/>
            <a:ext cx="286937"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m</a:t>
            </a:r>
          </a:p>
        </p:txBody>
      </p:sp>
      <p:sp>
        <p:nvSpPr>
          <p:cNvPr id="39950" name="Rectangle 15"/>
          <p:cNvSpPr>
            <a:spLocks noChangeArrowheads="1"/>
          </p:cNvSpPr>
          <p:nvPr/>
        </p:nvSpPr>
        <p:spPr bwMode="auto">
          <a:xfrm>
            <a:off x="3063479" y="2591991"/>
            <a:ext cx="230832"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a</a:t>
            </a:r>
          </a:p>
        </p:txBody>
      </p:sp>
      <p:sp>
        <p:nvSpPr>
          <p:cNvPr id="39951" name="Rectangle 16"/>
          <p:cNvSpPr>
            <a:spLocks noChangeArrowheads="1"/>
          </p:cNvSpPr>
          <p:nvPr/>
        </p:nvSpPr>
        <p:spPr bwMode="auto">
          <a:xfrm>
            <a:off x="4624388" y="1600200"/>
            <a:ext cx="956992"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13" b="1">
                <a:solidFill>
                  <a:srgbClr val="000099"/>
                </a:solidFill>
                <a:latin typeface="Tahoma" charset="0"/>
              </a:rPr>
              <a:t>Clocks:</a:t>
            </a:r>
            <a:r>
              <a:rPr lang="en-US" sz="1013" b="1">
                <a:latin typeface="Tahoma" charset="0"/>
              </a:rPr>
              <a:t>  </a:t>
            </a:r>
            <a:r>
              <a:rPr lang="en-US" sz="1200" b="1" i="1">
                <a:latin typeface="Tahoma" charset="0"/>
              </a:rPr>
              <a:t>x, y</a:t>
            </a:r>
          </a:p>
        </p:txBody>
      </p:sp>
      <p:sp>
        <p:nvSpPr>
          <p:cNvPr id="39952" name="Rectangle 17"/>
          <p:cNvSpPr>
            <a:spLocks noChangeArrowheads="1"/>
          </p:cNvSpPr>
          <p:nvPr/>
        </p:nvSpPr>
        <p:spPr bwMode="auto">
          <a:xfrm>
            <a:off x="3088481" y="2183607"/>
            <a:ext cx="1106072"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x&lt;=5 &amp; y&gt;3</a:t>
            </a:r>
          </a:p>
        </p:txBody>
      </p:sp>
      <p:sp>
        <p:nvSpPr>
          <p:cNvPr id="39953" name="Rectangle 18"/>
          <p:cNvSpPr>
            <a:spLocks noChangeArrowheads="1"/>
          </p:cNvSpPr>
          <p:nvPr/>
        </p:nvSpPr>
        <p:spPr bwMode="auto">
          <a:xfrm>
            <a:off x="3106341" y="3128963"/>
            <a:ext cx="60272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x := 0</a:t>
            </a:r>
          </a:p>
        </p:txBody>
      </p:sp>
      <p:sp>
        <p:nvSpPr>
          <p:cNvPr id="39954" name="Rectangle 19"/>
          <p:cNvSpPr>
            <a:spLocks noChangeArrowheads="1"/>
          </p:cNvSpPr>
          <p:nvPr/>
        </p:nvSpPr>
        <p:spPr bwMode="auto">
          <a:xfrm>
            <a:off x="4572000" y="2000250"/>
            <a:ext cx="867224" cy="2256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13" b="1">
                <a:solidFill>
                  <a:srgbClr val="000099"/>
                </a:solidFill>
                <a:latin typeface="Tahoma" charset="0"/>
              </a:rPr>
              <a:t>Transitions</a:t>
            </a:r>
            <a:endParaRPr lang="en-US" sz="1013" b="1">
              <a:latin typeface="Tahoma" charset="0"/>
            </a:endParaRPr>
          </a:p>
        </p:txBody>
      </p:sp>
      <p:sp>
        <p:nvSpPr>
          <p:cNvPr id="39955" name="Rectangle 20"/>
          <p:cNvSpPr>
            <a:spLocks noChangeArrowheads="1"/>
          </p:cNvSpPr>
          <p:nvPr/>
        </p:nvSpPr>
        <p:spPr bwMode="auto">
          <a:xfrm>
            <a:off x="4606528" y="2857501"/>
            <a:ext cx="3385670" cy="4390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13">
                <a:latin typeface="Tahoma" charset="0"/>
              </a:rPr>
              <a:t>(</a:t>
            </a:r>
            <a:r>
              <a:rPr lang="en-US" sz="1200">
                <a:latin typeface="Tahoma" charset="0"/>
              </a:rPr>
              <a:t> </a:t>
            </a:r>
            <a:r>
              <a:rPr lang="en-US" sz="1200" b="1" i="1">
                <a:latin typeface="Tahoma" charset="0"/>
              </a:rPr>
              <a:t>n </a:t>
            </a:r>
            <a:r>
              <a:rPr lang="en-US" sz="1200">
                <a:latin typeface="Tahoma" charset="0"/>
              </a:rPr>
              <a:t>, </a:t>
            </a:r>
            <a:r>
              <a:rPr lang="en-US" sz="1200" b="1" i="1">
                <a:latin typeface="Tahoma" charset="0"/>
              </a:rPr>
              <a:t>x</a:t>
            </a:r>
            <a:r>
              <a:rPr lang="en-US" sz="1200">
                <a:latin typeface="Tahoma" charset="0"/>
              </a:rPr>
              <a:t>=2.4 ,</a:t>
            </a:r>
            <a:r>
              <a:rPr lang="en-US" sz="1200" b="1" i="1">
                <a:latin typeface="Tahoma" charset="0"/>
              </a:rPr>
              <a:t> y</a:t>
            </a:r>
            <a:r>
              <a:rPr lang="en-US" sz="1200">
                <a:latin typeface="Tahoma" charset="0"/>
              </a:rPr>
              <a:t>=3.1415 </a:t>
            </a:r>
            <a:r>
              <a:rPr lang="en-US" sz="1013">
                <a:latin typeface="Tahoma" charset="0"/>
              </a:rPr>
              <a:t>)</a:t>
            </a:r>
            <a:r>
              <a:rPr lang="en-US" sz="1200">
                <a:latin typeface="Tahoma" charset="0"/>
              </a:rPr>
              <a:t>   </a:t>
            </a:r>
          </a:p>
          <a:p>
            <a:pPr eaLnBrk="0" hangingPunct="0"/>
            <a:r>
              <a:rPr lang="en-US" sz="1200">
                <a:latin typeface="Tahoma" charset="0"/>
              </a:rPr>
              <a:t>                                 </a:t>
            </a:r>
            <a:r>
              <a:rPr lang="en-US" sz="1013">
                <a:latin typeface="Tahoma" charset="0"/>
              </a:rPr>
              <a:t>(</a:t>
            </a:r>
            <a:r>
              <a:rPr lang="en-US" sz="1200">
                <a:latin typeface="Tahoma" charset="0"/>
              </a:rPr>
              <a:t> </a:t>
            </a:r>
            <a:r>
              <a:rPr lang="en-US" sz="1200" b="1" i="1">
                <a:latin typeface="Tahoma" charset="0"/>
              </a:rPr>
              <a:t>n</a:t>
            </a:r>
            <a:r>
              <a:rPr lang="en-US" sz="1200">
                <a:latin typeface="Tahoma" charset="0"/>
              </a:rPr>
              <a:t> , </a:t>
            </a:r>
            <a:r>
              <a:rPr lang="en-US" sz="1200" b="1" i="1">
                <a:latin typeface="Tahoma" charset="0"/>
              </a:rPr>
              <a:t>x</a:t>
            </a:r>
            <a:r>
              <a:rPr lang="en-US" sz="1200">
                <a:latin typeface="Tahoma" charset="0"/>
              </a:rPr>
              <a:t>=3.5 , </a:t>
            </a:r>
            <a:r>
              <a:rPr lang="en-US" sz="1200" b="1" i="1">
                <a:latin typeface="Tahoma" charset="0"/>
              </a:rPr>
              <a:t>y</a:t>
            </a:r>
            <a:r>
              <a:rPr lang="en-US" sz="1200">
                <a:latin typeface="Tahoma" charset="0"/>
              </a:rPr>
              <a:t>=4.2415 </a:t>
            </a:r>
            <a:r>
              <a:rPr lang="en-US" sz="1013">
                <a:latin typeface="Tahoma" charset="0"/>
              </a:rPr>
              <a:t>)</a:t>
            </a:r>
          </a:p>
        </p:txBody>
      </p:sp>
      <p:sp>
        <p:nvSpPr>
          <p:cNvPr id="39956" name="Rectangle 21"/>
          <p:cNvSpPr>
            <a:spLocks noChangeArrowheads="1"/>
          </p:cNvSpPr>
          <p:nvPr/>
        </p:nvSpPr>
        <p:spPr bwMode="auto">
          <a:xfrm>
            <a:off x="6329363" y="2746773"/>
            <a:ext cx="1130117"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i="1">
                <a:latin typeface="Tahoma" charset="0"/>
              </a:rPr>
              <a:t>            e(1.1)</a:t>
            </a:r>
          </a:p>
        </p:txBody>
      </p:sp>
      <p:sp>
        <p:nvSpPr>
          <p:cNvPr id="39957" name="Line 22"/>
          <p:cNvSpPr>
            <a:spLocks noChangeShapeType="1"/>
          </p:cNvSpPr>
          <p:nvPr/>
        </p:nvSpPr>
        <p:spPr bwMode="auto">
          <a:xfrm>
            <a:off x="6629400" y="2971800"/>
            <a:ext cx="77033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58" name="Rectangle 23"/>
          <p:cNvSpPr>
            <a:spLocks noChangeArrowheads="1"/>
          </p:cNvSpPr>
          <p:nvPr/>
        </p:nvSpPr>
        <p:spPr bwMode="auto">
          <a:xfrm>
            <a:off x="4677967" y="2400301"/>
            <a:ext cx="2801540" cy="4390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9056" tIns="34529" rIns="69056" bIns="34529">
            <a:spAutoFit/>
          </a:bodyPr>
          <a:lstStyle/>
          <a:p>
            <a:pPr eaLnBrk="0" hangingPunct="0"/>
            <a:r>
              <a:rPr lang="en-US" sz="1013">
                <a:latin typeface="Tahoma" charset="0"/>
              </a:rPr>
              <a:t>(</a:t>
            </a:r>
            <a:r>
              <a:rPr lang="en-US" sz="1200">
                <a:latin typeface="Tahoma" charset="0"/>
              </a:rPr>
              <a:t> </a:t>
            </a:r>
            <a:r>
              <a:rPr lang="en-US" sz="1200" b="1" i="1">
                <a:latin typeface="Tahoma" charset="0"/>
              </a:rPr>
              <a:t>n </a:t>
            </a:r>
            <a:r>
              <a:rPr lang="en-US" sz="1200">
                <a:latin typeface="Tahoma" charset="0"/>
              </a:rPr>
              <a:t>, </a:t>
            </a:r>
            <a:r>
              <a:rPr lang="en-US" sz="1200" b="1" i="1">
                <a:latin typeface="Tahoma" charset="0"/>
              </a:rPr>
              <a:t>x</a:t>
            </a:r>
            <a:r>
              <a:rPr lang="en-US" sz="1200">
                <a:latin typeface="Tahoma" charset="0"/>
              </a:rPr>
              <a:t>=2.4 ,</a:t>
            </a:r>
            <a:r>
              <a:rPr lang="en-US" sz="1200" b="1" i="1">
                <a:latin typeface="Tahoma" charset="0"/>
              </a:rPr>
              <a:t> y</a:t>
            </a:r>
            <a:r>
              <a:rPr lang="en-US" sz="1200">
                <a:latin typeface="Tahoma" charset="0"/>
              </a:rPr>
              <a:t>=3.1415 </a:t>
            </a:r>
            <a:r>
              <a:rPr lang="en-US" sz="1013">
                <a:latin typeface="Tahoma" charset="0"/>
              </a:rPr>
              <a:t>)</a:t>
            </a:r>
            <a:r>
              <a:rPr lang="en-US" sz="1200">
                <a:latin typeface="Tahoma" charset="0"/>
              </a:rPr>
              <a:t>   </a:t>
            </a:r>
          </a:p>
          <a:p>
            <a:pPr eaLnBrk="0" hangingPunct="0"/>
            <a:r>
              <a:rPr lang="en-US" sz="1200">
                <a:latin typeface="Tahoma" charset="0"/>
              </a:rPr>
              <a:t>                                 </a:t>
            </a:r>
            <a:r>
              <a:rPr lang="en-US" sz="1013">
                <a:latin typeface="Tahoma" charset="0"/>
              </a:rPr>
              <a:t> </a:t>
            </a:r>
          </a:p>
        </p:txBody>
      </p:sp>
      <p:sp>
        <p:nvSpPr>
          <p:cNvPr id="39959" name="Rectangle 24"/>
          <p:cNvSpPr>
            <a:spLocks noChangeArrowheads="1"/>
          </p:cNvSpPr>
          <p:nvPr/>
        </p:nvSpPr>
        <p:spPr bwMode="auto">
          <a:xfrm>
            <a:off x="6332935" y="2268141"/>
            <a:ext cx="841576"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i="1">
                <a:latin typeface="Tahoma" charset="0"/>
              </a:rPr>
              <a:t>      e(3.2)</a:t>
            </a:r>
          </a:p>
        </p:txBody>
      </p:sp>
      <p:sp>
        <p:nvSpPr>
          <p:cNvPr id="39960" name="Line 25"/>
          <p:cNvSpPr>
            <a:spLocks noChangeShapeType="1"/>
          </p:cNvSpPr>
          <p:nvPr/>
        </p:nvSpPr>
        <p:spPr bwMode="auto">
          <a:xfrm>
            <a:off x="6515100" y="2571750"/>
            <a:ext cx="77033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61" name="Rectangle 26"/>
          <p:cNvSpPr>
            <a:spLocks noChangeArrowheads="1"/>
          </p:cNvSpPr>
          <p:nvPr/>
        </p:nvSpPr>
        <p:spPr bwMode="auto">
          <a:xfrm>
            <a:off x="2743200" y="1657350"/>
            <a:ext cx="583493"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dirty="0">
                <a:latin typeface="Tahoma" charset="0"/>
              </a:rPr>
              <a:t>x&lt;=5</a:t>
            </a:r>
          </a:p>
        </p:txBody>
      </p:sp>
      <p:sp>
        <p:nvSpPr>
          <p:cNvPr id="39962" name="Rectangle 27"/>
          <p:cNvSpPr>
            <a:spLocks noChangeArrowheads="1"/>
          </p:cNvSpPr>
          <p:nvPr/>
        </p:nvSpPr>
        <p:spPr bwMode="auto">
          <a:xfrm>
            <a:off x="2743201" y="3771900"/>
            <a:ext cx="676467"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y&lt;=10</a:t>
            </a:r>
          </a:p>
        </p:txBody>
      </p:sp>
      <p:sp>
        <p:nvSpPr>
          <p:cNvPr id="39963" name="Line 28"/>
          <p:cNvSpPr>
            <a:spLocks noChangeShapeType="1"/>
          </p:cNvSpPr>
          <p:nvPr/>
        </p:nvSpPr>
        <p:spPr bwMode="auto">
          <a:xfrm flipV="1">
            <a:off x="6686550" y="2228850"/>
            <a:ext cx="291704" cy="483394"/>
          </a:xfrm>
          <a:prstGeom prst="line">
            <a:avLst/>
          </a:prstGeom>
          <a:noFill/>
          <a:ln w="25400">
            <a:solidFill>
              <a:srgbClr val="FF0000"/>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64" name="Line 29"/>
          <p:cNvSpPr>
            <a:spLocks noChangeShapeType="1"/>
          </p:cNvSpPr>
          <p:nvPr/>
        </p:nvSpPr>
        <p:spPr bwMode="auto">
          <a:xfrm>
            <a:off x="6738938" y="2250282"/>
            <a:ext cx="163116" cy="454819"/>
          </a:xfrm>
          <a:prstGeom prst="line">
            <a:avLst/>
          </a:prstGeom>
          <a:noFill/>
          <a:ln w="25400">
            <a:solidFill>
              <a:srgbClr val="FF0000"/>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39965" name="Rectangle 30"/>
          <p:cNvSpPr>
            <a:spLocks noChangeArrowheads="1"/>
          </p:cNvSpPr>
          <p:nvPr/>
        </p:nvSpPr>
        <p:spPr bwMode="auto">
          <a:xfrm>
            <a:off x="1724025" y="2384823"/>
            <a:ext cx="814069" cy="4390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a:latin typeface="Tahoma" charset="0"/>
              </a:rPr>
              <a:t>Location</a:t>
            </a:r>
          </a:p>
          <a:p>
            <a:pPr eaLnBrk="0" hangingPunct="0"/>
            <a:r>
              <a:rPr lang="en-US" sz="1200">
                <a:latin typeface="Tahoma" charset="0"/>
              </a:rPr>
              <a:t>Invariants</a:t>
            </a:r>
          </a:p>
        </p:txBody>
      </p:sp>
      <p:sp>
        <p:nvSpPr>
          <p:cNvPr id="39966" name="Arc 31"/>
          <p:cNvSpPr>
            <a:spLocks/>
          </p:cNvSpPr>
          <p:nvPr/>
        </p:nvSpPr>
        <p:spPr bwMode="auto">
          <a:xfrm>
            <a:off x="1977629" y="1741885"/>
            <a:ext cx="762000" cy="547688"/>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2"/>
                  <a:pt x="9651" y="17"/>
                  <a:pt x="21569" y="0"/>
                </a:cubicBezTo>
              </a:path>
              <a:path w="21600" h="21600" stroke="0" extrusionOk="0">
                <a:moveTo>
                  <a:pt x="0" y="21600"/>
                </a:moveTo>
                <a:cubicBezTo>
                  <a:pt x="0" y="9682"/>
                  <a:pt x="9651" y="17"/>
                  <a:pt x="21569" y="0"/>
                </a:cubicBezTo>
                <a:lnTo>
                  <a:pt x="21600" y="21600"/>
                </a:ln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39967" name="Arc 32"/>
          <p:cNvSpPr>
            <a:spLocks/>
          </p:cNvSpPr>
          <p:nvPr/>
        </p:nvSpPr>
        <p:spPr bwMode="auto">
          <a:xfrm>
            <a:off x="1908572" y="2872979"/>
            <a:ext cx="898922" cy="1020365"/>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39968" name="Rectangle 33"/>
          <p:cNvSpPr>
            <a:spLocks noChangeArrowheads="1"/>
          </p:cNvSpPr>
          <p:nvPr/>
        </p:nvSpPr>
        <p:spPr bwMode="auto">
          <a:xfrm>
            <a:off x="2631281" y="4175523"/>
            <a:ext cx="33342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g1</a:t>
            </a:r>
          </a:p>
        </p:txBody>
      </p:sp>
      <p:sp>
        <p:nvSpPr>
          <p:cNvPr id="39969" name="Rectangle 34"/>
          <p:cNvSpPr>
            <a:spLocks noChangeArrowheads="1"/>
          </p:cNvSpPr>
          <p:nvPr/>
        </p:nvSpPr>
        <p:spPr bwMode="auto">
          <a:xfrm>
            <a:off x="3051572" y="4305300"/>
            <a:ext cx="33342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g2</a:t>
            </a:r>
          </a:p>
        </p:txBody>
      </p:sp>
      <p:sp>
        <p:nvSpPr>
          <p:cNvPr id="39970" name="Rectangle 35"/>
          <p:cNvSpPr>
            <a:spLocks noChangeArrowheads="1"/>
          </p:cNvSpPr>
          <p:nvPr/>
        </p:nvSpPr>
        <p:spPr bwMode="auto">
          <a:xfrm>
            <a:off x="3325416" y="4231482"/>
            <a:ext cx="33342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g3</a:t>
            </a:r>
          </a:p>
        </p:txBody>
      </p:sp>
      <p:sp>
        <p:nvSpPr>
          <p:cNvPr id="39971" name="Rectangle 36"/>
          <p:cNvSpPr>
            <a:spLocks noChangeArrowheads="1"/>
          </p:cNvSpPr>
          <p:nvPr/>
        </p:nvSpPr>
        <p:spPr bwMode="auto">
          <a:xfrm>
            <a:off x="3530204" y="3942160"/>
            <a:ext cx="33342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latin typeface="Tahoma" charset="0"/>
              </a:rPr>
              <a:t>g4</a:t>
            </a:r>
          </a:p>
        </p:txBody>
      </p:sp>
      <p:sp>
        <p:nvSpPr>
          <p:cNvPr id="39972" name="Rectangle 37"/>
          <p:cNvSpPr>
            <a:spLocks noGrp="1" noChangeArrowheads="1"/>
          </p:cNvSpPr>
          <p:nvPr>
            <p:ph type="title"/>
          </p:nvPr>
        </p:nvSpPr>
        <p:spPr>
          <a:xfrm>
            <a:off x="991174" y="434866"/>
            <a:ext cx="7266425" cy="885180"/>
          </a:xfrm>
        </p:spPr>
        <p:txBody>
          <a:bodyPr>
            <a:normAutofit/>
          </a:bodyPr>
          <a:lstStyle/>
          <a:p>
            <a:pPr algn="ctr" eaLnBrk="1" hangingPunct="1"/>
            <a:r>
              <a:rPr lang="en-US" sz="2800" b="1" dirty="0">
                <a:latin typeface="Arial" charset="0"/>
              </a:rPr>
              <a:t>Timed Automata </a:t>
            </a:r>
            <a:r>
              <a:rPr lang="en-US" sz="1800" b="1" dirty="0">
                <a:solidFill>
                  <a:schemeClr val="tx1"/>
                </a:solidFill>
                <a:latin typeface="Arial" charset="0"/>
              </a:rPr>
              <a:t>with Invariants</a:t>
            </a:r>
          </a:p>
        </p:txBody>
      </p:sp>
      <p:sp>
        <p:nvSpPr>
          <p:cNvPr id="26662" name="AutoShape 38"/>
          <p:cNvSpPr>
            <a:spLocks noChangeArrowheads="1"/>
          </p:cNvSpPr>
          <p:nvPr/>
        </p:nvSpPr>
        <p:spPr bwMode="auto">
          <a:xfrm>
            <a:off x="5047060" y="3714750"/>
            <a:ext cx="2215753" cy="1178719"/>
          </a:xfrm>
          <a:prstGeom prst="wedgeRoundRectCallout">
            <a:avLst>
              <a:gd name="adj1" fmla="val 42102"/>
              <a:gd name="adj2" fmla="val -80505"/>
              <a:gd name="adj3" fmla="val 16667"/>
            </a:avLst>
          </a:prstGeom>
          <a:solidFill>
            <a:srgbClr val="BFDFFF"/>
          </a:solidFill>
          <a:ln w="9525">
            <a:solidFill>
              <a:schemeClr val="tx1"/>
            </a:solidFill>
            <a:miter lim="800000"/>
            <a:headEnd/>
            <a:tailEnd/>
          </a:ln>
          <a:effectLst>
            <a:outerShdw dist="107763" dir="2700000" algn="ctr" rotWithShape="0">
              <a:schemeClr val="bg2"/>
            </a:outerShdw>
          </a:effectLst>
        </p:spPr>
        <p:txBody>
          <a:bodyPr/>
          <a:lstStyle/>
          <a:p>
            <a:pPr algn="ctr" eaLnBrk="0" hangingPunct="0">
              <a:defRPr/>
            </a:pPr>
            <a:r>
              <a:rPr lang="da-DK" sz="2100" b="1">
                <a:solidFill>
                  <a:srgbClr val="000099"/>
                </a:solidFill>
                <a:latin typeface="Tahoma" pitchFamily="34" charset="0"/>
              </a:rPr>
              <a:t>Invariants ensure progress!!</a:t>
            </a:r>
            <a:endParaRPr lang="en-GB" sz="2100" b="1">
              <a:solidFill>
                <a:srgbClr val="000099"/>
              </a:solidFill>
              <a:latin typeface="Tahoma" pitchFamily="34" charset="0"/>
            </a:endParaRPr>
          </a:p>
        </p:txBody>
      </p:sp>
      <p:sp>
        <p:nvSpPr>
          <p:cNvPr id="2" name="TextBox 1">
            <a:extLst>
              <a:ext uri="{FF2B5EF4-FFF2-40B4-BE49-F238E27FC236}">
                <a16:creationId xmlns:a16="http://schemas.microsoft.com/office/drawing/2014/main" id="{DD718075-3D93-4332-9B8A-0080E31BE3C1}"/>
              </a:ext>
            </a:extLst>
          </p:cNvPr>
          <p:cNvSpPr txBox="1"/>
          <p:nvPr/>
        </p:nvSpPr>
        <p:spPr>
          <a:xfrm>
            <a:off x="3075033" y="2178089"/>
            <a:ext cx="580187" cy="276999"/>
          </a:xfrm>
          <a:prstGeom prst="rect">
            <a:avLst/>
          </a:prstGeom>
          <a:solidFill>
            <a:schemeClr val="bg1"/>
          </a:solidFill>
        </p:spPr>
        <p:txBody>
          <a:bodyPr wrap="square" rtlCol="0">
            <a:spAutoFit/>
          </a:bodyPr>
          <a:lstStyle/>
          <a:p>
            <a:r>
              <a:rPr lang="en-US" sz="1200" b="1" dirty="0">
                <a:solidFill>
                  <a:srgbClr val="FF0000"/>
                </a:solidFill>
              </a:rPr>
              <a:t>x &gt; 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938787" y="1009082"/>
            <a:ext cx="7266425" cy="885180"/>
          </a:xfrm>
        </p:spPr>
        <p:txBody>
          <a:bodyPr/>
          <a:lstStyle/>
          <a:p>
            <a:r>
              <a:rPr lang="sv-SE" b="1" dirty="0"/>
              <a:t>Clock </a:t>
            </a:r>
            <a:r>
              <a:rPr lang="sv-SE" b="1" dirty="0" err="1"/>
              <a:t>Constraints</a:t>
            </a:r>
            <a:endParaRPr lang="sv-SE" b="1" dirty="0"/>
          </a:p>
        </p:txBody>
      </p:sp>
      <p:graphicFrame>
        <p:nvGraphicFramePr>
          <p:cNvPr id="4" name="Object 3"/>
          <p:cNvGraphicFramePr>
            <a:graphicFrameLocks noChangeAspect="1"/>
          </p:cNvGraphicFramePr>
          <p:nvPr>
            <p:extLst>
              <p:ext uri="{D42A27DB-BD31-4B8C-83A1-F6EECF244321}">
                <p14:modId xmlns:p14="http://schemas.microsoft.com/office/powerpoint/2010/main" val="3135922069"/>
              </p:ext>
            </p:extLst>
          </p:nvPr>
        </p:nvGraphicFramePr>
        <p:xfrm>
          <a:off x="1175473" y="2196122"/>
          <a:ext cx="6473014" cy="2106234"/>
        </p:xfrm>
        <a:graphic>
          <a:graphicData uri="http://schemas.openxmlformats.org/presentationml/2006/ole">
            <mc:AlternateContent xmlns:mc="http://schemas.openxmlformats.org/markup-compatibility/2006">
              <mc:Choice xmlns:v="urn:schemas-microsoft-com:vml" Requires="v">
                <p:oleObj name="Bitmap Image" r:id="rId3" imgW="8326012" imgH="2638095" progId="Paint.Picture">
                  <p:embed/>
                </p:oleObj>
              </mc:Choice>
              <mc:Fallback>
                <p:oleObj name="Bitmap Image" r:id="rId3" imgW="8326012" imgH="2638095" progId="Paint.Picture">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5473" y="2196122"/>
                        <a:ext cx="6473014" cy="210623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529748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20D0B58B-68AA-A541-911A-372837DFAAEC}" type="slidenum">
              <a:rPr lang="en-US" sz="900" b="0">
                <a:solidFill>
                  <a:schemeClr val="bg2"/>
                </a:solidFill>
              </a:rPr>
              <a:pPr/>
              <a:t>28</a:t>
            </a:fld>
            <a:endParaRPr lang="en-US" sz="900" b="0">
              <a:solidFill>
                <a:schemeClr val="bg2"/>
              </a:solidFill>
            </a:endParaRPr>
          </a:p>
        </p:txBody>
      </p:sp>
      <p:sp>
        <p:nvSpPr>
          <p:cNvPr id="44034" name="Rectangle 2"/>
          <p:cNvSpPr>
            <a:spLocks noGrp="1" noChangeArrowheads="1"/>
          </p:cNvSpPr>
          <p:nvPr>
            <p:ph type="title"/>
          </p:nvPr>
        </p:nvSpPr>
        <p:spPr/>
        <p:txBody>
          <a:bodyPr/>
          <a:lstStyle/>
          <a:p>
            <a:r>
              <a:rPr lang="en-US">
                <a:latin typeface="Arial Black" charset="0"/>
              </a:rPr>
              <a:t>Timed Automata: Example</a:t>
            </a:r>
          </a:p>
        </p:txBody>
      </p:sp>
      <p:sp>
        <p:nvSpPr>
          <p:cNvPr id="44035" name="Rectangle 3"/>
          <p:cNvSpPr>
            <a:spLocks noChangeArrowheads="1"/>
          </p:cNvSpPr>
          <p:nvPr/>
        </p:nvSpPr>
        <p:spPr bwMode="auto">
          <a:xfrm>
            <a:off x="1617784" y="1885950"/>
            <a:ext cx="2268416" cy="2228850"/>
          </a:xfrm>
          <a:prstGeom prst="rect">
            <a:avLst/>
          </a:prstGeom>
          <a:solidFill>
            <a:srgbClr val="FFFF99"/>
          </a:solidFill>
          <a:ln w="9525">
            <a:solidFill>
              <a:schemeClr val="tx1"/>
            </a:solidFill>
            <a:miter lim="800000"/>
            <a:headEnd/>
            <a:tailEnd/>
          </a:ln>
        </p:spPr>
        <p:txBody>
          <a:bodyPr wrap="none" anchor="ctr"/>
          <a:lstStyle/>
          <a:p>
            <a:pPr eaLnBrk="1" hangingPunct="1"/>
            <a:endParaRPr lang="en-GB" sz="1800"/>
          </a:p>
        </p:txBody>
      </p:sp>
      <p:sp>
        <p:nvSpPr>
          <p:cNvPr id="44036" name="Oval 4"/>
          <p:cNvSpPr>
            <a:spLocks noChangeArrowheads="1"/>
          </p:cNvSpPr>
          <p:nvPr/>
        </p:nvSpPr>
        <p:spPr bwMode="auto">
          <a:xfrm>
            <a:off x="2356339" y="2628900"/>
            <a:ext cx="738554" cy="80010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i="1" dirty="0">
                <a:latin typeface="Times New Roman" charset="0"/>
              </a:rPr>
              <a:t>  l</a:t>
            </a:r>
            <a:endParaRPr lang="en-GB" sz="1800" i="1" dirty="0">
              <a:latin typeface="Times New Roman" charset="0"/>
            </a:endParaRPr>
          </a:p>
        </p:txBody>
      </p:sp>
      <p:sp>
        <p:nvSpPr>
          <p:cNvPr id="44037" name="Line 5"/>
          <p:cNvSpPr>
            <a:spLocks noChangeShapeType="1"/>
          </p:cNvSpPr>
          <p:nvPr/>
        </p:nvSpPr>
        <p:spPr bwMode="auto">
          <a:xfrm>
            <a:off x="1828800" y="3028950"/>
            <a:ext cx="527539"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cxnSp>
        <p:nvCxnSpPr>
          <p:cNvPr id="44038" name="AutoShape 6"/>
          <p:cNvCxnSpPr>
            <a:cxnSpLocks noChangeShapeType="1"/>
            <a:stCxn id="44036" idx="7"/>
            <a:endCxn id="44036" idx="5"/>
          </p:cNvCxnSpPr>
          <p:nvPr/>
        </p:nvCxnSpPr>
        <p:spPr bwMode="auto">
          <a:xfrm rot="5400000" flipV="1">
            <a:off x="2704367" y="3028400"/>
            <a:ext cx="566738" cy="1100"/>
          </a:xfrm>
          <a:prstGeom prst="curvedConnector5">
            <a:avLst>
              <a:gd name="adj1" fmla="val -50843"/>
              <a:gd name="adj2" fmla="val 71800032"/>
              <a:gd name="adj3" fmla="val 150843"/>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4039" name="Text Box 7"/>
          <p:cNvSpPr txBox="1">
            <a:spLocks noChangeArrowheads="1"/>
          </p:cNvSpPr>
          <p:nvPr/>
        </p:nvSpPr>
        <p:spPr bwMode="auto">
          <a:xfrm>
            <a:off x="3136656" y="2138363"/>
            <a:ext cx="633507"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X&gt;=2</a:t>
            </a:r>
            <a:endParaRPr lang="en-GB" sz="1350" b="0"/>
          </a:p>
        </p:txBody>
      </p:sp>
      <p:sp>
        <p:nvSpPr>
          <p:cNvPr id="44040" name="Text Box 8"/>
          <p:cNvSpPr txBox="1">
            <a:spLocks noChangeArrowheads="1"/>
          </p:cNvSpPr>
          <p:nvPr/>
        </p:nvSpPr>
        <p:spPr bwMode="auto">
          <a:xfrm>
            <a:off x="3094892" y="3600451"/>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
        <p:nvSpPr>
          <p:cNvPr id="44041" name="Text Box 9"/>
          <p:cNvSpPr txBox="1">
            <a:spLocks noChangeArrowheads="1"/>
          </p:cNvSpPr>
          <p:nvPr/>
        </p:nvSpPr>
        <p:spPr bwMode="auto">
          <a:xfrm>
            <a:off x="1817810" y="2709862"/>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Tree>
    <p:extLst>
      <p:ext uri="{BB962C8B-B14F-4D97-AF65-F5344CB8AC3E}">
        <p14:creationId xmlns:p14="http://schemas.microsoft.com/office/powerpoint/2010/main" val="3395906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20D0B58B-68AA-A541-911A-372837DFAAEC}" type="slidenum">
              <a:rPr lang="en-US" sz="900" b="0">
                <a:solidFill>
                  <a:schemeClr val="bg2"/>
                </a:solidFill>
              </a:rPr>
              <a:pPr/>
              <a:t>29</a:t>
            </a:fld>
            <a:endParaRPr lang="en-US" sz="900" b="0">
              <a:solidFill>
                <a:schemeClr val="bg2"/>
              </a:solidFill>
            </a:endParaRPr>
          </a:p>
        </p:txBody>
      </p:sp>
      <p:sp>
        <p:nvSpPr>
          <p:cNvPr id="44034" name="Rectangle 2"/>
          <p:cNvSpPr>
            <a:spLocks noGrp="1" noChangeArrowheads="1"/>
          </p:cNvSpPr>
          <p:nvPr>
            <p:ph type="title"/>
          </p:nvPr>
        </p:nvSpPr>
        <p:spPr/>
        <p:txBody>
          <a:bodyPr/>
          <a:lstStyle/>
          <a:p>
            <a:r>
              <a:rPr lang="en-US">
                <a:latin typeface="Arial Black" charset="0"/>
              </a:rPr>
              <a:t>Timed Automata: Example</a:t>
            </a:r>
          </a:p>
        </p:txBody>
      </p:sp>
      <p:sp>
        <p:nvSpPr>
          <p:cNvPr id="44035" name="Rectangle 3"/>
          <p:cNvSpPr>
            <a:spLocks noChangeArrowheads="1"/>
          </p:cNvSpPr>
          <p:nvPr/>
        </p:nvSpPr>
        <p:spPr bwMode="auto">
          <a:xfrm>
            <a:off x="1617784" y="1885950"/>
            <a:ext cx="2268416" cy="2228850"/>
          </a:xfrm>
          <a:prstGeom prst="rect">
            <a:avLst/>
          </a:prstGeom>
          <a:solidFill>
            <a:srgbClr val="FFFF99"/>
          </a:solidFill>
          <a:ln w="9525">
            <a:solidFill>
              <a:schemeClr val="tx1"/>
            </a:solidFill>
            <a:miter lim="800000"/>
            <a:headEnd/>
            <a:tailEnd/>
          </a:ln>
        </p:spPr>
        <p:txBody>
          <a:bodyPr wrap="none" anchor="ctr"/>
          <a:lstStyle/>
          <a:p>
            <a:pPr eaLnBrk="1" hangingPunct="1"/>
            <a:endParaRPr lang="en-GB" sz="1800"/>
          </a:p>
        </p:txBody>
      </p:sp>
      <p:sp>
        <p:nvSpPr>
          <p:cNvPr id="44036" name="Oval 4"/>
          <p:cNvSpPr>
            <a:spLocks noChangeArrowheads="1"/>
          </p:cNvSpPr>
          <p:nvPr/>
        </p:nvSpPr>
        <p:spPr bwMode="auto">
          <a:xfrm>
            <a:off x="2356339" y="2628900"/>
            <a:ext cx="738554" cy="80010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i="1" dirty="0">
                <a:latin typeface="Times New Roman" charset="0"/>
              </a:rPr>
              <a:t>  l</a:t>
            </a:r>
            <a:endParaRPr lang="en-GB" sz="1800" i="1" dirty="0">
              <a:latin typeface="Times New Roman" charset="0"/>
            </a:endParaRPr>
          </a:p>
        </p:txBody>
      </p:sp>
      <p:sp>
        <p:nvSpPr>
          <p:cNvPr id="44037" name="Line 5"/>
          <p:cNvSpPr>
            <a:spLocks noChangeShapeType="1"/>
          </p:cNvSpPr>
          <p:nvPr/>
        </p:nvSpPr>
        <p:spPr bwMode="auto">
          <a:xfrm>
            <a:off x="1828800" y="3028950"/>
            <a:ext cx="527539"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cxnSp>
        <p:nvCxnSpPr>
          <p:cNvPr id="44038" name="AutoShape 6"/>
          <p:cNvCxnSpPr>
            <a:cxnSpLocks noChangeShapeType="1"/>
            <a:stCxn id="44036" idx="7"/>
            <a:endCxn id="44036" idx="5"/>
          </p:cNvCxnSpPr>
          <p:nvPr/>
        </p:nvCxnSpPr>
        <p:spPr bwMode="auto">
          <a:xfrm rot="5400000" flipV="1">
            <a:off x="2704367" y="3028400"/>
            <a:ext cx="566738" cy="1100"/>
          </a:xfrm>
          <a:prstGeom prst="curvedConnector5">
            <a:avLst>
              <a:gd name="adj1" fmla="val -50843"/>
              <a:gd name="adj2" fmla="val 71800032"/>
              <a:gd name="adj3" fmla="val 150843"/>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4039" name="Text Box 7"/>
          <p:cNvSpPr txBox="1">
            <a:spLocks noChangeArrowheads="1"/>
          </p:cNvSpPr>
          <p:nvPr/>
        </p:nvSpPr>
        <p:spPr bwMode="auto">
          <a:xfrm>
            <a:off x="3136656" y="2138363"/>
            <a:ext cx="633507"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X&gt;=2</a:t>
            </a:r>
            <a:endParaRPr lang="en-GB" sz="1350" b="0"/>
          </a:p>
        </p:txBody>
      </p:sp>
      <p:sp>
        <p:nvSpPr>
          <p:cNvPr id="44040" name="Text Box 8"/>
          <p:cNvSpPr txBox="1">
            <a:spLocks noChangeArrowheads="1"/>
          </p:cNvSpPr>
          <p:nvPr/>
        </p:nvSpPr>
        <p:spPr bwMode="auto">
          <a:xfrm>
            <a:off x="3094892" y="3600451"/>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
        <p:nvSpPr>
          <p:cNvPr id="44041" name="Text Box 9"/>
          <p:cNvSpPr txBox="1">
            <a:spLocks noChangeArrowheads="1"/>
          </p:cNvSpPr>
          <p:nvPr/>
        </p:nvSpPr>
        <p:spPr bwMode="auto">
          <a:xfrm>
            <a:off x="1817810" y="2709862"/>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graphicFrame>
        <p:nvGraphicFramePr>
          <p:cNvPr id="11" name="Object 10"/>
          <p:cNvGraphicFramePr>
            <a:graphicFrameLocks noChangeAspect="1"/>
          </p:cNvGraphicFramePr>
          <p:nvPr/>
        </p:nvGraphicFramePr>
        <p:xfrm>
          <a:off x="4139953" y="2085696"/>
          <a:ext cx="3510164" cy="1816782"/>
        </p:xfrm>
        <a:graphic>
          <a:graphicData uri="http://schemas.openxmlformats.org/presentationml/2006/ole">
            <mc:AlternateContent xmlns:mc="http://schemas.openxmlformats.org/markup-compatibility/2006">
              <mc:Choice xmlns:v="urn:schemas-microsoft-com:vml" Requires="v">
                <p:oleObj name="Bitmap Image" r:id="rId3" imgW="5372850" imgH="2704762" progId="Paint.Picture">
                  <p:embed/>
                </p:oleObj>
              </mc:Choice>
              <mc:Fallback>
                <p:oleObj name="Bitmap Image" r:id="rId3" imgW="5372850" imgH="2704762" progId="Paint.Picture">
                  <p:embed/>
                  <p:pic>
                    <p:nvPicPr>
                      <p:cNvPr id="11"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3" y="2085696"/>
                        <a:ext cx="3510164" cy="181678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03292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C8642B06-60CD-9349-ACFE-50E299ADA31A}" type="slidenum">
              <a:rPr lang="en-US" sz="900" b="0">
                <a:solidFill>
                  <a:schemeClr val="bg2"/>
                </a:solidFill>
              </a:rPr>
              <a:pPr/>
              <a:t>30</a:t>
            </a:fld>
            <a:endParaRPr lang="en-US" sz="900" b="0">
              <a:solidFill>
                <a:schemeClr val="bg2"/>
              </a:solidFill>
            </a:endParaRPr>
          </a:p>
        </p:txBody>
      </p:sp>
      <p:sp>
        <p:nvSpPr>
          <p:cNvPr id="46082" name="Rectangle 2"/>
          <p:cNvSpPr>
            <a:spLocks noGrp="1" noChangeArrowheads="1"/>
          </p:cNvSpPr>
          <p:nvPr>
            <p:ph type="title"/>
          </p:nvPr>
        </p:nvSpPr>
        <p:spPr/>
        <p:txBody>
          <a:bodyPr/>
          <a:lstStyle/>
          <a:p>
            <a:r>
              <a:rPr lang="en-US">
                <a:latin typeface="Arial Black" charset="0"/>
              </a:rPr>
              <a:t>Timed Automata: Example</a:t>
            </a:r>
          </a:p>
        </p:txBody>
      </p:sp>
      <p:sp>
        <p:nvSpPr>
          <p:cNvPr id="46083" name="Rectangle 3"/>
          <p:cNvSpPr>
            <a:spLocks noChangeArrowheads="1"/>
          </p:cNvSpPr>
          <p:nvPr/>
        </p:nvSpPr>
        <p:spPr bwMode="auto">
          <a:xfrm>
            <a:off x="1617784" y="1943100"/>
            <a:ext cx="2268416" cy="2228850"/>
          </a:xfrm>
          <a:prstGeom prst="rect">
            <a:avLst/>
          </a:prstGeom>
          <a:solidFill>
            <a:srgbClr val="FFFF99"/>
          </a:solidFill>
          <a:ln w="9525">
            <a:solidFill>
              <a:schemeClr val="tx1"/>
            </a:solidFill>
            <a:miter lim="800000"/>
            <a:headEnd/>
            <a:tailEnd/>
          </a:ln>
        </p:spPr>
        <p:txBody>
          <a:bodyPr wrap="none" anchor="ctr"/>
          <a:lstStyle/>
          <a:p>
            <a:pPr eaLnBrk="1" hangingPunct="1"/>
            <a:endParaRPr lang="en-GB" sz="1800"/>
          </a:p>
        </p:txBody>
      </p:sp>
      <p:sp>
        <p:nvSpPr>
          <p:cNvPr id="46084" name="Oval 4"/>
          <p:cNvSpPr>
            <a:spLocks noChangeArrowheads="1"/>
          </p:cNvSpPr>
          <p:nvPr/>
        </p:nvSpPr>
        <p:spPr bwMode="auto">
          <a:xfrm>
            <a:off x="2356339" y="2686050"/>
            <a:ext cx="738554" cy="80010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i="1" dirty="0">
                <a:latin typeface="Times New Roman" charset="0"/>
              </a:rPr>
              <a:t>  l</a:t>
            </a:r>
            <a:endParaRPr lang="en-GB" sz="1800" i="1" dirty="0">
              <a:latin typeface="Times New Roman" charset="0"/>
            </a:endParaRPr>
          </a:p>
        </p:txBody>
      </p:sp>
      <p:sp>
        <p:nvSpPr>
          <p:cNvPr id="46085" name="Line 5"/>
          <p:cNvSpPr>
            <a:spLocks noChangeShapeType="1"/>
          </p:cNvSpPr>
          <p:nvPr/>
        </p:nvSpPr>
        <p:spPr bwMode="auto">
          <a:xfrm>
            <a:off x="1828800" y="3086100"/>
            <a:ext cx="527539"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cxnSp>
        <p:nvCxnSpPr>
          <p:cNvPr id="46086" name="AutoShape 6"/>
          <p:cNvCxnSpPr>
            <a:cxnSpLocks noChangeShapeType="1"/>
            <a:stCxn id="46084" idx="7"/>
            <a:endCxn id="46084" idx="5"/>
          </p:cNvCxnSpPr>
          <p:nvPr/>
        </p:nvCxnSpPr>
        <p:spPr bwMode="auto">
          <a:xfrm rot="5400000" flipV="1">
            <a:off x="2704367" y="3085550"/>
            <a:ext cx="566738" cy="1100"/>
          </a:xfrm>
          <a:prstGeom prst="curvedConnector5">
            <a:avLst>
              <a:gd name="adj1" fmla="val -50843"/>
              <a:gd name="adj2" fmla="val 71800032"/>
              <a:gd name="adj3" fmla="val 150843"/>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6087" name="Text Box 7"/>
          <p:cNvSpPr txBox="1">
            <a:spLocks noChangeArrowheads="1"/>
          </p:cNvSpPr>
          <p:nvPr/>
        </p:nvSpPr>
        <p:spPr bwMode="auto">
          <a:xfrm>
            <a:off x="2989385" y="2171701"/>
            <a:ext cx="965329"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2&lt;=x&lt;=3</a:t>
            </a:r>
            <a:endParaRPr lang="en-GB" sz="1350" b="0"/>
          </a:p>
        </p:txBody>
      </p:sp>
      <p:sp>
        <p:nvSpPr>
          <p:cNvPr id="46088" name="Text Box 8"/>
          <p:cNvSpPr txBox="1">
            <a:spLocks noChangeArrowheads="1"/>
          </p:cNvSpPr>
          <p:nvPr/>
        </p:nvSpPr>
        <p:spPr bwMode="auto">
          <a:xfrm>
            <a:off x="3094892" y="3657601"/>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
        <p:nvSpPr>
          <p:cNvPr id="46089" name="Text Box 9"/>
          <p:cNvSpPr txBox="1">
            <a:spLocks noChangeArrowheads="1"/>
          </p:cNvSpPr>
          <p:nvPr/>
        </p:nvSpPr>
        <p:spPr bwMode="auto">
          <a:xfrm>
            <a:off x="1817810" y="2767013"/>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Tree>
    <p:extLst>
      <p:ext uri="{BB962C8B-B14F-4D97-AF65-F5344CB8AC3E}">
        <p14:creationId xmlns:p14="http://schemas.microsoft.com/office/powerpoint/2010/main" val="15307959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C8642B06-60CD-9349-ACFE-50E299ADA31A}" type="slidenum">
              <a:rPr lang="en-US" sz="900" b="0">
                <a:solidFill>
                  <a:schemeClr val="bg2"/>
                </a:solidFill>
              </a:rPr>
              <a:pPr/>
              <a:t>31</a:t>
            </a:fld>
            <a:endParaRPr lang="en-US" sz="900" b="0">
              <a:solidFill>
                <a:schemeClr val="bg2"/>
              </a:solidFill>
            </a:endParaRPr>
          </a:p>
        </p:txBody>
      </p:sp>
      <p:sp>
        <p:nvSpPr>
          <p:cNvPr id="46082" name="Rectangle 2"/>
          <p:cNvSpPr>
            <a:spLocks noGrp="1" noChangeArrowheads="1"/>
          </p:cNvSpPr>
          <p:nvPr>
            <p:ph type="title"/>
          </p:nvPr>
        </p:nvSpPr>
        <p:spPr/>
        <p:txBody>
          <a:bodyPr/>
          <a:lstStyle/>
          <a:p>
            <a:r>
              <a:rPr lang="en-US">
                <a:latin typeface="Arial Black" charset="0"/>
              </a:rPr>
              <a:t>Timed Automata: Example</a:t>
            </a:r>
          </a:p>
        </p:txBody>
      </p:sp>
      <p:sp>
        <p:nvSpPr>
          <p:cNvPr id="46083" name="Rectangle 3"/>
          <p:cNvSpPr>
            <a:spLocks noChangeArrowheads="1"/>
          </p:cNvSpPr>
          <p:nvPr/>
        </p:nvSpPr>
        <p:spPr bwMode="auto">
          <a:xfrm>
            <a:off x="1617784" y="1943100"/>
            <a:ext cx="2268416" cy="2228850"/>
          </a:xfrm>
          <a:prstGeom prst="rect">
            <a:avLst/>
          </a:prstGeom>
          <a:solidFill>
            <a:srgbClr val="FFFF99"/>
          </a:solidFill>
          <a:ln w="9525">
            <a:solidFill>
              <a:schemeClr val="tx1"/>
            </a:solidFill>
            <a:miter lim="800000"/>
            <a:headEnd/>
            <a:tailEnd/>
          </a:ln>
        </p:spPr>
        <p:txBody>
          <a:bodyPr wrap="none" anchor="ctr"/>
          <a:lstStyle/>
          <a:p>
            <a:pPr eaLnBrk="1" hangingPunct="1"/>
            <a:endParaRPr lang="en-GB" sz="1800"/>
          </a:p>
        </p:txBody>
      </p:sp>
      <p:sp>
        <p:nvSpPr>
          <p:cNvPr id="46084" name="Oval 4"/>
          <p:cNvSpPr>
            <a:spLocks noChangeArrowheads="1"/>
          </p:cNvSpPr>
          <p:nvPr/>
        </p:nvSpPr>
        <p:spPr bwMode="auto">
          <a:xfrm>
            <a:off x="2356339" y="2686050"/>
            <a:ext cx="738554" cy="80010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i="1" dirty="0">
                <a:latin typeface="Times New Roman" charset="0"/>
              </a:rPr>
              <a:t>  l</a:t>
            </a:r>
            <a:endParaRPr lang="en-GB" sz="1800" i="1" dirty="0">
              <a:latin typeface="Times New Roman" charset="0"/>
            </a:endParaRPr>
          </a:p>
        </p:txBody>
      </p:sp>
      <p:sp>
        <p:nvSpPr>
          <p:cNvPr id="46085" name="Line 5"/>
          <p:cNvSpPr>
            <a:spLocks noChangeShapeType="1"/>
          </p:cNvSpPr>
          <p:nvPr/>
        </p:nvSpPr>
        <p:spPr bwMode="auto">
          <a:xfrm>
            <a:off x="1828800" y="3086100"/>
            <a:ext cx="527539"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cxnSp>
        <p:nvCxnSpPr>
          <p:cNvPr id="46086" name="AutoShape 6"/>
          <p:cNvCxnSpPr>
            <a:cxnSpLocks noChangeShapeType="1"/>
            <a:stCxn id="46084" idx="7"/>
            <a:endCxn id="46084" idx="5"/>
          </p:cNvCxnSpPr>
          <p:nvPr/>
        </p:nvCxnSpPr>
        <p:spPr bwMode="auto">
          <a:xfrm rot="5400000" flipV="1">
            <a:off x="2704367" y="3085550"/>
            <a:ext cx="566738" cy="1100"/>
          </a:xfrm>
          <a:prstGeom prst="curvedConnector5">
            <a:avLst>
              <a:gd name="adj1" fmla="val -50843"/>
              <a:gd name="adj2" fmla="val 71800032"/>
              <a:gd name="adj3" fmla="val 150843"/>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6087" name="Text Box 7"/>
          <p:cNvSpPr txBox="1">
            <a:spLocks noChangeArrowheads="1"/>
          </p:cNvSpPr>
          <p:nvPr/>
        </p:nvSpPr>
        <p:spPr bwMode="auto">
          <a:xfrm>
            <a:off x="2989385" y="2171701"/>
            <a:ext cx="965329"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2&lt;=x&lt;=3</a:t>
            </a:r>
            <a:endParaRPr lang="en-GB" sz="1350" b="0"/>
          </a:p>
        </p:txBody>
      </p:sp>
      <p:sp>
        <p:nvSpPr>
          <p:cNvPr id="46088" name="Text Box 8"/>
          <p:cNvSpPr txBox="1">
            <a:spLocks noChangeArrowheads="1"/>
          </p:cNvSpPr>
          <p:nvPr/>
        </p:nvSpPr>
        <p:spPr bwMode="auto">
          <a:xfrm>
            <a:off x="3094892" y="3657601"/>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
        <p:nvSpPr>
          <p:cNvPr id="46089" name="Text Box 9"/>
          <p:cNvSpPr txBox="1">
            <a:spLocks noChangeArrowheads="1"/>
          </p:cNvSpPr>
          <p:nvPr/>
        </p:nvSpPr>
        <p:spPr bwMode="auto">
          <a:xfrm>
            <a:off x="1817810" y="2767013"/>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graphicFrame>
        <p:nvGraphicFramePr>
          <p:cNvPr id="11" name="Object 10"/>
          <p:cNvGraphicFramePr>
            <a:graphicFrameLocks noChangeAspect="1"/>
          </p:cNvGraphicFramePr>
          <p:nvPr/>
        </p:nvGraphicFramePr>
        <p:xfrm>
          <a:off x="4192432" y="2197113"/>
          <a:ext cx="3565922" cy="1778794"/>
        </p:xfrm>
        <a:graphic>
          <a:graphicData uri="http://schemas.openxmlformats.org/presentationml/2006/ole">
            <mc:AlternateContent xmlns:mc="http://schemas.openxmlformats.org/markup-compatibility/2006">
              <mc:Choice xmlns:v="urn:schemas-microsoft-com:vml" Requires="v">
                <p:oleObj name="Bitmap Image" r:id="rId3" imgW="4753639" imgH="2371429" progId="Paint.Picture">
                  <p:embed/>
                </p:oleObj>
              </mc:Choice>
              <mc:Fallback>
                <p:oleObj name="Bitmap Image" r:id="rId3" imgW="4753639" imgH="2371429" progId="Paint.Picture">
                  <p:embed/>
                  <p:pic>
                    <p:nvPicPr>
                      <p:cNvPr id="11"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2432" y="2197113"/>
                        <a:ext cx="3565922" cy="177879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762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71383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29"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1B62FDC2-7DB8-674F-9EA0-BE6723AA4C6D}" type="slidenum">
              <a:rPr lang="en-US" sz="900" b="0">
                <a:solidFill>
                  <a:schemeClr val="bg2"/>
                </a:solidFill>
              </a:rPr>
              <a:pPr/>
              <a:t>32</a:t>
            </a:fld>
            <a:endParaRPr lang="en-US" sz="900" b="0">
              <a:solidFill>
                <a:schemeClr val="bg2"/>
              </a:solidFill>
            </a:endParaRPr>
          </a:p>
        </p:txBody>
      </p:sp>
      <p:sp>
        <p:nvSpPr>
          <p:cNvPr id="48130" name="Rectangle 2"/>
          <p:cNvSpPr>
            <a:spLocks noGrp="1" noChangeArrowheads="1"/>
          </p:cNvSpPr>
          <p:nvPr>
            <p:ph type="title"/>
          </p:nvPr>
        </p:nvSpPr>
        <p:spPr/>
        <p:txBody>
          <a:bodyPr/>
          <a:lstStyle/>
          <a:p>
            <a:r>
              <a:rPr lang="en-US">
                <a:latin typeface="Arial Black" charset="0"/>
              </a:rPr>
              <a:t>Timed Automata: Example</a:t>
            </a:r>
          </a:p>
        </p:txBody>
      </p:sp>
      <p:sp>
        <p:nvSpPr>
          <p:cNvPr id="48131" name="Rectangle 3"/>
          <p:cNvSpPr>
            <a:spLocks noChangeArrowheads="1"/>
          </p:cNvSpPr>
          <p:nvPr/>
        </p:nvSpPr>
        <p:spPr bwMode="auto">
          <a:xfrm>
            <a:off x="1512277" y="1885950"/>
            <a:ext cx="2268416" cy="2228850"/>
          </a:xfrm>
          <a:prstGeom prst="rect">
            <a:avLst/>
          </a:prstGeom>
          <a:solidFill>
            <a:srgbClr val="FFFF99"/>
          </a:solidFill>
          <a:ln w="9525">
            <a:solidFill>
              <a:schemeClr val="tx1"/>
            </a:solidFill>
            <a:miter lim="800000"/>
            <a:headEnd/>
            <a:tailEnd/>
          </a:ln>
        </p:spPr>
        <p:txBody>
          <a:bodyPr wrap="none" anchor="ctr"/>
          <a:lstStyle/>
          <a:p>
            <a:pPr eaLnBrk="1" hangingPunct="1"/>
            <a:endParaRPr lang="en-GB" sz="1800"/>
          </a:p>
        </p:txBody>
      </p:sp>
      <p:sp>
        <p:nvSpPr>
          <p:cNvPr id="48132" name="Oval 4"/>
          <p:cNvSpPr>
            <a:spLocks noChangeArrowheads="1"/>
          </p:cNvSpPr>
          <p:nvPr/>
        </p:nvSpPr>
        <p:spPr bwMode="auto">
          <a:xfrm>
            <a:off x="2250831" y="2628900"/>
            <a:ext cx="738554" cy="80010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i="1" dirty="0">
                <a:latin typeface="Times New Roman" charset="0"/>
              </a:rPr>
              <a:t>   l</a:t>
            </a:r>
            <a:endParaRPr lang="en-GB" sz="1800" i="1" dirty="0">
              <a:latin typeface="Times New Roman" charset="0"/>
            </a:endParaRPr>
          </a:p>
        </p:txBody>
      </p:sp>
      <p:sp>
        <p:nvSpPr>
          <p:cNvPr id="48133" name="Line 5"/>
          <p:cNvSpPr>
            <a:spLocks noChangeShapeType="1"/>
          </p:cNvSpPr>
          <p:nvPr/>
        </p:nvSpPr>
        <p:spPr bwMode="auto">
          <a:xfrm>
            <a:off x="1723293" y="3028950"/>
            <a:ext cx="527539"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cxnSp>
        <p:nvCxnSpPr>
          <p:cNvPr id="48134" name="AutoShape 6"/>
          <p:cNvCxnSpPr>
            <a:cxnSpLocks noChangeShapeType="1"/>
            <a:stCxn id="48132" idx="7"/>
            <a:endCxn id="48132" idx="5"/>
          </p:cNvCxnSpPr>
          <p:nvPr/>
        </p:nvCxnSpPr>
        <p:spPr bwMode="auto">
          <a:xfrm rot="5400000" flipV="1">
            <a:off x="2598859" y="3028400"/>
            <a:ext cx="566738" cy="1100"/>
          </a:xfrm>
          <a:prstGeom prst="curvedConnector5">
            <a:avLst>
              <a:gd name="adj1" fmla="val -50843"/>
              <a:gd name="adj2" fmla="val 71800032"/>
              <a:gd name="adj3" fmla="val 150843"/>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8135" name="Text Box 7"/>
          <p:cNvSpPr txBox="1">
            <a:spLocks noChangeArrowheads="1"/>
          </p:cNvSpPr>
          <p:nvPr/>
        </p:nvSpPr>
        <p:spPr bwMode="auto">
          <a:xfrm>
            <a:off x="3031149" y="2138363"/>
            <a:ext cx="633507"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X&gt;=2</a:t>
            </a:r>
            <a:endParaRPr lang="en-GB" sz="1350" b="0"/>
          </a:p>
        </p:txBody>
      </p:sp>
      <p:sp>
        <p:nvSpPr>
          <p:cNvPr id="48136" name="Text Box 8"/>
          <p:cNvSpPr txBox="1">
            <a:spLocks noChangeArrowheads="1"/>
          </p:cNvSpPr>
          <p:nvPr/>
        </p:nvSpPr>
        <p:spPr bwMode="auto">
          <a:xfrm>
            <a:off x="2989385" y="3600451"/>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
        <p:nvSpPr>
          <p:cNvPr id="48137" name="Text Box 9"/>
          <p:cNvSpPr txBox="1">
            <a:spLocks noChangeArrowheads="1"/>
          </p:cNvSpPr>
          <p:nvPr/>
        </p:nvSpPr>
        <p:spPr bwMode="auto">
          <a:xfrm>
            <a:off x="1712303" y="2709862"/>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
        <p:nvSpPr>
          <p:cNvPr id="48138" name="Text Box 10"/>
          <p:cNvSpPr txBox="1">
            <a:spLocks noChangeArrowheads="1"/>
          </p:cNvSpPr>
          <p:nvPr/>
        </p:nvSpPr>
        <p:spPr bwMode="auto">
          <a:xfrm>
            <a:off x="2357754" y="3125391"/>
            <a:ext cx="622286"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a:t>
            </a:r>
            <a:r>
              <a:rPr lang="sv-SE" sz="1350" b="0" dirty="0"/>
              <a:t>&lt;=3</a:t>
            </a:r>
            <a:endParaRPr lang="en-GB" sz="1350" b="0" dirty="0"/>
          </a:p>
        </p:txBody>
      </p:sp>
    </p:spTree>
    <p:extLst>
      <p:ext uri="{BB962C8B-B14F-4D97-AF65-F5344CB8AC3E}">
        <p14:creationId xmlns:p14="http://schemas.microsoft.com/office/powerpoint/2010/main" val="16196114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1B62FDC2-7DB8-674F-9EA0-BE6723AA4C6D}" type="slidenum">
              <a:rPr lang="en-US" sz="900" b="0">
                <a:solidFill>
                  <a:schemeClr val="bg2"/>
                </a:solidFill>
              </a:rPr>
              <a:pPr/>
              <a:t>33</a:t>
            </a:fld>
            <a:endParaRPr lang="en-US" sz="900" b="0">
              <a:solidFill>
                <a:schemeClr val="bg2"/>
              </a:solidFill>
            </a:endParaRPr>
          </a:p>
        </p:txBody>
      </p:sp>
      <p:sp>
        <p:nvSpPr>
          <p:cNvPr id="48130" name="Rectangle 2"/>
          <p:cNvSpPr>
            <a:spLocks noGrp="1" noChangeArrowheads="1"/>
          </p:cNvSpPr>
          <p:nvPr>
            <p:ph type="title"/>
          </p:nvPr>
        </p:nvSpPr>
        <p:spPr/>
        <p:txBody>
          <a:bodyPr/>
          <a:lstStyle/>
          <a:p>
            <a:r>
              <a:rPr lang="en-US">
                <a:latin typeface="Arial Black" charset="0"/>
              </a:rPr>
              <a:t>Timed Automata: Example</a:t>
            </a:r>
          </a:p>
        </p:txBody>
      </p:sp>
      <p:sp>
        <p:nvSpPr>
          <p:cNvPr id="48131" name="Rectangle 3"/>
          <p:cNvSpPr>
            <a:spLocks noChangeArrowheads="1"/>
          </p:cNvSpPr>
          <p:nvPr/>
        </p:nvSpPr>
        <p:spPr bwMode="auto">
          <a:xfrm>
            <a:off x="1512277" y="1885950"/>
            <a:ext cx="2268416" cy="2228850"/>
          </a:xfrm>
          <a:prstGeom prst="rect">
            <a:avLst/>
          </a:prstGeom>
          <a:solidFill>
            <a:srgbClr val="FFFF99"/>
          </a:solidFill>
          <a:ln w="9525">
            <a:solidFill>
              <a:schemeClr val="tx1"/>
            </a:solidFill>
            <a:miter lim="800000"/>
            <a:headEnd/>
            <a:tailEnd/>
          </a:ln>
        </p:spPr>
        <p:txBody>
          <a:bodyPr wrap="none" anchor="ctr"/>
          <a:lstStyle/>
          <a:p>
            <a:pPr eaLnBrk="1" hangingPunct="1"/>
            <a:endParaRPr lang="en-GB" sz="1800" dirty="0"/>
          </a:p>
        </p:txBody>
      </p:sp>
      <p:sp>
        <p:nvSpPr>
          <p:cNvPr id="48132" name="Oval 4"/>
          <p:cNvSpPr>
            <a:spLocks noChangeArrowheads="1"/>
          </p:cNvSpPr>
          <p:nvPr/>
        </p:nvSpPr>
        <p:spPr bwMode="auto">
          <a:xfrm>
            <a:off x="2250831" y="2628900"/>
            <a:ext cx="738554" cy="80010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i="1" dirty="0">
                <a:latin typeface="Times New Roman" charset="0"/>
              </a:rPr>
              <a:t>   l</a:t>
            </a:r>
            <a:endParaRPr lang="en-GB" sz="1800" i="1" dirty="0">
              <a:latin typeface="Times New Roman" charset="0"/>
            </a:endParaRPr>
          </a:p>
        </p:txBody>
      </p:sp>
      <p:sp>
        <p:nvSpPr>
          <p:cNvPr id="48133" name="Line 5"/>
          <p:cNvSpPr>
            <a:spLocks noChangeShapeType="1"/>
          </p:cNvSpPr>
          <p:nvPr/>
        </p:nvSpPr>
        <p:spPr bwMode="auto">
          <a:xfrm>
            <a:off x="1723293" y="3028950"/>
            <a:ext cx="527539"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cxnSp>
        <p:nvCxnSpPr>
          <p:cNvPr id="48134" name="AutoShape 6"/>
          <p:cNvCxnSpPr>
            <a:cxnSpLocks noChangeShapeType="1"/>
            <a:stCxn id="48132" idx="7"/>
            <a:endCxn id="48132" idx="5"/>
          </p:cNvCxnSpPr>
          <p:nvPr/>
        </p:nvCxnSpPr>
        <p:spPr bwMode="auto">
          <a:xfrm rot="5400000" flipV="1">
            <a:off x="2598859" y="3028400"/>
            <a:ext cx="566738" cy="1100"/>
          </a:xfrm>
          <a:prstGeom prst="curvedConnector5">
            <a:avLst>
              <a:gd name="adj1" fmla="val -50843"/>
              <a:gd name="adj2" fmla="val 71800032"/>
              <a:gd name="adj3" fmla="val 150843"/>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8135" name="Text Box 7"/>
          <p:cNvSpPr txBox="1">
            <a:spLocks noChangeArrowheads="1"/>
          </p:cNvSpPr>
          <p:nvPr/>
        </p:nvSpPr>
        <p:spPr bwMode="auto">
          <a:xfrm>
            <a:off x="3031149" y="2138363"/>
            <a:ext cx="633507"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X&gt;=2</a:t>
            </a:r>
            <a:endParaRPr lang="en-GB" sz="1350" b="0"/>
          </a:p>
        </p:txBody>
      </p:sp>
      <p:sp>
        <p:nvSpPr>
          <p:cNvPr id="48136" name="Text Box 8"/>
          <p:cNvSpPr txBox="1">
            <a:spLocks noChangeArrowheads="1"/>
          </p:cNvSpPr>
          <p:nvPr/>
        </p:nvSpPr>
        <p:spPr bwMode="auto">
          <a:xfrm>
            <a:off x="2989385" y="3600451"/>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
        <p:nvSpPr>
          <p:cNvPr id="48137" name="Text Box 9"/>
          <p:cNvSpPr txBox="1">
            <a:spLocks noChangeArrowheads="1"/>
          </p:cNvSpPr>
          <p:nvPr/>
        </p:nvSpPr>
        <p:spPr bwMode="auto">
          <a:xfrm>
            <a:off x="1712303" y="2709862"/>
            <a:ext cx="567784"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a:t>X:=0</a:t>
            </a:r>
            <a:endParaRPr lang="en-GB" sz="1350" b="0"/>
          </a:p>
        </p:txBody>
      </p:sp>
      <p:sp>
        <p:nvSpPr>
          <p:cNvPr id="48138" name="Text Box 10"/>
          <p:cNvSpPr txBox="1">
            <a:spLocks noChangeArrowheads="1"/>
          </p:cNvSpPr>
          <p:nvPr/>
        </p:nvSpPr>
        <p:spPr bwMode="auto">
          <a:xfrm>
            <a:off x="2357754" y="3125391"/>
            <a:ext cx="622286"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a:t>
            </a:r>
            <a:r>
              <a:rPr lang="sv-SE" sz="1350" b="0" dirty="0"/>
              <a:t>&lt;=3</a:t>
            </a:r>
            <a:endParaRPr lang="en-GB" sz="1350" b="0" dirty="0"/>
          </a:p>
        </p:txBody>
      </p:sp>
      <p:graphicFrame>
        <p:nvGraphicFramePr>
          <p:cNvPr id="12" name="Object 11"/>
          <p:cNvGraphicFramePr>
            <a:graphicFrameLocks noChangeAspect="1"/>
          </p:cNvGraphicFramePr>
          <p:nvPr/>
        </p:nvGraphicFramePr>
        <p:xfrm>
          <a:off x="4210050" y="1977629"/>
          <a:ext cx="3449241" cy="2057400"/>
        </p:xfrm>
        <a:graphic>
          <a:graphicData uri="http://schemas.openxmlformats.org/presentationml/2006/ole">
            <mc:AlternateContent xmlns:mc="http://schemas.openxmlformats.org/markup-compatibility/2006">
              <mc:Choice xmlns:v="urn:schemas-microsoft-com:vml" Requires="v">
                <p:oleObj name="Bitmap Image" r:id="rId3" imgW="4600000" imgH="2742857" progId="Paint.Picture">
                  <p:embed/>
                </p:oleObj>
              </mc:Choice>
              <mc:Fallback>
                <p:oleObj name="Bitmap Image" r:id="rId3" imgW="4600000" imgH="2742857" progId="Paint.Picture">
                  <p:embed/>
                  <p:pic>
                    <p:nvPicPr>
                      <p:cNvPr id="12"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0050" y="1977629"/>
                        <a:ext cx="3449241" cy="2057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762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9449E5E0-18EF-4FDF-BFEC-5FB6044ACF09}"/>
                  </a:ext>
                </a:extLst>
              </p14:cNvPr>
              <p14:cNvContentPartPr/>
              <p14:nvPr/>
            </p14:nvContentPartPr>
            <p14:xfrm>
              <a:off x="2277578" y="3200143"/>
              <a:ext cx="270" cy="270"/>
            </p14:xfrm>
          </p:contentPart>
        </mc:Choice>
        <mc:Fallback xmlns="">
          <p:pic>
            <p:nvPicPr>
              <p:cNvPr id="2" name="Ink 1">
                <a:extLst>
                  <a:ext uri="{FF2B5EF4-FFF2-40B4-BE49-F238E27FC236}">
                    <a16:creationId xmlns:a16="http://schemas.microsoft.com/office/drawing/2014/main" id="{9449E5E0-18EF-4FDF-BFEC-5FB6044ACF09}"/>
                  </a:ext>
                </a:extLst>
              </p:cNvPr>
              <p:cNvPicPr/>
              <p:nvPr/>
            </p:nvPicPr>
            <p:blipFill>
              <a:blip r:embed="rId6"/>
              <a:stretch>
                <a:fillRect/>
              </a:stretch>
            </p:blipFill>
            <p:spPr>
              <a:xfrm>
                <a:off x="2270828" y="3193393"/>
                <a:ext cx="13500" cy="13500"/>
              </a:xfrm>
              <a:prstGeom prst="rect">
                <a:avLst/>
              </a:prstGeom>
            </p:spPr>
          </p:pic>
        </mc:Fallback>
      </mc:AlternateContent>
    </p:spTree>
    <p:extLst>
      <p:ext uri="{BB962C8B-B14F-4D97-AF65-F5344CB8AC3E}">
        <p14:creationId xmlns:p14="http://schemas.microsoft.com/office/powerpoint/2010/main" val="327814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5D283052-3549-F74E-8DE1-B36B76D73178}" type="slidenum">
              <a:rPr lang="en-US" sz="900" b="0">
                <a:solidFill>
                  <a:schemeClr val="bg2"/>
                </a:solidFill>
              </a:rPr>
              <a:pPr/>
              <a:t>34</a:t>
            </a:fld>
            <a:endParaRPr lang="en-US" sz="900" b="0">
              <a:solidFill>
                <a:schemeClr val="bg2"/>
              </a:solidFill>
            </a:endParaRPr>
          </a:p>
        </p:txBody>
      </p:sp>
      <p:sp>
        <p:nvSpPr>
          <p:cNvPr id="51202" name="Rectangle 2"/>
          <p:cNvSpPr>
            <a:spLocks noGrp="1" noChangeArrowheads="1"/>
          </p:cNvSpPr>
          <p:nvPr>
            <p:ph type="title"/>
          </p:nvPr>
        </p:nvSpPr>
        <p:spPr/>
        <p:txBody>
          <a:bodyPr/>
          <a:lstStyle/>
          <a:p>
            <a:r>
              <a:rPr lang="en-US" sz="2100" dirty="0">
                <a:latin typeface="Arial Black" charset="0"/>
              </a:rPr>
              <a:t>Timed Automata</a:t>
            </a:r>
            <a:r>
              <a:rPr lang="sv-SE" sz="2100" dirty="0">
                <a:latin typeface="Arial Black" charset="0"/>
              </a:rPr>
              <a:t>: </a:t>
            </a:r>
            <a:r>
              <a:rPr lang="sv-SE" sz="2100" dirty="0" err="1">
                <a:latin typeface="Arial Black" charset="0"/>
              </a:rPr>
              <a:t>Example</a:t>
            </a:r>
            <a:br>
              <a:rPr lang="sv-SE" sz="2100" dirty="0">
                <a:latin typeface="Arial Black" charset="0"/>
              </a:rPr>
            </a:br>
            <a:r>
              <a:rPr lang="sv-SE" sz="1500" dirty="0">
                <a:latin typeface="Arial Black" charset="0"/>
              </a:rPr>
              <a:t>(</a:t>
            </a:r>
            <a:r>
              <a:rPr lang="sv-SE" sz="1500" dirty="0" err="1">
                <a:latin typeface="Arial Black" charset="0"/>
              </a:rPr>
              <a:t>periodic</a:t>
            </a:r>
            <a:r>
              <a:rPr lang="sv-SE" sz="1500" dirty="0">
                <a:latin typeface="Arial Black" charset="0"/>
              </a:rPr>
              <a:t> task, period 20)</a:t>
            </a:r>
            <a:endParaRPr lang="en-GB" sz="1500" dirty="0">
              <a:latin typeface="Arial Black" charset="0"/>
            </a:endParaRPr>
          </a:p>
        </p:txBody>
      </p:sp>
      <p:sp>
        <p:nvSpPr>
          <p:cNvPr id="51203" name="Oval 3"/>
          <p:cNvSpPr>
            <a:spLocks noChangeArrowheads="1"/>
          </p:cNvSpPr>
          <p:nvPr/>
        </p:nvSpPr>
        <p:spPr bwMode="auto">
          <a:xfrm>
            <a:off x="3305908" y="2571750"/>
            <a:ext cx="633047" cy="685800"/>
          </a:xfrm>
          <a:prstGeom prst="ellipse">
            <a:avLst/>
          </a:prstGeom>
          <a:solidFill>
            <a:schemeClr val="accent1"/>
          </a:solidFill>
          <a:ln w="9525">
            <a:solidFill>
              <a:schemeClr val="tx1"/>
            </a:solidFill>
            <a:miter lim="800000"/>
            <a:headEnd/>
            <a:tailEnd/>
          </a:ln>
        </p:spPr>
        <p:txBody>
          <a:bodyPr wrap="none" anchor="ctr"/>
          <a:lstStyle/>
          <a:p>
            <a:pPr eaLnBrk="1" hangingPunct="1"/>
            <a:endParaRPr lang="en-GB" sz="1800"/>
          </a:p>
        </p:txBody>
      </p:sp>
      <p:cxnSp>
        <p:nvCxnSpPr>
          <p:cNvPr id="51204" name="AutoShape 4"/>
          <p:cNvCxnSpPr>
            <a:cxnSpLocks noChangeShapeType="1"/>
            <a:stCxn id="51203" idx="0"/>
            <a:endCxn id="51203" idx="4"/>
          </p:cNvCxnSpPr>
          <p:nvPr/>
        </p:nvCxnSpPr>
        <p:spPr bwMode="auto">
          <a:xfrm rot="5400000" flipV="1">
            <a:off x="3280081" y="2914100"/>
            <a:ext cx="685800" cy="1100"/>
          </a:xfrm>
          <a:prstGeom prst="curvedConnector5">
            <a:avLst>
              <a:gd name="adj1" fmla="val -25000"/>
              <a:gd name="adj2" fmla="val 91100000"/>
              <a:gd name="adj3" fmla="val 125000"/>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51205" name="Line 5"/>
          <p:cNvSpPr>
            <a:spLocks noChangeShapeType="1"/>
          </p:cNvSpPr>
          <p:nvPr/>
        </p:nvSpPr>
        <p:spPr bwMode="auto">
          <a:xfrm>
            <a:off x="2145324" y="2000250"/>
            <a:ext cx="1213339" cy="8001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sp>
        <p:nvSpPr>
          <p:cNvPr id="51206" name="Text Box 6"/>
          <p:cNvSpPr txBox="1">
            <a:spLocks noChangeArrowheads="1"/>
          </p:cNvSpPr>
          <p:nvPr/>
        </p:nvSpPr>
        <p:spPr bwMode="auto">
          <a:xfrm>
            <a:off x="4402749" y="2196704"/>
            <a:ext cx="88838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dirty="0"/>
              <a:t>x==20</a:t>
            </a:r>
            <a:endParaRPr lang="en-GB" sz="1800" b="0" dirty="0"/>
          </a:p>
        </p:txBody>
      </p:sp>
      <p:sp>
        <p:nvSpPr>
          <p:cNvPr id="51208" name="Text Box 8"/>
          <p:cNvSpPr txBox="1">
            <a:spLocks noChangeArrowheads="1"/>
          </p:cNvSpPr>
          <p:nvPr/>
        </p:nvSpPr>
        <p:spPr bwMode="auto">
          <a:xfrm>
            <a:off x="3938954" y="3429000"/>
            <a:ext cx="67518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dirty="0"/>
              <a:t>x:=0</a:t>
            </a:r>
            <a:endParaRPr lang="en-GB" sz="1800" b="0" dirty="0"/>
          </a:p>
        </p:txBody>
      </p:sp>
      <p:sp>
        <p:nvSpPr>
          <p:cNvPr id="51209" name="Text Box 9"/>
          <p:cNvSpPr txBox="1">
            <a:spLocks noChangeArrowheads="1"/>
          </p:cNvSpPr>
          <p:nvPr/>
        </p:nvSpPr>
        <p:spPr bwMode="auto">
          <a:xfrm>
            <a:off x="3464169" y="2628900"/>
            <a:ext cx="31931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a:t>T</a:t>
            </a:r>
            <a:endParaRPr lang="en-GB" sz="1800" b="0"/>
          </a:p>
        </p:txBody>
      </p:sp>
      <p:sp>
        <p:nvSpPr>
          <p:cNvPr id="11" name="Text Box 6"/>
          <p:cNvSpPr txBox="1">
            <a:spLocks noChangeArrowheads="1"/>
          </p:cNvSpPr>
          <p:nvPr/>
        </p:nvSpPr>
        <p:spPr bwMode="auto">
          <a:xfrm>
            <a:off x="3340220" y="2858707"/>
            <a:ext cx="630301" cy="323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500" b="0" dirty="0"/>
              <a:t>x≤20</a:t>
            </a:r>
            <a:endParaRPr lang="en-GB" sz="1500" b="0" dirty="0"/>
          </a:p>
        </p:txBody>
      </p:sp>
    </p:spTree>
    <p:extLst>
      <p:ext uri="{BB962C8B-B14F-4D97-AF65-F5344CB8AC3E}">
        <p14:creationId xmlns:p14="http://schemas.microsoft.com/office/powerpoint/2010/main" val="587251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B9F09ABE-DC5A-8E4E-9A7B-11CBD5206F40}" type="slidenum">
              <a:rPr lang="en-US" sz="900" b="0">
                <a:solidFill>
                  <a:schemeClr val="bg2"/>
                </a:solidFill>
              </a:rPr>
              <a:pPr/>
              <a:t>35</a:t>
            </a:fld>
            <a:endParaRPr lang="en-US" sz="900" b="0">
              <a:solidFill>
                <a:schemeClr val="bg2"/>
              </a:solidFill>
            </a:endParaRPr>
          </a:p>
        </p:txBody>
      </p:sp>
      <p:sp>
        <p:nvSpPr>
          <p:cNvPr id="53250" name="Rectangle 2"/>
          <p:cNvSpPr>
            <a:spLocks noGrp="1" noChangeArrowheads="1"/>
          </p:cNvSpPr>
          <p:nvPr>
            <p:ph type="title"/>
          </p:nvPr>
        </p:nvSpPr>
        <p:spPr/>
        <p:txBody>
          <a:bodyPr/>
          <a:lstStyle/>
          <a:p>
            <a:r>
              <a:rPr lang="en-US" sz="1800" dirty="0">
                <a:latin typeface="Arial Black" charset="0"/>
              </a:rPr>
              <a:t>Timed Automata</a:t>
            </a:r>
            <a:r>
              <a:rPr lang="sv-SE" sz="1800" dirty="0">
                <a:latin typeface="Arial Black" charset="0"/>
              </a:rPr>
              <a:t>: </a:t>
            </a:r>
            <a:r>
              <a:rPr lang="sv-SE" sz="1800" dirty="0" err="1">
                <a:latin typeface="Arial Black" charset="0"/>
              </a:rPr>
              <a:t>Example</a:t>
            </a:r>
            <a:r>
              <a:rPr lang="sv-SE" sz="1800" dirty="0">
                <a:latin typeface="Arial Black" charset="0"/>
              </a:rPr>
              <a:t> </a:t>
            </a:r>
            <a:br>
              <a:rPr lang="sv-SE" sz="1800" dirty="0">
                <a:latin typeface="Arial Black" charset="0"/>
              </a:rPr>
            </a:br>
            <a:r>
              <a:rPr lang="sv-SE" sz="1800" dirty="0">
                <a:latin typeface="Arial Black" charset="0"/>
              </a:rPr>
              <a:t>(</a:t>
            </a:r>
            <a:r>
              <a:rPr lang="sv-SE" sz="1800" dirty="0" err="1">
                <a:latin typeface="Arial Black" charset="0"/>
              </a:rPr>
              <a:t>sporadic</a:t>
            </a:r>
            <a:r>
              <a:rPr lang="sv-SE" sz="1800" dirty="0">
                <a:latin typeface="Arial Black" charset="0"/>
              </a:rPr>
              <a:t> task w min period 20)</a:t>
            </a:r>
            <a:endParaRPr lang="en-GB" sz="1800" dirty="0">
              <a:latin typeface="Arial Black" charset="0"/>
            </a:endParaRPr>
          </a:p>
        </p:txBody>
      </p:sp>
      <p:sp>
        <p:nvSpPr>
          <p:cNvPr id="53251" name="Oval 3"/>
          <p:cNvSpPr>
            <a:spLocks noChangeArrowheads="1"/>
          </p:cNvSpPr>
          <p:nvPr/>
        </p:nvSpPr>
        <p:spPr bwMode="auto">
          <a:xfrm>
            <a:off x="3305908" y="2571750"/>
            <a:ext cx="633047" cy="685800"/>
          </a:xfrm>
          <a:prstGeom prst="ellipse">
            <a:avLst/>
          </a:prstGeom>
          <a:solidFill>
            <a:schemeClr val="accent1"/>
          </a:solidFill>
          <a:ln w="9525">
            <a:solidFill>
              <a:schemeClr val="tx1"/>
            </a:solidFill>
            <a:miter lim="800000"/>
            <a:headEnd/>
            <a:tailEnd/>
          </a:ln>
        </p:spPr>
        <p:txBody>
          <a:bodyPr wrap="none" anchor="ctr"/>
          <a:lstStyle/>
          <a:p>
            <a:pPr eaLnBrk="1" hangingPunct="1"/>
            <a:endParaRPr lang="en-GB" sz="1800"/>
          </a:p>
        </p:txBody>
      </p:sp>
      <p:cxnSp>
        <p:nvCxnSpPr>
          <p:cNvPr id="53252" name="AutoShape 4"/>
          <p:cNvCxnSpPr>
            <a:cxnSpLocks noChangeShapeType="1"/>
            <a:stCxn id="53251" idx="0"/>
            <a:endCxn id="53251" idx="4"/>
          </p:cNvCxnSpPr>
          <p:nvPr/>
        </p:nvCxnSpPr>
        <p:spPr bwMode="auto">
          <a:xfrm rot="5400000" flipV="1">
            <a:off x="3280081" y="2914100"/>
            <a:ext cx="685800" cy="1100"/>
          </a:xfrm>
          <a:prstGeom prst="curvedConnector5">
            <a:avLst>
              <a:gd name="adj1" fmla="val -25000"/>
              <a:gd name="adj2" fmla="val 91100000"/>
              <a:gd name="adj3" fmla="val 125000"/>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53253" name="Line 5"/>
          <p:cNvSpPr>
            <a:spLocks noChangeShapeType="1"/>
          </p:cNvSpPr>
          <p:nvPr/>
        </p:nvSpPr>
        <p:spPr bwMode="auto">
          <a:xfrm>
            <a:off x="2145324" y="2000250"/>
            <a:ext cx="1213339" cy="8001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sp>
        <p:nvSpPr>
          <p:cNvPr id="53254" name="Text Box 6"/>
          <p:cNvSpPr txBox="1">
            <a:spLocks noChangeArrowheads="1"/>
          </p:cNvSpPr>
          <p:nvPr/>
        </p:nvSpPr>
        <p:spPr bwMode="auto">
          <a:xfrm>
            <a:off x="4402749" y="2196704"/>
            <a:ext cx="72006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dirty="0"/>
              <a:t>x≥20</a:t>
            </a:r>
            <a:endParaRPr lang="en-GB" sz="1800" b="0" dirty="0"/>
          </a:p>
        </p:txBody>
      </p:sp>
      <p:sp>
        <p:nvSpPr>
          <p:cNvPr id="53256" name="Text Box 8"/>
          <p:cNvSpPr txBox="1">
            <a:spLocks noChangeArrowheads="1"/>
          </p:cNvSpPr>
          <p:nvPr/>
        </p:nvSpPr>
        <p:spPr bwMode="auto">
          <a:xfrm>
            <a:off x="3938954" y="3429000"/>
            <a:ext cx="67518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dirty="0"/>
              <a:t>x:=0</a:t>
            </a:r>
            <a:endParaRPr lang="en-GB" sz="1800" b="0" dirty="0"/>
          </a:p>
        </p:txBody>
      </p:sp>
      <p:sp>
        <p:nvSpPr>
          <p:cNvPr id="53257" name="Text Box 9"/>
          <p:cNvSpPr txBox="1">
            <a:spLocks noChangeArrowheads="1"/>
          </p:cNvSpPr>
          <p:nvPr/>
        </p:nvSpPr>
        <p:spPr bwMode="auto">
          <a:xfrm>
            <a:off x="3505933" y="2596754"/>
            <a:ext cx="31931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a:t>T</a:t>
            </a:r>
            <a:endParaRPr lang="en-GB" sz="1800" b="0"/>
          </a:p>
        </p:txBody>
      </p:sp>
    </p:spTree>
    <p:extLst>
      <p:ext uri="{BB962C8B-B14F-4D97-AF65-F5344CB8AC3E}">
        <p14:creationId xmlns:p14="http://schemas.microsoft.com/office/powerpoint/2010/main" val="3712888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F744C210-8240-EB49-A8A9-C93EBDE19D33}" type="slidenum">
              <a:rPr lang="en-US" sz="900" b="0">
                <a:solidFill>
                  <a:schemeClr val="bg2"/>
                </a:solidFill>
              </a:rPr>
              <a:pPr/>
              <a:t>36</a:t>
            </a:fld>
            <a:endParaRPr lang="en-US" sz="900" b="0">
              <a:solidFill>
                <a:schemeClr val="bg2"/>
              </a:solidFill>
            </a:endParaRPr>
          </a:p>
        </p:txBody>
      </p:sp>
      <p:sp>
        <p:nvSpPr>
          <p:cNvPr id="55298" name="Rectangle 2"/>
          <p:cNvSpPr>
            <a:spLocks noGrp="1" noChangeArrowheads="1"/>
          </p:cNvSpPr>
          <p:nvPr>
            <p:ph type="title"/>
          </p:nvPr>
        </p:nvSpPr>
        <p:spPr/>
        <p:txBody>
          <a:bodyPr/>
          <a:lstStyle/>
          <a:p>
            <a:r>
              <a:rPr lang="en-US" sz="1800">
                <a:latin typeface="Arial Black" charset="0"/>
              </a:rPr>
              <a:t>Timed Automata</a:t>
            </a:r>
            <a:r>
              <a:rPr lang="sv-SE" sz="1800">
                <a:latin typeface="Arial Black" charset="0"/>
              </a:rPr>
              <a:t>: Example </a:t>
            </a:r>
            <a:br>
              <a:rPr lang="sv-SE" sz="1800">
                <a:latin typeface="Arial Black" charset="0"/>
              </a:rPr>
            </a:br>
            <a:r>
              <a:rPr lang="sv-SE" sz="1800">
                <a:latin typeface="Arial Black" charset="0"/>
              </a:rPr>
              <a:t>(aperiodic task, every 5 to 100)</a:t>
            </a:r>
            <a:endParaRPr lang="en-GB" sz="1800">
              <a:latin typeface="Arial Black" charset="0"/>
            </a:endParaRPr>
          </a:p>
        </p:txBody>
      </p:sp>
      <p:sp>
        <p:nvSpPr>
          <p:cNvPr id="55299" name="Oval 3"/>
          <p:cNvSpPr>
            <a:spLocks noChangeArrowheads="1"/>
          </p:cNvSpPr>
          <p:nvPr/>
        </p:nvSpPr>
        <p:spPr bwMode="auto">
          <a:xfrm>
            <a:off x="3305908" y="2571750"/>
            <a:ext cx="633047" cy="685800"/>
          </a:xfrm>
          <a:prstGeom prst="ellipse">
            <a:avLst/>
          </a:prstGeom>
          <a:solidFill>
            <a:schemeClr val="accent1"/>
          </a:solidFill>
          <a:ln w="9525">
            <a:solidFill>
              <a:schemeClr val="tx1"/>
            </a:solidFill>
            <a:miter lim="800000"/>
            <a:headEnd/>
            <a:tailEnd/>
          </a:ln>
        </p:spPr>
        <p:txBody>
          <a:bodyPr wrap="none" anchor="ctr"/>
          <a:lstStyle/>
          <a:p>
            <a:pPr eaLnBrk="1" hangingPunct="1"/>
            <a:endParaRPr lang="en-GB" sz="1800"/>
          </a:p>
        </p:txBody>
      </p:sp>
      <p:cxnSp>
        <p:nvCxnSpPr>
          <p:cNvPr id="55300" name="AutoShape 4"/>
          <p:cNvCxnSpPr>
            <a:cxnSpLocks noChangeShapeType="1"/>
            <a:stCxn id="55299" idx="0"/>
            <a:endCxn id="55299" idx="4"/>
          </p:cNvCxnSpPr>
          <p:nvPr/>
        </p:nvCxnSpPr>
        <p:spPr bwMode="auto">
          <a:xfrm rot="5400000" flipV="1">
            <a:off x="3280081" y="2914100"/>
            <a:ext cx="685800" cy="1100"/>
          </a:xfrm>
          <a:prstGeom prst="curvedConnector5">
            <a:avLst>
              <a:gd name="adj1" fmla="val -25000"/>
              <a:gd name="adj2" fmla="val 91100000"/>
              <a:gd name="adj3" fmla="val 125000"/>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55301" name="Line 5"/>
          <p:cNvSpPr>
            <a:spLocks noChangeShapeType="1"/>
          </p:cNvSpPr>
          <p:nvPr/>
        </p:nvSpPr>
        <p:spPr bwMode="auto">
          <a:xfrm>
            <a:off x="2145324" y="2000250"/>
            <a:ext cx="1213339" cy="8001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sp>
        <p:nvSpPr>
          <p:cNvPr id="55302" name="Text Box 6"/>
          <p:cNvSpPr txBox="1">
            <a:spLocks noChangeArrowheads="1"/>
          </p:cNvSpPr>
          <p:nvPr/>
        </p:nvSpPr>
        <p:spPr bwMode="auto">
          <a:xfrm>
            <a:off x="4402749" y="2196704"/>
            <a:ext cx="101502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dirty="0"/>
              <a:t>5≤</a:t>
            </a:r>
            <a:r>
              <a:rPr lang="sv-SE" sz="1800" b="0"/>
              <a:t>x≤99</a:t>
            </a:r>
            <a:endParaRPr lang="en-GB" sz="1800" b="0" dirty="0"/>
          </a:p>
        </p:txBody>
      </p:sp>
      <p:sp>
        <p:nvSpPr>
          <p:cNvPr id="55304" name="Text Box 8"/>
          <p:cNvSpPr txBox="1">
            <a:spLocks noChangeArrowheads="1"/>
          </p:cNvSpPr>
          <p:nvPr/>
        </p:nvSpPr>
        <p:spPr bwMode="auto">
          <a:xfrm>
            <a:off x="3938954" y="3429000"/>
            <a:ext cx="67518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dirty="0"/>
              <a:t>x:=0</a:t>
            </a:r>
            <a:endParaRPr lang="en-GB" sz="1800" b="0" dirty="0"/>
          </a:p>
        </p:txBody>
      </p:sp>
      <p:sp>
        <p:nvSpPr>
          <p:cNvPr id="55305" name="Text Box 9"/>
          <p:cNvSpPr txBox="1">
            <a:spLocks noChangeArrowheads="1"/>
          </p:cNvSpPr>
          <p:nvPr/>
        </p:nvSpPr>
        <p:spPr bwMode="auto">
          <a:xfrm>
            <a:off x="3505933" y="2596754"/>
            <a:ext cx="31931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a:t>T</a:t>
            </a:r>
            <a:endParaRPr lang="en-GB" sz="1800" b="0"/>
          </a:p>
        </p:txBody>
      </p:sp>
      <p:sp>
        <p:nvSpPr>
          <p:cNvPr id="11" name="Text Box 6"/>
          <p:cNvSpPr txBox="1">
            <a:spLocks noChangeArrowheads="1"/>
          </p:cNvSpPr>
          <p:nvPr/>
        </p:nvSpPr>
        <p:spPr bwMode="auto">
          <a:xfrm>
            <a:off x="3340220" y="2858707"/>
            <a:ext cx="63671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X≤100</a:t>
            </a:r>
            <a:endParaRPr lang="en-GB" sz="1200" b="0" dirty="0"/>
          </a:p>
        </p:txBody>
      </p:sp>
    </p:spTree>
    <p:extLst>
      <p:ext uri="{BB962C8B-B14F-4D97-AF65-F5344CB8AC3E}">
        <p14:creationId xmlns:p14="http://schemas.microsoft.com/office/powerpoint/2010/main" val="2094999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CBF8350F-9B45-1F47-B0E4-B4F93ADD4836}" type="slidenum">
              <a:rPr lang="en-US" sz="900" b="0">
                <a:solidFill>
                  <a:schemeClr val="bg2"/>
                </a:solidFill>
              </a:rPr>
              <a:pPr/>
              <a:t>37</a:t>
            </a:fld>
            <a:endParaRPr lang="en-US" sz="900" b="0">
              <a:solidFill>
                <a:schemeClr val="bg2"/>
              </a:solidFill>
            </a:endParaRPr>
          </a:p>
        </p:txBody>
      </p:sp>
      <p:sp>
        <p:nvSpPr>
          <p:cNvPr id="59394" name="Rectangle 1026"/>
          <p:cNvSpPr>
            <a:spLocks noGrp="1" noChangeArrowheads="1"/>
          </p:cNvSpPr>
          <p:nvPr>
            <p:ph type="title"/>
          </p:nvPr>
        </p:nvSpPr>
        <p:spPr/>
        <p:txBody>
          <a:bodyPr/>
          <a:lstStyle/>
          <a:p>
            <a:r>
              <a:rPr lang="en-US">
                <a:latin typeface="Arial Black" charset="0"/>
              </a:rPr>
              <a:t>Timed Automata: Light Switch</a:t>
            </a:r>
          </a:p>
        </p:txBody>
      </p:sp>
      <p:sp>
        <p:nvSpPr>
          <p:cNvPr id="563203" name="Rectangle 1027"/>
          <p:cNvSpPr>
            <a:spLocks noGrp="1" noChangeArrowheads="1"/>
          </p:cNvSpPr>
          <p:nvPr>
            <p:ph type="body" sz="half" idx="2"/>
          </p:nvPr>
        </p:nvSpPr>
        <p:spPr>
          <a:xfrm>
            <a:off x="5026131" y="1791892"/>
            <a:ext cx="2534155" cy="2521744"/>
          </a:xfrm>
          <a:solidFill>
            <a:srgbClr val="FFFF99"/>
          </a:solidFill>
        </p:spPr>
        <p:txBody>
          <a:bodyPr/>
          <a:lstStyle/>
          <a:p>
            <a:r>
              <a:rPr lang="en-US" sz="1500" dirty="0">
                <a:latin typeface="Arial" charset="0"/>
              </a:rPr>
              <a:t>Switch may be turned on whenever more than 2 time units since last </a:t>
            </a:r>
            <a:r>
              <a:rPr lang="ja-JP" altLang="en-US" sz="1500" dirty="0">
                <a:latin typeface="Arial" charset="0"/>
              </a:rPr>
              <a:t>“</a:t>
            </a:r>
            <a:r>
              <a:rPr lang="en-US" altLang="ja-JP" sz="1500" dirty="0">
                <a:latin typeface="Arial" charset="0"/>
              </a:rPr>
              <a:t>turn off</a:t>
            </a:r>
            <a:r>
              <a:rPr lang="ja-JP" altLang="en-US" sz="1500" dirty="0">
                <a:latin typeface="Arial" charset="0"/>
              </a:rPr>
              <a:t>”</a:t>
            </a:r>
            <a:br>
              <a:rPr lang="en-US" altLang="ja-JP" sz="1500" dirty="0">
                <a:latin typeface="Arial" charset="0"/>
              </a:rPr>
            </a:br>
            <a:endParaRPr lang="en-US" altLang="ja-JP" sz="1350" dirty="0">
              <a:latin typeface="Arial" charset="0"/>
            </a:endParaRPr>
          </a:p>
          <a:p>
            <a:r>
              <a:rPr lang="en-US" sz="1500" dirty="0">
                <a:latin typeface="Arial" charset="0"/>
              </a:rPr>
              <a:t>Light automatically switches off after 9 time units if it is not pressed.</a:t>
            </a:r>
          </a:p>
        </p:txBody>
      </p:sp>
      <p:sp>
        <p:nvSpPr>
          <p:cNvPr id="59396" name="Oval 1028"/>
          <p:cNvSpPr>
            <a:spLocks noChangeArrowheads="1"/>
          </p:cNvSpPr>
          <p:nvPr/>
        </p:nvSpPr>
        <p:spPr bwMode="auto">
          <a:xfrm>
            <a:off x="1723292" y="2686050"/>
            <a:ext cx="474785" cy="51435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dirty="0"/>
              <a:t>off </a:t>
            </a:r>
            <a:endParaRPr lang="en-GB" sz="1800" dirty="0"/>
          </a:p>
        </p:txBody>
      </p:sp>
      <p:sp>
        <p:nvSpPr>
          <p:cNvPr id="59397" name="Line 1029"/>
          <p:cNvSpPr>
            <a:spLocks noChangeShapeType="1"/>
          </p:cNvSpPr>
          <p:nvPr/>
        </p:nvSpPr>
        <p:spPr bwMode="auto">
          <a:xfrm>
            <a:off x="1354016" y="2343150"/>
            <a:ext cx="369277"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sp>
        <p:nvSpPr>
          <p:cNvPr id="59398" name="Oval 1030"/>
          <p:cNvSpPr>
            <a:spLocks noChangeArrowheads="1"/>
          </p:cNvSpPr>
          <p:nvPr/>
        </p:nvSpPr>
        <p:spPr bwMode="auto">
          <a:xfrm>
            <a:off x="3464169" y="2743200"/>
            <a:ext cx="474785" cy="51435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a:t>on</a:t>
            </a:r>
            <a:endParaRPr lang="en-GB" sz="1800"/>
          </a:p>
        </p:txBody>
      </p:sp>
      <p:cxnSp>
        <p:nvCxnSpPr>
          <p:cNvPr id="59399" name="AutoShape 1031"/>
          <p:cNvCxnSpPr>
            <a:cxnSpLocks noChangeShapeType="1"/>
            <a:stCxn id="59398" idx="7"/>
            <a:endCxn id="59398" idx="5"/>
          </p:cNvCxnSpPr>
          <p:nvPr/>
        </p:nvCxnSpPr>
        <p:spPr bwMode="auto">
          <a:xfrm rot="5400000" flipV="1">
            <a:off x="3688099" y="2999827"/>
            <a:ext cx="364331" cy="1099"/>
          </a:xfrm>
          <a:prstGeom prst="curvedConnector5">
            <a:avLst>
              <a:gd name="adj1" fmla="val -67648"/>
              <a:gd name="adj2" fmla="val 51300014"/>
              <a:gd name="adj3" fmla="val 167648"/>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cxnSp>
        <p:nvCxnSpPr>
          <p:cNvPr id="59400" name="AutoShape 1032"/>
          <p:cNvCxnSpPr>
            <a:cxnSpLocks noChangeShapeType="1"/>
            <a:stCxn id="59396" idx="0"/>
            <a:endCxn id="59398" idx="0"/>
          </p:cNvCxnSpPr>
          <p:nvPr/>
        </p:nvCxnSpPr>
        <p:spPr bwMode="auto">
          <a:xfrm rot="5400000" flipV="1">
            <a:off x="2802548" y="1844187"/>
            <a:ext cx="57150" cy="1740877"/>
          </a:xfrm>
          <a:prstGeom prst="curvedConnector3">
            <a:avLst>
              <a:gd name="adj1" fmla="val -300000"/>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cxnSp>
        <p:nvCxnSpPr>
          <p:cNvPr id="59401" name="AutoShape 1033"/>
          <p:cNvCxnSpPr>
            <a:cxnSpLocks noChangeShapeType="1"/>
            <a:stCxn id="59398" idx="4"/>
            <a:endCxn id="59396" idx="4"/>
          </p:cNvCxnSpPr>
          <p:nvPr/>
        </p:nvCxnSpPr>
        <p:spPr bwMode="auto">
          <a:xfrm rot="16200000" flipV="1">
            <a:off x="2802548" y="2358537"/>
            <a:ext cx="57150" cy="1740877"/>
          </a:xfrm>
          <a:prstGeom prst="curvedConnector3">
            <a:avLst>
              <a:gd name="adj1" fmla="val -300000"/>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59402" name="Text Box 1034"/>
          <p:cNvSpPr txBox="1">
            <a:spLocks noChangeArrowheads="1"/>
          </p:cNvSpPr>
          <p:nvPr/>
        </p:nvSpPr>
        <p:spPr bwMode="auto">
          <a:xfrm>
            <a:off x="1934308" y="2114550"/>
            <a:ext cx="17315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dirty="0"/>
              <a:t> </a:t>
            </a:r>
            <a:r>
              <a:rPr lang="sv-SE" sz="1350" b="0" dirty="0"/>
              <a:t>x&gt;2    push    x:=0</a:t>
            </a:r>
            <a:endParaRPr lang="en-GB" sz="1350" b="0" dirty="0"/>
          </a:p>
        </p:txBody>
      </p:sp>
      <p:sp>
        <p:nvSpPr>
          <p:cNvPr id="59403" name="Text Box 1035"/>
          <p:cNvSpPr txBox="1">
            <a:spLocks noChangeArrowheads="1"/>
          </p:cNvSpPr>
          <p:nvPr/>
        </p:nvSpPr>
        <p:spPr bwMode="auto">
          <a:xfrm>
            <a:off x="3927964" y="2327673"/>
            <a:ext cx="45717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x&gt;2</a:t>
            </a:r>
            <a:endParaRPr lang="en-GB" sz="1200" b="0" dirty="0"/>
          </a:p>
        </p:txBody>
      </p:sp>
      <p:sp>
        <p:nvSpPr>
          <p:cNvPr id="59404" name="Text Box 1036"/>
          <p:cNvSpPr txBox="1">
            <a:spLocks noChangeArrowheads="1"/>
          </p:cNvSpPr>
          <p:nvPr/>
        </p:nvSpPr>
        <p:spPr bwMode="auto">
          <a:xfrm>
            <a:off x="4402749" y="2881313"/>
            <a:ext cx="550151"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dirty="0"/>
              <a:t>push</a:t>
            </a:r>
            <a:endParaRPr lang="en-GB" sz="1350" b="0" dirty="0"/>
          </a:p>
        </p:txBody>
      </p:sp>
      <p:sp>
        <p:nvSpPr>
          <p:cNvPr id="59405" name="Text Box 1037"/>
          <p:cNvSpPr txBox="1">
            <a:spLocks noChangeArrowheads="1"/>
          </p:cNvSpPr>
          <p:nvPr/>
        </p:nvSpPr>
        <p:spPr bwMode="auto">
          <a:xfrm>
            <a:off x="4086226" y="3470673"/>
            <a:ext cx="52450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a:t>X:=0</a:t>
            </a:r>
            <a:endParaRPr lang="en-GB" sz="1200" b="0"/>
          </a:p>
        </p:txBody>
      </p:sp>
      <p:sp>
        <p:nvSpPr>
          <p:cNvPr id="59406" name="Text Box 1038"/>
          <p:cNvSpPr txBox="1">
            <a:spLocks noChangeArrowheads="1"/>
          </p:cNvSpPr>
          <p:nvPr/>
        </p:nvSpPr>
        <p:spPr bwMode="auto">
          <a:xfrm>
            <a:off x="2179394" y="3489723"/>
            <a:ext cx="147450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x:=0</a:t>
            </a:r>
            <a:r>
              <a:rPr lang="en-GB" sz="1200" b="0" dirty="0"/>
              <a:t>            </a:t>
            </a:r>
            <a:r>
              <a:rPr lang="sv-SE" sz="1200" b="0" dirty="0"/>
              <a:t>x==9</a:t>
            </a:r>
            <a:endParaRPr lang="en-GB" sz="1200" b="0" dirty="0"/>
          </a:p>
        </p:txBody>
      </p:sp>
      <p:sp>
        <p:nvSpPr>
          <p:cNvPr id="59407" name="Text Box 1039"/>
          <p:cNvSpPr txBox="1">
            <a:spLocks noChangeArrowheads="1"/>
          </p:cNvSpPr>
          <p:nvPr/>
        </p:nvSpPr>
        <p:spPr bwMode="auto">
          <a:xfrm>
            <a:off x="3031148" y="2842023"/>
            <a:ext cx="45717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x≤9</a:t>
            </a:r>
            <a:endParaRPr lang="en-GB" sz="1200" b="0" dirty="0"/>
          </a:p>
        </p:txBody>
      </p:sp>
    </p:spTree>
    <p:extLst>
      <p:ext uri="{BB962C8B-B14F-4D97-AF65-F5344CB8AC3E}">
        <p14:creationId xmlns:p14="http://schemas.microsoft.com/office/powerpoint/2010/main" val="32891852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3203">
                                            <p:bg/>
                                          </p:spTgt>
                                        </p:tgtEl>
                                        <p:attrNameLst>
                                          <p:attrName>style.visibility</p:attrName>
                                        </p:attrNameLst>
                                      </p:cBhvr>
                                      <p:to>
                                        <p:strVal val="visible"/>
                                      </p:to>
                                    </p:set>
                                    <p:animEffect transition="in" filter="blinds(horizontal)">
                                      <p:cBhvr>
                                        <p:cTn id="7" dur="500"/>
                                        <p:tgtEl>
                                          <p:spTgt spid="563203">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63203">
                                            <p:txEl>
                                              <p:pRg st="0" end="0"/>
                                            </p:txEl>
                                          </p:spTgt>
                                        </p:tgtEl>
                                        <p:attrNameLst>
                                          <p:attrName>style.visibility</p:attrName>
                                        </p:attrNameLst>
                                      </p:cBhvr>
                                      <p:to>
                                        <p:strVal val="visible"/>
                                      </p:to>
                                    </p:set>
                                    <p:animEffect transition="in" filter="blinds(horizontal)">
                                      <p:cBhvr>
                                        <p:cTn id="10" dur="500"/>
                                        <p:tgtEl>
                                          <p:spTgt spid="563203">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63203">
                                            <p:txEl>
                                              <p:pRg st="1" end="1"/>
                                            </p:txEl>
                                          </p:spTgt>
                                        </p:tgtEl>
                                        <p:attrNameLst>
                                          <p:attrName>style.visibility</p:attrName>
                                        </p:attrNameLst>
                                      </p:cBhvr>
                                      <p:to>
                                        <p:strVal val="visible"/>
                                      </p:to>
                                    </p:set>
                                    <p:animEffect transition="in" filter="blinds(horizontal)">
                                      <p:cBhvr>
                                        <p:cTn id="15" dur="500"/>
                                        <p:tgtEl>
                                          <p:spTgt spid="5632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3" grpId="0" uiExpand="1" build="p"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r>
              <a:rPr lang="en-US" dirty="0"/>
              <a:t> </a:t>
            </a:r>
          </a:p>
        </p:txBody>
      </p:sp>
      <p:sp>
        <p:nvSpPr>
          <p:cNvPr id="3" name="Content Placeholder 2"/>
          <p:cNvSpPr>
            <a:spLocks noGrp="1"/>
          </p:cNvSpPr>
          <p:nvPr>
            <p:ph idx="1"/>
          </p:nvPr>
        </p:nvSpPr>
        <p:spPr/>
        <p:txBody>
          <a:bodyPr/>
          <a:lstStyle/>
          <a:p>
            <a:pPr marL="0" indent="0">
              <a:buNone/>
            </a:pPr>
            <a:r>
              <a:rPr lang="en-GB" b="1" dirty="0">
                <a:solidFill>
                  <a:schemeClr val="tx2"/>
                </a:solidFill>
              </a:rPr>
              <a:t>The Light Control example  </a:t>
            </a:r>
          </a:p>
          <a:p>
            <a:endParaRPr lang="en-US" dirty="0"/>
          </a:p>
        </p:txBody>
      </p:sp>
    </p:spTree>
    <p:extLst>
      <p:ext uri="{BB962C8B-B14F-4D97-AF65-F5344CB8AC3E}">
        <p14:creationId xmlns:p14="http://schemas.microsoft.com/office/powerpoint/2010/main" val="42559010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7" name="Slide Number Placeholder 3"/>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500" b="1">
                <a:solidFill>
                  <a:schemeClr val="tx1"/>
                </a:solidFill>
                <a:latin typeface="Tahoma" charset="0"/>
                <a:ea typeface="ＭＳ Ｐゴシック" charset="0"/>
                <a:cs typeface="ＭＳ Ｐゴシック" charset="0"/>
              </a:defRPr>
            </a:lvl1pPr>
            <a:lvl2pPr marL="557213" indent="-214313">
              <a:defRPr sz="1500" b="1">
                <a:solidFill>
                  <a:schemeClr val="tx1"/>
                </a:solidFill>
                <a:latin typeface="Tahoma" charset="0"/>
                <a:ea typeface="ＭＳ Ｐゴシック" charset="0"/>
              </a:defRPr>
            </a:lvl2pPr>
            <a:lvl3pPr marL="857250" indent="-171450">
              <a:defRPr sz="1500" b="1">
                <a:solidFill>
                  <a:schemeClr val="tx1"/>
                </a:solidFill>
                <a:latin typeface="Tahoma" charset="0"/>
                <a:ea typeface="ＭＳ Ｐゴシック" charset="0"/>
              </a:defRPr>
            </a:lvl3pPr>
            <a:lvl4pPr marL="1200150" indent="-171450">
              <a:defRPr sz="1500" b="1">
                <a:solidFill>
                  <a:schemeClr val="tx1"/>
                </a:solidFill>
                <a:latin typeface="Tahoma" charset="0"/>
                <a:ea typeface="ＭＳ Ｐゴシック" charset="0"/>
              </a:defRPr>
            </a:lvl4pPr>
            <a:lvl5pPr marL="1543050" indent="-171450">
              <a:defRPr sz="1500" b="1">
                <a:solidFill>
                  <a:schemeClr val="tx1"/>
                </a:solidFill>
                <a:latin typeface="Tahoma" charset="0"/>
                <a:ea typeface="ＭＳ Ｐゴシック" charset="0"/>
              </a:defRPr>
            </a:lvl5pPr>
            <a:lvl6pPr marL="1885950" indent="-171450" algn="ctr" eaLnBrk="0" fontAlgn="base" hangingPunct="0">
              <a:spcBef>
                <a:spcPct val="0"/>
              </a:spcBef>
              <a:spcAft>
                <a:spcPct val="0"/>
              </a:spcAft>
              <a:defRPr sz="1500" b="1">
                <a:solidFill>
                  <a:schemeClr val="tx1"/>
                </a:solidFill>
                <a:latin typeface="Tahoma" charset="0"/>
                <a:ea typeface="ＭＳ Ｐゴシック" charset="0"/>
              </a:defRPr>
            </a:lvl6pPr>
            <a:lvl7pPr marL="2228850" indent="-171450" algn="ctr" eaLnBrk="0" fontAlgn="base" hangingPunct="0">
              <a:spcBef>
                <a:spcPct val="0"/>
              </a:spcBef>
              <a:spcAft>
                <a:spcPct val="0"/>
              </a:spcAft>
              <a:defRPr sz="1500" b="1">
                <a:solidFill>
                  <a:schemeClr val="tx1"/>
                </a:solidFill>
                <a:latin typeface="Tahoma" charset="0"/>
                <a:ea typeface="ＭＳ Ｐゴシック" charset="0"/>
              </a:defRPr>
            </a:lvl7pPr>
            <a:lvl8pPr marL="2571750" indent="-171450" algn="ctr" eaLnBrk="0" fontAlgn="base" hangingPunct="0">
              <a:spcBef>
                <a:spcPct val="0"/>
              </a:spcBef>
              <a:spcAft>
                <a:spcPct val="0"/>
              </a:spcAft>
              <a:defRPr sz="1500" b="1">
                <a:solidFill>
                  <a:schemeClr val="tx1"/>
                </a:solidFill>
                <a:latin typeface="Tahoma" charset="0"/>
                <a:ea typeface="ＭＳ Ｐゴシック" charset="0"/>
              </a:defRPr>
            </a:lvl8pPr>
            <a:lvl9pPr marL="2914650" indent="-171450" algn="ctr" eaLnBrk="0" fontAlgn="base" hangingPunct="0">
              <a:spcBef>
                <a:spcPct val="0"/>
              </a:spcBef>
              <a:spcAft>
                <a:spcPct val="0"/>
              </a:spcAft>
              <a:defRPr sz="1500" b="1">
                <a:solidFill>
                  <a:schemeClr val="tx1"/>
                </a:solidFill>
                <a:latin typeface="Tahoma" charset="0"/>
                <a:ea typeface="ＭＳ Ｐゴシック" charset="0"/>
              </a:defRPr>
            </a:lvl9pPr>
          </a:lstStyle>
          <a:p>
            <a:fld id="{4B0F1FBA-8CEF-8847-BEA7-B70EB878A7D0}" type="slidenum">
              <a:rPr lang="en-US" sz="900" b="0">
                <a:solidFill>
                  <a:schemeClr val="bg2"/>
                </a:solidFill>
              </a:rPr>
              <a:pPr/>
              <a:t>39</a:t>
            </a:fld>
            <a:endParaRPr lang="en-US" sz="900" b="0">
              <a:solidFill>
                <a:schemeClr val="bg2"/>
              </a:solidFill>
            </a:endParaRPr>
          </a:p>
        </p:txBody>
      </p:sp>
      <p:sp>
        <p:nvSpPr>
          <p:cNvPr id="60418" name="Rectangle 2"/>
          <p:cNvSpPr>
            <a:spLocks noGrp="1" noChangeArrowheads="1"/>
          </p:cNvSpPr>
          <p:nvPr>
            <p:ph type="title"/>
          </p:nvPr>
        </p:nvSpPr>
        <p:spPr>
          <a:xfrm>
            <a:off x="1815547" y="341635"/>
            <a:ext cx="5834795" cy="717947"/>
          </a:xfrm>
        </p:spPr>
        <p:txBody>
          <a:bodyPr/>
          <a:lstStyle/>
          <a:p>
            <a:r>
              <a:rPr lang="en-US" dirty="0">
                <a:latin typeface="Arial Black" charset="0"/>
              </a:rPr>
              <a:t>Semantics Definition</a:t>
            </a:r>
          </a:p>
        </p:txBody>
      </p:sp>
      <p:sp>
        <p:nvSpPr>
          <p:cNvPr id="60419" name="Rectangle 3"/>
          <p:cNvSpPr>
            <a:spLocks noGrp="1" noChangeArrowheads="1"/>
          </p:cNvSpPr>
          <p:nvPr>
            <p:ph type="body" idx="1"/>
          </p:nvPr>
        </p:nvSpPr>
        <p:spPr>
          <a:xfrm>
            <a:off x="1459523" y="1329612"/>
            <a:ext cx="5829300" cy="3657600"/>
          </a:xfrm>
        </p:spPr>
        <p:txBody>
          <a:bodyPr/>
          <a:lstStyle/>
          <a:p>
            <a:r>
              <a:rPr lang="en-US" i="1" u="sng" dirty="0">
                <a:latin typeface="Tahoma" charset="0"/>
              </a:rPr>
              <a:t>Clock valuations</a:t>
            </a:r>
            <a:r>
              <a:rPr lang="en-US" dirty="0">
                <a:latin typeface="Tahoma" charset="0"/>
              </a:rPr>
              <a:t>:</a:t>
            </a:r>
          </a:p>
          <a:p>
            <a:endParaRPr lang="en-US" i="1" u="sng" dirty="0">
              <a:latin typeface="Tahoma" charset="0"/>
            </a:endParaRPr>
          </a:p>
          <a:p>
            <a:r>
              <a:rPr lang="en-US" i="1" u="sng" dirty="0">
                <a:latin typeface="Tahoma" charset="0"/>
              </a:rPr>
              <a:t>State</a:t>
            </a:r>
            <a:r>
              <a:rPr lang="en-US" dirty="0">
                <a:latin typeface="Tahoma" charset="0"/>
              </a:rPr>
              <a:t>:</a:t>
            </a:r>
          </a:p>
          <a:p>
            <a:pPr>
              <a:buFont typeface="Wingdings" charset="0"/>
              <a:buNone/>
            </a:pPr>
            <a:endParaRPr lang="en-US" i="1" u="sng" dirty="0">
              <a:solidFill>
                <a:schemeClr val="bg2"/>
              </a:solidFill>
              <a:latin typeface="Tahoma" charset="0"/>
            </a:endParaRPr>
          </a:p>
          <a:p>
            <a:r>
              <a:rPr lang="en-US" i="1" u="sng" dirty="0">
                <a:latin typeface="Tahoma" charset="0"/>
              </a:rPr>
              <a:t>Action transition</a:t>
            </a:r>
            <a:r>
              <a:rPr lang="en-US" dirty="0">
                <a:solidFill>
                  <a:schemeClr val="bg2"/>
                </a:solidFill>
                <a:latin typeface="Tahoma" charset="0"/>
              </a:rPr>
              <a:t> </a:t>
            </a:r>
            <a:br>
              <a:rPr lang="en-US" dirty="0">
                <a:solidFill>
                  <a:schemeClr val="bg2"/>
                </a:solidFill>
                <a:latin typeface="Tahoma" charset="0"/>
              </a:rPr>
            </a:br>
            <a:endParaRPr lang="en-US" dirty="0">
              <a:solidFill>
                <a:schemeClr val="bg2"/>
              </a:solidFill>
              <a:latin typeface="Tahoma" charset="0"/>
            </a:endParaRPr>
          </a:p>
          <a:p>
            <a:endParaRPr lang="en-US" i="1" u="sng" dirty="0">
              <a:solidFill>
                <a:schemeClr val="bg2"/>
              </a:solidFill>
              <a:latin typeface="Tahoma" charset="0"/>
            </a:endParaRPr>
          </a:p>
          <a:p>
            <a:r>
              <a:rPr lang="en-US" i="1" u="sng" dirty="0">
                <a:latin typeface="Tahoma" charset="0"/>
              </a:rPr>
              <a:t>Delay transition</a:t>
            </a:r>
            <a:endParaRPr lang="en-US" dirty="0">
              <a:latin typeface="Tahoma" charset="0"/>
            </a:endParaRPr>
          </a:p>
        </p:txBody>
      </p:sp>
      <p:graphicFrame>
        <p:nvGraphicFramePr>
          <p:cNvPr id="60420" name="Object 0"/>
          <p:cNvGraphicFramePr>
            <a:graphicFrameLocks noChangeAspect="1"/>
          </p:cNvGraphicFramePr>
          <p:nvPr/>
        </p:nvGraphicFramePr>
        <p:xfrm>
          <a:off x="3869922" y="2139702"/>
          <a:ext cx="3497141" cy="357188"/>
        </p:xfrm>
        <a:graphic>
          <a:graphicData uri="http://schemas.openxmlformats.org/presentationml/2006/ole">
            <mc:AlternateContent xmlns:mc="http://schemas.openxmlformats.org/markup-compatibility/2006">
              <mc:Choice xmlns:v="urn:schemas-microsoft-com:vml" Requires="v">
                <p:oleObj name="Equation" r:id="rId3" imgW="2184400" imgH="203200" progId="Equation.3">
                  <p:embed/>
                </p:oleObj>
              </mc:Choice>
              <mc:Fallback>
                <p:oleObj name="Equation" r:id="rId3" imgW="2184400" imgH="203200" progId="Equation.3">
                  <p:embed/>
                  <p:pic>
                    <p:nvPicPr>
                      <p:cNvPr id="6042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9922" y="2139702"/>
                        <a:ext cx="3497141" cy="3571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60421" name="Object 1"/>
          <p:cNvGraphicFramePr>
            <a:graphicFrameLocks noChangeAspect="1"/>
          </p:cNvGraphicFramePr>
          <p:nvPr/>
        </p:nvGraphicFramePr>
        <p:xfrm>
          <a:off x="3938953" y="1428751"/>
          <a:ext cx="2096966" cy="346472"/>
        </p:xfrm>
        <a:graphic>
          <a:graphicData uri="http://schemas.openxmlformats.org/presentationml/2006/ole">
            <mc:AlternateContent xmlns:mc="http://schemas.openxmlformats.org/markup-compatibility/2006">
              <mc:Choice xmlns:v="urn:schemas-microsoft-com:vml" Requires="v">
                <p:oleObj name="Equation" r:id="rId5" imgW="1333500" imgH="203200" progId="Equation.3">
                  <p:embed/>
                </p:oleObj>
              </mc:Choice>
              <mc:Fallback>
                <p:oleObj name="Equation" r:id="rId5" imgW="1333500" imgH="203200" progId="Equation.3">
                  <p:embed/>
                  <p:pic>
                    <p:nvPicPr>
                      <p:cNvPr id="60421"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8953" y="1428751"/>
                        <a:ext cx="2096966" cy="34647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60422" name="Object 2"/>
          <p:cNvGraphicFramePr>
            <a:graphicFrameLocks noChangeAspect="1"/>
          </p:cNvGraphicFramePr>
          <p:nvPr/>
        </p:nvGraphicFramePr>
        <p:xfrm>
          <a:off x="3991708" y="4000500"/>
          <a:ext cx="3774098" cy="857250"/>
        </p:xfrm>
        <a:graphic>
          <a:graphicData uri="http://schemas.openxmlformats.org/presentationml/2006/ole">
            <mc:AlternateContent xmlns:mc="http://schemas.openxmlformats.org/markup-compatibility/2006">
              <mc:Choice xmlns:v="urn:schemas-microsoft-com:vml" Requires="v">
                <p:oleObj name="Equation" r:id="rId7" imgW="2324100" imgH="457200" progId="Equation.3">
                  <p:embed/>
                </p:oleObj>
              </mc:Choice>
              <mc:Fallback>
                <p:oleObj name="Equation" r:id="rId7" imgW="2324100" imgH="457200" progId="Equation.3">
                  <p:embed/>
                  <p:pic>
                    <p:nvPicPr>
                      <p:cNvPr id="60422"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1708" y="4000500"/>
                        <a:ext cx="3774098" cy="8572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60423" name="Oval 7"/>
          <p:cNvSpPr>
            <a:spLocks noChangeArrowheads="1"/>
          </p:cNvSpPr>
          <p:nvPr/>
        </p:nvSpPr>
        <p:spPr bwMode="auto">
          <a:xfrm>
            <a:off x="6297687" y="3042084"/>
            <a:ext cx="211016" cy="285750"/>
          </a:xfrm>
          <a:prstGeom prst="ellipse">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65484" tIns="33338" rIns="65484" bIns="33338" anchor="ctr"/>
          <a:lstStyle/>
          <a:p>
            <a:endParaRPr lang="sv-SE" sz="1013"/>
          </a:p>
        </p:txBody>
      </p:sp>
      <p:sp>
        <p:nvSpPr>
          <p:cNvPr id="60424" name="Oval 8"/>
          <p:cNvSpPr>
            <a:spLocks noChangeArrowheads="1"/>
          </p:cNvSpPr>
          <p:nvPr/>
        </p:nvSpPr>
        <p:spPr bwMode="auto">
          <a:xfrm>
            <a:off x="6192180" y="2984934"/>
            <a:ext cx="263769" cy="285750"/>
          </a:xfrm>
          <a:prstGeom prst="ellipse">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65484" tIns="33338" rIns="65484" bIns="33338" anchor="ctr"/>
          <a:lstStyle/>
          <a:p>
            <a:endParaRPr lang="sv-SE" sz="1013"/>
          </a:p>
        </p:txBody>
      </p:sp>
      <p:sp>
        <p:nvSpPr>
          <p:cNvPr id="60425" name="Oval 9"/>
          <p:cNvSpPr>
            <a:spLocks noChangeArrowheads="1"/>
          </p:cNvSpPr>
          <p:nvPr/>
        </p:nvSpPr>
        <p:spPr bwMode="auto">
          <a:xfrm>
            <a:off x="7247257" y="2984934"/>
            <a:ext cx="263769" cy="285750"/>
          </a:xfrm>
          <a:prstGeom prst="ellipse">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lIns="65484" tIns="33338" rIns="65484" bIns="33338" anchor="ctr"/>
          <a:lstStyle/>
          <a:p>
            <a:endParaRPr lang="sv-SE" sz="1013"/>
          </a:p>
        </p:txBody>
      </p:sp>
      <p:sp>
        <p:nvSpPr>
          <p:cNvPr id="60426" name="Line 10"/>
          <p:cNvSpPr>
            <a:spLocks noChangeShapeType="1"/>
          </p:cNvSpPr>
          <p:nvPr/>
        </p:nvSpPr>
        <p:spPr bwMode="auto">
          <a:xfrm>
            <a:off x="6455949" y="3156384"/>
            <a:ext cx="791308"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27" name="Text Box 11"/>
          <p:cNvSpPr txBox="1">
            <a:spLocks noChangeArrowheads="1"/>
          </p:cNvSpPr>
          <p:nvPr/>
        </p:nvSpPr>
        <p:spPr bwMode="auto">
          <a:xfrm>
            <a:off x="6550466" y="2891814"/>
            <a:ext cx="59230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5484" tIns="33338" rIns="65484" bIns="33338" anchor="ctr">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spcBef>
                <a:spcPct val="20000"/>
              </a:spcBef>
            </a:pPr>
            <a:r>
              <a:rPr lang="en-US" sz="1500" b="0" i="1">
                <a:solidFill>
                  <a:srgbClr val="FF0000"/>
                </a:solidFill>
                <a:latin typeface="Times New Roman" charset="0"/>
              </a:rPr>
              <a:t>g  a  r</a:t>
            </a:r>
          </a:p>
        </p:txBody>
      </p:sp>
      <p:sp>
        <p:nvSpPr>
          <p:cNvPr id="60428" name="Text Box 12"/>
          <p:cNvSpPr txBox="1">
            <a:spLocks noChangeArrowheads="1"/>
          </p:cNvSpPr>
          <p:nvPr/>
        </p:nvSpPr>
        <p:spPr bwMode="auto">
          <a:xfrm>
            <a:off x="6249330" y="3006114"/>
            <a:ext cx="18514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5484" tIns="33338" rIns="65484" bIns="33338" anchor="ctr">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spcBef>
                <a:spcPct val="20000"/>
              </a:spcBef>
            </a:pPr>
            <a:r>
              <a:rPr lang="en-US" sz="1500" b="0" i="1">
                <a:solidFill>
                  <a:srgbClr val="FF0000"/>
                </a:solidFill>
                <a:latin typeface="Times New Roman" charset="0"/>
              </a:rPr>
              <a:t>l</a:t>
            </a:r>
          </a:p>
        </p:txBody>
      </p:sp>
      <p:sp>
        <p:nvSpPr>
          <p:cNvPr id="60429" name="Text Box 13"/>
          <p:cNvSpPr txBox="1">
            <a:spLocks noChangeArrowheads="1"/>
          </p:cNvSpPr>
          <p:nvPr/>
        </p:nvSpPr>
        <p:spPr bwMode="auto">
          <a:xfrm>
            <a:off x="7311002" y="3006114"/>
            <a:ext cx="28132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5484" tIns="33338" rIns="65484" bIns="33338" anchor="ctr">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spcBef>
                <a:spcPct val="20000"/>
              </a:spcBef>
            </a:pPr>
            <a:r>
              <a:rPr lang="en-US" sz="1500" b="0" i="1">
                <a:solidFill>
                  <a:srgbClr val="FF0000"/>
                </a:solidFill>
                <a:latin typeface="Times New Roman" charset="0"/>
              </a:rPr>
              <a:t>l</a:t>
            </a:r>
            <a:r>
              <a:rPr lang="ja-JP" altLang="en-US" sz="1500" b="0" i="1">
                <a:solidFill>
                  <a:srgbClr val="FF0000"/>
                </a:solidFill>
                <a:latin typeface="Times New Roman" charset="0"/>
              </a:rPr>
              <a:t>’</a:t>
            </a:r>
            <a:endParaRPr lang="en-US" sz="1500" b="0" i="1">
              <a:solidFill>
                <a:srgbClr val="FF0000"/>
              </a:solidFill>
              <a:latin typeface="Times New Roman" charset="0"/>
            </a:endParaRPr>
          </a:p>
        </p:txBody>
      </p:sp>
      <p:graphicFrame>
        <p:nvGraphicFramePr>
          <p:cNvPr id="60430" name="Object 3"/>
          <p:cNvGraphicFramePr>
            <a:graphicFrameLocks noChangeAspect="1"/>
          </p:cNvGraphicFramePr>
          <p:nvPr/>
        </p:nvGraphicFramePr>
        <p:xfrm>
          <a:off x="3886200" y="2868867"/>
          <a:ext cx="3692769" cy="837010"/>
        </p:xfrm>
        <a:graphic>
          <a:graphicData uri="http://schemas.openxmlformats.org/presentationml/2006/ole">
            <mc:AlternateContent xmlns:mc="http://schemas.openxmlformats.org/markup-compatibility/2006">
              <mc:Choice xmlns:v="urn:schemas-microsoft-com:vml" Requires="v">
                <p:oleObj name="Equation" r:id="rId9" imgW="2184400" imgH="457200" progId="Equation.3">
                  <p:embed/>
                </p:oleObj>
              </mc:Choice>
              <mc:Fallback>
                <p:oleObj name="Equation" r:id="rId9" imgW="2184400" imgH="457200" progId="Equation.3">
                  <p:embed/>
                  <p:pic>
                    <p:nvPicPr>
                      <p:cNvPr id="6043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6200" y="2868867"/>
                        <a:ext cx="3692769" cy="8370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233803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ubrik 1"/>
          <p:cNvSpPr>
            <a:spLocks noGrp="1"/>
          </p:cNvSpPr>
          <p:nvPr>
            <p:ph type="title"/>
          </p:nvPr>
        </p:nvSpPr>
        <p:spPr>
          <a:xfrm>
            <a:off x="1802178" y="256338"/>
            <a:ext cx="6172200" cy="857250"/>
          </a:xfrm>
        </p:spPr>
        <p:txBody>
          <a:bodyPr/>
          <a:lstStyle/>
          <a:p>
            <a:r>
              <a:rPr lang="sv-SE" b="1" dirty="0" err="1"/>
              <a:t>Timed</a:t>
            </a:r>
            <a:r>
              <a:rPr lang="sv-SE" b="1" dirty="0"/>
              <a:t> </a:t>
            </a:r>
            <a:r>
              <a:rPr lang="sv-SE" b="1" dirty="0" err="1"/>
              <a:t>Automata</a:t>
            </a:r>
            <a:r>
              <a:rPr lang="sv-SE" b="1" dirty="0"/>
              <a:t>: </a:t>
            </a:r>
            <a:r>
              <a:rPr lang="sv-SE" b="1" dirty="0" err="1"/>
              <a:t>Example</a:t>
            </a:r>
            <a:endParaRPr lang="sv-SE" b="1" dirty="0"/>
          </a:p>
        </p:txBody>
      </p:sp>
      <p:graphicFrame>
        <p:nvGraphicFramePr>
          <p:cNvPr id="4" name="Object 0"/>
          <p:cNvGraphicFramePr>
            <a:graphicFrameLocks noChangeAspect="1"/>
          </p:cNvGraphicFramePr>
          <p:nvPr/>
        </p:nvGraphicFramePr>
        <p:xfrm>
          <a:off x="1726555" y="3103379"/>
          <a:ext cx="5086350" cy="1515666"/>
        </p:xfrm>
        <a:graphic>
          <a:graphicData uri="http://schemas.openxmlformats.org/presentationml/2006/ole">
            <mc:AlternateContent xmlns:mc="http://schemas.openxmlformats.org/markup-compatibility/2006">
              <mc:Choice xmlns:v="urn:schemas-microsoft-com:vml" Requires="v">
                <p:oleObj name="Equation" r:id="rId3" imgW="3289300" imgH="990600" progId="Equation.3">
                  <p:embed/>
                </p:oleObj>
              </mc:Choice>
              <mc:Fallback>
                <p:oleObj name="Equation" r:id="rId3" imgW="3289300" imgH="990600" progId="Equation.3">
                  <p:embed/>
                  <p:pic>
                    <p:nvPicPr>
                      <p:cNvPr id="4"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6555" y="3103379"/>
                        <a:ext cx="5086350" cy="151566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5" name="Oval 4"/>
          <p:cNvSpPr>
            <a:spLocks noChangeArrowheads="1"/>
          </p:cNvSpPr>
          <p:nvPr/>
        </p:nvSpPr>
        <p:spPr bwMode="auto">
          <a:xfrm>
            <a:off x="2852886" y="1908162"/>
            <a:ext cx="514350" cy="51435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a:t>off</a:t>
            </a:r>
            <a:endParaRPr lang="en-GB" sz="1800"/>
          </a:p>
        </p:txBody>
      </p:sp>
      <p:sp>
        <p:nvSpPr>
          <p:cNvPr id="6" name="Line 5"/>
          <p:cNvSpPr>
            <a:spLocks noChangeShapeType="1"/>
          </p:cNvSpPr>
          <p:nvPr/>
        </p:nvSpPr>
        <p:spPr bwMode="auto">
          <a:xfrm>
            <a:off x="2452836" y="1565262"/>
            <a:ext cx="40005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sv-SE" sz="1013"/>
          </a:p>
        </p:txBody>
      </p:sp>
      <p:sp>
        <p:nvSpPr>
          <p:cNvPr id="7" name="Oval 6"/>
          <p:cNvSpPr>
            <a:spLocks noChangeArrowheads="1"/>
          </p:cNvSpPr>
          <p:nvPr/>
        </p:nvSpPr>
        <p:spPr bwMode="auto">
          <a:xfrm>
            <a:off x="4738836" y="1965312"/>
            <a:ext cx="514350" cy="514350"/>
          </a:xfrm>
          <a:prstGeom prst="ellipse">
            <a:avLst/>
          </a:prstGeom>
          <a:solidFill>
            <a:schemeClr val="accent1"/>
          </a:solidFill>
          <a:ln w="9525">
            <a:solidFill>
              <a:schemeClr val="tx1"/>
            </a:solidFill>
            <a:miter lim="800000"/>
            <a:headEnd/>
            <a:tailEnd/>
          </a:ln>
        </p:spPr>
        <p:txBody>
          <a:bodyPr wrap="none" anchor="ctr"/>
          <a:lstStyle/>
          <a:p>
            <a:pPr eaLnBrk="1" hangingPunct="1"/>
            <a:r>
              <a:rPr lang="sv-SE" sz="1800"/>
              <a:t>on</a:t>
            </a:r>
            <a:endParaRPr lang="en-GB" sz="1800"/>
          </a:p>
        </p:txBody>
      </p:sp>
      <p:cxnSp>
        <p:nvCxnSpPr>
          <p:cNvPr id="8" name="AutoShape 7"/>
          <p:cNvCxnSpPr>
            <a:cxnSpLocks noChangeShapeType="1"/>
            <a:stCxn id="7" idx="7"/>
            <a:endCxn id="7" idx="5"/>
          </p:cNvCxnSpPr>
          <p:nvPr/>
        </p:nvCxnSpPr>
        <p:spPr bwMode="auto">
          <a:xfrm rot="5400000" flipV="1">
            <a:off x="4996607" y="2221893"/>
            <a:ext cx="364331" cy="1190"/>
          </a:xfrm>
          <a:prstGeom prst="curvedConnector5">
            <a:avLst>
              <a:gd name="adj1" fmla="val -67648"/>
              <a:gd name="adj2" fmla="val 51300014"/>
              <a:gd name="adj3" fmla="val 167648"/>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cxnSp>
        <p:nvCxnSpPr>
          <p:cNvPr id="9" name="AutoShape 8"/>
          <p:cNvCxnSpPr>
            <a:cxnSpLocks noChangeShapeType="1"/>
            <a:stCxn id="5" idx="0"/>
            <a:endCxn id="7" idx="0"/>
          </p:cNvCxnSpPr>
          <p:nvPr/>
        </p:nvCxnSpPr>
        <p:spPr bwMode="auto">
          <a:xfrm rot="5400000" flipV="1">
            <a:off x="4024461" y="993762"/>
            <a:ext cx="57150" cy="1885950"/>
          </a:xfrm>
          <a:prstGeom prst="curvedConnector3">
            <a:avLst>
              <a:gd name="adj1" fmla="val -300000"/>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cxnSp>
        <p:nvCxnSpPr>
          <p:cNvPr id="10" name="AutoShape 9"/>
          <p:cNvCxnSpPr>
            <a:cxnSpLocks noChangeShapeType="1"/>
            <a:stCxn id="7" idx="4"/>
            <a:endCxn id="5" idx="4"/>
          </p:cNvCxnSpPr>
          <p:nvPr/>
        </p:nvCxnSpPr>
        <p:spPr bwMode="auto">
          <a:xfrm rot="16200000" flipV="1">
            <a:off x="4024461" y="1508112"/>
            <a:ext cx="57150" cy="1885950"/>
          </a:xfrm>
          <a:prstGeom prst="curvedConnector3">
            <a:avLst>
              <a:gd name="adj1" fmla="val -300000"/>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11" name="Text Box 10"/>
          <p:cNvSpPr txBox="1">
            <a:spLocks noChangeArrowheads="1"/>
          </p:cNvSpPr>
          <p:nvPr/>
        </p:nvSpPr>
        <p:spPr bwMode="auto">
          <a:xfrm>
            <a:off x="3081486" y="1336662"/>
            <a:ext cx="1754006"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800" b="0" dirty="0"/>
              <a:t> </a:t>
            </a:r>
            <a:r>
              <a:rPr lang="sv-SE" sz="1350" b="0" dirty="0"/>
              <a:t>x&gt;2   push  </a:t>
            </a:r>
            <a:r>
              <a:rPr lang="sv-SE" sz="1200" b="0" dirty="0" err="1"/>
              <a:t>x</a:t>
            </a:r>
            <a:r>
              <a:rPr lang="sv-SE" sz="1350" b="0" dirty="0" err="1"/>
              <a:t>,y</a:t>
            </a:r>
            <a:r>
              <a:rPr lang="sv-SE" sz="1350" b="0" dirty="0"/>
              <a:t> :=0</a:t>
            </a:r>
            <a:endParaRPr lang="en-GB" sz="1350" b="0" dirty="0"/>
          </a:p>
        </p:txBody>
      </p:sp>
      <p:sp>
        <p:nvSpPr>
          <p:cNvPr id="12" name="Text Box 11"/>
          <p:cNvSpPr txBox="1">
            <a:spLocks noChangeArrowheads="1"/>
          </p:cNvSpPr>
          <p:nvPr/>
        </p:nvSpPr>
        <p:spPr bwMode="auto">
          <a:xfrm>
            <a:off x="5241280" y="1549785"/>
            <a:ext cx="45717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x&gt;2</a:t>
            </a:r>
            <a:endParaRPr lang="en-GB" sz="1200" b="0" dirty="0"/>
          </a:p>
        </p:txBody>
      </p:sp>
      <p:sp>
        <p:nvSpPr>
          <p:cNvPr id="13" name="Text Box 12"/>
          <p:cNvSpPr txBox="1">
            <a:spLocks noChangeArrowheads="1"/>
          </p:cNvSpPr>
          <p:nvPr/>
        </p:nvSpPr>
        <p:spPr bwMode="auto">
          <a:xfrm>
            <a:off x="5755630" y="2103424"/>
            <a:ext cx="550151"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dirty="0"/>
              <a:t>push</a:t>
            </a:r>
            <a:endParaRPr lang="en-GB" sz="1350" b="0" dirty="0"/>
          </a:p>
        </p:txBody>
      </p:sp>
      <p:sp>
        <p:nvSpPr>
          <p:cNvPr id="14" name="Text Box 13"/>
          <p:cNvSpPr txBox="1">
            <a:spLocks noChangeArrowheads="1"/>
          </p:cNvSpPr>
          <p:nvPr/>
        </p:nvSpPr>
        <p:spPr bwMode="auto">
          <a:xfrm>
            <a:off x="5412730" y="2692785"/>
            <a:ext cx="51167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x:=0</a:t>
            </a:r>
            <a:endParaRPr lang="en-GB" sz="1200" b="0" dirty="0"/>
          </a:p>
        </p:txBody>
      </p:sp>
      <p:sp>
        <p:nvSpPr>
          <p:cNvPr id="15" name="Text Box 14"/>
          <p:cNvSpPr txBox="1">
            <a:spLocks noChangeArrowheads="1"/>
          </p:cNvSpPr>
          <p:nvPr/>
        </p:nvSpPr>
        <p:spPr bwMode="auto">
          <a:xfrm>
            <a:off x="4453087" y="2651113"/>
            <a:ext cx="569387"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y==9</a:t>
            </a:r>
            <a:endParaRPr lang="en-GB" sz="1200" b="0" dirty="0"/>
          </a:p>
        </p:txBody>
      </p:sp>
      <p:sp>
        <p:nvSpPr>
          <p:cNvPr id="16" name="Text Box 15"/>
          <p:cNvSpPr txBox="1">
            <a:spLocks noChangeArrowheads="1"/>
          </p:cNvSpPr>
          <p:nvPr/>
        </p:nvSpPr>
        <p:spPr bwMode="auto">
          <a:xfrm>
            <a:off x="4269730" y="2064135"/>
            <a:ext cx="569387"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a:solidFill>
                  <a:schemeClr val="hlink"/>
                </a:solidFill>
              </a:rPr>
              <a:t>y&lt;=9</a:t>
            </a:r>
            <a:endParaRPr lang="en-GB" sz="1200" b="0">
              <a:solidFill>
                <a:schemeClr val="hlink"/>
              </a:solidFill>
            </a:endParaRPr>
          </a:p>
        </p:txBody>
      </p:sp>
      <p:sp>
        <p:nvSpPr>
          <p:cNvPr id="17" name="Text Box 16"/>
          <p:cNvSpPr txBox="1">
            <a:spLocks noChangeArrowheads="1"/>
          </p:cNvSpPr>
          <p:nvPr/>
        </p:nvSpPr>
        <p:spPr bwMode="auto">
          <a:xfrm>
            <a:off x="3241030" y="2635635"/>
            <a:ext cx="51167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200" b="0" dirty="0"/>
              <a:t>x:=0</a:t>
            </a:r>
            <a:endParaRPr lang="en-GB" sz="1200" b="0" dirty="0"/>
          </a:p>
        </p:txBody>
      </p:sp>
      <p:sp>
        <p:nvSpPr>
          <p:cNvPr id="18" name="Text Box 17"/>
          <p:cNvSpPr txBox="1">
            <a:spLocks noChangeArrowheads="1"/>
          </p:cNvSpPr>
          <p:nvPr/>
        </p:nvSpPr>
        <p:spPr bwMode="auto">
          <a:xfrm>
            <a:off x="1983730" y="1474774"/>
            <a:ext cx="707245"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b="1">
                <a:solidFill>
                  <a:schemeClr val="tx1"/>
                </a:solidFill>
                <a:latin typeface="Tahoma" charset="0"/>
                <a:ea typeface="ＭＳ Ｐゴシック" charset="0"/>
                <a:cs typeface="ＭＳ Ｐゴシック" charset="0"/>
              </a:defRPr>
            </a:lvl1pPr>
            <a:lvl2pPr marL="742950" indent="-285750">
              <a:defRPr sz="2000" b="1">
                <a:solidFill>
                  <a:schemeClr val="tx1"/>
                </a:solidFill>
                <a:latin typeface="Tahoma" charset="0"/>
                <a:ea typeface="ＭＳ Ｐゴシック" charset="0"/>
              </a:defRPr>
            </a:lvl2pPr>
            <a:lvl3pPr marL="1143000" indent="-228600">
              <a:defRPr sz="2000" b="1">
                <a:solidFill>
                  <a:schemeClr val="tx1"/>
                </a:solidFill>
                <a:latin typeface="Tahoma" charset="0"/>
                <a:ea typeface="ＭＳ Ｐゴシック" charset="0"/>
              </a:defRPr>
            </a:lvl3pPr>
            <a:lvl4pPr marL="1600200" indent="-228600">
              <a:defRPr sz="2000" b="1">
                <a:solidFill>
                  <a:schemeClr val="tx1"/>
                </a:solidFill>
                <a:latin typeface="Tahoma" charset="0"/>
                <a:ea typeface="ＭＳ Ｐゴシック" charset="0"/>
              </a:defRPr>
            </a:lvl4pPr>
            <a:lvl5pPr marL="2057400" indent="-228600">
              <a:defRPr sz="2000" b="1">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000" b="1">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000" b="1">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000" b="1">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000" b="1">
                <a:solidFill>
                  <a:schemeClr val="tx1"/>
                </a:solidFill>
                <a:latin typeface="Tahoma" charset="0"/>
                <a:ea typeface="ＭＳ Ｐゴシック" charset="0"/>
              </a:defRPr>
            </a:lvl9pPr>
          </a:lstStyle>
          <a:p>
            <a:pPr algn="l" eaLnBrk="1" hangingPunct="1"/>
            <a:r>
              <a:rPr lang="sv-SE" sz="1350" b="0" dirty="0" err="1"/>
              <a:t>X,y</a:t>
            </a:r>
            <a:r>
              <a:rPr lang="sv-SE" sz="1350" b="0" dirty="0"/>
              <a:t>:=0</a:t>
            </a:r>
            <a:endParaRPr lang="en-GB" sz="1350" b="0" dirty="0"/>
          </a:p>
        </p:txBody>
      </p:sp>
      <p:sp>
        <p:nvSpPr>
          <p:cNvPr id="3" name="Rectangle 2">
            <a:extLst>
              <a:ext uri="{FF2B5EF4-FFF2-40B4-BE49-F238E27FC236}">
                <a16:creationId xmlns:a16="http://schemas.microsoft.com/office/drawing/2014/main" id="{237FC7FC-C8D6-CF42-9555-F39F5DD97F65}"/>
              </a:ext>
            </a:extLst>
          </p:cNvPr>
          <p:cNvSpPr/>
          <p:nvPr/>
        </p:nvSpPr>
        <p:spPr>
          <a:xfrm>
            <a:off x="4259537" y="4158297"/>
            <a:ext cx="3437840" cy="7595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1013"/>
          </a:p>
        </p:txBody>
      </p:sp>
      <p:sp>
        <p:nvSpPr>
          <p:cNvPr id="19" name="TextBox 18">
            <a:extLst>
              <a:ext uri="{FF2B5EF4-FFF2-40B4-BE49-F238E27FC236}">
                <a16:creationId xmlns:a16="http://schemas.microsoft.com/office/drawing/2014/main" id="{E2FB8D87-E0E0-4312-A130-8B812FAA4E92}"/>
              </a:ext>
            </a:extLst>
          </p:cNvPr>
          <p:cNvSpPr txBox="1"/>
          <p:nvPr/>
        </p:nvSpPr>
        <p:spPr>
          <a:xfrm>
            <a:off x="4277770" y="4261089"/>
            <a:ext cx="380232" cy="248209"/>
          </a:xfrm>
          <a:prstGeom prst="rect">
            <a:avLst/>
          </a:prstGeom>
          <a:noFill/>
        </p:spPr>
        <p:txBody>
          <a:bodyPr wrap="none" rtlCol="0">
            <a:spAutoFit/>
          </a:bodyPr>
          <a:lstStyle/>
          <a:p>
            <a:r>
              <a:rPr lang="en-US" sz="1013" dirty="0"/>
              <a:t>……</a:t>
            </a:r>
          </a:p>
        </p:txBody>
      </p:sp>
    </p:spTree>
    <p:extLst>
      <p:ext uri="{BB962C8B-B14F-4D97-AF65-F5344CB8AC3E}">
        <p14:creationId xmlns:p14="http://schemas.microsoft.com/office/powerpoint/2010/main" val="14817352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1536879" y="455780"/>
            <a:ext cx="6172200" cy="857250"/>
          </a:xfrm>
        </p:spPr>
        <p:txBody>
          <a:bodyPr/>
          <a:lstStyle/>
          <a:p>
            <a:pPr eaLnBrk="1" hangingPunct="1"/>
            <a:r>
              <a:rPr lang="en-US" sz="3225" b="1" dirty="0">
                <a:latin typeface="Arial" charset="0"/>
              </a:rPr>
              <a:t>Networks of Timed Automata</a:t>
            </a:r>
          </a:p>
        </p:txBody>
      </p:sp>
      <p:sp>
        <p:nvSpPr>
          <p:cNvPr id="46082" name="Oval 3"/>
          <p:cNvSpPr>
            <a:spLocks noChangeArrowheads="1"/>
          </p:cNvSpPr>
          <p:nvPr/>
        </p:nvSpPr>
        <p:spPr bwMode="auto">
          <a:xfrm>
            <a:off x="2025254" y="1853467"/>
            <a:ext cx="323850" cy="391715"/>
          </a:xfrm>
          <a:prstGeom prst="ellipse">
            <a:avLst/>
          </a:prstGeom>
          <a:solidFill>
            <a:srgbClr val="E1F0FF"/>
          </a:solidFill>
          <a:ln w="12700">
            <a:solidFill>
              <a:schemeClr val="tx1"/>
            </a:solidFill>
            <a:round/>
            <a:headEnd/>
            <a:tailEnd/>
          </a:ln>
        </p:spPr>
        <p:txBody>
          <a:bodyPr wrap="none" anchor="ctr"/>
          <a:lstStyle/>
          <a:p>
            <a:endParaRPr lang="sv-SE" sz="1013"/>
          </a:p>
        </p:txBody>
      </p:sp>
      <p:sp>
        <p:nvSpPr>
          <p:cNvPr id="46083" name="Oval 4"/>
          <p:cNvSpPr>
            <a:spLocks noChangeArrowheads="1"/>
          </p:cNvSpPr>
          <p:nvPr/>
        </p:nvSpPr>
        <p:spPr bwMode="auto">
          <a:xfrm>
            <a:off x="2037160" y="3129817"/>
            <a:ext cx="323850" cy="391715"/>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46084" name="Line 5"/>
          <p:cNvSpPr>
            <a:spLocks noChangeShapeType="1"/>
          </p:cNvSpPr>
          <p:nvPr/>
        </p:nvSpPr>
        <p:spPr bwMode="auto">
          <a:xfrm flipH="1">
            <a:off x="2182416" y="2248753"/>
            <a:ext cx="4763" cy="8703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085" name="Line 6"/>
          <p:cNvSpPr>
            <a:spLocks noChangeShapeType="1"/>
          </p:cNvSpPr>
          <p:nvPr/>
        </p:nvSpPr>
        <p:spPr bwMode="auto">
          <a:xfrm>
            <a:off x="1960960" y="1855847"/>
            <a:ext cx="92869" cy="7977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086" name="Line 7"/>
          <p:cNvSpPr>
            <a:spLocks noChangeShapeType="1"/>
          </p:cNvSpPr>
          <p:nvPr/>
        </p:nvSpPr>
        <p:spPr bwMode="auto">
          <a:xfrm flipH="1">
            <a:off x="2300287" y="1839179"/>
            <a:ext cx="119063" cy="7381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087" name="Line 8"/>
          <p:cNvSpPr>
            <a:spLocks noChangeShapeType="1"/>
          </p:cNvSpPr>
          <p:nvPr/>
        </p:nvSpPr>
        <p:spPr bwMode="auto">
          <a:xfrm>
            <a:off x="2171700" y="1718926"/>
            <a:ext cx="0" cy="13692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088" name="Line 9"/>
          <p:cNvSpPr>
            <a:spLocks noChangeShapeType="1"/>
          </p:cNvSpPr>
          <p:nvPr/>
        </p:nvSpPr>
        <p:spPr bwMode="auto">
          <a:xfrm flipH="1">
            <a:off x="1925241" y="3465573"/>
            <a:ext cx="148828" cy="9644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089" name="Line 10"/>
          <p:cNvSpPr>
            <a:spLocks noChangeShapeType="1"/>
          </p:cNvSpPr>
          <p:nvPr/>
        </p:nvSpPr>
        <p:spPr bwMode="auto">
          <a:xfrm>
            <a:off x="2187179" y="3528675"/>
            <a:ext cx="26194" cy="13096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090" name="Line 11"/>
          <p:cNvSpPr>
            <a:spLocks noChangeShapeType="1"/>
          </p:cNvSpPr>
          <p:nvPr/>
        </p:nvSpPr>
        <p:spPr bwMode="auto">
          <a:xfrm>
            <a:off x="2280048" y="3489385"/>
            <a:ext cx="97631" cy="15835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091" name="Line 12"/>
          <p:cNvSpPr>
            <a:spLocks noChangeShapeType="1"/>
          </p:cNvSpPr>
          <p:nvPr/>
        </p:nvSpPr>
        <p:spPr bwMode="auto">
          <a:xfrm>
            <a:off x="2346723" y="3426282"/>
            <a:ext cx="150019" cy="1083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092" name="Rectangle 13"/>
          <p:cNvSpPr>
            <a:spLocks noChangeArrowheads="1"/>
          </p:cNvSpPr>
          <p:nvPr/>
        </p:nvSpPr>
        <p:spPr bwMode="auto">
          <a:xfrm>
            <a:off x="2030017" y="1947525"/>
            <a:ext cx="264495" cy="231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50" b="1" i="1">
                <a:solidFill>
                  <a:schemeClr val="hlink"/>
                </a:solidFill>
                <a:latin typeface="Tahoma" charset="0"/>
              </a:rPr>
              <a:t>l1</a:t>
            </a:r>
            <a:endParaRPr lang="en-US" sz="1050" b="1" i="1">
              <a:latin typeface="Tahoma" charset="0"/>
            </a:endParaRPr>
          </a:p>
        </p:txBody>
      </p:sp>
      <p:sp>
        <p:nvSpPr>
          <p:cNvPr id="46093" name="Rectangle 14"/>
          <p:cNvSpPr>
            <a:spLocks noChangeArrowheads="1"/>
          </p:cNvSpPr>
          <p:nvPr/>
        </p:nvSpPr>
        <p:spPr bwMode="auto">
          <a:xfrm>
            <a:off x="2083594" y="3204825"/>
            <a:ext cx="264495" cy="231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50" b="1" i="1">
                <a:solidFill>
                  <a:schemeClr val="hlink"/>
                </a:solidFill>
                <a:latin typeface="Tahoma" charset="0"/>
              </a:rPr>
              <a:t>l2</a:t>
            </a:r>
            <a:endParaRPr lang="en-US" sz="1050" b="1" i="1">
              <a:latin typeface="Tahoma" charset="0"/>
            </a:endParaRPr>
          </a:p>
        </p:txBody>
      </p:sp>
      <p:sp>
        <p:nvSpPr>
          <p:cNvPr id="46094" name="Rectangle 15"/>
          <p:cNvSpPr>
            <a:spLocks noChangeArrowheads="1"/>
          </p:cNvSpPr>
          <p:nvPr/>
        </p:nvSpPr>
        <p:spPr bwMode="auto">
          <a:xfrm>
            <a:off x="2189560" y="2569032"/>
            <a:ext cx="283731"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a:solidFill>
                  <a:srgbClr val="FF0000"/>
                </a:solidFill>
                <a:latin typeface="Tahoma" charset="0"/>
              </a:rPr>
              <a:t>a!</a:t>
            </a:r>
            <a:endParaRPr lang="en-US" sz="1200" b="1" i="1">
              <a:latin typeface="Tahoma" charset="0"/>
            </a:endParaRPr>
          </a:p>
        </p:txBody>
      </p:sp>
      <p:sp>
        <p:nvSpPr>
          <p:cNvPr id="46095" name="Rectangle 16"/>
          <p:cNvSpPr>
            <a:spLocks noChangeArrowheads="1"/>
          </p:cNvSpPr>
          <p:nvPr/>
        </p:nvSpPr>
        <p:spPr bwMode="auto">
          <a:xfrm>
            <a:off x="2188369" y="2233275"/>
            <a:ext cx="686085" cy="3467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900" b="1" i="1" dirty="0">
                <a:latin typeface="Tahoma" charset="0"/>
              </a:rPr>
              <a:t>x&gt;=2 &amp;&amp;</a:t>
            </a:r>
          </a:p>
          <a:p>
            <a:pPr eaLnBrk="0" hangingPunct="0"/>
            <a:r>
              <a:rPr lang="en-US" sz="900" b="1" i="1" dirty="0">
                <a:solidFill>
                  <a:schemeClr val="folHlink"/>
                </a:solidFill>
                <a:latin typeface="Tahoma" charset="0"/>
              </a:rPr>
              <a:t>i==3</a:t>
            </a:r>
            <a:endParaRPr lang="en-US" sz="900" b="1" i="1" dirty="0">
              <a:latin typeface="Tahoma" charset="0"/>
            </a:endParaRPr>
          </a:p>
        </p:txBody>
      </p:sp>
      <mc:AlternateContent xmlns:mc="http://schemas.openxmlformats.org/markup-compatibility/2006" xmlns:a14="http://schemas.microsoft.com/office/drawing/2010/main">
        <mc:Choice Requires="a14">
          <p:sp>
            <p:nvSpPr>
              <p:cNvPr id="46096" name="Rectangle 17"/>
              <p:cNvSpPr>
                <a:spLocks noChangeArrowheads="1"/>
              </p:cNvSpPr>
              <p:nvPr/>
            </p:nvSpPr>
            <p:spPr bwMode="auto">
              <a:xfrm>
                <a:off x="2188369" y="2804775"/>
                <a:ext cx="501739" cy="346731"/>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lIns="69056" tIns="34529" rIns="69056" bIns="34529">
                <a:spAutoFit/>
              </a:bodyPr>
              <a:lstStyle/>
              <a:p>
                <a:pPr eaLnBrk="0" hangingPunct="0"/>
                <a:r>
                  <a:rPr lang="en-US" sz="900" b="1" i="1" dirty="0">
                    <a:latin typeface="Tahoma" charset="0"/>
                  </a:rPr>
                  <a:t>x := 0</a:t>
                </a:r>
              </a:p>
              <a:p>
                <a:pPr eaLnBrk="0" hangingPunct="0"/>
                <a:r>
                  <a:rPr lang="en-US" sz="900" b="1" i="1" dirty="0">
                    <a:solidFill>
                      <a:schemeClr val="folHlink"/>
                    </a:solidFill>
                    <a:latin typeface="Tahoma" charset="0"/>
                  </a:rPr>
                  <a:t>i:=i</a:t>
                </a:r>
                <a14:m>
                  <m:oMath xmlns:m="http://schemas.openxmlformats.org/officeDocument/2006/math">
                    <m:r>
                      <a:rPr lang="en-US" sz="900" b="1" i="1" smtClean="0">
                        <a:solidFill>
                          <a:schemeClr val="folHlink"/>
                        </a:solidFill>
                        <a:latin typeface="Cambria Math" panose="02040503050406030204" pitchFamily="18" charset="0"/>
                        <a:ea typeface="Cambria Math" panose="02040503050406030204" pitchFamily="18" charset="0"/>
                      </a:rPr>
                      <m:t>×</m:t>
                    </m:r>
                  </m:oMath>
                </a14:m>
                <a:r>
                  <a:rPr lang="en-US" sz="900" b="1" i="1" dirty="0">
                    <a:solidFill>
                      <a:schemeClr val="folHlink"/>
                    </a:solidFill>
                    <a:latin typeface="Tahoma" charset="0"/>
                  </a:rPr>
                  <a:t>4</a:t>
                </a:r>
                <a:endParaRPr lang="en-US" sz="900" b="1" i="1" dirty="0">
                  <a:solidFill>
                    <a:schemeClr val="accent1"/>
                  </a:solidFill>
                  <a:latin typeface="Tahoma" charset="0"/>
                </a:endParaRPr>
              </a:p>
            </p:txBody>
          </p:sp>
        </mc:Choice>
        <mc:Fallback xmlns="">
          <p:sp>
            <p:nvSpPr>
              <p:cNvPr id="46096" name="Rectangle 17"/>
              <p:cNvSpPr>
                <a:spLocks noRot="1" noChangeAspect="1" noMove="1" noResize="1" noEditPoints="1" noAdjustHandles="1" noChangeArrowheads="1" noChangeShapeType="1" noTextEdit="1"/>
              </p:cNvSpPr>
              <p:nvPr/>
            </p:nvSpPr>
            <p:spPr bwMode="auto">
              <a:xfrm>
                <a:off x="2188369" y="2804775"/>
                <a:ext cx="501739" cy="346731"/>
              </a:xfrm>
              <a:prstGeom prst="rect">
                <a:avLst/>
              </a:prstGeom>
              <a:blipFill>
                <a:blip r:embed="rId3"/>
                <a:stretch>
                  <a:fillRect l="-1220" r="-1220" b="-10526"/>
                </a:stretch>
              </a:blip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noFill/>
                  </a:rPr>
                  <a:t> </a:t>
                </a:r>
              </a:p>
            </p:txBody>
          </p:sp>
        </mc:Fallback>
      </mc:AlternateContent>
      <p:sp>
        <p:nvSpPr>
          <p:cNvPr id="46097" name="Oval 18"/>
          <p:cNvSpPr>
            <a:spLocks noChangeArrowheads="1"/>
          </p:cNvSpPr>
          <p:nvPr/>
        </p:nvSpPr>
        <p:spPr bwMode="auto">
          <a:xfrm>
            <a:off x="3184923" y="1853467"/>
            <a:ext cx="325040" cy="391715"/>
          </a:xfrm>
          <a:prstGeom prst="ellipse">
            <a:avLst/>
          </a:prstGeom>
          <a:solidFill>
            <a:srgbClr val="E1F0FF"/>
          </a:solidFill>
          <a:ln w="12700">
            <a:solidFill>
              <a:schemeClr val="tx1"/>
            </a:solidFill>
            <a:round/>
            <a:headEnd/>
            <a:tailEnd/>
          </a:ln>
        </p:spPr>
        <p:txBody>
          <a:bodyPr wrap="none" anchor="ctr"/>
          <a:lstStyle/>
          <a:p>
            <a:endParaRPr lang="sv-SE" sz="1013"/>
          </a:p>
        </p:txBody>
      </p:sp>
      <p:sp>
        <p:nvSpPr>
          <p:cNvPr id="46098" name="Oval 19"/>
          <p:cNvSpPr>
            <a:spLocks noChangeArrowheads="1"/>
          </p:cNvSpPr>
          <p:nvPr/>
        </p:nvSpPr>
        <p:spPr bwMode="auto">
          <a:xfrm>
            <a:off x="3198019" y="3129817"/>
            <a:ext cx="323850" cy="391715"/>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46099" name="Line 20"/>
          <p:cNvSpPr>
            <a:spLocks noChangeShapeType="1"/>
          </p:cNvSpPr>
          <p:nvPr/>
        </p:nvSpPr>
        <p:spPr bwMode="auto">
          <a:xfrm flipH="1">
            <a:off x="3342085" y="2248753"/>
            <a:ext cx="5953" cy="8703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00" name="Line 21"/>
          <p:cNvSpPr>
            <a:spLocks noChangeShapeType="1"/>
          </p:cNvSpPr>
          <p:nvPr/>
        </p:nvSpPr>
        <p:spPr bwMode="auto">
          <a:xfrm>
            <a:off x="3121819" y="1855847"/>
            <a:ext cx="91679" cy="7977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01" name="Line 22"/>
          <p:cNvSpPr>
            <a:spLocks noChangeShapeType="1"/>
          </p:cNvSpPr>
          <p:nvPr/>
        </p:nvSpPr>
        <p:spPr bwMode="auto">
          <a:xfrm flipH="1">
            <a:off x="3461147" y="1839179"/>
            <a:ext cx="119063" cy="7381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02" name="Line 23"/>
          <p:cNvSpPr>
            <a:spLocks noChangeShapeType="1"/>
          </p:cNvSpPr>
          <p:nvPr/>
        </p:nvSpPr>
        <p:spPr bwMode="auto">
          <a:xfrm>
            <a:off x="3332560" y="1718926"/>
            <a:ext cx="0" cy="13692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03" name="Line 24"/>
          <p:cNvSpPr>
            <a:spLocks noChangeShapeType="1"/>
          </p:cNvSpPr>
          <p:nvPr/>
        </p:nvSpPr>
        <p:spPr bwMode="auto">
          <a:xfrm flipH="1">
            <a:off x="3084910" y="3465573"/>
            <a:ext cx="150019" cy="9644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04" name="Line 25"/>
          <p:cNvSpPr>
            <a:spLocks noChangeShapeType="1"/>
          </p:cNvSpPr>
          <p:nvPr/>
        </p:nvSpPr>
        <p:spPr bwMode="auto">
          <a:xfrm>
            <a:off x="3348038" y="3528675"/>
            <a:ext cx="26194" cy="13096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05" name="Line 26"/>
          <p:cNvSpPr>
            <a:spLocks noChangeShapeType="1"/>
          </p:cNvSpPr>
          <p:nvPr/>
        </p:nvSpPr>
        <p:spPr bwMode="auto">
          <a:xfrm>
            <a:off x="3440907" y="3489385"/>
            <a:ext cx="97631" cy="15835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06" name="Line 27"/>
          <p:cNvSpPr>
            <a:spLocks noChangeShapeType="1"/>
          </p:cNvSpPr>
          <p:nvPr/>
        </p:nvSpPr>
        <p:spPr bwMode="auto">
          <a:xfrm>
            <a:off x="3507581" y="3426282"/>
            <a:ext cx="148829" cy="1083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07" name="Rectangle 28"/>
          <p:cNvSpPr>
            <a:spLocks noChangeArrowheads="1"/>
          </p:cNvSpPr>
          <p:nvPr/>
        </p:nvSpPr>
        <p:spPr bwMode="auto">
          <a:xfrm>
            <a:off x="3190875" y="1890375"/>
            <a:ext cx="352661" cy="231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50" b="1" i="1">
                <a:solidFill>
                  <a:schemeClr val="hlink"/>
                </a:solidFill>
                <a:latin typeface="Tahoma" charset="0"/>
              </a:rPr>
              <a:t>m1</a:t>
            </a:r>
            <a:endParaRPr lang="en-US" sz="1050" b="1" i="1">
              <a:latin typeface="Tahoma" charset="0"/>
            </a:endParaRPr>
          </a:p>
        </p:txBody>
      </p:sp>
      <p:sp>
        <p:nvSpPr>
          <p:cNvPr id="46108" name="Rectangle 29"/>
          <p:cNvSpPr>
            <a:spLocks noChangeArrowheads="1"/>
          </p:cNvSpPr>
          <p:nvPr/>
        </p:nvSpPr>
        <p:spPr bwMode="auto">
          <a:xfrm>
            <a:off x="3190875" y="3204825"/>
            <a:ext cx="352661" cy="231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050" b="1" i="1">
                <a:solidFill>
                  <a:schemeClr val="hlink"/>
                </a:solidFill>
                <a:latin typeface="Tahoma" charset="0"/>
              </a:rPr>
              <a:t>m2</a:t>
            </a:r>
            <a:endParaRPr lang="en-US" sz="1050" b="1" i="1">
              <a:latin typeface="Tahoma" charset="0"/>
            </a:endParaRPr>
          </a:p>
        </p:txBody>
      </p:sp>
      <p:sp>
        <p:nvSpPr>
          <p:cNvPr id="46109" name="Rectangle 30"/>
          <p:cNvSpPr>
            <a:spLocks noChangeArrowheads="1"/>
          </p:cNvSpPr>
          <p:nvPr/>
        </p:nvSpPr>
        <p:spPr bwMode="auto">
          <a:xfrm>
            <a:off x="3350419" y="2569032"/>
            <a:ext cx="31739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a:solidFill>
                  <a:srgbClr val="FF0000"/>
                </a:solidFill>
                <a:latin typeface="Tahoma" charset="0"/>
              </a:rPr>
              <a:t>a?</a:t>
            </a:r>
            <a:endParaRPr lang="en-US" sz="1200" b="1" i="1">
              <a:solidFill>
                <a:srgbClr val="FF0000"/>
              </a:solidFill>
              <a:latin typeface="Tahoma" charset="0"/>
            </a:endParaRPr>
          </a:p>
        </p:txBody>
      </p:sp>
      <p:sp>
        <p:nvSpPr>
          <p:cNvPr id="46110" name="Rectangle 31"/>
          <p:cNvSpPr>
            <a:spLocks noChangeArrowheads="1"/>
          </p:cNvSpPr>
          <p:nvPr/>
        </p:nvSpPr>
        <p:spPr bwMode="auto">
          <a:xfrm>
            <a:off x="3349229" y="2290426"/>
            <a:ext cx="468077" cy="2082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900" b="1" i="1">
                <a:latin typeface="Tahoma" charset="0"/>
              </a:rPr>
              <a:t>y&lt;=4</a:t>
            </a:r>
          </a:p>
        </p:txBody>
      </p:sp>
      <p:sp>
        <p:nvSpPr>
          <p:cNvPr id="46111" name="Oval 32"/>
          <p:cNvSpPr>
            <a:spLocks noChangeArrowheads="1"/>
          </p:cNvSpPr>
          <p:nvPr/>
        </p:nvSpPr>
        <p:spPr bwMode="auto">
          <a:xfrm>
            <a:off x="5295900" y="1853467"/>
            <a:ext cx="323850" cy="391715"/>
          </a:xfrm>
          <a:prstGeom prst="ellipse">
            <a:avLst/>
          </a:prstGeom>
          <a:solidFill>
            <a:srgbClr val="E1F0FF"/>
          </a:solidFill>
          <a:ln w="12700">
            <a:solidFill>
              <a:schemeClr val="tx1"/>
            </a:solidFill>
            <a:round/>
            <a:headEnd/>
            <a:tailEnd/>
          </a:ln>
        </p:spPr>
        <p:txBody>
          <a:bodyPr wrap="none" anchor="ctr"/>
          <a:lstStyle/>
          <a:p>
            <a:endParaRPr lang="sv-SE" sz="1013"/>
          </a:p>
        </p:txBody>
      </p:sp>
      <p:sp>
        <p:nvSpPr>
          <p:cNvPr id="46112" name="Oval 33"/>
          <p:cNvSpPr>
            <a:spLocks noChangeArrowheads="1"/>
          </p:cNvSpPr>
          <p:nvPr/>
        </p:nvSpPr>
        <p:spPr bwMode="auto">
          <a:xfrm>
            <a:off x="5307806" y="3129817"/>
            <a:ext cx="323850" cy="391715"/>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p>
        </p:txBody>
      </p:sp>
      <p:sp>
        <p:nvSpPr>
          <p:cNvPr id="46113" name="Line 34"/>
          <p:cNvSpPr>
            <a:spLocks noChangeShapeType="1"/>
          </p:cNvSpPr>
          <p:nvPr/>
        </p:nvSpPr>
        <p:spPr bwMode="auto">
          <a:xfrm flipH="1">
            <a:off x="5453062" y="2248753"/>
            <a:ext cx="4763" cy="8703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14" name="Line 35"/>
          <p:cNvSpPr>
            <a:spLocks noChangeShapeType="1"/>
          </p:cNvSpPr>
          <p:nvPr/>
        </p:nvSpPr>
        <p:spPr bwMode="auto">
          <a:xfrm>
            <a:off x="5231607" y="1855847"/>
            <a:ext cx="92869" cy="7977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15" name="Line 36"/>
          <p:cNvSpPr>
            <a:spLocks noChangeShapeType="1"/>
          </p:cNvSpPr>
          <p:nvPr/>
        </p:nvSpPr>
        <p:spPr bwMode="auto">
          <a:xfrm flipH="1">
            <a:off x="5570935" y="1839179"/>
            <a:ext cx="119063" cy="7381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16" name="Line 37"/>
          <p:cNvSpPr>
            <a:spLocks noChangeShapeType="1"/>
          </p:cNvSpPr>
          <p:nvPr/>
        </p:nvSpPr>
        <p:spPr bwMode="auto">
          <a:xfrm>
            <a:off x="5442347" y="1718926"/>
            <a:ext cx="0" cy="13692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17" name="Line 38"/>
          <p:cNvSpPr>
            <a:spLocks noChangeShapeType="1"/>
          </p:cNvSpPr>
          <p:nvPr/>
        </p:nvSpPr>
        <p:spPr bwMode="auto">
          <a:xfrm flipH="1">
            <a:off x="5195887" y="3465573"/>
            <a:ext cx="148829" cy="9644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18" name="Line 39"/>
          <p:cNvSpPr>
            <a:spLocks noChangeShapeType="1"/>
          </p:cNvSpPr>
          <p:nvPr/>
        </p:nvSpPr>
        <p:spPr bwMode="auto">
          <a:xfrm>
            <a:off x="5457825" y="3528675"/>
            <a:ext cx="27385" cy="13096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19" name="Line 40"/>
          <p:cNvSpPr>
            <a:spLocks noChangeShapeType="1"/>
          </p:cNvSpPr>
          <p:nvPr/>
        </p:nvSpPr>
        <p:spPr bwMode="auto">
          <a:xfrm>
            <a:off x="5550694" y="3489385"/>
            <a:ext cx="97631" cy="15835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20" name="Line 41"/>
          <p:cNvSpPr>
            <a:spLocks noChangeShapeType="1"/>
          </p:cNvSpPr>
          <p:nvPr/>
        </p:nvSpPr>
        <p:spPr bwMode="auto">
          <a:xfrm>
            <a:off x="5617369" y="3426282"/>
            <a:ext cx="150019" cy="1083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sv-SE" sz="1013"/>
          </a:p>
        </p:txBody>
      </p:sp>
      <p:sp>
        <p:nvSpPr>
          <p:cNvPr id="46121" name="Rectangle 42"/>
          <p:cNvSpPr>
            <a:spLocks noChangeArrowheads="1"/>
          </p:cNvSpPr>
          <p:nvPr/>
        </p:nvSpPr>
        <p:spPr bwMode="auto">
          <a:xfrm>
            <a:off x="5393532" y="1846323"/>
            <a:ext cx="13952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endParaRPr lang="en-GB" sz="1200" b="1" i="1">
              <a:latin typeface="Tahoma" charset="0"/>
            </a:endParaRPr>
          </a:p>
        </p:txBody>
      </p:sp>
      <p:sp>
        <p:nvSpPr>
          <p:cNvPr id="46122" name="Rectangle 43"/>
          <p:cNvSpPr>
            <a:spLocks noChangeArrowheads="1"/>
          </p:cNvSpPr>
          <p:nvPr/>
        </p:nvSpPr>
        <p:spPr bwMode="auto">
          <a:xfrm>
            <a:off x="5398294" y="3144104"/>
            <a:ext cx="13952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endParaRPr lang="en-GB" sz="1200" b="1" i="1">
              <a:latin typeface="Tahoma" charset="0"/>
            </a:endParaRPr>
          </a:p>
        </p:txBody>
      </p:sp>
      <p:sp>
        <p:nvSpPr>
          <p:cNvPr id="46123" name="Rectangle 44"/>
          <p:cNvSpPr>
            <a:spLocks noChangeArrowheads="1"/>
          </p:cNvSpPr>
          <p:nvPr/>
        </p:nvSpPr>
        <p:spPr bwMode="auto">
          <a:xfrm>
            <a:off x="5460206" y="2569032"/>
            <a:ext cx="187551"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a:latin typeface="Tahoma" charset="0"/>
              </a:rPr>
              <a:t> </a:t>
            </a:r>
            <a:endParaRPr lang="en-US" sz="1200" b="1" i="1">
              <a:latin typeface="Tahoma" charset="0"/>
            </a:endParaRPr>
          </a:p>
        </p:txBody>
      </p:sp>
      <p:sp>
        <p:nvSpPr>
          <p:cNvPr id="46124" name="Rectangle 45"/>
          <p:cNvSpPr>
            <a:spLocks noChangeArrowheads="1"/>
          </p:cNvSpPr>
          <p:nvPr/>
        </p:nvSpPr>
        <p:spPr bwMode="auto">
          <a:xfrm>
            <a:off x="5475685" y="2319000"/>
            <a:ext cx="18434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solidFill>
                  <a:schemeClr val="accent1"/>
                </a:solidFill>
                <a:latin typeface="Tahoma" charset="0"/>
              </a:rPr>
              <a:t> </a:t>
            </a:r>
            <a:endParaRPr lang="en-US" sz="1200" b="1" i="1">
              <a:latin typeface="Tahoma" charset="0"/>
            </a:endParaRPr>
          </a:p>
        </p:txBody>
      </p:sp>
      <p:sp>
        <p:nvSpPr>
          <p:cNvPr id="46125" name="Rectangle 46"/>
          <p:cNvSpPr>
            <a:spLocks noChangeArrowheads="1"/>
          </p:cNvSpPr>
          <p:nvPr/>
        </p:nvSpPr>
        <p:spPr bwMode="auto">
          <a:xfrm>
            <a:off x="5487591" y="2898835"/>
            <a:ext cx="18434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1200" b="1" i="1">
                <a:solidFill>
                  <a:schemeClr val="accent1"/>
                </a:solidFill>
                <a:latin typeface="Tahoma" charset="0"/>
              </a:rPr>
              <a:t> </a:t>
            </a:r>
          </a:p>
        </p:txBody>
      </p:sp>
      <p:sp>
        <p:nvSpPr>
          <p:cNvPr id="46126" name="Text Box 47"/>
          <p:cNvSpPr txBox="1">
            <a:spLocks noChangeArrowheads="1"/>
          </p:cNvSpPr>
          <p:nvPr/>
        </p:nvSpPr>
        <p:spPr bwMode="auto">
          <a:xfrm>
            <a:off x="3982641" y="2290426"/>
            <a:ext cx="1423788" cy="507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700">
                <a:latin typeface="Tahoma" charset="0"/>
              </a:rPr>
              <a:t>………….</a:t>
            </a:r>
          </a:p>
        </p:txBody>
      </p:sp>
      <p:sp>
        <p:nvSpPr>
          <p:cNvPr id="32816" name="Text Box 48"/>
          <p:cNvSpPr txBox="1">
            <a:spLocks noChangeArrowheads="1"/>
          </p:cNvSpPr>
          <p:nvPr/>
        </p:nvSpPr>
        <p:spPr bwMode="auto">
          <a:xfrm>
            <a:off x="5772150" y="2543036"/>
            <a:ext cx="1884298" cy="276999"/>
          </a:xfrm>
          <a:prstGeom prst="rect">
            <a:avLst/>
          </a:prstGeom>
          <a:solidFill>
            <a:schemeClr val="accent1"/>
          </a:solidFill>
          <a:ln w="12700">
            <a:noFill/>
            <a:miter lim="800000"/>
            <a:headEnd type="none" w="sm" len="sm"/>
            <a:tailEnd type="none" w="sm" len="sm"/>
          </a:ln>
          <a:effectLst>
            <a:outerShdw dist="107763" dir="2700000" algn="ctr" rotWithShape="0">
              <a:schemeClr val="bg2"/>
            </a:outerShdw>
          </a:effectLst>
        </p:spPr>
        <p:txBody>
          <a:bodyPr wrap="none">
            <a:spAutoFit/>
          </a:bodyPr>
          <a:lstStyle/>
          <a:p>
            <a:pPr eaLnBrk="0" hangingPunct="0">
              <a:defRPr/>
            </a:pPr>
            <a:r>
              <a:rPr lang="en-US" sz="1200" dirty="0">
                <a:solidFill>
                  <a:srgbClr val="000099"/>
                </a:solidFill>
                <a:latin typeface="Tahoma" pitchFamily="34" charset="0"/>
              </a:rPr>
              <a:t>Two-way synchronization</a:t>
            </a:r>
          </a:p>
        </p:txBody>
      </p:sp>
      <p:sp>
        <p:nvSpPr>
          <p:cNvPr id="46128" name="Text Box 49"/>
          <p:cNvSpPr txBox="1">
            <a:spLocks noChangeArrowheads="1"/>
          </p:cNvSpPr>
          <p:nvPr/>
        </p:nvSpPr>
        <p:spPr bwMode="auto">
          <a:xfrm>
            <a:off x="1818085" y="3989448"/>
            <a:ext cx="5653088" cy="646331"/>
          </a:xfrm>
          <a:prstGeom prst="rect">
            <a:avLst/>
          </a:prstGeom>
          <a:solidFill>
            <a:srgbClr val="FFFFCC"/>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endParaRPr lang="en-US" sz="1200" dirty="0">
              <a:latin typeface="Tahoma" charset="0"/>
            </a:endParaRPr>
          </a:p>
          <a:p>
            <a:r>
              <a:rPr lang="en-US" sz="1200" dirty="0">
                <a:latin typeface="Tahoma" charset="0"/>
              </a:rPr>
              <a:t>(</a:t>
            </a:r>
            <a:r>
              <a:rPr lang="en-US" sz="1200" b="1" i="1" dirty="0">
                <a:solidFill>
                  <a:schemeClr val="hlink"/>
                </a:solidFill>
                <a:latin typeface="Tahoma" charset="0"/>
              </a:rPr>
              <a:t>l1</a:t>
            </a:r>
            <a:r>
              <a:rPr lang="en-US" sz="1200" i="1" dirty="0">
                <a:latin typeface="Tahoma" charset="0"/>
              </a:rPr>
              <a:t>, </a:t>
            </a:r>
            <a:r>
              <a:rPr lang="en-US" sz="1200" b="1" i="1" dirty="0">
                <a:solidFill>
                  <a:schemeClr val="hlink"/>
                </a:solidFill>
                <a:latin typeface="Tahoma" charset="0"/>
              </a:rPr>
              <a:t>m1</a:t>
            </a:r>
            <a:r>
              <a:rPr lang="en-US" sz="1200" i="1" dirty="0">
                <a:latin typeface="Tahoma" charset="0"/>
              </a:rPr>
              <a:t>,………, x=2, y=3.5, i=3,…..)              (</a:t>
            </a:r>
            <a:r>
              <a:rPr lang="en-US" sz="1200" b="1" i="1" dirty="0">
                <a:solidFill>
                  <a:schemeClr val="hlink"/>
                </a:solidFill>
                <a:latin typeface="Tahoma" charset="0"/>
              </a:rPr>
              <a:t>l2,m2</a:t>
            </a:r>
            <a:r>
              <a:rPr lang="en-US" sz="1200" i="1" dirty="0">
                <a:latin typeface="Tahoma" charset="0"/>
              </a:rPr>
              <a:t>,……..,x=0,  y=0, i=?,…..)</a:t>
            </a:r>
          </a:p>
          <a:p>
            <a:endParaRPr lang="en-US" sz="1200" dirty="0">
              <a:latin typeface="Tahoma" charset="0"/>
            </a:endParaRPr>
          </a:p>
        </p:txBody>
      </p:sp>
      <p:sp>
        <p:nvSpPr>
          <p:cNvPr id="46129" name="Line 50"/>
          <p:cNvSpPr>
            <a:spLocks noChangeShapeType="1"/>
          </p:cNvSpPr>
          <p:nvPr/>
        </p:nvSpPr>
        <p:spPr bwMode="auto">
          <a:xfrm>
            <a:off x="4527947" y="4320441"/>
            <a:ext cx="422672"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xmlns="">
                <a:noFill/>
              </a14:hiddenFill>
            </a:ext>
          </a:extLst>
        </p:spPr>
        <p:txBody>
          <a:bodyPr wrap="none" anchor="ctr">
            <a:spAutoFit/>
          </a:bodyPr>
          <a:lstStyle/>
          <a:p>
            <a:endParaRPr lang="sv-SE" sz="1013"/>
          </a:p>
        </p:txBody>
      </p:sp>
      <p:sp>
        <p:nvSpPr>
          <p:cNvPr id="46130" name="Text Box 51"/>
          <p:cNvSpPr txBox="1">
            <a:spLocks noChangeArrowheads="1"/>
          </p:cNvSpPr>
          <p:nvPr/>
        </p:nvSpPr>
        <p:spPr bwMode="auto">
          <a:xfrm>
            <a:off x="4622979" y="4013260"/>
            <a:ext cx="27603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b="1" dirty="0">
                <a:latin typeface="Tahoma" charset="0"/>
              </a:rPr>
              <a:t>a</a:t>
            </a:r>
          </a:p>
        </p:txBody>
      </p:sp>
      <p:sp>
        <p:nvSpPr>
          <p:cNvPr id="46131" name="Text Box 52"/>
          <p:cNvSpPr txBox="1">
            <a:spLocks noChangeArrowheads="1"/>
          </p:cNvSpPr>
          <p:nvPr/>
        </p:nvSpPr>
        <p:spPr bwMode="auto">
          <a:xfrm>
            <a:off x="1827610" y="3833476"/>
            <a:ext cx="1509644" cy="276999"/>
          </a:xfrm>
          <a:prstGeom prst="rect">
            <a:avLst/>
          </a:prstGeom>
          <a:solidFill>
            <a:srgbClr val="E1F0FF"/>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a:solidFill>
                  <a:srgbClr val="FF0000"/>
                </a:solidFill>
                <a:latin typeface="Tahoma" charset="0"/>
              </a:rPr>
              <a:t>Example transitions</a:t>
            </a:r>
          </a:p>
        </p:txBody>
      </p:sp>
      <p:sp>
        <p:nvSpPr>
          <p:cNvPr id="46132" name="Text Box 53"/>
          <p:cNvSpPr txBox="1">
            <a:spLocks noChangeArrowheads="1"/>
          </p:cNvSpPr>
          <p:nvPr/>
        </p:nvSpPr>
        <p:spPr bwMode="auto">
          <a:xfrm>
            <a:off x="4494628" y="1058065"/>
            <a:ext cx="3571812" cy="392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sv-SE" sz="1950" b="1" dirty="0" err="1"/>
              <a:t>with</a:t>
            </a:r>
            <a:r>
              <a:rPr lang="sv-SE" sz="1950" b="1" dirty="0"/>
              <a:t> (</a:t>
            </a:r>
            <a:r>
              <a:rPr lang="sv-SE" sz="1950" b="1" dirty="0" err="1"/>
              <a:t>finite</a:t>
            </a:r>
            <a:r>
              <a:rPr lang="sv-SE" sz="1950" b="1" dirty="0"/>
              <a:t>) </a:t>
            </a:r>
            <a:r>
              <a:rPr lang="sv-SE" sz="1950" b="1" dirty="0" err="1"/>
              <a:t>integer</a:t>
            </a:r>
            <a:r>
              <a:rPr lang="sv-SE" sz="1950" b="1" dirty="0"/>
              <a:t> </a:t>
            </a:r>
            <a:r>
              <a:rPr lang="sv-SE" sz="1950" b="1" dirty="0" err="1"/>
              <a:t>variables</a:t>
            </a:r>
            <a:endParaRPr lang="sv-SE" sz="1950" b="1" dirty="0"/>
          </a:p>
        </p:txBody>
      </p:sp>
      <p:sp>
        <p:nvSpPr>
          <p:cNvPr id="54" name="Rectangle 17">
            <a:extLst>
              <a:ext uri="{FF2B5EF4-FFF2-40B4-BE49-F238E27FC236}">
                <a16:creationId xmlns:a16="http://schemas.microsoft.com/office/drawing/2014/main" id="{5E96489B-9D25-4A17-A832-F47AA52C65A2}"/>
              </a:ext>
            </a:extLst>
          </p:cNvPr>
          <p:cNvSpPr>
            <a:spLocks noChangeArrowheads="1"/>
          </p:cNvSpPr>
          <p:nvPr/>
        </p:nvSpPr>
        <p:spPr bwMode="auto">
          <a:xfrm>
            <a:off x="3363517" y="2779772"/>
            <a:ext cx="514563" cy="3467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pPr eaLnBrk="0" hangingPunct="0"/>
            <a:r>
              <a:rPr lang="en-US" sz="900" b="1" i="1" dirty="0">
                <a:latin typeface="Tahoma" charset="0"/>
              </a:rPr>
              <a:t>y := 0</a:t>
            </a:r>
          </a:p>
          <a:p>
            <a:pPr eaLnBrk="0" hangingPunct="0"/>
            <a:r>
              <a:rPr lang="en-US" sz="900" b="1" i="1" dirty="0">
                <a:solidFill>
                  <a:schemeClr val="folHlink"/>
                </a:solidFill>
                <a:latin typeface="Tahoma" charset="0"/>
              </a:rPr>
              <a:t>i:=i+1</a:t>
            </a:r>
            <a:endParaRPr lang="en-US" sz="900" b="1" i="1" dirty="0">
              <a:solidFill>
                <a:schemeClr val="accent1"/>
              </a:solidFill>
              <a:latin typeface="Tahoma"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E325C1-73A8-41F8-8CC9-DDBEADCC817D}"/>
                  </a:ext>
                </a:extLst>
              </p:cNvPr>
              <p:cNvSpPr txBox="1"/>
              <p:nvPr/>
            </p:nvSpPr>
            <p:spPr>
              <a:xfrm>
                <a:off x="6526010" y="4405622"/>
                <a:ext cx="1479892" cy="738664"/>
              </a:xfrm>
              <a:prstGeom prst="rect">
                <a:avLst/>
              </a:prstGeom>
              <a:noFill/>
            </p:spPr>
            <p:txBody>
              <a:bodyPr wrap="none" rtlCol="0">
                <a:spAutoFit/>
              </a:bodyPr>
              <a:lstStyle/>
              <a:p>
                <a:r>
                  <a:rPr lang="en-US" sz="1400" i="1" dirty="0">
                    <a:solidFill>
                      <a:srgbClr val="00B050"/>
                    </a:solidFill>
                  </a:rPr>
                  <a:t>i==3 -&gt; </a:t>
                </a:r>
              </a:p>
              <a:p>
                <a:r>
                  <a:rPr lang="en-US" sz="1400" i="1" dirty="0">
                    <a:solidFill>
                      <a:srgbClr val="00B050"/>
                    </a:solidFill>
                  </a:rPr>
                  <a:t>i==3</a:t>
                </a:r>
                <a:r>
                  <a:rPr lang="en-US" sz="1200" b="1" dirty="0">
                    <a:solidFill>
                      <a:srgbClr val="00B050"/>
                    </a:solidFill>
                    <a:ea typeface="Cambria Math" panose="02040503050406030204" pitchFamily="18" charset="0"/>
                  </a:rPr>
                  <a:t> </a:t>
                </a:r>
                <a14:m>
                  <m:oMath xmlns:m="http://schemas.openxmlformats.org/officeDocument/2006/math">
                    <m:r>
                      <a:rPr lang="en-US" sz="1200" b="1" i="1">
                        <a:solidFill>
                          <a:srgbClr val="00B050"/>
                        </a:solidFill>
                        <a:latin typeface="Cambria Math" panose="02040503050406030204" pitchFamily="18" charset="0"/>
                        <a:ea typeface="Cambria Math" panose="02040503050406030204" pitchFamily="18" charset="0"/>
                      </a:rPr>
                      <m:t>× </m:t>
                    </m:r>
                  </m:oMath>
                </a14:m>
                <a:r>
                  <a:rPr lang="en-US" sz="1400" i="1" dirty="0">
                    <a:solidFill>
                      <a:srgbClr val="00B050"/>
                    </a:solidFill>
                  </a:rPr>
                  <a:t>4 == 12 -&gt; </a:t>
                </a:r>
              </a:p>
              <a:p>
                <a:r>
                  <a:rPr lang="en-US" sz="1400" i="1" dirty="0">
                    <a:solidFill>
                      <a:srgbClr val="00B050"/>
                    </a:solidFill>
                  </a:rPr>
                  <a:t>i := i+1 == 13</a:t>
                </a:r>
              </a:p>
            </p:txBody>
          </p:sp>
        </mc:Choice>
        <mc:Fallback xmlns="">
          <p:sp>
            <p:nvSpPr>
              <p:cNvPr id="2" name="TextBox 1">
                <a:extLst>
                  <a:ext uri="{FF2B5EF4-FFF2-40B4-BE49-F238E27FC236}">
                    <a16:creationId xmlns:a16="http://schemas.microsoft.com/office/drawing/2014/main" id="{6DE325C1-73A8-41F8-8CC9-DDBEADCC817D}"/>
                  </a:ext>
                </a:extLst>
              </p:cNvPr>
              <p:cNvSpPr txBox="1">
                <a:spLocks noRot="1" noChangeAspect="1" noMove="1" noResize="1" noEditPoints="1" noAdjustHandles="1" noChangeArrowheads="1" noChangeShapeType="1" noTextEdit="1"/>
              </p:cNvSpPr>
              <p:nvPr/>
            </p:nvSpPr>
            <p:spPr>
              <a:xfrm>
                <a:off x="6526010" y="4405622"/>
                <a:ext cx="1479892" cy="738664"/>
              </a:xfrm>
              <a:prstGeom prst="rect">
                <a:avLst/>
              </a:prstGeom>
              <a:blipFill>
                <a:blip r:embed="rId4"/>
                <a:stretch>
                  <a:fillRect l="-1240" t="-2479" r="-413" b="-6612"/>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r>
              <a:rPr lang="en-US" dirty="0"/>
              <a:t> </a:t>
            </a:r>
          </a:p>
        </p:txBody>
      </p:sp>
      <p:sp>
        <p:nvSpPr>
          <p:cNvPr id="3" name="Content Placeholder 2"/>
          <p:cNvSpPr>
            <a:spLocks noGrp="1"/>
          </p:cNvSpPr>
          <p:nvPr>
            <p:ph idx="1"/>
          </p:nvPr>
        </p:nvSpPr>
        <p:spPr/>
        <p:txBody>
          <a:bodyPr/>
          <a:lstStyle/>
          <a:p>
            <a:pPr marL="0" indent="0">
              <a:buNone/>
            </a:pPr>
            <a:r>
              <a:rPr lang="en-GB" b="1" dirty="0">
                <a:solidFill>
                  <a:schemeClr val="tx2"/>
                </a:solidFill>
              </a:rPr>
              <a:t>The Light Control example in UPPAAL </a:t>
            </a:r>
          </a:p>
          <a:p>
            <a:endParaRPr lang="en-US" dirty="0"/>
          </a:p>
        </p:txBody>
      </p:sp>
    </p:spTree>
    <p:extLst>
      <p:ext uri="{BB962C8B-B14F-4D97-AF65-F5344CB8AC3E}">
        <p14:creationId xmlns:p14="http://schemas.microsoft.com/office/powerpoint/2010/main" val="5036369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title"/>
          </p:nvPr>
        </p:nvSpPr>
        <p:spPr>
          <a:xfrm>
            <a:off x="1333500" y="510715"/>
            <a:ext cx="6172200" cy="857250"/>
          </a:xfrm>
        </p:spPr>
        <p:txBody>
          <a:bodyPr/>
          <a:lstStyle/>
          <a:p>
            <a:pPr defTabSz="548879"/>
            <a:r>
              <a:rPr lang="en-US" sz="2850" b="1" dirty="0">
                <a:latin typeface="Arial" charset="0"/>
              </a:rPr>
              <a:t>How to specify what to check?</a:t>
            </a:r>
            <a:endParaRPr lang="sv-SE" sz="2850" b="1" dirty="0">
              <a:latin typeface="Arial" charset="0"/>
            </a:endParaRPr>
          </a:p>
        </p:txBody>
      </p:sp>
      <p:pic>
        <p:nvPicPr>
          <p:cNvPr id="53354" name="Picture 53353">
            <a:extLst>
              <a:ext uri="{FF2B5EF4-FFF2-40B4-BE49-F238E27FC236}">
                <a16:creationId xmlns:a16="http://schemas.microsoft.com/office/drawing/2014/main" id="{1F8369E3-EEE7-7E29-7DDE-830513A287F9}"/>
              </a:ext>
            </a:extLst>
          </p:cNvPr>
          <p:cNvPicPr>
            <a:picLocks noChangeAspect="1"/>
          </p:cNvPicPr>
          <p:nvPr/>
        </p:nvPicPr>
        <p:blipFill>
          <a:blip r:embed="rId3"/>
          <a:stretch>
            <a:fillRect/>
          </a:stretch>
        </p:blipFill>
        <p:spPr>
          <a:xfrm>
            <a:off x="1392752" y="1367965"/>
            <a:ext cx="6053696" cy="3590588"/>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1471154" y="575069"/>
            <a:ext cx="6172200" cy="857250"/>
          </a:xfrm>
        </p:spPr>
        <p:txBody>
          <a:bodyPr/>
          <a:lstStyle/>
          <a:p>
            <a:pPr defTabSz="548879"/>
            <a:r>
              <a:rPr lang="en-US" sz="3000" b="1" dirty="0">
                <a:latin typeface="Arial" charset="0"/>
              </a:rPr>
              <a:t>Specification of Requirements</a:t>
            </a:r>
            <a:endParaRPr lang="sv-SE" sz="3000" b="1" dirty="0">
              <a:latin typeface="Arial" charset="0"/>
            </a:endParaRPr>
          </a:p>
        </p:txBody>
      </p:sp>
      <p:sp>
        <p:nvSpPr>
          <p:cNvPr id="55298" name="Rectangle 3"/>
          <p:cNvSpPr>
            <a:spLocks noGrp="1" noChangeArrowheads="1"/>
          </p:cNvSpPr>
          <p:nvPr>
            <p:ph type="body" idx="1"/>
          </p:nvPr>
        </p:nvSpPr>
        <p:spPr>
          <a:xfrm>
            <a:off x="928713" y="1579386"/>
            <a:ext cx="7286573" cy="2984854"/>
          </a:xfrm>
        </p:spPr>
        <p:txBody>
          <a:bodyPr>
            <a:normAutofit fontScale="85000" lnSpcReduction="20000"/>
          </a:bodyPr>
          <a:lstStyle/>
          <a:p>
            <a:pPr defTabSz="548879"/>
            <a:r>
              <a:rPr lang="en-US" dirty="0">
                <a:latin typeface="Arial" charset="0"/>
              </a:rPr>
              <a:t>TCTL - Timed Computation Tree Logic</a:t>
            </a:r>
          </a:p>
          <a:p>
            <a:pPr defTabSz="548879">
              <a:buNone/>
            </a:pPr>
            <a:endParaRPr lang="en-US" b="1" dirty="0">
              <a:latin typeface="Arial" charset="0"/>
            </a:endParaRPr>
          </a:p>
          <a:p>
            <a:pPr defTabSz="548879">
              <a:buNone/>
            </a:pPr>
            <a:endParaRPr lang="en-US" b="1" dirty="0">
              <a:latin typeface="Arial" charset="0"/>
            </a:endParaRPr>
          </a:p>
          <a:p>
            <a:pPr defTabSz="548879">
              <a:buNone/>
            </a:pPr>
            <a:endParaRPr lang="en-US" b="1" dirty="0">
              <a:latin typeface="Arial" charset="0"/>
            </a:endParaRPr>
          </a:p>
          <a:p>
            <a:pPr defTabSz="548879">
              <a:buNone/>
            </a:pPr>
            <a:endParaRPr lang="en-US" b="1" dirty="0">
              <a:latin typeface="Arial" charset="0"/>
            </a:endParaRPr>
          </a:p>
          <a:p>
            <a:pPr defTabSz="548879">
              <a:buNone/>
            </a:pPr>
            <a:endParaRPr lang="en-US" b="1" dirty="0">
              <a:latin typeface="Arial" charset="0"/>
            </a:endParaRPr>
          </a:p>
          <a:p>
            <a:pPr defTabSz="548879">
              <a:buNone/>
            </a:pPr>
            <a:endParaRPr lang="en-US" b="1" dirty="0">
              <a:latin typeface="Arial" charset="0"/>
            </a:endParaRPr>
          </a:p>
          <a:p>
            <a:pPr defTabSz="548879">
              <a:buNone/>
            </a:pPr>
            <a:endParaRPr lang="en-US" dirty="0">
              <a:latin typeface="Arial" charset="0"/>
            </a:endParaRPr>
          </a:p>
          <a:p>
            <a:pPr defTabSz="548879"/>
            <a:r>
              <a:rPr lang="en-US" dirty="0">
                <a:latin typeface="Arial" charset="0"/>
              </a:rPr>
              <a:t>A </a:t>
            </a:r>
            <a:r>
              <a:rPr lang="en-US" dirty="0">
                <a:latin typeface="Arial" charset="0"/>
                <a:sym typeface="Wingdings" charset="0"/>
              </a:rPr>
              <a:t> C C  C  … a path</a:t>
            </a:r>
          </a:p>
          <a:p>
            <a:pPr defTabSz="548879"/>
            <a:r>
              <a:rPr lang="en-US" dirty="0">
                <a:latin typeface="Arial" charset="0"/>
                <a:sym typeface="Wingdings" charset="0"/>
              </a:rPr>
              <a:t>(</a:t>
            </a:r>
            <a:r>
              <a:rPr lang="en-US" dirty="0" err="1">
                <a:latin typeface="Arial" charset="0"/>
                <a:sym typeface="Wingdings" charset="0"/>
              </a:rPr>
              <a:t>A,v</a:t>
            </a:r>
            <a:r>
              <a:rPr lang="en-US" dirty="0">
                <a:latin typeface="Arial" charset="0"/>
                <a:sym typeface="Wingdings" charset="0"/>
              </a:rPr>
              <a:t>)  (</a:t>
            </a:r>
            <a:r>
              <a:rPr lang="en-US" dirty="0" err="1">
                <a:latin typeface="Arial" charset="0"/>
                <a:sym typeface="Wingdings" charset="0"/>
              </a:rPr>
              <a:t>C,v</a:t>
            </a:r>
            <a:r>
              <a:rPr lang="en-US" dirty="0">
                <a:latin typeface="Arial" charset="0"/>
                <a:sym typeface="Wingdings" charset="0"/>
              </a:rPr>
              <a:t>’)  …+ time = a timed path</a:t>
            </a:r>
            <a:endParaRPr lang="en-US" dirty="0">
              <a:latin typeface="Arial" charset="0"/>
            </a:endParaRPr>
          </a:p>
        </p:txBody>
      </p:sp>
      <p:sp>
        <p:nvSpPr>
          <p:cNvPr id="55299" name="Oval 4"/>
          <p:cNvSpPr>
            <a:spLocks noChangeArrowheads="1"/>
          </p:cNvSpPr>
          <p:nvPr/>
        </p:nvSpPr>
        <p:spPr bwMode="auto">
          <a:xfrm>
            <a:off x="2974182" y="2271713"/>
            <a:ext cx="264319" cy="28575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500" b="1"/>
              <a:t>A</a:t>
            </a:r>
            <a:endParaRPr lang="sv-SE" sz="1500" b="1"/>
          </a:p>
        </p:txBody>
      </p:sp>
      <p:sp>
        <p:nvSpPr>
          <p:cNvPr id="55300" name="Oval 5"/>
          <p:cNvSpPr>
            <a:spLocks noChangeArrowheads="1"/>
          </p:cNvSpPr>
          <p:nvPr/>
        </p:nvSpPr>
        <p:spPr bwMode="auto">
          <a:xfrm>
            <a:off x="2552700" y="3014663"/>
            <a:ext cx="263129" cy="28575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500" b="1"/>
              <a:t>B</a:t>
            </a:r>
            <a:endParaRPr lang="sv-SE" sz="1500" b="1"/>
          </a:p>
        </p:txBody>
      </p:sp>
      <p:sp>
        <p:nvSpPr>
          <p:cNvPr id="55301" name="Oval 6"/>
          <p:cNvSpPr>
            <a:spLocks noChangeArrowheads="1"/>
          </p:cNvSpPr>
          <p:nvPr/>
        </p:nvSpPr>
        <p:spPr bwMode="auto">
          <a:xfrm>
            <a:off x="3449241" y="3014663"/>
            <a:ext cx="263128" cy="28575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500" b="1"/>
              <a:t>C</a:t>
            </a:r>
            <a:endParaRPr lang="sv-SE" sz="1500" b="1"/>
          </a:p>
        </p:txBody>
      </p:sp>
      <p:sp>
        <p:nvSpPr>
          <p:cNvPr id="55302" name="Line 7"/>
          <p:cNvSpPr>
            <a:spLocks noChangeShapeType="1"/>
          </p:cNvSpPr>
          <p:nvPr/>
        </p:nvSpPr>
        <p:spPr bwMode="auto">
          <a:xfrm flipH="1">
            <a:off x="2763441" y="2500313"/>
            <a:ext cx="263128" cy="5715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03" name="Line 8"/>
          <p:cNvSpPr>
            <a:spLocks noChangeShapeType="1"/>
          </p:cNvSpPr>
          <p:nvPr/>
        </p:nvSpPr>
        <p:spPr bwMode="auto">
          <a:xfrm>
            <a:off x="3184923" y="2557463"/>
            <a:ext cx="316706"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04" name="Freeform 9"/>
          <p:cNvSpPr>
            <a:spLocks/>
          </p:cNvSpPr>
          <p:nvPr/>
        </p:nvSpPr>
        <p:spPr bwMode="auto">
          <a:xfrm>
            <a:off x="2596754" y="2443163"/>
            <a:ext cx="377428" cy="628650"/>
          </a:xfrm>
          <a:custGeom>
            <a:avLst/>
            <a:gdLst>
              <a:gd name="T0" fmla="*/ 2147483647 w 344"/>
              <a:gd name="T1" fmla="*/ 2147483647 h 528"/>
              <a:gd name="T2" fmla="*/ 2147483647 w 344"/>
              <a:gd name="T3" fmla="*/ 2147483647 h 528"/>
              <a:gd name="T4" fmla="*/ 2147483647 w 344"/>
              <a:gd name="T5" fmla="*/ 0 h 528"/>
              <a:gd name="T6" fmla="*/ 0 60000 65536"/>
              <a:gd name="T7" fmla="*/ 0 60000 65536"/>
              <a:gd name="T8" fmla="*/ 0 60000 65536"/>
              <a:gd name="T9" fmla="*/ 0 w 344"/>
              <a:gd name="T10" fmla="*/ 0 h 528"/>
              <a:gd name="T11" fmla="*/ 344 w 344"/>
              <a:gd name="T12" fmla="*/ 528 h 528"/>
            </a:gdLst>
            <a:ahLst/>
            <a:cxnLst>
              <a:cxn ang="T6">
                <a:pos x="T0" y="T1"/>
              </a:cxn>
              <a:cxn ang="T7">
                <a:pos x="T2" y="T3"/>
              </a:cxn>
              <a:cxn ang="T8">
                <a:pos x="T4" y="T5"/>
              </a:cxn>
            </a:cxnLst>
            <a:rect l="T9" t="T10" r="T11" b="T12"/>
            <a:pathLst>
              <a:path w="344" h="528">
                <a:moveTo>
                  <a:pt x="8" y="528"/>
                </a:moveTo>
                <a:cubicBezTo>
                  <a:pt x="4" y="380"/>
                  <a:pt x="0" y="232"/>
                  <a:pt x="56" y="144"/>
                </a:cubicBezTo>
                <a:cubicBezTo>
                  <a:pt x="112" y="56"/>
                  <a:pt x="228" y="28"/>
                  <a:pt x="344" y="0"/>
                </a:cubicBezTo>
              </a:path>
            </a:pathLst>
          </a:custGeom>
          <a:noFill/>
          <a:ln w="222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65484" tIns="33338" rIns="65484" bIns="33338" anchor="ctr"/>
          <a:lstStyle/>
          <a:p>
            <a:endParaRPr lang="sv-SE" sz="1013"/>
          </a:p>
        </p:txBody>
      </p:sp>
      <p:sp>
        <p:nvSpPr>
          <p:cNvPr id="55305" name="Freeform 10"/>
          <p:cNvSpPr>
            <a:spLocks/>
          </p:cNvSpPr>
          <p:nvPr/>
        </p:nvSpPr>
        <p:spPr bwMode="auto">
          <a:xfrm>
            <a:off x="3712369" y="2957513"/>
            <a:ext cx="264319" cy="438150"/>
          </a:xfrm>
          <a:custGeom>
            <a:avLst/>
            <a:gdLst>
              <a:gd name="T0" fmla="*/ 0 w 320"/>
              <a:gd name="T1" fmla="*/ 2147483647 h 416"/>
              <a:gd name="T2" fmla="*/ 2147483647 w 320"/>
              <a:gd name="T3" fmla="*/ 2147483647 h 416"/>
              <a:gd name="T4" fmla="*/ 2147483647 w 320"/>
              <a:gd name="T5" fmla="*/ 2147483647 h 416"/>
              <a:gd name="T6" fmla="*/ 0 w 320"/>
              <a:gd name="T7" fmla="*/ 2147483647 h 416"/>
              <a:gd name="T8" fmla="*/ 0 60000 65536"/>
              <a:gd name="T9" fmla="*/ 0 60000 65536"/>
              <a:gd name="T10" fmla="*/ 0 60000 65536"/>
              <a:gd name="T11" fmla="*/ 0 60000 65536"/>
              <a:gd name="T12" fmla="*/ 0 w 320"/>
              <a:gd name="T13" fmla="*/ 0 h 416"/>
              <a:gd name="T14" fmla="*/ 320 w 320"/>
              <a:gd name="T15" fmla="*/ 416 h 416"/>
            </a:gdLst>
            <a:ahLst/>
            <a:cxnLst>
              <a:cxn ang="T8">
                <a:pos x="T0" y="T1"/>
              </a:cxn>
              <a:cxn ang="T9">
                <a:pos x="T2" y="T3"/>
              </a:cxn>
              <a:cxn ang="T10">
                <a:pos x="T4" y="T5"/>
              </a:cxn>
              <a:cxn ang="T11">
                <a:pos x="T6" y="T7"/>
              </a:cxn>
            </a:cxnLst>
            <a:rect l="T12" t="T13" r="T14" b="T15"/>
            <a:pathLst>
              <a:path w="320" h="416">
                <a:moveTo>
                  <a:pt x="0" y="96"/>
                </a:moveTo>
                <a:cubicBezTo>
                  <a:pt x="128" y="48"/>
                  <a:pt x="256" y="0"/>
                  <a:pt x="288" y="48"/>
                </a:cubicBezTo>
                <a:cubicBezTo>
                  <a:pt x="320" y="96"/>
                  <a:pt x="240" y="352"/>
                  <a:pt x="192" y="384"/>
                </a:cubicBezTo>
                <a:cubicBezTo>
                  <a:pt x="144" y="416"/>
                  <a:pt x="72" y="328"/>
                  <a:pt x="0" y="240"/>
                </a:cubicBezTo>
              </a:path>
            </a:pathLst>
          </a:custGeom>
          <a:noFill/>
          <a:ln w="222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65484" tIns="33338" rIns="65484" bIns="33338" anchor="ctr"/>
          <a:lstStyle/>
          <a:p>
            <a:endParaRPr lang="sv-SE" sz="1013"/>
          </a:p>
        </p:txBody>
      </p:sp>
      <p:sp>
        <p:nvSpPr>
          <p:cNvPr id="55306" name="Line 11"/>
          <p:cNvSpPr>
            <a:spLocks noChangeShapeType="1"/>
          </p:cNvSpPr>
          <p:nvPr/>
        </p:nvSpPr>
        <p:spPr bwMode="auto">
          <a:xfrm>
            <a:off x="2815828" y="3186113"/>
            <a:ext cx="633413"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07" name="Line 12"/>
          <p:cNvSpPr>
            <a:spLocks noChangeShapeType="1"/>
          </p:cNvSpPr>
          <p:nvPr/>
        </p:nvSpPr>
        <p:spPr bwMode="auto">
          <a:xfrm>
            <a:off x="3080147" y="2100263"/>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10" name="Oval 15"/>
          <p:cNvSpPr>
            <a:spLocks noChangeArrowheads="1"/>
          </p:cNvSpPr>
          <p:nvPr/>
        </p:nvSpPr>
        <p:spPr bwMode="auto">
          <a:xfrm>
            <a:off x="5497117" y="2214563"/>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050" b="1"/>
              <a:t>A</a:t>
            </a:r>
            <a:endParaRPr lang="sv-SE" sz="1050" b="1"/>
          </a:p>
        </p:txBody>
      </p:sp>
      <p:sp>
        <p:nvSpPr>
          <p:cNvPr id="55311" name="Oval 16"/>
          <p:cNvSpPr>
            <a:spLocks noChangeArrowheads="1"/>
          </p:cNvSpPr>
          <p:nvPr/>
        </p:nvSpPr>
        <p:spPr bwMode="auto">
          <a:xfrm>
            <a:off x="5233988" y="2671763"/>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050" b="1"/>
              <a:t>B</a:t>
            </a:r>
            <a:endParaRPr lang="sv-SE" sz="1050" b="1"/>
          </a:p>
        </p:txBody>
      </p:sp>
      <p:sp>
        <p:nvSpPr>
          <p:cNvPr id="55312" name="Oval 17"/>
          <p:cNvSpPr>
            <a:spLocks noChangeArrowheads="1"/>
          </p:cNvSpPr>
          <p:nvPr/>
        </p:nvSpPr>
        <p:spPr bwMode="auto">
          <a:xfrm>
            <a:off x="4969669" y="3128963"/>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050" b="1"/>
              <a:t>A</a:t>
            </a:r>
            <a:endParaRPr lang="sv-SE" sz="1050" b="1"/>
          </a:p>
        </p:txBody>
      </p:sp>
      <p:sp>
        <p:nvSpPr>
          <p:cNvPr id="55313" name="Oval 18"/>
          <p:cNvSpPr>
            <a:spLocks noChangeArrowheads="1"/>
          </p:cNvSpPr>
          <p:nvPr/>
        </p:nvSpPr>
        <p:spPr bwMode="auto">
          <a:xfrm>
            <a:off x="5813823" y="2671763"/>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050" b="1"/>
              <a:t>C</a:t>
            </a:r>
            <a:endParaRPr lang="sv-SE" sz="1050" b="1"/>
          </a:p>
        </p:txBody>
      </p:sp>
      <p:sp>
        <p:nvSpPr>
          <p:cNvPr id="55314" name="Oval 19"/>
          <p:cNvSpPr>
            <a:spLocks noChangeArrowheads="1"/>
          </p:cNvSpPr>
          <p:nvPr/>
        </p:nvSpPr>
        <p:spPr bwMode="auto">
          <a:xfrm>
            <a:off x="6078142" y="3128963"/>
            <a:ext cx="210740"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050" b="1"/>
              <a:t>C</a:t>
            </a:r>
            <a:endParaRPr lang="sv-SE" sz="1050" b="1"/>
          </a:p>
        </p:txBody>
      </p:sp>
      <p:sp>
        <p:nvSpPr>
          <p:cNvPr id="55315" name="Oval 20"/>
          <p:cNvSpPr>
            <a:spLocks noChangeArrowheads="1"/>
          </p:cNvSpPr>
          <p:nvPr/>
        </p:nvSpPr>
        <p:spPr bwMode="auto">
          <a:xfrm>
            <a:off x="5550694" y="3128963"/>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r>
              <a:rPr lang="en-US" sz="1050" b="1"/>
              <a:t>C</a:t>
            </a:r>
            <a:endParaRPr lang="sv-SE" sz="1050" b="1"/>
          </a:p>
        </p:txBody>
      </p:sp>
      <p:sp>
        <p:nvSpPr>
          <p:cNvPr id="55316" name="Line 21"/>
          <p:cNvSpPr>
            <a:spLocks noChangeShapeType="1"/>
          </p:cNvSpPr>
          <p:nvPr/>
        </p:nvSpPr>
        <p:spPr bwMode="auto">
          <a:xfrm>
            <a:off x="5603081" y="2043113"/>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17" name="Line 22"/>
          <p:cNvSpPr>
            <a:spLocks noChangeShapeType="1"/>
          </p:cNvSpPr>
          <p:nvPr/>
        </p:nvSpPr>
        <p:spPr bwMode="auto">
          <a:xfrm flipH="1">
            <a:off x="5392341" y="2443163"/>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18" name="Line 23"/>
          <p:cNvSpPr>
            <a:spLocks noChangeShapeType="1"/>
          </p:cNvSpPr>
          <p:nvPr/>
        </p:nvSpPr>
        <p:spPr bwMode="auto">
          <a:xfrm flipH="1">
            <a:off x="5128023" y="2900363"/>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19" name="Line 24"/>
          <p:cNvSpPr>
            <a:spLocks noChangeShapeType="1"/>
          </p:cNvSpPr>
          <p:nvPr/>
        </p:nvSpPr>
        <p:spPr bwMode="auto">
          <a:xfrm flipH="1">
            <a:off x="4864894" y="3357563"/>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20" name="Line 25"/>
          <p:cNvSpPr>
            <a:spLocks noChangeShapeType="1"/>
          </p:cNvSpPr>
          <p:nvPr/>
        </p:nvSpPr>
        <p:spPr bwMode="auto">
          <a:xfrm>
            <a:off x="5655469" y="2443163"/>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21" name="Line 26"/>
          <p:cNvSpPr>
            <a:spLocks noChangeShapeType="1"/>
          </p:cNvSpPr>
          <p:nvPr/>
        </p:nvSpPr>
        <p:spPr bwMode="auto">
          <a:xfrm>
            <a:off x="5972175" y="2900363"/>
            <a:ext cx="21074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22" name="Line 27"/>
          <p:cNvSpPr>
            <a:spLocks noChangeShapeType="1"/>
          </p:cNvSpPr>
          <p:nvPr/>
        </p:nvSpPr>
        <p:spPr bwMode="auto">
          <a:xfrm>
            <a:off x="5392342" y="2900363"/>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23" name="Line 28"/>
          <p:cNvSpPr>
            <a:spLocks noChangeShapeType="1"/>
          </p:cNvSpPr>
          <p:nvPr/>
        </p:nvSpPr>
        <p:spPr bwMode="auto">
          <a:xfrm>
            <a:off x="5709048" y="3357563"/>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5324" name="Line 29"/>
          <p:cNvSpPr>
            <a:spLocks noChangeShapeType="1"/>
          </p:cNvSpPr>
          <p:nvPr/>
        </p:nvSpPr>
        <p:spPr bwMode="auto">
          <a:xfrm>
            <a:off x="6236494" y="3357563"/>
            <a:ext cx="21074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cxnSp>
        <p:nvCxnSpPr>
          <p:cNvPr id="3" name="Straight Arrow Connector 2">
            <a:extLst>
              <a:ext uri="{FF2B5EF4-FFF2-40B4-BE49-F238E27FC236}">
                <a16:creationId xmlns:a16="http://schemas.microsoft.com/office/drawing/2014/main" id="{C20FED7F-C18F-4B16-81A2-F412CC5BF68A}"/>
              </a:ext>
            </a:extLst>
          </p:cNvPr>
          <p:cNvCxnSpPr/>
          <p:nvPr/>
        </p:nvCxnSpPr>
        <p:spPr>
          <a:xfrm>
            <a:off x="3712369" y="2671763"/>
            <a:ext cx="1310879" cy="0"/>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CD814EB-7520-469C-9A1C-A7CA7E90DC11}"/>
              </a:ext>
            </a:extLst>
          </p:cNvPr>
          <p:cNvSpPr txBox="1"/>
          <p:nvPr/>
        </p:nvSpPr>
        <p:spPr>
          <a:xfrm>
            <a:off x="3951040" y="2414588"/>
            <a:ext cx="742511" cy="248209"/>
          </a:xfrm>
          <a:prstGeom prst="rect">
            <a:avLst/>
          </a:prstGeom>
          <a:noFill/>
        </p:spPr>
        <p:txBody>
          <a:bodyPr wrap="none" rtlCol="0">
            <a:spAutoFit/>
          </a:bodyPr>
          <a:lstStyle/>
          <a:p>
            <a:r>
              <a:rPr lang="en-US" sz="1013" dirty="0"/>
              <a:t>semantics</a:t>
            </a:r>
          </a:p>
        </p:txBody>
      </p:sp>
      <p:sp>
        <p:nvSpPr>
          <p:cNvPr id="5" name="TextBox 4">
            <a:extLst>
              <a:ext uri="{FF2B5EF4-FFF2-40B4-BE49-F238E27FC236}">
                <a16:creationId xmlns:a16="http://schemas.microsoft.com/office/drawing/2014/main" id="{2A3F3DB2-4A61-4D74-A6F3-9AD092154B06}"/>
              </a:ext>
            </a:extLst>
          </p:cNvPr>
          <p:cNvSpPr txBox="1"/>
          <p:nvPr/>
        </p:nvSpPr>
        <p:spPr>
          <a:xfrm>
            <a:off x="2172011" y="2549760"/>
            <a:ext cx="428322" cy="248209"/>
          </a:xfrm>
          <a:prstGeom prst="rect">
            <a:avLst/>
          </a:prstGeom>
          <a:noFill/>
        </p:spPr>
        <p:txBody>
          <a:bodyPr wrap="none" rtlCol="0">
            <a:spAutoFit/>
          </a:bodyPr>
          <a:lstStyle/>
          <a:p>
            <a:r>
              <a:rPr lang="en-US" sz="1013" dirty="0"/>
              <a:t>v:=0</a:t>
            </a:r>
          </a:p>
        </p:txBody>
      </p:sp>
      <p:sp>
        <p:nvSpPr>
          <p:cNvPr id="34" name="TextBox 33">
            <a:extLst>
              <a:ext uri="{FF2B5EF4-FFF2-40B4-BE49-F238E27FC236}">
                <a16:creationId xmlns:a16="http://schemas.microsoft.com/office/drawing/2014/main" id="{CF1A48DB-3189-4175-8475-216CEBC75D29}"/>
              </a:ext>
            </a:extLst>
          </p:cNvPr>
          <p:cNvSpPr txBox="1"/>
          <p:nvPr/>
        </p:nvSpPr>
        <p:spPr>
          <a:xfrm>
            <a:off x="3349726" y="2637233"/>
            <a:ext cx="428322" cy="248209"/>
          </a:xfrm>
          <a:prstGeom prst="rect">
            <a:avLst/>
          </a:prstGeom>
          <a:noFill/>
        </p:spPr>
        <p:txBody>
          <a:bodyPr wrap="none" rtlCol="0">
            <a:spAutoFit/>
          </a:bodyPr>
          <a:lstStyle/>
          <a:p>
            <a:r>
              <a:rPr lang="en-US" sz="1013" dirty="0"/>
              <a:t>v:=0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913968" y="599729"/>
            <a:ext cx="7266425" cy="885180"/>
          </a:xfrm>
        </p:spPr>
        <p:txBody>
          <a:bodyPr/>
          <a:lstStyle/>
          <a:p>
            <a:pPr defTabSz="548879"/>
            <a:r>
              <a:rPr lang="en-US" b="1" dirty="0">
                <a:latin typeface="Arial" charset="0"/>
              </a:rPr>
              <a:t>Quantifiers in TCTL</a:t>
            </a:r>
            <a:endParaRPr lang="sv-SE" b="1" dirty="0">
              <a:latin typeface="Arial" charset="0"/>
            </a:endParaRPr>
          </a:p>
        </p:txBody>
      </p:sp>
      <p:sp>
        <p:nvSpPr>
          <p:cNvPr id="56322" name="Rectangle 3"/>
          <p:cNvSpPr>
            <a:spLocks noGrp="1" noChangeArrowheads="1"/>
          </p:cNvSpPr>
          <p:nvPr>
            <p:ph type="body" idx="1"/>
          </p:nvPr>
        </p:nvSpPr>
        <p:spPr>
          <a:xfrm>
            <a:off x="893820" y="1863654"/>
            <a:ext cx="7286573" cy="2298774"/>
          </a:xfrm>
        </p:spPr>
        <p:txBody>
          <a:bodyPr>
            <a:normAutofit fontScale="92500" lnSpcReduction="10000"/>
          </a:bodyPr>
          <a:lstStyle/>
          <a:p>
            <a:pPr defTabSz="548879"/>
            <a:r>
              <a:rPr lang="en-US" dirty="0">
                <a:latin typeface="Arial" charset="0"/>
              </a:rPr>
              <a:t>E 		- exists a path </a:t>
            </a:r>
          </a:p>
          <a:p>
            <a:pPr defTabSz="548879"/>
            <a:r>
              <a:rPr lang="en-US" dirty="0">
                <a:latin typeface="Arial" charset="0"/>
              </a:rPr>
              <a:t>A 		- for all paths </a:t>
            </a:r>
          </a:p>
          <a:p>
            <a:pPr defTabSz="548879"/>
            <a:r>
              <a:rPr lang="en-US" dirty="0">
                <a:latin typeface="Arial" charset="0"/>
              </a:rPr>
              <a:t>[ ] 	- all states in a path (or G).</a:t>
            </a:r>
          </a:p>
          <a:p>
            <a:pPr defTabSz="548879"/>
            <a:r>
              <a:rPr lang="en-US" dirty="0">
                <a:latin typeface="Arial" charset="0"/>
              </a:rPr>
              <a:t>&lt;&gt; 	- some state in a path (or F).</a:t>
            </a:r>
          </a:p>
          <a:p>
            <a:pPr defTabSz="548879"/>
            <a:endParaRPr lang="en-US" dirty="0">
              <a:latin typeface="Arial" charset="0"/>
            </a:endParaRPr>
          </a:p>
          <a:p>
            <a:pPr defTabSz="548879"/>
            <a:r>
              <a:rPr lang="en-US" dirty="0">
                <a:latin typeface="Arial" charset="0"/>
              </a:rPr>
              <a:t>We shall look at the following combinations: </a:t>
            </a:r>
          </a:p>
          <a:p>
            <a:pPr marL="534591" lvl="1" indent="-191691" defTabSz="548879"/>
            <a:r>
              <a:rPr lang="en-US" dirty="0">
                <a:latin typeface="Arial" charset="0"/>
              </a:rPr>
              <a:t> </a:t>
            </a:r>
            <a:r>
              <a:rPr lang="en-US" b="1" dirty="0">
                <a:latin typeface="Courier New" charset="0"/>
              </a:rPr>
              <a:t>A[], A&lt;&gt;, E&lt;&gt;,</a:t>
            </a:r>
            <a:r>
              <a:rPr lang="en-US" dirty="0">
                <a:latin typeface="Arial" charset="0"/>
              </a:rPr>
              <a:t> and  </a:t>
            </a:r>
            <a:r>
              <a:rPr lang="en-US" b="1" dirty="0">
                <a:latin typeface="Courier New" charset="0"/>
              </a:rPr>
              <a:t>E[].</a:t>
            </a:r>
          </a:p>
          <a:p>
            <a:pPr defTabSz="548879"/>
            <a:endParaRPr lang="sv-SE" dirty="0">
              <a:latin typeface="Arial" charset="0"/>
            </a:endParaRPr>
          </a:p>
        </p:txBody>
      </p:sp>
      <p:sp>
        <p:nvSpPr>
          <p:cNvPr id="2" name="Right Brace 1">
            <a:extLst>
              <a:ext uri="{FF2B5EF4-FFF2-40B4-BE49-F238E27FC236}">
                <a16:creationId xmlns:a16="http://schemas.microsoft.com/office/drawing/2014/main" id="{B14720D8-8D7F-42FE-9E90-5A5E6070859E}"/>
              </a:ext>
            </a:extLst>
          </p:cNvPr>
          <p:cNvSpPr/>
          <p:nvPr/>
        </p:nvSpPr>
        <p:spPr>
          <a:xfrm>
            <a:off x="3732222" y="1861751"/>
            <a:ext cx="162018" cy="594066"/>
          </a:xfrm>
          <a:prstGeom prst="rightBrac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13"/>
          </a:p>
        </p:txBody>
      </p:sp>
      <p:sp>
        <p:nvSpPr>
          <p:cNvPr id="5" name="Right Brace 4">
            <a:extLst>
              <a:ext uri="{FF2B5EF4-FFF2-40B4-BE49-F238E27FC236}">
                <a16:creationId xmlns:a16="http://schemas.microsoft.com/office/drawing/2014/main" id="{06F758BA-5ED0-44D1-A528-B7BFC7D259ED}"/>
              </a:ext>
            </a:extLst>
          </p:cNvPr>
          <p:cNvSpPr/>
          <p:nvPr/>
        </p:nvSpPr>
        <p:spPr>
          <a:xfrm>
            <a:off x="4667934" y="2549037"/>
            <a:ext cx="162018" cy="594066"/>
          </a:xfrm>
          <a:prstGeom prst="rightBrac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13"/>
          </a:p>
        </p:txBody>
      </p:sp>
      <p:sp>
        <p:nvSpPr>
          <p:cNvPr id="3" name="TextBox 2">
            <a:extLst>
              <a:ext uri="{FF2B5EF4-FFF2-40B4-BE49-F238E27FC236}">
                <a16:creationId xmlns:a16="http://schemas.microsoft.com/office/drawing/2014/main" id="{754FE015-D787-473D-BE51-5F6B2891D9BF}"/>
              </a:ext>
            </a:extLst>
          </p:cNvPr>
          <p:cNvSpPr txBox="1"/>
          <p:nvPr/>
        </p:nvSpPr>
        <p:spPr>
          <a:xfrm>
            <a:off x="3910468" y="2022510"/>
            <a:ext cx="1317797" cy="307777"/>
          </a:xfrm>
          <a:prstGeom prst="rect">
            <a:avLst/>
          </a:prstGeom>
          <a:noFill/>
        </p:spPr>
        <p:txBody>
          <a:bodyPr wrap="none" rtlCol="0">
            <a:spAutoFit/>
          </a:bodyPr>
          <a:lstStyle/>
          <a:p>
            <a:r>
              <a:rPr lang="en-US" sz="1400" dirty="0"/>
              <a:t>Path operators</a:t>
            </a:r>
          </a:p>
        </p:txBody>
      </p:sp>
      <p:sp>
        <p:nvSpPr>
          <p:cNvPr id="7" name="TextBox 6">
            <a:extLst>
              <a:ext uri="{FF2B5EF4-FFF2-40B4-BE49-F238E27FC236}">
                <a16:creationId xmlns:a16="http://schemas.microsoft.com/office/drawing/2014/main" id="{A3D9E5AF-D523-48FB-8321-69180A72A2A2}"/>
              </a:ext>
            </a:extLst>
          </p:cNvPr>
          <p:cNvSpPr txBox="1"/>
          <p:nvPr/>
        </p:nvSpPr>
        <p:spPr>
          <a:xfrm>
            <a:off x="4829952" y="2715845"/>
            <a:ext cx="1187633" cy="276999"/>
          </a:xfrm>
          <a:prstGeom prst="rect">
            <a:avLst/>
          </a:prstGeom>
          <a:noFill/>
        </p:spPr>
        <p:txBody>
          <a:bodyPr wrap="none" rtlCol="0">
            <a:spAutoFit/>
          </a:bodyPr>
          <a:lstStyle/>
          <a:p>
            <a:r>
              <a:rPr lang="en-US" sz="1200" dirty="0"/>
              <a:t>State operators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3" grpId="0"/>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913968" y="622682"/>
            <a:ext cx="7266425" cy="885180"/>
          </a:xfrm>
        </p:spPr>
        <p:txBody>
          <a:bodyPr/>
          <a:lstStyle/>
          <a:p>
            <a:pPr defTabSz="548879"/>
            <a:r>
              <a:rPr lang="en-US" b="1" dirty="0">
                <a:latin typeface="Arial" charset="0"/>
              </a:rPr>
              <a:t>E&lt;&gt;p – “p Reachable”</a:t>
            </a:r>
            <a:endParaRPr lang="sv-SE" b="1" dirty="0">
              <a:latin typeface="Arial" charset="0"/>
            </a:endParaRPr>
          </a:p>
        </p:txBody>
      </p:sp>
      <p:sp>
        <p:nvSpPr>
          <p:cNvPr id="44035" name="Rectangle 3"/>
          <p:cNvSpPr>
            <a:spLocks noGrp="1" noChangeArrowheads="1"/>
          </p:cNvSpPr>
          <p:nvPr>
            <p:ph type="body" idx="1"/>
          </p:nvPr>
        </p:nvSpPr>
        <p:spPr>
          <a:xfrm>
            <a:off x="913968" y="1639707"/>
            <a:ext cx="7286573" cy="3094221"/>
          </a:xfrm>
        </p:spPr>
        <p:txBody>
          <a:bodyPr>
            <a:normAutofit lnSpcReduction="10000"/>
          </a:bodyPr>
          <a:lstStyle/>
          <a:p>
            <a:pPr defTabSz="548879"/>
            <a:r>
              <a:rPr lang="en-US" dirty="0">
                <a:latin typeface="Arial" charset="0"/>
              </a:rPr>
              <a:t>It is possible to reach a state in which p is satisfied.</a:t>
            </a: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buNone/>
            </a:pPr>
            <a:endParaRPr lang="en-US" dirty="0">
              <a:latin typeface="Arial" charset="0"/>
            </a:endParaRPr>
          </a:p>
          <a:p>
            <a:pPr defTabSz="548879"/>
            <a:r>
              <a:rPr lang="en-US" dirty="0">
                <a:latin typeface="Arial" charset="0"/>
              </a:rPr>
              <a:t>p is true in (at least) one reachable state.</a:t>
            </a:r>
            <a:endParaRPr lang="sv-SE" dirty="0">
              <a:latin typeface="Arial" charset="0"/>
            </a:endParaRPr>
          </a:p>
        </p:txBody>
      </p:sp>
      <p:sp>
        <p:nvSpPr>
          <p:cNvPr id="57347" name="Oval 4"/>
          <p:cNvSpPr>
            <a:spLocks noChangeArrowheads="1"/>
          </p:cNvSpPr>
          <p:nvPr/>
        </p:nvSpPr>
        <p:spPr bwMode="auto">
          <a:xfrm>
            <a:off x="3886200" y="2226469"/>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7348" name="Oval 5"/>
          <p:cNvSpPr>
            <a:spLocks noChangeArrowheads="1"/>
          </p:cNvSpPr>
          <p:nvPr/>
        </p:nvSpPr>
        <p:spPr bwMode="auto">
          <a:xfrm>
            <a:off x="3621882" y="2683669"/>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7349" name="Oval 6"/>
          <p:cNvSpPr>
            <a:spLocks noChangeArrowheads="1"/>
          </p:cNvSpPr>
          <p:nvPr/>
        </p:nvSpPr>
        <p:spPr bwMode="auto">
          <a:xfrm>
            <a:off x="3358754" y="3140869"/>
            <a:ext cx="210740"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7350" name="Oval 7"/>
          <p:cNvSpPr>
            <a:spLocks noChangeArrowheads="1"/>
          </p:cNvSpPr>
          <p:nvPr/>
        </p:nvSpPr>
        <p:spPr bwMode="auto">
          <a:xfrm>
            <a:off x="4202906" y="2683669"/>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7351" name="Oval 8"/>
          <p:cNvSpPr>
            <a:spLocks noChangeArrowheads="1"/>
          </p:cNvSpPr>
          <p:nvPr/>
        </p:nvSpPr>
        <p:spPr bwMode="auto">
          <a:xfrm>
            <a:off x="4466035" y="3140869"/>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7352" name="Oval 9"/>
          <p:cNvSpPr>
            <a:spLocks noChangeArrowheads="1"/>
          </p:cNvSpPr>
          <p:nvPr/>
        </p:nvSpPr>
        <p:spPr bwMode="auto">
          <a:xfrm>
            <a:off x="3938588" y="3140869"/>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7353" name="Line 10"/>
          <p:cNvSpPr>
            <a:spLocks noChangeShapeType="1"/>
          </p:cNvSpPr>
          <p:nvPr/>
        </p:nvSpPr>
        <p:spPr bwMode="auto">
          <a:xfrm>
            <a:off x="3992166" y="2055019"/>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54" name="Line 11"/>
          <p:cNvSpPr>
            <a:spLocks noChangeShapeType="1"/>
          </p:cNvSpPr>
          <p:nvPr/>
        </p:nvSpPr>
        <p:spPr bwMode="auto">
          <a:xfrm flipH="1">
            <a:off x="3780235" y="2455069"/>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55" name="Line 12"/>
          <p:cNvSpPr>
            <a:spLocks noChangeShapeType="1"/>
          </p:cNvSpPr>
          <p:nvPr/>
        </p:nvSpPr>
        <p:spPr bwMode="auto">
          <a:xfrm flipH="1">
            <a:off x="3517106" y="2912269"/>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56" name="Line 13"/>
          <p:cNvSpPr>
            <a:spLocks noChangeShapeType="1"/>
          </p:cNvSpPr>
          <p:nvPr/>
        </p:nvSpPr>
        <p:spPr bwMode="auto">
          <a:xfrm flipH="1">
            <a:off x="3252787" y="3369469"/>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57" name="Line 14"/>
          <p:cNvSpPr>
            <a:spLocks noChangeShapeType="1"/>
          </p:cNvSpPr>
          <p:nvPr/>
        </p:nvSpPr>
        <p:spPr bwMode="auto">
          <a:xfrm>
            <a:off x="4044554" y="2455069"/>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58" name="Line 15"/>
          <p:cNvSpPr>
            <a:spLocks noChangeShapeType="1"/>
          </p:cNvSpPr>
          <p:nvPr/>
        </p:nvSpPr>
        <p:spPr bwMode="auto">
          <a:xfrm>
            <a:off x="4361260" y="2912269"/>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59" name="Line 16"/>
          <p:cNvSpPr>
            <a:spLocks noChangeShapeType="1"/>
          </p:cNvSpPr>
          <p:nvPr/>
        </p:nvSpPr>
        <p:spPr bwMode="auto">
          <a:xfrm>
            <a:off x="3780235" y="2912269"/>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60" name="Line 17"/>
          <p:cNvSpPr>
            <a:spLocks noChangeShapeType="1"/>
          </p:cNvSpPr>
          <p:nvPr/>
        </p:nvSpPr>
        <p:spPr bwMode="auto">
          <a:xfrm>
            <a:off x="4096942" y="3369469"/>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61" name="Line 18"/>
          <p:cNvSpPr>
            <a:spLocks noChangeShapeType="1"/>
          </p:cNvSpPr>
          <p:nvPr/>
        </p:nvSpPr>
        <p:spPr bwMode="auto">
          <a:xfrm>
            <a:off x="4624388" y="3369469"/>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7362" name="Text Box 19"/>
          <p:cNvSpPr txBox="1">
            <a:spLocks noChangeArrowheads="1"/>
          </p:cNvSpPr>
          <p:nvPr/>
        </p:nvSpPr>
        <p:spPr bwMode="auto">
          <a:xfrm>
            <a:off x="4140692" y="3140869"/>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blinds(horizontal)">
                                      <p:cBhvr>
                                        <p:cTn id="7" dur="500"/>
                                        <p:tgtEl>
                                          <p:spTgt spid="44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035">
                                            <p:txEl>
                                              <p:pRg st="7" end="7"/>
                                            </p:txEl>
                                          </p:spTgt>
                                        </p:tgtEl>
                                        <p:attrNameLst>
                                          <p:attrName>style.visibility</p:attrName>
                                        </p:attrNameLst>
                                      </p:cBhvr>
                                      <p:to>
                                        <p:strVal val="visible"/>
                                      </p:to>
                                    </p:set>
                                    <p:animEffect transition="in" filter="blinds(horizontal)">
                                      <p:cBhvr>
                                        <p:cTn id="12" dur="500"/>
                                        <p:tgtEl>
                                          <p:spTgt spid="440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924041" y="566737"/>
            <a:ext cx="7266425" cy="885180"/>
          </a:xfrm>
        </p:spPr>
        <p:txBody>
          <a:bodyPr/>
          <a:lstStyle/>
          <a:p>
            <a:pPr defTabSz="548879"/>
            <a:r>
              <a:rPr lang="en-US" b="1" dirty="0">
                <a:latin typeface="Arial" charset="0"/>
              </a:rPr>
              <a:t>A[]p – “Invariantly p”</a:t>
            </a:r>
            <a:endParaRPr lang="sv-SE" b="1" dirty="0">
              <a:latin typeface="Arial" charset="0"/>
            </a:endParaRPr>
          </a:p>
        </p:txBody>
      </p:sp>
      <p:sp>
        <p:nvSpPr>
          <p:cNvPr id="45059" name="Rectangle 3"/>
          <p:cNvSpPr>
            <a:spLocks noGrp="1" noChangeArrowheads="1"/>
          </p:cNvSpPr>
          <p:nvPr>
            <p:ph type="body" idx="1"/>
          </p:nvPr>
        </p:nvSpPr>
        <p:spPr>
          <a:xfrm>
            <a:off x="913968" y="1451917"/>
            <a:ext cx="7286573" cy="3282011"/>
          </a:xfrm>
        </p:spPr>
        <p:txBody>
          <a:bodyPr>
            <a:normAutofit/>
          </a:bodyPr>
          <a:lstStyle/>
          <a:p>
            <a:pPr defTabSz="548879"/>
            <a:r>
              <a:rPr lang="en-US" dirty="0">
                <a:latin typeface="Arial" charset="0"/>
              </a:rPr>
              <a:t>p holds invariantly.</a:t>
            </a: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marL="0" indent="0" defTabSz="548879">
              <a:buNone/>
            </a:pPr>
            <a:endParaRPr lang="en-US" dirty="0">
              <a:latin typeface="Arial" charset="0"/>
            </a:endParaRPr>
          </a:p>
          <a:p>
            <a:pPr defTabSz="548879"/>
            <a:r>
              <a:rPr lang="en-US" dirty="0">
                <a:latin typeface="Arial" charset="0"/>
              </a:rPr>
              <a:t>p is true in all reachable states.</a:t>
            </a:r>
            <a:endParaRPr lang="sv-SE" dirty="0">
              <a:latin typeface="Arial" charset="0"/>
            </a:endParaRPr>
          </a:p>
        </p:txBody>
      </p:sp>
      <p:sp>
        <p:nvSpPr>
          <p:cNvPr id="58371" name="Oval 4"/>
          <p:cNvSpPr>
            <a:spLocks noChangeArrowheads="1"/>
          </p:cNvSpPr>
          <p:nvPr/>
        </p:nvSpPr>
        <p:spPr bwMode="auto">
          <a:xfrm>
            <a:off x="3564731" y="2009775"/>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8372" name="Oval 5"/>
          <p:cNvSpPr>
            <a:spLocks noChangeArrowheads="1"/>
          </p:cNvSpPr>
          <p:nvPr/>
        </p:nvSpPr>
        <p:spPr bwMode="auto">
          <a:xfrm>
            <a:off x="3301604" y="2466975"/>
            <a:ext cx="210740"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8373" name="Oval 6"/>
          <p:cNvSpPr>
            <a:spLocks noChangeArrowheads="1"/>
          </p:cNvSpPr>
          <p:nvPr/>
        </p:nvSpPr>
        <p:spPr bwMode="auto">
          <a:xfrm>
            <a:off x="3037285" y="2924175"/>
            <a:ext cx="210740"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8374" name="Oval 7"/>
          <p:cNvSpPr>
            <a:spLocks noChangeArrowheads="1"/>
          </p:cNvSpPr>
          <p:nvPr/>
        </p:nvSpPr>
        <p:spPr bwMode="auto">
          <a:xfrm>
            <a:off x="3881438" y="2466975"/>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8375" name="Oval 8"/>
          <p:cNvSpPr>
            <a:spLocks noChangeArrowheads="1"/>
          </p:cNvSpPr>
          <p:nvPr/>
        </p:nvSpPr>
        <p:spPr bwMode="auto">
          <a:xfrm>
            <a:off x="4144567" y="2924175"/>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8376" name="Oval 9"/>
          <p:cNvSpPr>
            <a:spLocks noChangeArrowheads="1"/>
          </p:cNvSpPr>
          <p:nvPr/>
        </p:nvSpPr>
        <p:spPr bwMode="auto">
          <a:xfrm>
            <a:off x="3617119" y="2924175"/>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8377" name="Line 10"/>
          <p:cNvSpPr>
            <a:spLocks noChangeShapeType="1"/>
          </p:cNvSpPr>
          <p:nvPr/>
        </p:nvSpPr>
        <p:spPr bwMode="auto">
          <a:xfrm>
            <a:off x="3670697" y="1838325"/>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78" name="Line 11"/>
          <p:cNvSpPr>
            <a:spLocks noChangeShapeType="1"/>
          </p:cNvSpPr>
          <p:nvPr/>
        </p:nvSpPr>
        <p:spPr bwMode="auto">
          <a:xfrm flipH="1">
            <a:off x="3458766" y="2238375"/>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79" name="Line 12"/>
          <p:cNvSpPr>
            <a:spLocks noChangeShapeType="1"/>
          </p:cNvSpPr>
          <p:nvPr/>
        </p:nvSpPr>
        <p:spPr bwMode="auto">
          <a:xfrm flipH="1">
            <a:off x="3195637" y="2695575"/>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80" name="Line 13"/>
          <p:cNvSpPr>
            <a:spLocks noChangeShapeType="1"/>
          </p:cNvSpPr>
          <p:nvPr/>
        </p:nvSpPr>
        <p:spPr bwMode="auto">
          <a:xfrm flipH="1">
            <a:off x="2931319" y="3152775"/>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81" name="Line 14"/>
          <p:cNvSpPr>
            <a:spLocks noChangeShapeType="1"/>
          </p:cNvSpPr>
          <p:nvPr/>
        </p:nvSpPr>
        <p:spPr bwMode="auto">
          <a:xfrm>
            <a:off x="3723085" y="2238375"/>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82" name="Line 15"/>
          <p:cNvSpPr>
            <a:spLocks noChangeShapeType="1"/>
          </p:cNvSpPr>
          <p:nvPr/>
        </p:nvSpPr>
        <p:spPr bwMode="auto">
          <a:xfrm>
            <a:off x="4039792" y="2695575"/>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83" name="Line 16"/>
          <p:cNvSpPr>
            <a:spLocks noChangeShapeType="1"/>
          </p:cNvSpPr>
          <p:nvPr/>
        </p:nvSpPr>
        <p:spPr bwMode="auto">
          <a:xfrm>
            <a:off x="3458767" y="2695575"/>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84" name="Line 17"/>
          <p:cNvSpPr>
            <a:spLocks noChangeShapeType="1"/>
          </p:cNvSpPr>
          <p:nvPr/>
        </p:nvSpPr>
        <p:spPr bwMode="auto">
          <a:xfrm>
            <a:off x="3775473" y="3152775"/>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85" name="Line 18"/>
          <p:cNvSpPr>
            <a:spLocks noChangeShapeType="1"/>
          </p:cNvSpPr>
          <p:nvPr/>
        </p:nvSpPr>
        <p:spPr bwMode="auto">
          <a:xfrm>
            <a:off x="4302919" y="3152775"/>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8386" name="Text Box 19"/>
          <p:cNvSpPr txBox="1">
            <a:spLocks noChangeArrowheads="1"/>
          </p:cNvSpPr>
          <p:nvPr/>
        </p:nvSpPr>
        <p:spPr bwMode="auto">
          <a:xfrm>
            <a:off x="3765644" y="1952625"/>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58387" name="Text Box 20"/>
          <p:cNvSpPr txBox="1">
            <a:spLocks noChangeArrowheads="1"/>
          </p:cNvSpPr>
          <p:nvPr/>
        </p:nvSpPr>
        <p:spPr bwMode="auto">
          <a:xfrm>
            <a:off x="4082351" y="2466975"/>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58388" name="Text Box 21"/>
          <p:cNvSpPr txBox="1">
            <a:spLocks noChangeArrowheads="1"/>
          </p:cNvSpPr>
          <p:nvPr/>
        </p:nvSpPr>
        <p:spPr bwMode="auto">
          <a:xfrm>
            <a:off x="4346669" y="2924175"/>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58389" name="Text Box 22"/>
          <p:cNvSpPr txBox="1">
            <a:spLocks noChangeArrowheads="1"/>
          </p:cNvSpPr>
          <p:nvPr/>
        </p:nvSpPr>
        <p:spPr bwMode="auto">
          <a:xfrm>
            <a:off x="3502517" y="2466975"/>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58390" name="Text Box 23"/>
          <p:cNvSpPr txBox="1">
            <a:spLocks noChangeArrowheads="1"/>
          </p:cNvSpPr>
          <p:nvPr/>
        </p:nvSpPr>
        <p:spPr bwMode="auto">
          <a:xfrm>
            <a:off x="3819223" y="2924175"/>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58391" name="Text Box 24"/>
          <p:cNvSpPr txBox="1">
            <a:spLocks noChangeArrowheads="1"/>
          </p:cNvSpPr>
          <p:nvPr/>
        </p:nvSpPr>
        <p:spPr bwMode="auto">
          <a:xfrm>
            <a:off x="3238198" y="2924175"/>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059">
                                            <p:txEl>
                                              <p:pRg st="7" end="7"/>
                                            </p:txEl>
                                          </p:spTgt>
                                        </p:tgtEl>
                                        <p:attrNameLst>
                                          <p:attrName>style.visibility</p:attrName>
                                        </p:attrNameLst>
                                      </p:cBhvr>
                                      <p:to>
                                        <p:strVal val="visible"/>
                                      </p:to>
                                    </p:set>
                                    <p:animEffect transition="in" filter="blinds(horizontal)">
                                      <p:cBhvr>
                                        <p:cTn id="12" dur="500"/>
                                        <p:tgtEl>
                                          <p:spTgt spid="450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1575573" y="526256"/>
            <a:ext cx="6122194" cy="1073944"/>
          </a:xfrm>
        </p:spPr>
        <p:txBody>
          <a:bodyPr/>
          <a:lstStyle/>
          <a:p>
            <a:pPr defTabSz="548879"/>
            <a:r>
              <a:rPr lang="en-US" sz="3000" b="1" dirty="0">
                <a:latin typeface="Arial" charset="0"/>
              </a:rPr>
              <a:t>E[ ] p – “Potentially Always p”</a:t>
            </a:r>
            <a:endParaRPr lang="sv-SE" sz="3000" b="1" dirty="0">
              <a:latin typeface="Arial" charset="0"/>
            </a:endParaRPr>
          </a:p>
        </p:txBody>
      </p:sp>
      <p:sp>
        <p:nvSpPr>
          <p:cNvPr id="47107" name="Rectangle 3"/>
          <p:cNvSpPr>
            <a:spLocks noGrp="1" noChangeArrowheads="1"/>
          </p:cNvSpPr>
          <p:nvPr>
            <p:ph type="body" idx="1"/>
          </p:nvPr>
        </p:nvSpPr>
        <p:spPr>
          <a:xfrm>
            <a:off x="913968" y="1600200"/>
            <a:ext cx="7286573" cy="3133728"/>
          </a:xfrm>
        </p:spPr>
        <p:txBody>
          <a:bodyPr>
            <a:normAutofit/>
          </a:bodyPr>
          <a:lstStyle/>
          <a:p>
            <a:pPr defTabSz="548879"/>
            <a:r>
              <a:rPr lang="en-US" dirty="0">
                <a:latin typeface="Arial" charset="0"/>
              </a:rPr>
              <a:t>p is potentially always true.</a:t>
            </a: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r>
              <a:rPr lang="en-US" dirty="0">
                <a:latin typeface="Arial" charset="0"/>
              </a:rPr>
              <a:t>There exists a path in which p is true in all states.</a:t>
            </a:r>
            <a:endParaRPr lang="sv-SE" dirty="0">
              <a:latin typeface="Arial" charset="0"/>
            </a:endParaRPr>
          </a:p>
        </p:txBody>
      </p:sp>
      <p:sp>
        <p:nvSpPr>
          <p:cNvPr id="60419" name="Oval 4"/>
          <p:cNvSpPr>
            <a:spLocks noChangeArrowheads="1"/>
          </p:cNvSpPr>
          <p:nvPr/>
        </p:nvSpPr>
        <p:spPr bwMode="auto">
          <a:xfrm>
            <a:off x="3564731" y="2280047"/>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60420" name="Oval 5"/>
          <p:cNvSpPr>
            <a:spLocks noChangeArrowheads="1"/>
          </p:cNvSpPr>
          <p:nvPr/>
        </p:nvSpPr>
        <p:spPr bwMode="auto">
          <a:xfrm>
            <a:off x="3300413" y="2737247"/>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60421" name="Oval 6"/>
          <p:cNvSpPr>
            <a:spLocks noChangeArrowheads="1"/>
          </p:cNvSpPr>
          <p:nvPr/>
        </p:nvSpPr>
        <p:spPr bwMode="auto">
          <a:xfrm>
            <a:off x="3037285" y="3194447"/>
            <a:ext cx="210740"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60422" name="Oval 7"/>
          <p:cNvSpPr>
            <a:spLocks noChangeArrowheads="1"/>
          </p:cNvSpPr>
          <p:nvPr/>
        </p:nvSpPr>
        <p:spPr bwMode="auto">
          <a:xfrm>
            <a:off x="3881438" y="2737247"/>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60423" name="Oval 8"/>
          <p:cNvSpPr>
            <a:spLocks noChangeArrowheads="1"/>
          </p:cNvSpPr>
          <p:nvPr/>
        </p:nvSpPr>
        <p:spPr bwMode="auto">
          <a:xfrm>
            <a:off x="4144567" y="3194447"/>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60424" name="Oval 9"/>
          <p:cNvSpPr>
            <a:spLocks noChangeArrowheads="1"/>
          </p:cNvSpPr>
          <p:nvPr/>
        </p:nvSpPr>
        <p:spPr bwMode="auto">
          <a:xfrm>
            <a:off x="3617119" y="3194447"/>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60425" name="Line 10"/>
          <p:cNvSpPr>
            <a:spLocks noChangeShapeType="1"/>
          </p:cNvSpPr>
          <p:nvPr/>
        </p:nvSpPr>
        <p:spPr bwMode="auto">
          <a:xfrm>
            <a:off x="3670698" y="2108597"/>
            <a:ext cx="119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26" name="Line 11"/>
          <p:cNvSpPr>
            <a:spLocks noChangeShapeType="1"/>
          </p:cNvSpPr>
          <p:nvPr/>
        </p:nvSpPr>
        <p:spPr bwMode="auto">
          <a:xfrm flipH="1">
            <a:off x="3458766" y="2508647"/>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27" name="Line 12"/>
          <p:cNvSpPr>
            <a:spLocks noChangeShapeType="1"/>
          </p:cNvSpPr>
          <p:nvPr/>
        </p:nvSpPr>
        <p:spPr bwMode="auto">
          <a:xfrm flipH="1">
            <a:off x="3195637" y="2965847"/>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28" name="Line 13"/>
          <p:cNvSpPr>
            <a:spLocks noChangeShapeType="1"/>
          </p:cNvSpPr>
          <p:nvPr/>
        </p:nvSpPr>
        <p:spPr bwMode="auto">
          <a:xfrm flipH="1">
            <a:off x="2931319" y="3423047"/>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29" name="Line 14"/>
          <p:cNvSpPr>
            <a:spLocks noChangeShapeType="1"/>
          </p:cNvSpPr>
          <p:nvPr/>
        </p:nvSpPr>
        <p:spPr bwMode="auto">
          <a:xfrm>
            <a:off x="3723085" y="2508647"/>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30" name="Line 15"/>
          <p:cNvSpPr>
            <a:spLocks noChangeShapeType="1"/>
          </p:cNvSpPr>
          <p:nvPr/>
        </p:nvSpPr>
        <p:spPr bwMode="auto">
          <a:xfrm>
            <a:off x="4039792" y="2965847"/>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31" name="Line 16"/>
          <p:cNvSpPr>
            <a:spLocks noChangeShapeType="1"/>
          </p:cNvSpPr>
          <p:nvPr/>
        </p:nvSpPr>
        <p:spPr bwMode="auto">
          <a:xfrm>
            <a:off x="3458767" y="2965847"/>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32" name="Line 17"/>
          <p:cNvSpPr>
            <a:spLocks noChangeShapeType="1"/>
          </p:cNvSpPr>
          <p:nvPr/>
        </p:nvSpPr>
        <p:spPr bwMode="auto">
          <a:xfrm>
            <a:off x="3775473" y="3423047"/>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33" name="Line 18"/>
          <p:cNvSpPr>
            <a:spLocks noChangeShapeType="1"/>
          </p:cNvSpPr>
          <p:nvPr/>
        </p:nvSpPr>
        <p:spPr bwMode="auto">
          <a:xfrm>
            <a:off x="4302919" y="3423047"/>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60434" name="Text Box 19"/>
          <p:cNvSpPr txBox="1">
            <a:spLocks noChangeArrowheads="1"/>
          </p:cNvSpPr>
          <p:nvPr/>
        </p:nvSpPr>
        <p:spPr bwMode="auto">
          <a:xfrm>
            <a:off x="3765644" y="2222897"/>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60435" name="Text Box 20"/>
          <p:cNvSpPr txBox="1">
            <a:spLocks noChangeArrowheads="1"/>
          </p:cNvSpPr>
          <p:nvPr/>
        </p:nvSpPr>
        <p:spPr bwMode="auto">
          <a:xfrm>
            <a:off x="4082351" y="2737247"/>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60436" name="Text Box 21"/>
          <p:cNvSpPr txBox="1">
            <a:spLocks noChangeArrowheads="1"/>
          </p:cNvSpPr>
          <p:nvPr/>
        </p:nvSpPr>
        <p:spPr bwMode="auto">
          <a:xfrm>
            <a:off x="4346669" y="3194447"/>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blinds(horizontal)">
                                      <p:cBhvr>
                                        <p:cTn id="7" dur="500"/>
                                        <p:tgtEl>
                                          <p:spTgt spid="471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07">
                                            <p:txEl>
                                              <p:pRg st="7" end="7"/>
                                            </p:txEl>
                                          </p:spTgt>
                                        </p:tgtEl>
                                        <p:attrNameLst>
                                          <p:attrName>style.visibility</p:attrName>
                                        </p:attrNameLst>
                                      </p:cBhvr>
                                      <p:to>
                                        <p:strVal val="visible"/>
                                      </p:to>
                                    </p:set>
                                    <p:animEffect transition="in" filter="blinds(horizontal)">
                                      <p:cBhvr>
                                        <p:cTn id="12" dur="500"/>
                                        <p:tgtEl>
                                          <p:spTgt spid="471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938787" y="538428"/>
            <a:ext cx="7266425" cy="885180"/>
          </a:xfrm>
        </p:spPr>
        <p:txBody>
          <a:bodyPr/>
          <a:lstStyle/>
          <a:p>
            <a:pPr defTabSz="548879"/>
            <a:r>
              <a:rPr lang="en-US" b="1" dirty="0">
                <a:latin typeface="Arial" charset="0"/>
              </a:rPr>
              <a:t>A&lt;&gt;p – “Inevitable p”</a:t>
            </a:r>
            <a:endParaRPr lang="sv-SE" b="1" dirty="0">
              <a:latin typeface="Arial" charset="0"/>
            </a:endParaRPr>
          </a:p>
        </p:txBody>
      </p:sp>
      <p:sp>
        <p:nvSpPr>
          <p:cNvPr id="46083" name="Rectangle 3"/>
          <p:cNvSpPr>
            <a:spLocks noGrp="1" noChangeArrowheads="1"/>
          </p:cNvSpPr>
          <p:nvPr>
            <p:ph type="body" idx="1"/>
          </p:nvPr>
        </p:nvSpPr>
        <p:spPr>
          <a:xfrm>
            <a:off x="913968" y="1423608"/>
            <a:ext cx="7286573" cy="3310320"/>
          </a:xfrm>
        </p:spPr>
        <p:txBody>
          <a:bodyPr>
            <a:normAutofit/>
          </a:bodyPr>
          <a:lstStyle/>
          <a:p>
            <a:pPr defTabSz="548879"/>
            <a:r>
              <a:rPr lang="en-US" dirty="0">
                <a:latin typeface="Arial" charset="0"/>
              </a:rPr>
              <a:t>p will inevitable become true</a:t>
            </a:r>
          </a:p>
          <a:p>
            <a:pPr marL="534591" lvl="1" indent="-191691" defTabSz="548879"/>
            <a:r>
              <a:rPr lang="en-US" dirty="0">
                <a:latin typeface="Arial" charset="0"/>
              </a:rPr>
              <a:t>the automaton is guaranteed to eventually reach a state in which p is true.</a:t>
            </a: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defTabSz="548879">
              <a:buNone/>
            </a:pPr>
            <a:endParaRPr lang="en-US" dirty="0">
              <a:latin typeface="Arial" charset="0"/>
            </a:endParaRPr>
          </a:p>
          <a:p>
            <a:pPr defTabSz="548879"/>
            <a:endParaRPr lang="en-US" dirty="0">
              <a:latin typeface="Arial" charset="0"/>
            </a:endParaRPr>
          </a:p>
          <a:p>
            <a:pPr defTabSz="548879"/>
            <a:r>
              <a:rPr lang="en-US" dirty="0">
                <a:latin typeface="Arial" charset="0"/>
              </a:rPr>
              <a:t>p is true in some state of all paths.</a:t>
            </a:r>
            <a:endParaRPr lang="sv-SE" dirty="0">
              <a:latin typeface="Arial" charset="0"/>
            </a:endParaRPr>
          </a:p>
        </p:txBody>
      </p:sp>
      <p:sp>
        <p:nvSpPr>
          <p:cNvPr id="59395" name="Oval 4"/>
          <p:cNvSpPr>
            <a:spLocks noChangeArrowheads="1"/>
          </p:cNvSpPr>
          <p:nvPr/>
        </p:nvSpPr>
        <p:spPr bwMode="auto">
          <a:xfrm>
            <a:off x="3783806" y="2658666"/>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9396" name="Oval 5"/>
          <p:cNvSpPr>
            <a:spLocks noChangeArrowheads="1"/>
          </p:cNvSpPr>
          <p:nvPr/>
        </p:nvSpPr>
        <p:spPr bwMode="auto">
          <a:xfrm>
            <a:off x="3519488" y="3115866"/>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9397" name="Oval 6"/>
          <p:cNvSpPr>
            <a:spLocks noChangeArrowheads="1"/>
          </p:cNvSpPr>
          <p:nvPr/>
        </p:nvSpPr>
        <p:spPr bwMode="auto">
          <a:xfrm>
            <a:off x="3256360" y="3573066"/>
            <a:ext cx="210740"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9398" name="Oval 7"/>
          <p:cNvSpPr>
            <a:spLocks noChangeArrowheads="1"/>
          </p:cNvSpPr>
          <p:nvPr/>
        </p:nvSpPr>
        <p:spPr bwMode="auto">
          <a:xfrm>
            <a:off x="4100513" y="3115866"/>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9399" name="Oval 8"/>
          <p:cNvSpPr>
            <a:spLocks noChangeArrowheads="1"/>
          </p:cNvSpPr>
          <p:nvPr/>
        </p:nvSpPr>
        <p:spPr bwMode="auto">
          <a:xfrm>
            <a:off x="4363642" y="3573066"/>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9400" name="Oval 9"/>
          <p:cNvSpPr>
            <a:spLocks noChangeArrowheads="1"/>
          </p:cNvSpPr>
          <p:nvPr/>
        </p:nvSpPr>
        <p:spPr bwMode="auto">
          <a:xfrm>
            <a:off x="3836194" y="3573066"/>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59401" name="Line 10"/>
          <p:cNvSpPr>
            <a:spLocks noChangeShapeType="1"/>
          </p:cNvSpPr>
          <p:nvPr/>
        </p:nvSpPr>
        <p:spPr bwMode="auto">
          <a:xfrm>
            <a:off x="3889772" y="2487216"/>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02" name="Line 11"/>
          <p:cNvSpPr>
            <a:spLocks noChangeShapeType="1"/>
          </p:cNvSpPr>
          <p:nvPr/>
        </p:nvSpPr>
        <p:spPr bwMode="auto">
          <a:xfrm flipH="1">
            <a:off x="3677841" y="2887266"/>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03" name="Line 12"/>
          <p:cNvSpPr>
            <a:spLocks noChangeShapeType="1"/>
          </p:cNvSpPr>
          <p:nvPr/>
        </p:nvSpPr>
        <p:spPr bwMode="auto">
          <a:xfrm flipH="1">
            <a:off x="3414712" y="3344466"/>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04" name="Line 13"/>
          <p:cNvSpPr>
            <a:spLocks noChangeShapeType="1"/>
          </p:cNvSpPr>
          <p:nvPr/>
        </p:nvSpPr>
        <p:spPr bwMode="auto">
          <a:xfrm flipH="1">
            <a:off x="3150394" y="3801666"/>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05" name="Line 14"/>
          <p:cNvSpPr>
            <a:spLocks noChangeShapeType="1"/>
          </p:cNvSpPr>
          <p:nvPr/>
        </p:nvSpPr>
        <p:spPr bwMode="auto">
          <a:xfrm>
            <a:off x="3942160" y="288726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06" name="Line 15"/>
          <p:cNvSpPr>
            <a:spLocks noChangeShapeType="1"/>
          </p:cNvSpPr>
          <p:nvPr/>
        </p:nvSpPr>
        <p:spPr bwMode="auto">
          <a:xfrm>
            <a:off x="4258867" y="334446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07" name="Line 16"/>
          <p:cNvSpPr>
            <a:spLocks noChangeShapeType="1"/>
          </p:cNvSpPr>
          <p:nvPr/>
        </p:nvSpPr>
        <p:spPr bwMode="auto">
          <a:xfrm>
            <a:off x="3677842" y="3344466"/>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08" name="Line 17"/>
          <p:cNvSpPr>
            <a:spLocks noChangeShapeType="1"/>
          </p:cNvSpPr>
          <p:nvPr/>
        </p:nvSpPr>
        <p:spPr bwMode="auto">
          <a:xfrm>
            <a:off x="3994548" y="380166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09" name="Line 18"/>
          <p:cNvSpPr>
            <a:spLocks noChangeShapeType="1"/>
          </p:cNvSpPr>
          <p:nvPr/>
        </p:nvSpPr>
        <p:spPr bwMode="auto">
          <a:xfrm>
            <a:off x="4521994" y="3801666"/>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59410" name="Text Box 19"/>
          <p:cNvSpPr txBox="1">
            <a:spLocks noChangeArrowheads="1"/>
          </p:cNvSpPr>
          <p:nvPr/>
        </p:nvSpPr>
        <p:spPr bwMode="auto">
          <a:xfrm>
            <a:off x="4301426" y="311586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59411" name="Text Box 20"/>
          <p:cNvSpPr txBox="1">
            <a:spLocks noChangeArrowheads="1"/>
          </p:cNvSpPr>
          <p:nvPr/>
        </p:nvSpPr>
        <p:spPr bwMode="auto">
          <a:xfrm>
            <a:off x="4038298" y="357306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59412" name="Text Box 21"/>
          <p:cNvSpPr txBox="1">
            <a:spLocks noChangeArrowheads="1"/>
          </p:cNvSpPr>
          <p:nvPr/>
        </p:nvSpPr>
        <p:spPr bwMode="auto">
          <a:xfrm>
            <a:off x="3457273" y="357306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linds(horizontal)">
                                      <p:cBhvr>
                                        <p:cTn id="7" dur="500"/>
                                        <p:tgtEl>
                                          <p:spTgt spid="4608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6083">
                                            <p:txEl>
                                              <p:pRg st="1" end="1"/>
                                            </p:txEl>
                                          </p:spTgt>
                                        </p:tgtEl>
                                        <p:attrNameLst>
                                          <p:attrName>style.visibility</p:attrName>
                                        </p:attrNameLst>
                                      </p:cBhvr>
                                      <p:to>
                                        <p:strVal val="visible"/>
                                      </p:to>
                                    </p:set>
                                    <p:animEffect transition="in" filter="blinds(horizontal)">
                                      <p:cBhvr>
                                        <p:cTn id="10" dur="500"/>
                                        <p:tgtEl>
                                          <p:spTgt spid="4608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6083">
                                            <p:txEl>
                                              <p:pRg st="7" end="7"/>
                                            </p:txEl>
                                          </p:spTgt>
                                        </p:tgtEl>
                                        <p:attrNameLst>
                                          <p:attrName>style.visibility</p:attrName>
                                        </p:attrNameLst>
                                      </p:cBhvr>
                                      <p:to>
                                        <p:strVal val="visible"/>
                                      </p:to>
                                    </p:set>
                                    <p:animEffect transition="in" filter="blinds(horizontal)">
                                      <p:cBhvr>
                                        <p:cTn id="15" dur="500"/>
                                        <p:tgtEl>
                                          <p:spTgt spid="460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1219508" y="531930"/>
            <a:ext cx="6500198" cy="1073944"/>
          </a:xfrm>
        </p:spPr>
        <p:txBody>
          <a:bodyPr/>
          <a:lstStyle/>
          <a:p>
            <a:pPr defTabSz="548879"/>
            <a:r>
              <a:rPr lang="en-US" sz="3000" b="1" dirty="0">
                <a:latin typeface="Arial" charset="0"/>
              </a:rPr>
              <a:t>A[]( g imply A&lt;&gt; p )</a:t>
            </a:r>
            <a:endParaRPr lang="sv-SE" sz="3000" b="1" dirty="0">
              <a:latin typeface="Arial" charset="0"/>
            </a:endParaRPr>
          </a:p>
        </p:txBody>
      </p:sp>
      <p:sp>
        <p:nvSpPr>
          <p:cNvPr id="47107" name="Rectangle 3"/>
          <p:cNvSpPr>
            <a:spLocks noGrp="1" noChangeArrowheads="1"/>
          </p:cNvSpPr>
          <p:nvPr>
            <p:ph type="body" idx="1"/>
          </p:nvPr>
        </p:nvSpPr>
        <p:spPr>
          <a:xfrm>
            <a:off x="913968" y="1605874"/>
            <a:ext cx="7286573" cy="3128054"/>
          </a:xfrm>
        </p:spPr>
        <p:txBody>
          <a:bodyPr>
            <a:normAutofit/>
          </a:bodyPr>
          <a:lstStyle/>
          <a:p>
            <a:pPr defTabSz="548879"/>
            <a:r>
              <a:rPr lang="en-US" dirty="0">
                <a:latin typeface="Arial" charset="0"/>
              </a:rPr>
              <a:t>g leads to p: whenever g is true, p will inevitable become true.</a:t>
            </a:r>
          </a:p>
          <a:p>
            <a:pPr defTabSz="548879"/>
            <a:endParaRPr lang="en-US" dirty="0">
              <a:latin typeface="Arial" charset="0"/>
            </a:endParaRPr>
          </a:p>
          <a:p>
            <a:pPr defTabSz="548879"/>
            <a:endParaRPr lang="en-US" dirty="0">
              <a:latin typeface="Arial" charset="0"/>
            </a:endParaRPr>
          </a:p>
          <a:p>
            <a:pPr defTabSz="548879"/>
            <a:endParaRPr lang="en-US" dirty="0">
              <a:latin typeface="Arial" charset="0"/>
            </a:endParaRPr>
          </a:p>
          <a:p>
            <a:pPr marL="0" indent="0" defTabSz="548879">
              <a:buNone/>
            </a:pPr>
            <a:endParaRPr lang="en-US" dirty="0">
              <a:latin typeface="Arial" charset="0"/>
            </a:endParaRPr>
          </a:p>
          <a:p>
            <a:pPr defTabSz="548879"/>
            <a:endParaRPr lang="en-US" dirty="0">
              <a:latin typeface="Arial" charset="0"/>
            </a:endParaRPr>
          </a:p>
          <a:p>
            <a:pPr defTabSz="548879"/>
            <a:r>
              <a:rPr lang="en-US" dirty="0">
                <a:latin typeface="Arial" charset="0"/>
              </a:rPr>
              <a:t>In UPPAAL: g --&gt; p</a:t>
            </a:r>
            <a:endParaRPr lang="sv-SE" dirty="0">
              <a:latin typeface="Arial" charset="0"/>
            </a:endParaRPr>
          </a:p>
        </p:txBody>
      </p:sp>
      <p:sp>
        <p:nvSpPr>
          <p:cNvPr id="22" name="Oval 4"/>
          <p:cNvSpPr>
            <a:spLocks noChangeArrowheads="1"/>
          </p:cNvSpPr>
          <p:nvPr/>
        </p:nvSpPr>
        <p:spPr bwMode="auto">
          <a:xfrm>
            <a:off x="3783806" y="2257146"/>
            <a:ext cx="210741" cy="228600"/>
          </a:xfrm>
          <a:prstGeom prst="ellipse">
            <a:avLst/>
          </a:prstGeom>
          <a:solidFill>
            <a:schemeClr val="accent1">
              <a:lumMod val="75000"/>
            </a:schemeClr>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23" name="Oval 5"/>
          <p:cNvSpPr>
            <a:spLocks noChangeArrowheads="1"/>
          </p:cNvSpPr>
          <p:nvPr/>
        </p:nvSpPr>
        <p:spPr bwMode="auto">
          <a:xfrm>
            <a:off x="3519488" y="2714346"/>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24" name="Oval 6"/>
          <p:cNvSpPr>
            <a:spLocks noChangeArrowheads="1"/>
          </p:cNvSpPr>
          <p:nvPr/>
        </p:nvSpPr>
        <p:spPr bwMode="auto">
          <a:xfrm>
            <a:off x="3256360" y="3171546"/>
            <a:ext cx="210740"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25" name="Oval 7"/>
          <p:cNvSpPr>
            <a:spLocks noChangeArrowheads="1"/>
          </p:cNvSpPr>
          <p:nvPr/>
        </p:nvSpPr>
        <p:spPr bwMode="auto">
          <a:xfrm>
            <a:off x="4100513" y="2714346"/>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26" name="Oval 8"/>
          <p:cNvSpPr>
            <a:spLocks noChangeArrowheads="1"/>
          </p:cNvSpPr>
          <p:nvPr/>
        </p:nvSpPr>
        <p:spPr bwMode="auto">
          <a:xfrm>
            <a:off x="4363642" y="3171546"/>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27" name="Oval 9"/>
          <p:cNvSpPr>
            <a:spLocks noChangeArrowheads="1"/>
          </p:cNvSpPr>
          <p:nvPr/>
        </p:nvSpPr>
        <p:spPr bwMode="auto">
          <a:xfrm>
            <a:off x="3836194" y="3171546"/>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eaLnBrk="0" hangingPunct="0">
              <a:spcBef>
                <a:spcPct val="20000"/>
              </a:spcBef>
            </a:pPr>
            <a:endParaRPr lang="sv-SE" sz="1050" b="1"/>
          </a:p>
        </p:txBody>
      </p:sp>
      <p:sp>
        <p:nvSpPr>
          <p:cNvPr id="28" name="Line 10"/>
          <p:cNvSpPr>
            <a:spLocks noChangeShapeType="1"/>
          </p:cNvSpPr>
          <p:nvPr/>
        </p:nvSpPr>
        <p:spPr bwMode="auto">
          <a:xfrm>
            <a:off x="3889772" y="2085696"/>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29" name="Line 11"/>
          <p:cNvSpPr>
            <a:spLocks noChangeShapeType="1"/>
          </p:cNvSpPr>
          <p:nvPr/>
        </p:nvSpPr>
        <p:spPr bwMode="auto">
          <a:xfrm flipH="1">
            <a:off x="3677841" y="2485746"/>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30" name="Line 12"/>
          <p:cNvSpPr>
            <a:spLocks noChangeShapeType="1"/>
          </p:cNvSpPr>
          <p:nvPr/>
        </p:nvSpPr>
        <p:spPr bwMode="auto">
          <a:xfrm flipH="1">
            <a:off x="3414712" y="2942946"/>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31" name="Line 13"/>
          <p:cNvSpPr>
            <a:spLocks noChangeShapeType="1"/>
          </p:cNvSpPr>
          <p:nvPr/>
        </p:nvSpPr>
        <p:spPr bwMode="auto">
          <a:xfrm flipH="1">
            <a:off x="3150394" y="3400146"/>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32" name="Line 14"/>
          <p:cNvSpPr>
            <a:spLocks noChangeShapeType="1"/>
          </p:cNvSpPr>
          <p:nvPr/>
        </p:nvSpPr>
        <p:spPr bwMode="auto">
          <a:xfrm>
            <a:off x="3942160" y="248574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33" name="Line 15"/>
          <p:cNvSpPr>
            <a:spLocks noChangeShapeType="1"/>
          </p:cNvSpPr>
          <p:nvPr/>
        </p:nvSpPr>
        <p:spPr bwMode="auto">
          <a:xfrm>
            <a:off x="4258867" y="294294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34" name="Line 16"/>
          <p:cNvSpPr>
            <a:spLocks noChangeShapeType="1"/>
          </p:cNvSpPr>
          <p:nvPr/>
        </p:nvSpPr>
        <p:spPr bwMode="auto">
          <a:xfrm>
            <a:off x="3677842" y="2942946"/>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35" name="Line 17"/>
          <p:cNvSpPr>
            <a:spLocks noChangeShapeType="1"/>
          </p:cNvSpPr>
          <p:nvPr/>
        </p:nvSpPr>
        <p:spPr bwMode="auto">
          <a:xfrm>
            <a:off x="3994548" y="340014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36" name="Line 18"/>
          <p:cNvSpPr>
            <a:spLocks noChangeShapeType="1"/>
          </p:cNvSpPr>
          <p:nvPr/>
        </p:nvSpPr>
        <p:spPr bwMode="auto">
          <a:xfrm>
            <a:off x="4521994" y="3400146"/>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sv-SE" sz="1013"/>
          </a:p>
        </p:txBody>
      </p:sp>
      <p:sp>
        <p:nvSpPr>
          <p:cNvPr id="37" name="Text Box 19"/>
          <p:cNvSpPr txBox="1">
            <a:spLocks noChangeArrowheads="1"/>
          </p:cNvSpPr>
          <p:nvPr/>
        </p:nvSpPr>
        <p:spPr bwMode="auto">
          <a:xfrm>
            <a:off x="4301426" y="271434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dirty="0"/>
              <a:t>p</a:t>
            </a:r>
            <a:endParaRPr lang="sv-SE" sz="1200" b="1" dirty="0"/>
          </a:p>
        </p:txBody>
      </p:sp>
      <p:sp>
        <p:nvSpPr>
          <p:cNvPr id="38" name="Text Box 20"/>
          <p:cNvSpPr txBox="1">
            <a:spLocks noChangeArrowheads="1"/>
          </p:cNvSpPr>
          <p:nvPr/>
        </p:nvSpPr>
        <p:spPr bwMode="auto">
          <a:xfrm>
            <a:off x="4038298" y="317154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39" name="Text Box 21"/>
          <p:cNvSpPr txBox="1">
            <a:spLocks noChangeArrowheads="1"/>
          </p:cNvSpPr>
          <p:nvPr/>
        </p:nvSpPr>
        <p:spPr bwMode="auto">
          <a:xfrm>
            <a:off x="3457273" y="317154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a:t>p</a:t>
            </a:r>
            <a:endParaRPr lang="sv-SE" sz="1200" b="1"/>
          </a:p>
        </p:txBody>
      </p:sp>
      <p:sp>
        <p:nvSpPr>
          <p:cNvPr id="40" name="Text Box 19"/>
          <p:cNvSpPr txBox="1">
            <a:spLocks noChangeArrowheads="1"/>
          </p:cNvSpPr>
          <p:nvPr/>
        </p:nvSpPr>
        <p:spPr bwMode="auto">
          <a:xfrm>
            <a:off x="4022633" y="2193708"/>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20000"/>
              </a:spcBef>
            </a:pPr>
            <a:r>
              <a:rPr lang="en-US" sz="1200" b="1" dirty="0"/>
              <a:t>g</a:t>
            </a:r>
            <a:endParaRPr lang="sv-SE" sz="1200" b="1" dirty="0"/>
          </a:p>
        </p:txBody>
      </p:sp>
    </p:spTree>
    <p:extLst>
      <p:ext uri="{BB962C8B-B14F-4D97-AF65-F5344CB8AC3E}">
        <p14:creationId xmlns:p14="http://schemas.microsoft.com/office/powerpoint/2010/main" val="4956011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blinds(horizontal)">
                                      <p:cBhvr>
                                        <p:cTn id="7" dur="500"/>
                                        <p:tgtEl>
                                          <p:spTgt spid="47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07">
                                            <p:txEl>
                                              <p:pRg st="6" end="6"/>
                                            </p:txEl>
                                          </p:spTgt>
                                        </p:tgtEl>
                                        <p:attrNameLst>
                                          <p:attrName>style.visibility</p:attrName>
                                        </p:attrNameLst>
                                      </p:cBhvr>
                                      <p:to>
                                        <p:strVal val="visible"/>
                                      </p:to>
                                    </p:set>
                                    <p:animEffect transition="in" filter="blinds(horizontal)">
                                      <p:cBhvr>
                                        <p:cTn id="12" dur="500"/>
                                        <p:tgtEl>
                                          <p:spTgt spid="471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r>
              <a:rPr lang="en-US" dirty="0"/>
              <a:t> </a:t>
            </a:r>
          </a:p>
        </p:txBody>
      </p:sp>
      <p:sp>
        <p:nvSpPr>
          <p:cNvPr id="3" name="Content Placeholder 2"/>
          <p:cNvSpPr>
            <a:spLocks noGrp="1"/>
          </p:cNvSpPr>
          <p:nvPr>
            <p:ph idx="1"/>
          </p:nvPr>
        </p:nvSpPr>
        <p:spPr/>
        <p:txBody>
          <a:bodyPr/>
          <a:lstStyle/>
          <a:p>
            <a:pPr marL="0" indent="0">
              <a:buNone/>
            </a:pPr>
            <a:r>
              <a:rPr lang="en-GB" b="1" dirty="0">
                <a:solidFill>
                  <a:schemeClr val="tx2"/>
                </a:solidFill>
              </a:rPr>
              <a:t>The Light Control example in UPPAAL </a:t>
            </a:r>
          </a:p>
          <a:p>
            <a:endParaRPr lang="en-US" dirty="0"/>
          </a:p>
        </p:txBody>
      </p:sp>
    </p:spTree>
    <p:extLst>
      <p:ext uri="{BB962C8B-B14F-4D97-AF65-F5344CB8AC3E}">
        <p14:creationId xmlns:p14="http://schemas.microsoft.com/office/powerpoint/2010/main" val="16094709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type="title"/>
          </p:nvPr>
        </p:nvSpPr>
        <p:spPr>
          <a:xfrm>
            <a:off x="817344" y="532468"/>
            <a:ext cx="7266425" cy="885180"/>
          </a:xfrm>
        </p:spPr>
        <p:txBody>
          <a:bodyPr/>
          <a:lstStyle/>
          <a:p>
            <a:pPr defTabSz="548879"/>
            <a:r>
              <a:rPr lang="en-US" b="1" dirty="0">
                <a:latin typeface="Arial" charset="0"/>
              </a:rPr>
              <a:t>Bridge Problem</a:t>
            </a:r>
          </a:p>
        </p:txBody>
      </p:sp>
      <p:pic>
        <p:nvPicPr>
          <p:cNvPr id="43" name="Picture 42">
            <a:extLst>
              <a:ext uri="{FF2B5EF4-FFF2-40B4-BE49-F238E27FC236}">
                <a16:creationId xmlns:a16="http://schemas.microsoft.com/office/drawing/2014/main" id="{E0E7247F-0816-DE9B-DAC3-A35DBD88DBD5}"/>
              </a:ext>
            </a:extLst>
          </p:cNvPr>
          <p:cNvPicPr>
            <a:picLocks noChangeAspect="1"/>
          </p:cNvPicPr>
          <p:nvPr/>
        </p:nvPicPr>
        <p:blipFill>
          <a:blip r:embed="rId3"/>
          <a:stretch>
            <a:fillRect/>
          </a:stretch>
        </p:blipFill>
        <p:spPr>
          <a:xfrm>
            <a:off x="1243195" y="1224079"/>
            <a:ext cx="6414721" cy="2695342"/>
          </a:xfrm>
          <a:prstGeom prst="rect">
            <a:avLst/>
          </a:prstGeom>
        </p:spPr>
      </p:pic>
      <p:sp>
        <p:nvSpPr>
          <p:cNvPr id="46" name="Text Box 27">
            <a:extLst>
              <a:ext uri="{FF2B5EF4-FFF2-40B4-BE49-F238E27FC236}">
                <a16:creationId xmlns:a16="http://schemas.microsoft.com/office/drawing/2014/main" id="{5500CEE6-4E61-573E-B6B4-64410F351914}"/>
              </a:ext>
            </a:extLst>
          </p:cNvPr>
          <p:cNvSpPr txBox="1">
            <a:spLocks noChangeArrowheads="1"/>
          </p:cNvSpPr>
          <p:nvPr/>
        </p:nvSpPr>
        <p:spPr bwMode="auto">
          <a:xfrm>
            <a:off x="1377239" y="4064388"/>
            <a:ext cx="6478055"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44450">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2000" b="1" dirty="0">
                <a:latin typeface="Verdana" charset="0"/>
              </a:rPr>
              <a:t>Is it possible find schedule for all four men </a:t>
            </a:r>
          </a:p>
          <a:p>
            <a:pPr algn="ctr"/>
            <a:r>
              <a:rPr lang="en-US" sz="2000" b="1" dirty="0">
                <a:latin typeface="Verdana" charset="0"/>
              </a:rPr>
              <a:t>to reach safe side in 60 min?</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r>
              <a:rPr lang="en-US" dirty="0"/>
              <a:t> </a:t>
            </a:r>
          </a:p>
        </p:txBody>
      </p:sp>
      <p:sp>
        <p:nvSpPr>
          <p:cNvPr id="3" name="Content Placeholder 2"/>
          <p:cNvSpPr>
            <a:spLocks noGrp="1"/>
          </p:cNvSpPr>
          <p:nvPr>
            <p:ph idx="1"/>
          </p:nvPr>
        </p:nvSpPr>
        <p:spPr/>
        <p:txBody>
          <a:bodyPr/>
          <a:lstStyle/>
          <a:p>
            <a:pPr marL="0" indent="0">
              <a:buNone/>
            </a:pPr>
            <a:r>
              <a:rPr lang="en-GB" b="1" dirty="0">
                <a:solidFill>
                  <a:schemeClr val="tx2"/>
                </a:solidFill>
              </a:rPr>
              <a:t>The </a:t>
            </a:r>
            <a:r>
              <a:rPr lang="en-US" b="1" dirty="0">
                <a:latin typeface="Arial" charset="0"/>
              </a:rPr>
              <a:t>Bridge Problem </a:t>
            </a:r>
            <a:r>
              <a:rPr lang="en-GB" b="1" dirty="0">
                <a:solidFill>
                  <a:schemeClr val="tx2"/>
                </a:solidFill>
              </a:rPr>
              <a:t>in UPPAAL </a:t>
            </a:r>
          </a:p>
          <a:p>
            <a:endParaRPr lang="en-US" dirty="0"/>
          </a:p>
        </p:txBody>
      </p:sp>
    </p:spTree>
    <p:extLst>
      <p:ext uri="{BB962C8B-B14F-4D97-AF65-F5344CB8AC3E}">
        <p14:creationId xmlns:p14="http://schemas.microsoft.com/office/powerpoint/2010/main" val="6747432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4"/>
          <p:cNvSpPr>
            <a:spLocks noGrp="1" noChangeArrowheads="1"/>
          </p:cNvSpPr>
          <p:nvPr>
            <p:ph type="title"/>
          </p:nvPr>
        </p:nvSpPr>
        <p:spPr>
          <a:xfrm>
            <a:off x="433387" y="541259"/>
            <a:ext cx="5548313" cy="857250"/>
          </a:xfrm>
        </p:spPr>
        <p:txBody>
          <a:bodyPr/>
          <a:lstStyle/>
          <a:p>
            <a:pPr algn="l" eaLnBrk="1" hangingPunct="1"/>
            <a:r>
              <a:rPr lang="da-DK" sz="3600" b="1" dirty="0">
                <a:latin typeface="Arial" charset="0"/>
              </a:rPr>
              <a:t>Train </a:t>
            </a:r>
            <a:r>
              <a:rPr lang="da-DK" sz="3600" b="1" dirty="0" err="1">
                <a:latin typeface="Arial" charset="0"/>
              </a:rPr>
              <a:t>Crossing</a:t>
            </a:r>
            <a:r>
              <a:rPr lang="da-DK" sz="3600" b="1" dirty="0">
                <a:latin typeface="Arial" charset="0"/>
              </a:rPr>
              <a:t> </a:t>
            </a:r>
            <a:r>
              <a:rPr lang="da-DK" sz="1500" dirty="0">
                <a:latin typeface="Arial" charset="0"/>
              </a:rPr>
              <a:t>     </a:t>
            </a:r>
            <a:endParaRPr lang="en-GB" sz="1500" dirty="0">
              <a:latin typeface="Arial" charset="0"/>
            </a:endParaRPr>
          </a:p>
        </p:txBody>
      </p:sp>
      <p:pic>
        <p:nvPicPr>
          <p:cNvPr id="29" name="Picture 28">
            <a:extLst>
              <a:ext uri="{FF2B5EF4-FFF2-40B4-BE49-F238E27FC236}">
                <a16:creationId xmlns:a16="http://schemas.microsoft.com/office/drawing/2014/main" id="{412A6164-D01B-E028-8D7B-D787DD2FDBC5}"/>
              </a:ext>
            </a:extLst>
          </p:cNvPr>
          <p:cNvPicPr>
            <a:picLocks noChangeAspect="1"/>
          </p:cNvPicPr>
          <p:nvPr/>
        </p:nvPicPr>
        <p:blipFill>
          <a:blip r:embed="rId3"/>
          <a:stretch>
            <a:fillRect/>
          </a:stretch>
        </p:blipFill>
        <p:spPr>
          <a:xfrm>
            <a:off x="2104807" y="1154896"/>
            <a:ext cx="4934386" cy="3577123"/>
          </a:xfrm>
          <a:prstGeom prst="rect">
            <a:avLst/>
          </a:prstGeom>
        </p:spPr>
      </p:pic>
    </p:spTree>
    <p:extLst>
      <p:ext uri="{BB962C8B-B14F-4D97-AF65-F5344CB8AC3E}">
        <p14:creationId xmlns:p14="http://schemas.microsoft.com/office/powerpoint/2010/main" val="11476036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r>
              <a:rPr lang="en-US" dirty="0"/>
              <a:t> </a:t>
            </a:r>
          </a:p>
        </p:txBody>
      </p:sp>
      <p:sp>
        <p:nvSpPr>
          <p:cNvPr id="3" name="Content Placeholder 2"/>
          <p:cNvSpPr>
            <a:spLocks noGrp="1"/>
          </p:cNvSpPr>
          <p:nvPr>
            <p:ph idx="1"/>
          </p:nvPr>
        </p:nvSpPr>
        <p:spPr/>
        <p:txBody>
          <a:bodyPr/>
          <a:lstStyle/>
          <a:p>
            <a:pPr marL="0" indent="0">
              <a:buNone/>
            </a:pPr>
            <a:r>
              <a:rPr lang="en-GB" b="1" dirty="0">
                <a:solidFill>
                  <a:schemeClr val="tx2"/>
                </a:solidFill>
              </a:rPr>
              <a:t>The </a:t>
            </a:r>
            <a:r>
              <a:rPr lang="en-US" b="1" dirty="0">
                <a:latin typeface="Arial" charset="0"/>
              </a:rPr>
              <a:t>Train Crossing Problem </a:t>
            </a:r>
            <a:r>
              <a:rPr lang="en-GB" b="1" dirty="0">
                <a:solidFill>
                  <a:schemeClr val="tx2"/>
                </a:solidFill>
              </a:rPr>
              <a:t>in UPPAAL </a:t>
            </a:r>
          </a:p>
          <a:p>
            <a:endParaRPr lang="en-US" dirty="0"/>
          </a:p>
        </p:txBody>
      </p:sp>
    </p:spTree>
    <p:extLst>
      <p:ext uri="{BB962C8B-B14F-4D97-AF65-F5344CB8AC3E}">
        <p14:creationId xmlns:p14="http://schemas.microsoft.com/office/powerpoint/2010/main" val="2448032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0190" y="541259"/>
            <a:ext cx="5454606" cy="857250"/>
          </a:xfrm>
        </p:spPr>
        <p:txBody>
          <a:bodyPr/>
          <a:lstStyle/>
          <a:p>
            <a:pPr algn="l"/>
            <a:r>
              <a:rPr lang="en-US" dirty="0"/>
              <a:t>UPPAAL SMC</a:t>
            </a:r>
          </a:p>
        </p:txBody>
      </p:sp>
      <p:sp>
        <p:nvSpPr>
          <p:cNvPr id="3" name="Content Placeholder 2"/>
          <p:cNvSpPr>
            <a:spLocks noGrp="1"/>
          </p:cNvSpPr>
          <p:nvPr>
            <p:ph idx="1"/>
          </p:nvPr>
        </p:nvSpPr>
        <p:spPr>
          <a:xfrm>
            <a:off x="928713" y="1574094"/>
            <a:ext cx="7286573" cy="2298774"/>
          </a:xfrm>
        </p:spPr>
        <p:txBody>
          <a:bodyPr>
            <a:normAutofit fontScale="92500" lnSpcReduction="20000"/>
          </a:bodyPr>
          <a:lstStyle/>
          <a:p>
            <a:r>
              <a:rPr lang="en-US" sz="1800" dirty="0"/>
              <a:t> Statistical model checking (SMC) for stochastic timed automata.</a:t>
            </a:r>
          </a:p>
          <a:p>
            <a:endParaRPr lang="en-US" sz="675" dirty="0"/>
          </a:p>
          <a:p>
            <a:r>
              <a:rPr lang="en-US" sz="1800" dirty="0"/>
              <a:t> Stochastic timed automata extends timed automata with: </a:t>
            </a:r>
          </a:p>
          <a:p>
            <a:pPr lvl="1"/>
            <a:r>
              <a:rPr lang="en-US" sz="1500" dirty="0"/>
              <a:t>Probabilistic choices between multiple enable transition (probabilities may be defined by the user),</a:t>
            </a:r>
          </a:p>
          <a:p>
            <a:pPr lvl="1"/>
            <a:r>
              <a:rPr lang="en-US" sz="1500" dirty="0"/>
              <a:t>Probability distributions for non-deterministic time-delays </a:t>
            </a:r>
          </a:p>
          <a:p>
            <a:pPr lvl="2"/>
            <a:r>
              <a:rPr lang="en-US" sz="1350" dirty="0"/>
              <a:t>Uniform distributions for time-bounded delays, or </a:t>
            </a:r>
          </a:p>
          <a:p>
            <a:pPr lvl="2"/>
            <a:r>
              <a:rPr lang="en-US" sz="1350" dirty="0"/>
              <a:t>Exponential distributions with user-defined rates for cases of unbounded delays.</a:t>
            </a:r>
          </a:p>
          <a:p>
            <a:endParaRPr lang="en-US" sz="675" dirty="0"/>
          </a:p>
          <a:p>
            <a:r>
              <a:rPr lang="en-US" sz="1800" dirty="0"/>
              <a:t>Continuous variables can evolve according to ordinary differential equations.</a:t>
            </a:r>
          </a:p>
          <a:p>
            <a:pPr lvl="1"/>
            <a:endParaRPr lang="en-US" sz="1500" dirty="0"/>
          </a:p>
          <a:p>
            <a:endParaRPr lang="en-US" sz="1800" dirty="0"/>
          </a:p>
          <a:p>
            <a:pPr marL="0" indent="0" algn="just">
              <a:buNone/>
            </a:pPr>
            <a:endParaRPr lang="en-US" sz="1500" dirty="0"/>
          </a:p>
        </p:txBody>
      </p:sp>
    </p:spTree>
    <p:extLst>
      <p:ext uri="{BB962C8B-B14F-4D97-AF65-F5344CB8AC3E}">
        <p14:creationId xmlns:p14="http://schemas.microsoft.com/office/powerpoint/2010/main" val="8998608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690" y="548879"/>
            <a:ext cx="5454606" cy="857250"/>
          </a:xfrm>
        </p:spPr>
        <p:txBody>
          <a:bodyPr/>
          <a:lstStyle/>
          <a:p>
            <a:pPr algn="l"/>
            <a:r>
              <a:rPr lang="en-US" dirty="0"/>
              <a:t>UPPAAL SMC</a:t>
            </a:r>
          </a:p>
        </p:txBody>
      </p:sp>
      <p:sp>
        <p:nvSpPr>
          <p:cNvPr id="3" name="Content Placeholder 2"/>
          <p:cNvSpPr>
            <a:spLocks noGrp="1"/>
          </p:cNvSpPr>
          <p:nvPr>
            <p:ph idx="1"/>
          </p:nvPr>
        </p:nvSpPr>
        <p:spPr>
          <a:xfrm>
            <a:off x="860628" y="1589334"/>
            <a:ext cx="7286573" cy="2298774"/>
          </a:xfrm>
        </p:spPr>
        <p:txBody>
          <a:bodyPr>
            <a:normAutofit lnSpcReduction="10000"/>
          </a:bodyPr>
          <a:lstStyle/>
          <a:p>
            <a:r>
              <a:rPr lang="en-US" sz="1800" dirty="0" err="1"/>
              <a:t>Querys</a:t>
            </a:r>
            <a:r>
              <a:rPr lang="en-US" sz="1800" dirty="0"/>
              <a:t>:</a:t>
            </a:r>
          </a:p>
          <a:p>
            <a:pPr lvl="1"/>
            <a:r>
              <a:rPr lang="en-US" sz="1500" dirty="0"/>
              <a:t>Random simulations,  </a:t>
            </a:r>
          </a:p>
          <a:p>
            <a:pPr lvl="1"/>
            <a:r>
              <a:rPr lang="en-US" sz="1500" dirty="0"/>
              <a:t>Probability evaluation: </a:t>
            </a:r>
          </a:p>
          <a:p>
            <a:pPr marL="342900" lvl="1" indent="0">
              <a:buNone/>
            </a:pPr>
            <a:r>
              <a:rPr lang="en-US" sz="1500" dirty="0"/>
              <a:t>What is the probability P</a:t>
            </a:r>
            <a:r>
              <a:rPr lang="en-US" sz="1500" baseline="-25000" dirty="0"/>
              <a:t>M</a:t>
            </a:r>
            <a:r>
              <a:rPr lang="en-US" sz="1500" dirty="0"/>
              <a:t>(&lt;&gt;</a:t>
            </a:r>
            <a:r>
              <a:rPr lang="en-US" sz="1500" baseline="-25000" dirty="0" err="1"/>
              <a:t>x≤C</a:t>
            </a:r>
            <a:r>
              <a:rPr lang="en-US" sz="1500" baseline="-25000" dirty="0"/>
              <a:t> </a:t>
            </a:r>
            <a:r>
              <a:rPr lang="en-US" sz="1500" dirty="0" err="1"/>
              <a:t>ϕ</a:t>
            </a:r>
            <a:r>
              <a:rPr lang="en-US" sz="1500" dirty="0"/>
              <a:t>) for a given NSTA M? </a:t>
            </a:r>
          </a:p>
          <a:p>
            <a:pPr lvl="1"/>
            <a:r>
              <a:rPr lang="en-US" sz="1500" dirty="0"/>
              <a:t>Hypothesis Testing: </a:t>
            </a:r>
          </a:p>
          <a:p>
            <a:pPr marL="342900" lvl="1" indent="0">
              <a:buNone/>
            </a:pPr>
            <a:r>
              <a:rPr lang="en-US" sz="1500" dirty="0"/>
              <a:t>Is the probability P</a:t>
            </a:r>
            <a:r>
              <a:rPr lang="en-US" sz="1500" baseline="-25000" dirty="0"/>
              <a:t>M</a:t>
            </a:r>
            <a:r>
              <a:rPr lang="en-US" sz="1500" dirty="0"/>
              <a:t>(&lt;&gt;</a:t>
            </a:r>
            <a:r>
              <a:rPr lang="en-US" sz="1500" baseline="-25000" dirty="0" err="1"/>
              <a:t>x≤C</a:t>
            </a:r>
            <a:r>
              <a:rPr lang="en-US" sz="1500" dirty="0"/>
              <a:t> </a:t>
            </a:r>
            <a:r>
              <a:rPr lang="en-US" sz="1500" dirty="0" err="1"/>
              <a:t>ϕ</a:t>
            </a:r>
            <a:r>
              <a:rPr lang="en-US" sz="1500" dirty="0"/>
              <a:t>) for a given NSTA M greater or equal to a certain threshold p ∈ [0, 1] ?</a:t>
            </a:r>
          </a:p>
          <a:p>
            <a:pPr lvl="1"/>
            <a:r>
              <a:rPr lang="en-US" sz="1500" dirty="0"/>
              <a:t>Probability comparison: </a:t>
            </a:r>
          </a:p>
          <a:p>
            <a:pPr marL="342900" lvl="1" indent="0">
              <a:buNone/>
            </a:pPr>
            <a:r>
              <a:rPr lang="en-US" sz="1500" dirty="0"/>
              <a:t>Is the probability P</a:t>
            </a:r>
            <a:r>
              <a:rPr lang="en-US" sz="1500" baseline="-25000" dirty="0"/>
              <a:t>M</a:t>
            </a:r>
            <a:r>
              <a:rPr lang="en-US" sz="1500" dirty="0"/>
              <a:t>(&lt;&gt;</a:t>
            </a:r>
            <a:r>
              <a:rPr lang="en-US" sz="1500" baseline="-25000" dirty="0" err="1"/>
              <a:t>x≤C</a:t>
            </a:r>
            <a:r>
              <a:rPr lang="en-US" sz="1500" dirty="0"/>
              <a:t> ϕ</a:t>
            </a:r>
            <a:r>
              <a:rPr lang="en-US" sz="1500" baseline="-25000" dirty="0"/>
              <a:t>1</a:t>
            </a:r>
            <a:r>
              <a:rPr lang="en-US" sz="1500" dirty="0"/>
              <a:t>) greater than the probability P</a:t>
            </a:r>
            <a:r>
              <a:rPr lang="en-US" sz="1500" baseline="-25000" dirty="0"/>
              <a:t>M</a:t>
            </a:r>
            <a:r>
              <a:rPr lang="en-US" sz="1500" dirty="0"/>
              <a:t>(&lt;&gt;</a:t>
            </a:r>
            <a:r>
              <a:rPr lang="en-US" sz="1500" baseline="-25000" dirty="0"/>
              <a:t>y≤D</a:t>
            </a:r>
            <a:r>
              <a:rPr lang="en-US" sz="1500" dirty="0"/>
              <a:t>ϕ</a:t>
            </a:r>
            <a:r>
              <a:rPr lang="en-US" sz="1500" baseline="-25000" dirty="0"/>
              <a:t>2</a:t>
            </a:r>
            <a:r>
              <a:rPr lang="en-US" sz="1500" dirty="0"/>
              <a:t>)?</a:t>
            </a:r>
          </a:p>
          <a:p>
            <a:pPr lvl="1"/>
            <a:endParaRPr lang="en-US" sz="1500" dirty="0"/>
          </a:p>
          <a:p>
            <a:endParaRPr lang="en-US" sz="1800" dirty="0"/>
          </a:p>
          <a:p>
            <a:pPr marL="0" indent="0" algn="just">
              <a:buNone/>
            </a:pPr>
            <a:endParaRPr lang="en-US" sz="1500" dirty="0"/>
          </a:p>
        </p:txBody>
      </p:sp>
    </p:spTree>
    <p:extLst>
      <p:ext uri="{BB962C8B-B14F-4D97-AF65-F5344CB8AC3E}">
        <p14:creationId xmlns:p14="http://schemas.microsoft.com/office/powerpoint/2010/main" val="10621538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r>
              <a:rPr lang="en-US" dirty="0"/>
              <a:t> </a:t>
            </a:r>
          </a:p>
        </p:txBody>
      </p:sp>
      <p:sp>
        <p:nvSpPr>
          <p:cNvPr id="3" name="Content Placeholder 2"/>
          <p:cNvSpPr>
            <a:spLocks noGrp="1"/>
          </p:cNvSpPr>
          <p:nvPr>
            <p:ph idx="1"/>
          </p:nvPr>
        </p:nvSpPr>
        <p:spPr/>
        <p:txBody>
          <a:bodyPr/>
          <a:lstStyle/>
          <a:p>
            <a:pPr marL="0" indent="0">
              <a:buNone/>
            </a:pPr>
            <a:r>
              <a:rPr lang="en-US" b="1" dirty="0">
                <a:latin typeface="Arial" charset="0"/>
              </a:rPr>
              <a:t>Train Crossing </a:t>
            </a:r>
            <a:r>
              <a:rPr lang="en-GB" b="1" dirty="0">
                <a:solidFill>
                  <a:schemeClr val="tx2"/>
                </a:solidFill>
              </a:rPr>
              <a:t>in UPPAAL SMC </a:t>
            </a:r>
          </a:p>
          <a:p>
            <a:endParaRPr lang="en-US" dirty="0"/>
          </a:p>
        </p:txBody>
      </p:sp>
    </p:spTree>
    <p:extLst>
      <p:ext uri="{BB962C8B-B14F-4D97-AF65-F5344CB8AC3E}">
        <p14:creationId xmlns:p14="http://schemas.microsoft.com/office/powerpoint/2010/main" val="15803431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422" y="780482"/>
            <a:ext cx="7266425" cy="885180"/>
          </a:xfrm>
        </p:spPr>
        <p:txBody>
          <a:bodyPr/>
          <a:lstStyle/>
          <a:p>
            <a:r>
              <a:rPr lang="en-US" dirty="0"/>
              <a:t>Assignment </a:t>
            </a:r>
          </a:p>
        </p:txBody>
      </p:sp>
      <p:sp>
        <p:nvSpPr>
          <p:cNvPr id="3" name="Content Placeholder 2"/>
          <p:cNvSpPr>
            <a:spLocks noGrp="1"/>
          </p:cNvSpPr>
          <p:nvPr>
            <p:ph idx="1"/>
          </p:nvPr>
        </p:nvSpPr>
        <p:spPr>
          <a:xfrm>
            <a:off x="792048" y="1817934"/>
            <a:ext cx="7286573" cy="2298774"/>
          </a:xfrm>
        </p:spPr>
        <p:txBody>
          <a:bodyPr>
            <a:normAutofit fontScale="92500" lnSpcReduction="10000"/>
          </a:bodyPr>
          <a:lstStyle/>
          <a:p>
            <a:pPr marL="0" indent="0" algn="just">
              <a:buNone/>
            </a:pPr>
            <a:r>
              <a:rPr lang="en-US" sz="1500" dirty="0"/>
              <a:t>Design a communication protocol, where the communication between the </a:t>
            </a:r>
            <a:r>
              <a:rPr lang="en-US" sz="1500" b="1" i="1" dirty="0"/>
              <a:t>Sender</a:t>
            </a:r>
            <a:r>
              <a:rPr lang="en-US" sz="1500" dirty="0"/>
              <a:t> and the </a:t>
            </a:r>
            <a:r>
              <a:rPr lang="en-US" sz="1500" b="1" i="1" dirty="0"/>
              <a:t>Receiver</a:t>
            </a:r>
            <a:r>
              <a:rPr lang="en-US" sz="1500" dirty="0"/>
              <a:t> is done through a </a:t>
            </a:r>
            <a:r>
              <a:rPr lang="en-US" sz="1500" dirty="0" err="1"/>
              <a:t>lossy</a:t>
            </a:r>
            <a:r>
              <a:rPr lang="en-US" sz="1500" dirty="0"/>
              <a:t> and noisy </a:t>
            </a:r>
            <a:r>
              <a:rPr lang="en-US" sz="1500" b="1" i="1" dirty="0"/>
              <a:t>Channel</a:t>
            </a:r>
            <a:r>
              <a:rPr lang="en-US" sz="1500" dirty="0"/>
              <a:t>.</a:t>
            </a:r>
          </a:p>
          <a:p>
            <a:pPr marL="0" indent="0" algn="just">
              <a:buNone/>
            </a:pPr>
            <a:endParaRPr lang="en-US" sz="750" dirty="0"/>
          </a:p>
          <a:p>
            <a:pPr marL="0" indent="0" algn="just">
              <a:buNone/>
            </a:pPr>
            <a:r>
              <a:rPr lang="en-US" sz="1500" dirty="0"/>
              <a:t>The </a:t>
            </a:r>
            <a:r>
              <a:rPr lang="en-US" sz="1500" b="1" i="1" dirty="0"/>
              <a:t>Sender</a:t>
            </a:r>
            <a:r>
              <a:rPr lang="en-US" sz="1500" dirty="0"/>
              <a:t> sends the message and awaits the acknowledgment from the </a:t>
            </a:r>
            <a:r>
              <a:rPr lang="en-US" sz="1500" b="1" i="1" dirty="0"/>
              <a:t>Receiver</a:t>
            </a:r>
            <a:r>
              <a:rPr lang="en-US" sz="1500" dirty="0"/>
              <a:t>. Since the communication is done through the </a:t>
            </a:r>
            <a:r>
              <a:rPr lang="en-US" sz="1500" b="1" i="1" dirty="0"/>
              <a:t>Channel</a:t>
            </a:r>
            <a:r>
              <a:rPr lang="en-US" sz="1500" dirty="0"/>
              <a:t>, the message might be passed to the </a:t>
            </a:r>
            <a:r>
              <a:rPr lang="en-US" sz="1500" b="1" i="1" dirty="0"/>
              <a:t>Receiver</a:t>
            </a:r>
            <a:r>
              <a:rPr lang="en-US" sz="1500" dirty="0"/>
              <a:t> after 1 time unit or lost. If the </a:t>
            </a:r>
            <a:r>
              <a:rPr lang="en-US" sz="1500" b="1" i="1" dirty="0"/>
              <a:t>Receiver</a:t>
            </a:r>
            <a:r>
              <a:rPr lang="en-US" sz="1500" dirty="0"/>
              <a:t> receives the message, it will send the  acknowledgement after 1 time unit. Again, this is done through the </a:t>
            </a:r>
            <a:r>
              <a:rPr lang="en-US" sz="1500" b="1" i="1" dirty="0"/>
              <a:t>Channel</a:t>
            </a:r>
            <a:r>
              <a:rPr lang="en-US" sz="1500" dirty="0"/>
              <a:t>, so the acknowledgement can be sent to the </a:t>
            </a:r>
            <a:r>
              <a:rPr lang="en-US" sz="1500" b="1" i="1" dirty="0"/>
              <a:t>Sender</a:t>
            </a:r>
            <a:r>
              <a:rPr lang="en-US" sz="1500" dirty="0"/>
              <a:t> after 1 time unit or lost. In case the acknowledgement does not reach the </a:t>
            </a:r>
            <a:r>
              <a:rPr lang="en-US" sz="1500" b="1" i="1" dirty="0"/>
              <a:t>Sender</a:t>
            </a:r>
            <a:r>
              <a:rPr lang="en-US" sz="1500" dirty="0"/>
              <a:t> in 5 time units (either the message or the acknowledgement is lost), the </a:t>
            </a:r>
            <a:r>
              <a:rPr lang="en-US" sz="1500" b="1" i="1" dirty="0"/>
              <a:t>Sender</a:t>
            </a:r>
            <a:r>
              <a:rPr lang="en-US" sz="1500" dirty="0"/>
              <a:t> will send the message again without dely. Similarly, after the acknowledgement is received, the </a:t>
            </a:r>
            <a:r>
              <a:rPr lang="en-US" sz="1500" b="1" i="1" dirty="0"/>
              <a:t>Sender</a:t>
            </a:r>
            <a:r>
              <a:rPr lang="en-US" sz="1500" dirty="0"/>
              <a:t> will send another message without delay.  </a:t>
            </a:r>
          </a:p>
        </p:txBody>
      </p:sp>
    </p:spTree>
    <p:extLst>
      <p:ext uri="{BB962C8B-B14F-4D97-AF65-F5344CB8AC3E}">
        <p14:creationId xmlns:p14="http://schemas.microsoft.com/office/powerpoint/2010/main" val="8811058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710" y="366112"/>
            <a:ext cx="6110436" cy="857250"/>
          </a:xfrm>
        </p:spPr>
        <p:txBody>
          <a:bodyPr/>
          <a:lstStyle/>
          <a:p>
            <a:r>
              <a:rPr lang="en-US" dirty="0"/>
              <a:t>Assignment </a:t>
            </a:r>
          </a:p>
        </p:txBody>
      </p:sp>
      <p:sp>
        <p:nvSpPr>
          <p:cNvPr id="3" name="Content Placeholder 2"/>
          <p:cNvSpPr>
            <a:spLocks noGrp="1"/>
          </p:cNvSpPr>
          <p:nvPr>
            <p:ph idx="1"/>
          </p:nvPr>
        </p:nvSpPr>
        <p:spPr>
          <a:xfrm>
            <a:off x="913968" y="1223362"/>
            <a:ext cx="7286573" cy="3510566"/>
          </a:xfrm>
        </p:spPr>
        <p:txBody>
          <a:bodyPr>
            <a:normAutofit/>
          </a:bodyPr>
          <a:lstStyle/>
          <a:p>
            <a:pPr marL="0" indent="0" algn="just">
              <a:buNone/>
            </a:pPr>
            <a:r>
              <a:rPr lang="en-US" sz="1500" dirty="0"/>
              <a:t>Modeling guidelines: </a:t>
            </a:r>
          </a:p>
          <a:p>
            <a:pPr algn="just"/>
            <a:r>
              <a:rPr lang="en-US" sz="1500" dirty="0"/>
              <a:t>Model the system as a network of 3 timed automata: Sender, Channel, and Receiver; </a:t>
            </a:r>
          </a:p>
          <a:p>
            <a:pPr algn="just"/>
            <a:r>
              <a:rPr lang="en-US" sz="1500" dirty="0"/>
              <a:t>The messages between the Sender, Channel and Receiver should be modeled as modeled as regular UPPAAL channels; </a:t>
            </a:r>
          </a:p>
          <a:p>
            <a:pPr algn="just"/>
            <a:endParaRPr lang="en-US" sz="1500" dirty="0"/>
          </a:p>
          <a:p>
            <a:pPr algn="just"/>
            <a:endParaRPr lang="en-US" sz="1500" dirty="0"/>
          </a:p>
          <a:p>
            <a:pPr algn="just"/>
            <a:endParaRPr lang="en-US" sz="1500" dirty="0"/>
          </a:p>
          <a:p>
            <a:pPr algn="just"/>
            <a:endParaRPr lang="en-US" sz="1500" dirty="0"/>
          </a:p>
          <a:p>
            <a:pPr algn="just"/>
            <a:endParaRPr lang="en-US" sz="1500" dirty="0"/>
          </a:p>
          <a:p>
            <a:pPr marL="0" indent="0" algn="just">
              <a:buNone/>
              <a:tabLst>
                <a:tab pos="267891" algn="l"/>
              </a:tabLst>
            </a:pPr>
            <a:r>
              <a:rPr lang="en-US" sz="1500" dirty="0"/>
              <a:t>•   The Sender should identify that a message has been lost based on         </a:t>
            </a:r>
          </a:p>
          <a:p>
            <a:pPr marL="0" indent="0" algn="just">
              <a:buNone/>
              <a:tabLst>
                <a:tab pos="267891" algn="l"/>
              </a:tabLst>
            </a:pPr>
            <a:r>
              <a:rPr lang="en-US" sz="1500" dirty="0"/>
              <a:t>     the value of its internal clock.</a:t>
            </a:r>
          </a:p>
        </p:txBody>
      </p:sp>
      <p:sp>
        <p:nvSpPr>
          <p:cNvPr id="4" name="Rounded Rectangle 3"/>
          <p:cNvSpPr/>
          <p:nvPr/>
        </p:nvSpPr>
        <p:spPr>
          <a:xfrm>
            <a:off x="1817694" y="2672793"/>
            <a:ext cx="1296144" cy="378042"/>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013"/>
          </a:p>
        </p:txBody>
      </p:sp>
      <p:sp>
        <p:nvSpPr>
          <p:cNvPr id="5" name="Rounded Rectangle 4"/>
          <p:cNvSpPr/>
          <p:nvPr/>
        </p:nvSpPr>
        <p:spPr>
          <a:xfrm>
            <a:off x="3923928" y="2672793"/>
            <a:ext cx="1350150" cy="378042"/>
          </a:xfrm>
          <a:prstGeom prst="round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013"/>
          </a:p>
        </p:txBody>
      </p:sp>
      <p:sp>
        <p:nvSpPr>
          <p:cNvPr id="6" name="Rounded Rectangle 5"/>
          <p:cNvSpPr/>
          <p:nvPr/>
        </p:nvSpPr>
        <p:spPr>
          <a:xfrm>
            <a:off x="6084168" y="2672793"/>
            <a:ext cx="1350150" cy="378042"/>
          </a:xfrm>
          <a:prstGeom prst="round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013"/>
          </a:p>
        </p:txBody>
      </p:sp>
      <p:cxnSp>
        <p:nvCxnSpPr>
          <p:cNvPr id="10" name="Straight Arrow Connector 9"/>
          <p:cNvCxnSpPr/>
          <p:nvPr/>
        </p:nvCxnSpPr>
        <p:spPr>
          <a:xfrm>
            <a:off x="3113838" y="2780805"/>
            <a:ext cx="810090"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5274078" y="2780805"/>
            <a:ext cx="810090"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5274078" y="2942823"/>
            <a:ext cx="810090"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3113838" y="2942823"/>
            <a:ext cx="810090"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087724" y="2726799"/>
            <a:ext cx="604653" cy="248209"/>
          </a:xfrm>
          <a:prstGeom prst="rect">
            <a:avLst/>
          </a:prstGeom>
          <a:noFill/>
        </p:spPr>
        <p:txBody>
          <a:bodyPr wrap="none" rtlCol="0">
            <a:spAutoFit/>
          </a:bodyPr>
          <a:lstStyle/>
          <a:p>
            <a:r>
              <a:rPr lang="en-GB" sz="1013" dirty="0"/>
              <a:t>Sender </a:t>
            </a:r>
          </a:p>
        </p:txBody>
      </p:sp>
      <p:sp>
        <p:nvSpPr>
          <p:cNvPr id="21" name="TextBox 20"/>
          <p:cNvSpPr txBox="1"/>
          <p:nvPr/>
        </p:nvSpPr>
        <p:spPr>
          <a:xfrm>
            <a:off x="4199279" y="2719830"/>
            <a:ext cx="638316" cy="248209"/>
          </a:xfrm>
          <a:prstGeom prst="rect">
            <a:avLst/>
          </a:prstGeom>
          <a:noFill/>
        </p:spPr>
        <p:txBody>
          <a:bodyPr wrap="none" rtlCol="0">
            <a:spAutoFit/>
          </a:bodyPr>
          <a:lstStyle/>
          <a:p>
            <a:r>
              <a:rPr lang="en-GB" sz="1013" dirty="0"/>
              <a:t>Channel</a:t>
            </a:r>
          </a:p>
        </p:txBody>
      </p:sp>
      <p:sp>
        <p:nvSpPr>
          <p:cNvPr id="22" name="TextBox 21"/>
          <p:cNvSpPr txBox="1"/>
          <p:nvPr/>
        </p:nvSpPr>
        <p:spPr>
          <a:xfrm>
            <a:off x="6354198" y="2726799"/>
            <a:ext cx="700833" cy="248209"/>
          </a:xfrm>
          <a:prstGeom prst="rect">
            <a:avLst/>
          </a:prstGeom>
          <a:noFill/>
        </p:spPr>
        <p:txBody>
          <a:bodyPr wrap="none" rtlCol="0">
            <a:spAutoFit/>
          </a:bodyPr>
          <a:lstStyle/>
          <a:p>
            <a:r>
              <a:rPr lang="en-GB" sz="1013" dirty="0"/>
              <a:t>Receiver </a:t>
            </a:r>
          </a:p>
        </p:txBody>
      </p:sp>
      <p:sp>
        <p:nvSpPr>
          <p:cNvPr id="23" name="TextBox 22"/>
          <p:cNvSpPr txBox="1"/>
          <p:nvPr/>
        </p:nvSpPr>
        <p:spPr>
          <a:xfrm>
            <a:off x="3173165" y="2510775"/>
            <a:ext cx="516488" cy="248209"/>
          </a:xfrm>
          <a:prstGeom prst="rect">
            <a:avLst/>
          </a:prstGeom>
          <a:noFill/>
        </p:spPr>
        <p:txBody>
          <a:bodyPr wrap="none" rtlCol="0">
            <a:spAutoFit/>
          </a:bodyPr>
          <a:lstStyle/>
          <a:p>
            <a:r>
              <a:rPr lang="en-GB" sz="1013" dirty="0"/>
              <a:t>s_msg</a:t>
            </a:r>
          </a:p>
        </p:txBody>
      </p:sp>
      <p:sp>
        <p:nvSpPr>
          <p:cNvPr id="24" name="TextBox 23"/>
          <p:cNvSpPr txBox="1"/>
          <p:nvPr/>
        </p:nvSpPr>
        <p:spPr>
          <a:xfrm>
            <a:off x="5381757" y="2510775"/>
            <a:ext cx="514885" cy="248209"/>
          </a:xfrm>
          <a:prstGeom prst="rect">
            <a:avLst/>
          </a:prstGeom>
          <a:noFill/>
        </p:spPr>
        <p:txBody>
          <a:bodyPr wrap="none" rtlCol="0">
            <a:spAutoFit/>
          </a:bodyPr>
          <a:lstStyle/>
          <a:p>
            <a:r>
              <a:rPr lang="en-GB" sz="1013" dirty="0"/>
              <a:t>r_msg</a:t>
            </a:r>
          </a:p>
        </p:txBody>
      </p:sp>
      <p:sp>
        <p:nvSpPr>
          <p:cNvPr id="25" name="TextBox 24"/>
          <p:cNvSpPr txBox="1"/>
          <p:nvPr/>
        </p:nvSpPr>
        <p:spPr>
          <a:xfrm>
            <a:off x="3221850" y="2881848"/>
            <a:ext cx="476412" cy="248209"/>
          </a:xfrm>
          <a:prstGeom prst="rect">
            <a:avLst/>
          </a:prstGeom>
          <a:noFill/>
        </p:spPr>
        <p:txBody>
          <a:bodyPr wrap="none" rtlCol="0">
            <a:spAutoFit/>
          </a:bodyPr>
          <a:lstStyle/>
          <a:p>
            <a:r>
              <a:rPr lang="en-GB" sz="1013" dirty="0"/>
              <a:t>r_ack</a:t>
            </a:r>
          </a:p>
        </p:txBody>
      </p:sp>
      <p:sp>
        <p:nvSpPr>
          <p:cNvPr id="26" name="TextBox 25"/>
          <p:cNvSpPr txBox="1"/>
          <p:nvPr/>
        </p:nvSpPr>
        <p:spPr>
          <a:xfrm>
            <a:off x="5414314" y="2888817"/>
            <a:ext cx="478016" cy="248209"/>
          </a:xfrm>
          <a:prstGeom prst="rect">
            <a:avLst/>
          </a:prstGeom>
          <a:noFill/>
        </p:spPr>
        <p:txBody>
          <a:bodyPr wrap="none" rtlCol="0">
            <a:spAutoFit/>
          </a:bodyPr>
          <a:lstStyle/>
          <a:p>
            <a:r>
              <a:rPr lang="en-GB" sz="1013" dirty="0"/>
              <a:t>s_ack</a:t>
            </a:r>
          </a:p>
        </p:txBody>
      </p:sp>
    </p:spTree>
    <p:extLst>
      <p:ext uri="{BB962C8B-B14F-4D97-AF65-F5344CB8AC3E}">
        <p14:creationId xmlns:p14="http://schemas.microsoft.com/office/powerpoint/2010/main" val="10138216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41259"/>
            <a:ext cx="6110436" cy="857250"/>
          </a:xfrm>
        </p:spPr>
        <p:txBody>
          <a:bodyPr/>
          <a:lstStyle/>
          <a:p>
            <a:r>
              <a:rPr lang="en-US" dirty="0"/>
              <a:t>Assignment </a:t>
            </a:r>
          </a:p>
        </p:txBody>
      </p:sp>
      <p:sp>
        <p:nvSpPr>
          <p:cNvPr id="3" name="Content Placeholder 2"/>
          <p:cNvSpPr>
            <a:spLocks noGrp="1"/>
          </p:cNvSpPr>
          <p:nvPr>
            <p:ph idx="1"/>
          </p:nvPr>
        </p:nvSpPr>
        <p:spPr>
          <a:xfrm>
            <a:off x="853008" y="1642674"/>
            <a:ext cx="7286573" cy="2298774"/>
          </a:xfrm>
        </p:spPr>
        <p:txBody>
          <a:bodyPr>
            <a:normAutofit lnSpcReduction="10000"/>
          </a:bodyPr>
          <a:lstStyle/>
          <a:p>
            <a:r>
              <a:rPr lang="en-US" sz="1500" dirty="0"/>
              <a:t>Model the system in UPPAAL.</a:t>
            </a:r>
          </a:p>
          <a:p>
            <a:endParaRPr lang="en-US" sz="1500" dirty="0"/>
          </a:p>
          <a:p>
            <a:r>
              <a:rPr lang="en-US" sz="1500" dirty="0"/>
              <a:t>Verify the following properties: </a:t>
            </a:r>
          </a:p>
          <a:p>
            <a:pPr lvl="1"/>
            <a:r>
              <a:rPr lang="en-US" sz="1500" dirty="0"/>
              <a:t>The system cannot deadlock;</a:t>
            </a:r>
          </a:p>
          <a:p>
            <a:pPr lvl="1"/>
            <a:r>
              <a:rPr lang="en-US" sz="1500" dirty="0"/>
              <a:t>The receiver might send an acknowledgment;</a:t>
            </a:r>
          </a:p>
          <a:p>
            <a:pPr lvl="1"/>
            <a:r>
              <a:rPr lang="en-US" sz="1500" dirty="0"/>
              <a:t>The messages sent by the sender are eventually received by the receiver.</a:t>
            </a:r>
          </a:p>
          <a:p>
            <a:pPr lvl="1"/>
            <a:endParaRPr lang="en-US" sz="1500" dirty="0"/>
          </a:p>
          <a:p>
            <a:pPr algn="just"/>
            <a:r>
              <a:rPr lang="en-US" sz="1500" dirty="0"/>
              <a:t>Submit the UPPAAL model and the requirement files (.xml and .q), together with a short report.</a:t>
            </a:r>
          </a:p>
          <a:p>
            <a:pPr marL="0" indent="0" algn="just">
              <a:buNone/>
            </a:pPr>
            <a:endParaRPr lang="en-US" sz="1500" dirty="0"/>
          </a:p>
        </p:txBody>
      </p:sp>
    </p:spTree>
    <p:extLst>
      <p:ext uri="{BB962C8B-B14F-4D97-AF65-F5344CB8AC3E}">
        <p14:creationId xmlns:p14="http://schemas.microsoft.com/office/powerpoint/2010/main" val="7160134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8220" y="564119"/>
            <a:ext cx="6110436" cy="857250"/>
          </a:xfrm>
        </p:spPr>
        <p:txBody>
          <a:bodyPr/>
          <a:lstStyle/>
          <a:p>
            <a:r>
              <a:rPr lang="en-US" dirty="0"/>
              <a:t>Assignment </a:t>
            </a:r>
          </a:p>
        </p:txBody>
      </p:sp>
      <p:sp>
        <p:nvSpPr>
          <p:cNvPr id="3" name="Content Placeholder 2"/>
          <p:cNvSpPr>
            <a:spLocks noGrp="1"/>
          </p:cNvSpPr>
          <p:nvPr>
            <p:ph idx="1"/>
          </p:nvPr>
        </p:nvSpPr>
        <p:spPr>
          <a:xfrm>
            <a:off x="928713" y="1581714"/>
            <a:ext cx="7286573" cy="2298774"/>
          </a:xfrm>
        </p:spPr>
        <p:txBody>
          <a:bodyPr/>
          <a:lstStyle/>
          <a:p>
            <a:r>
              <a:rPr lang="en-US" sz="1800" dirty="0"/>
              <a:t>More information on UPPAAL: </a:t>
            </a:r>
          </a:p>
          <a:p>
            <a:pPr lvl="1"/>
            <a:r>
              <a:rPr lang="en-US" sz="1500" dirty="0"/>
              <a:t>https://uppaal.org/ </a:t>
            </a:r>
          </a:p>
          <a:p>
            <a:pPr lvl="1"/>
            <a:r>
              <a:rPr lang="en-US" sz="1500" dirty="0"/>
              <a:t>The Annex </a:t>
            </a:r>
          </a:p>
          <a:p>
            <a:pPr lvl="1"/>
            <a:r>
              <a:rPr lang="en-US" sz="1500" dirty="0"/>
              <a:t>“A Tutorial on </a:t>
            </a:r>
            <a:r>
              <a:rPr lang="en-US" sz="1500" dirty="0" err="1"/>
              <a:t>Uppaal</a:t>
            </a:r>
            <a:r>
              <a:rPr lang="en-US" sz="1500" dirty="0"/>
              <a:t> 4.0”, </a:t>
            </a:r>
            <a:r>
              <a:rPr lang="en-US" sz="1500" dirty="0" err="1"/>
              <a:t>Gerd</a:t>
            </a:r>
            <a:r>
              <a:rPr lang="en-US" sz="1500" dirty="0"/>
              <a:t> </a:t>
            </a:r>
            <a:r>
              <a:rPr lang="en-US" sz="1500" dirty="0" err="1"/>
              <a:t>Behrmann</a:t>
            </a:r>
            <a:r>
              <a:rPr lang="en-US" sz="1500" dirty="0"/>
              <a:t>, Alexandre David, and Kim G. Larsen</a:t>
            </a:r>
          </a:p>
          <a:p>
            <a:pPr marL="0" indent="0" algn="just">
              <a:buNone/>
            </a:pPr>
            <a:endParaRPr lang="en-US" sz="1500" dirty="0"/>
          </a:p>
        </p:txBody>
      </p:sp>
    </p:spTree>
    <p:extLst>
      <p:ext uri="{BB962C8B-B14F-4D97-AF65-F5344CB8AC3E}">
        <p14:creationId xmlns:p14="http://schemas.microsoft.com/office/powerpoint/2010/main" val="15674482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ctrTitle"/>
          </p:nvPr>
        </p:nvSpPr>
        <p:spPr>
          <a:xfrm>
            <a:off x="2171700" y="2228850"/>
            <a:ext cx="4800600" cy="609600"/>
          </a:xfrm>
        </p:spPr>
        <p:style>
          <a:lnRef idx="2">
            <a:schemeClr val="dk1"/>
          </a:lnRef>
          <a:fillRef idx="1">
            <a:schemeClr val="lt1"/>
          </a:fillRef>
          <a:effectRef idx="0">
            <a:schemeClr val="dk1"/>
          </a:effectRef>
          <a:fontRef idx="minor">
            <a:schemeClr val="dk1"/>
          </a:fontRef>
        </p:style>
        <p:txBody>
          <a:bodyPr>
            <a:normAutofit fontScale="90000"/>
          </a:bodyPr>
          <a:lstStyle/>
          <a:p>
            <a:pPr eaLnBrk="1" hangingPunct="1"/>
            <a:r>
              <a:rPr lang="en-US" dirty="0">
                <a:solidFill>
                  <a:schemeClr val="tx1"/>
                </a:solidFill>
                <a:effectLst>
                  <a:outerShdw blurRad="38100" dist="38100" dir="2700000" algn="tl">
                    <a:srgbClr val="DDDDDD"/>
                  </a:outerShdw>
                </a:effectLst>
                <a:latin typeface="Comic Sans MS" charset="0"/>
                <a:ea typeface="ＭＳ Ｐゴシック" charset="0"/>
                <a:cs typeface="Arial" charset="0"/>
              </a:rPr>
              <a:t>Annex</a:t>
            </a:r>
            <a:endParaRPr lang="da-DK" dirty="0">
              <a:solidFill>
                <a:schemeClr val="tx1"/>
              </a:solidFill>
              <a:effectLst>
                <a:outerShdw blurRad="38100" dist="38100" dir="2700000" algn="tl">
                  <a:srgbClr val="DDDDDD"/>
                </a:outerShdw>
              </a:effectLst>
              <a:latin typeface="Comic Sans MS" charset="0"/>
              <a:ea typeface="ＭＳ Ｐゴシック" charset="0"/>
              <a:cs typeface="Arial" charset="0"/>
            </a:endParaRPr>
          </a:p>
        </p:txBody>
      </p:sp>
      <p:sp>
        <p:nvSpPr>
          <p:cNvPr id="46083" name="Rectangle 3"/>
          <p:cNvSpPr>
            <a:spLocks noGrp="1" noChangeArrowheads="1"/>
          </p:cNvSpPr>
          <p:nvPr>
            <p:ph type="subTitle" idx="1"/>
          </p:nvPr>
        </p:nvSpPr>
        <p:spPr/>
        <p:txBody>
          <a:bodyPr>
            <a:normAutofit fontScale="62500" lnSpcReduction="20000"/>
          </a:bodyPr>
          <a:lstStyle/>
          <a:p>
            <a:pPr eaLnBrk="1" hangingPunct="1"/>
            <a:r>
              <a:rPr lang="en-US" dirty="0">
                <a:effectLst>
                  <a:outerShdw blurRad="38100" dist="38100" dir="2700000" algn="tl">
                    <a:srgbClr val="DDDDDD"/>
                  </a:outerShdw>
                </a:effectLst>
                <a:latin typeface="Comic Sans MS" charset="0"/>
                <a:cs typeface="Arial" charset="0"/>
              </a:rPr>
              <a:t>UPPAAL Syntax</a:t>
            </a:r>
            <a:endParaRPr lang="da-DK" dirty="0">
              <a:effectLst>
                <a:outerShdw blurRad="38100" dist="38100" dir="2700000" algn="tl">
                  <a:srgbClr val="DDDDDD"/>
                </a:outerShdw>
              </a:effectLst>
              <a:latin typeface="Comic Sans MS" charset="0"/>
              <a:cs typeface="Arial" charset="0"/>
            </a:endParaRPr>
          </a:p>
        </p:txBody>
      </p:sp>
    </p:spTree>
    <p:extLst>
      <p:ext uri="{BB962C8B-B14F-4D97-AF65-F5344CB8AC3E}">
        <p14:creationId xmlns:p14="http://schemas.microsoft.com/office/powerpoint/2010/main" val="2932322190"/>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171700" y="503635"/>
            <a:ext cx="5835254" cy="717947"/>
          </a:xfrm>
        </p:spPr>
        <p:txBody>
          <a:bodyPr/>
          <a:lstStyle/>
          <a:p>
            <a:pPr defTabSz="548879"/>
            <a:r>
              <a:rPr lang="en-US">
                <a:latin typeface="Comic Sans MS" charset="0"/>
                <a:cs typeface="Arial" charset="0"/>
              </a:rPr>
              <a:t>Timed Automata in U</a:t>
            </a:r>
            <a:r>
              <a:rPr lang="en-US" sz="3000">
                <a:latin typeface="Comic Sans MS" charset="0"/>
                <a:cs typeface="Arial" charset="0"/>
              </a:rPr>
              <a:t>PPAAL</a:t>
            </a:r>
            <a:endParaRPr lang="en-US">
              <a:latin typeface="Comic Sans MS" charset="0"/>
              <a:cs typeface="Arial" charset="0"/>
            </a:endParaRPr>
          </a:p>
        </p:txBody>
      </p:sp>
      <p:sp>
        <p:nvSpPr>
          <p:cNvPr id="18435" name="Rectangle 3"/>
          <p:cNvSpPr>
            <a:spLocks noGrp="1" noChangeArrowheads="1"/>
          </p:cNvSpPr>
          <p:nvPr>
            <p:ph type="body" idx="1"/>
          </p:nvPr>
        </p:nvSpPr>
        <p:spPr>
          <a:xfrm>
            <a:off x="1503760" y="1428750"/>
            <a:ext cx="6040040" cy="3429000"/>
          </a:xfrm>
        </p:spPr>
        <p:txBody>
          <a:bodyPr/>
          <a:lstStyle/>
          <a:p>
            <a:pPr defTabSz="548879"/>
            <a:r>
              <a:rPr lang="en-US">
                <a:latin typeface="Comic Sans MS" charset="0"/>
                <a:cs typeface="Arial" charset="0"/>
              </a:rPr>
              <a:t>Timed Automata with Invariants</a:t>
            </a:r>
          </a:p>
          <a:p>
            <a:pPr marL="534591" lvl="1" indent="-191691" defTabSz="548879"/>
            <a:r>
              <a:rPr lang="en-US" sz="1800">
                <a:latin typeface="Comic Sans MS" charset="0"/>
                <a:ea typeface="Arial" charset="0"/>
                <a:cs typeface="Arial" charset="0"/>
              </a:rPr>
              <a:t>urgent action channels,</a:t>
            </a:r>
          </a:p>
          <a:p>
            <a:pPr marL="534591" lvl="1" indent="-191691" defTabSz="548879"/>
            <a:r>
              <a:rPr lang="en-US" sz="1800">
                <a:latin typeface="Comic Sans MS" charset="0"/>
                <a:ea typeface="Arial" charset="0"/>
                <a:cs typeface="Arial" charset="0"/>
              </a:rPr>
              <a:t>urgent and committed locations,</a:t>
            </a:r>
          </a:p>
          <a:p>
            <a:pPr marL="534591" lvl="1" indent="-191691" defTabSz="548879"/>
            <a:r>
              <a:rPr lang="en-US" sz="1800">
                <a:latin typeface="Comic Sans MS" charset="0"/>
                <a:ea typeface="Arial" charset="0"/>
                <a:cs typeface="Arial" charset="0"/>
              </a:rPr>
              <a:t>data-variables (with bounded domains),</a:t>
            </a:r>
          </a:p>
          <a:p>
            <a:pPr marL="534591" lvl="1" indent="-191691" defTabSz="548879"/>
            <a:r>
              <a:rPr lang="en-US" sz="1800">
                <a:latin typeface="Comic Sans MS" charset="0"/>
                <a:ea typeface="Arial" charset="0"/>
                <a:cs typeface="Arial" charset="0"/>
              </a:rPr>
              <a:t>arrays of data-variables, </a:t>
            </a:r>
          </a:p>
          <a:p>
            <a:pPr marL="534591" lvl="1" indent="-191691" defTabSz="548879"/>
            <a:r>
              <a:rPr lang="en-US" sz="1800">
                <a:latin typeface="Comic Sans MS" charset="0"/>
                <a:ea typeface="Arial" charset="0"/>
                <a:cs typeface="Arial" charset="0"/>
              </a:rPr>
              <a:t>constants, </a:t>
            </a:r>
          </a:p>
          <a:p>
            <a:pPr marL="534591" lvl="1" indent="-191691" defTabSz="548879"/>
            <a:r>
              <a:rPr lang="en-US" sz="1800">
                <a:latin typeface="Comic Sans MS" charset="0"/>
                <a:ea typeface="Arial" charset="0"/>
                <a:cs typeface="Arial" charset="0"/>
              </a:rPr>
              <a:t>guards and assignments over data-variables and arrays…,</a:t>
            </a:r>
          </a:p>
          <a:p>
            <a:pPr marL="534591" lvl="1" indent="-191691" defTabSz="548879"/>
            <a:r>
              <a:rPr lang="en-US" sz="1800">
                <a:latin typeface="Comic Sans MS" charset="0"/>
                <a:ea typeface="Arial" charset="0"/>
                <a:cs typeface="Arial" charset="0"/>
              </a:rPr>
              <a:t>templates with local clocks, data-variables, and</a:t>
            </a:r>
            <a:br>
              <a:rPr lang="en-US" sz="1800">
                <a:latin typeface="Comic Sans MS" charset="0"/>
                <a:ea typeface="Arial" charset="0"/>
                <a:cs typeface="Arial" charset="0"/>
              </a:rPr>
            </a:br>
            <a:r>
              <a:rPr lang="en-US" sz="1800">
                <a:latin typeface="Comic Sans MS" charset="0"/>
                <a:ea typeface="Arial" charset="0"/>
                <a:cs typeface="Arial" charset="0"/>
              </a:rPr>
              <a:t>   constants.</a:t>
            </a:r>
          </a:p>
          <a:p>
            <a:pPr marL="534591" lvl="1" indent="-191691" defTabSz="548879"/>
            <a:r>
              <a:rPr lang="en-US" sz="1800">
                <a:latin typeface="Comic Sans MS" charset="0"/>
                <a:ea typeface="Arial" charset="0"/>
                <a:cs typeface="Arial" charset="0"/>
              </a:rPr>
              <a:t>C subset</a:t>
            </a:r>
          </a:p>
        </p:txBody>
      </p:sp>
    </p:spTree>
    <p:extLst>
      <p:ext uri="{BB962C8B-B14F-4D97-AF65-F5344CB8AC3E}">
        <p14:creationId xmlns:p14="http://schemas.microsoft.com/office/powerpoint/2010/main" val="32767946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907382" y="2971800"/>
            <a:ext cx="2550319" cy="685800"/>
          </a:xfrm>
          <a:prstGeom prst="rect">
            <a:avLst/>
          </a:prstGeom>
          <a:solidFill>
            <a:schemeClr val="accent1"/>
          </a:solidFill>
          <a:ln w="22225">
            <a:solidFill>
              <a:schemeClr val="tx1"/>
            </a:solidFill>
            <a:miter lim="800000"/>
            <a:headEnd/>
            <a:tailEnd/>
          </a:ln>
        </p:spPr>
        <p:txBody>
          <a:bodyPr wrap="none" lIns="65484" tIns="33338" rIns="65484" bIns="33338" anchor="ctr"/>
          <a:lstStyle/>
          <a:p>
            <a:endParaRPr lang="sv-SE" sz="1013">
              <a:cs typeface="Arial" charset="0"/>
            </a:endParaRPr>
          </a:p>
        </p:txBody>
      </p:sp>
      <p:sp>
        <p:nvSpPr>
          <p:cNvPr id="19459" name="Rectangle 3"/>
          <p:cNvSpPr>
            <a:spLocks noGrp="1" noChangeArrowheads="1"/>
          </p:cNvSpPr>
          <p:nvPr>
            <p:ph type="title"/>
          </p:nvPr>
        </p:nvSpPr>
        <p:spPr>
          <a:xfrm>
            <a:off x="2686050" y="-171450"/>
            <a:ext cx="5153025" cy="1200150"/>
          </a:xfrm>
        </p:spPr>
        <p:txBody>
          <a:bodyPr/>
          <a:lstStyle/>
          <a:p>
            <a:pPr defTabSz="548879"/>
            <a:r>
              <a:rPr lang="en-US">
                <a:latin typeface="Comic Sans MS" charset="0"/>
                <a:cs typeface="Arial" charset="0"/>
              </a:rPr>
              <a:t>Declarations in UPPAAL</a:t>
            </a:r>
            <a:endParaRPr lang="sv-SE">
              <a:latin typeface="Comic Sans MS" charset="0"/>
              <a:cs typeface="Arial" charset="0"/>
            </a:endParaRPr>
          </a:p>
        </p:txBody>
      </p:sp>
      <p:sp>
        <p:nvSpPr>
          <p:cNvPr id="19460" name="Rectangle 4"/>
          <p:cNvSpPr>
            <a:spLocks noGrp="1" noChangeArrowheads="1"/>
          </p:cNvSpPr>
          <p:nvPr>
            <p:ph type="body" idx="1"/>
          </p:nvPr>
        </p:nvSpPr>
        <p:spPr/>
        <p:txBody>
          <a:bodyPr>
            <a:normAutofit fontScale="92500" lnSpcReduction="20000"/>
          </a:bodyPr>
          <a:lstStyle/>
          <a:p>
            <a:pPr defTabSz="548879"/>
            <a:r>
              <a:rPr lang="en-US" sz="1800">
                <a:latin typeface="Comic Sans MS" charset="0"/>
                <a:cs typeface="Arial" charset="0"/>
              </a:rPr>
              <a:t>The syntax used for declarations in UPPAAL is similar to the syntax used in the C programming language.</a:t>
            </a:r>
          </a:p>
          <a:p>
            <a:pPr defTabSz="548879"/>
            <a:endParaRPr lang="en-US" sz="1800">
              <a:latin typeface="Comic Sans MS" charset="0"/>
              <a:cs typeface="Arial" charset="0"/>
            </a:endParaRPr>
          </a:p>
          <a:p>
            <a:pPr defTabSz="548879"/>
            <a:r>
              <a:rPr lang="en-US" sz="1800" b="1">
                <a:latin typeface="Comic Sans MS" charset="0"/>
                <a:cs typeface="Arial" charset="0"/>
              </a:rPr>
              <a:t>Clocks</a:t>
            </a:r>
            <a:r>
              <a:rPr lang="en-US" sz="1800">
                <a:latin typeface="Comic Sans MS" charset="0"/>
                <a:cs typeface="Arial" charset="0"/>
              </a:rPr>
              <a:t>:</a:t>
            </a:r>
          </a:p>
          <a:p>
            <a:pPr marL="534591" lvl="1" indent="-191691" defTabSz="548879"/>
            <a:r>
              <a:rPr lang="en-US" sz="1500" b="1">
                <a:latin typeface="Comic Sans MS" charset="0"/>
                <a:ea typeface="Arial" charset="0"/>
                <a:cs typeface="Arial" charset="0"/>
              </a:rPr>
              <a:t>Syntax:</a:t>
            </a:r>
          </a:p>
          <a:p>
            <a:pPr marL="534591" lvl="1" indent="-191691" defTabSz="548879"/>
            <a:endParaRPr lang="en-US" sz="1500" b="1">
              <a:latin typeface="Courier New" charset="0"/>
              <a:ea typeface="Arial" charset="0"/>
              <a:cs typeface="Arial" charset="0"/>
            </a:endParaRPr>
          </a:p>
          <a:p>
            <a:pPr marL="534591" lvl="1" indent="-191691" defTabSz="548879"/>
            <a:r>
              <a:rPr lang="en-US" sz="1500" b="1">
                <a:latin typeface="Courier New" charset="0"/>
                <a:ea typeface="Arial" charset="0"/>
                <a:cs typeface="Arial" charset="0"/>
              </a:rPr>
              <a:t>clock x1, …, xn ;</a:t>
            </a:r>
          </a:p>
          <a:p>
            <a:pPr marL="534591" lvl="1" indent="-191691" defTabSz="548879"/>
            <a:endParaRPr lang="en-US" sz="1500" b="1">
              <a:latin typeface="Courier New" charset="0"/>
              <a:ea typeface="Arial" charset="0"/>
              <a:cs typeface="Arial" charset="0"/>
            </a:endParaRPr>
          </a:p>
          <a:p>
            <a:pPr marL="534591" lvl="1" indent="-191691" defTabSz="548879"/>
            <a:r>
              <a:rPr lang="en-US" sz="1500" b="1">
                <a:latin typeface="Comic Sans MS" charset="0"/>
                <a:ea typeface="Arial" charset="0"/>
                <a:cs typeface="Arial" charset="0"/>
              </a:rPr>
              <a:t>Example: </a:t>
            </a:r>
          </a:p>
          <a:p>
            <a:pPr marL="534591" lvl="1" indent="-191691" defTabSz="548879"/>
            <a:r>
              <a:rPr lang="en-US" sz="1500" b="1">
                <a:latin typeface="Courier New" charset="0"/>
                <a:ea typeface="Arial" charset="0"/>
                <a:cs typeface="Arial" charset="0"/>
              </a:rPr>
              <a:t>clock x, y;		</a:t>
            </a:r>
            <a:r>
              <a:rPr lang="en-US" sz="1500" b="1">
                <a:latin typeface="Comic Sans MS" charset="0"/>
                <a:ea typeface="Arial" charset="0"/>
                <a:cs typeface="Arial" charset="0"/>
              </a:rPr>
              <a:t>Declares two clocks: x and y.</a:t>
            </a:r>
            <a:endParaRPr lang="sv-SE" sz="1500" b="1">
              <a:latin typeface="Comic Sans MS" charset="0"/>
              <a:ea typeface="Arial" charset="0"/>
              <a:cs typeface="Arial" charset="0"/>
            </a:endParaRPr>
          </a:p>
        </p:txBody>
      </p:sp>
    </p:spTree>
    <p:extLst>
      <p:ext uri="{BB962C8B-B14F-4D97-AF65-F5344CB8AC3E}">
        <p14:creationId xmlns:p14="http://schemas.microsoft.com/office/powerpoint/2010/main" val="14645001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1943100" y="2171700"/>
            <a:ext cx="2343150" cy="1200150"/>
          </a:xfrm>
          <a:prstGeom prst="rect">
            <a:avLst/>
          </a:prstGeom>
          <a:solidFill>
            <a:schemeClr val="accent1"/>
          </a:solidFill>
          <a:ln w="22225">
            <a:solidFill>
              <a:schemeClr val="tx1"/>
            </a:solidFill>
            <a:miter lim="800000"/>
            <a:headEnd/>
            <a:tailEnd/>
          </a:ln>
        </p:spPr>
        <p:txBody>
          <a:bodyPr wrap="none" lIns="65484" tIns="33338" rIns="65484" bIns="33338" anchor="ctr"/>
          <a:lstStyle/>
          <a:p>
            <a:endParaRPr lang="sv-SE" sz="1013">
              <a:cs typeface="Arial" charset="0"/>
            </a:endParaRPr>
          </a:p>
        </p:txBody>
      </p:sp>
      <p:sp>
        <p:nvSpPr>
          <p:cNvPr id="20483" name="Rectangle 3"/>
          <p:cNvSpPr>
            <a:spLocks noGrp="1" noChangeArrowheads="1"/>
          </p:cNvSpPr>
          <p:nvPr>
            <p:ph type="title"/>
          </p:nvPr>
        </p:nvSpPr>
        <p:spPr>
          <a:xfrm>
            <a:off x="2790825" y="228600"/>
            <a:ext cx="5153025" cy="1200150"/>
          </a:xfrm>
        </p:spPr>
        <p:txBody>
          <a:bodyPr/>
          <a:lstStyle/>
          <a:p>
            <a:pPr defTabSz="548879"/>
            <a:r>
              <a:rPr lang="en-US">
                <a:latin typeface="Comic Sans MS" charset="0"/>
                <a:cs typeface="Arial" charset="0"/>
              </a:rPr>
              <a:t>Declarations in UPPAAL (cont.)</a:t>
            </a:r>
            <a:endParaRPr lang="sv-SE">
              <a:latin typeface="Comic Sans MS" charset="0"/>
              <a:cs typeface="Arial" charset="0"/>
            </a:endParaRPr>
          </a:p>
        </p:txBody>
      </p:sp>
      <p:sp>
        <p:nvSpPr>
          <p:cNvPr id="20484" name="Rectangle 4"/>
          <p:cNvSpPr>
            <a:spLocks noGrp="1" noChangeArrowheads="1"/>
          </p:cNvSpPr>
          <p:nvPr>
            <p:ph type="body" idx="1"/>
          </p:nvPr>
        </p:nvSpPr>
        <p:spPr/>
        <p:txBody>
          <a:bodyPr>
            <a:normAutofit fontScale="92500" lnSpcReduction="20000"/>
          </a:bodyPr>
          <a:lstStyle/>
          <a:p>
            <a:pPr defTabSz="548879"/>
            <a:r>
              <a:rPr lang="en-US" sz="1800" b="1">
                <a:latin typeface="Comic Sans MS" charset="0"/>
                <a:cs typeface="Arial" charset="0"/>
              </a:rPr>
              <a:t>Data variables</a:t>
            </a:r>
          </a:p>
          <a:p>
            <a:pPr marL="534591" lvl="1" indent="-191691" defTabSz="548879"/>
            <a:r>
              <a:rPr lang="en-US" sz="1500" b="1">
                <a:latin typeface="Comic Sans MS" charset="0"/>
                <a:ea typeface="Arial" charset="0"/>
                <a:cs typeface="Arial" charset="0"/>
              </a:rPr>
              <a:t>Syntax:</a:t>
            </a:r>
          </a:p>
          <a:p>
            <a:pPr marL="534591" lvl="1" indent="-191691" defTabSz="548879"/>
            <a:endParaRPr lang="en-US" sz="1500" b="1">
              <a:latin typeface="Comic Sans MS" charset="0"/>
              <a:ea typeface="Arial" charset="0"/>
              <a:cs typeface="Arial" charset="0"/>
            </a:endParaRPr>
          </a:p>
          <a:p>
            <a:pPr marL="534591" lvl="1" indent="-191691" defTabSz="548879"/>
            <a:r>
              <a:rPr lang="en-US" sz="1500" b="1">
                <a:latin typeface="Courier New" charset="0"/>
                <a:ea typeface="Arial" charset="0"/>
                <a:cs typeface="Arial" charset="0"/>
              </a:rPr>
              <a:t>int n1, … ;		</a:t>
            </a:r>
            <a:r>
              <a:rPr lang="en-US" sz="1500" b="1">
                <a:latin typeface="Comic Sans MS" charset="0"/>
                <a:ea typeface="Arial" charset="0"/>
                <a:cs typeface="Arial" charset="0"/>
              </a:rPr>
              <a:t>Integer with </a:t>
            </a:r>
            <a:r>
              <a:rPr lang="ja-JP" altLang="en-US" sz="1500" b="1">
                <a:latin typeface="Comic Sans MS" charset="0"/>
                <a:ea typeface="Arial" charset="0"/>
                <a:cs typeface="Arial" charset="0"/>
              </a:rPr>
              <a:t>“</a:t>
            </a:r>
            <a:r>
              <a:rPr lang="en-US" altLang="ja-JP" sz="1500" b="1">
                <a:latin typeface="Comic Sans MS" charset="0"/>
                <a:ea typeface="Arial" charset="0"/>
                <a:cs typeface="Arial" charset="0"/>
              </a:rPr>
              <a:t>default</a:t>
            </a:r>
            <a:r>
              <a:rPr lang="ja-JP" altLang="en-US" sz="1500" b="1">
                <a:latin typeface="Comic Sans MS" charset="0"/>
                <a:ea typeface="Arial" charset="0"/>
                <a:cs typeface="Arial" charset="0"/>
              </a:rPr>
              <a:t>”</a:t>
            </a:r>
            <a:r>
              <a:rPr lang="en-US" altLang="ja-JP" sz="1500" b="1">
                <a:latin typeface="Comic Sans MS" charset="0"/>
                <a:ea typeface="Arial" charset="0"/>
                <a:cs typeface="Arial" charset="0"/>
              </a:rPr>
              <a:t> domain.</a:t>
            </a:r>
            <a:endParaRPr lang="en-US" altLang="ja-JP" sz="1500" b="1">
              <a:latin typeface="Courier New" charset="0"/>
              <a:ea typeface="Arial" charset="0"/>
              <a:cs typeface="Arial" charset="0"/>
            </a:endParaRPr>
          </a:p>
          <a:p>
            <a:pPr marL="534591" lvl="1" indent="-191691" defTabSz="548879"/>
            <a:r>
              <a:rPr lang="en-US" sz="1500" b="1">
                <a:latin typeface="Courier New" charset="0"/>
                <a:ea typeface="Arial" charset="0"/>
                <a:cs typeface="Arial" charset="0"/>
              </a:rPr>
              <a:t>int[l,u] n1, … ;	</a:t>
            </a:r>
            <a:r>
              <a:rPr lang="en-US" sz="1500" b="1">
                <a:latin typeface="Comic Sans MS" charset="0"/>
                <a:ea typeface="Arial" charset="0"/>
                <a:cs typeface="Arial" charset="0"/>
              </a:rPr>
              <a:t>Integer with domain </a:t>
            </a:r>
            <a:r>
              <a:rPr lang="ja-JP" altLang="en-US" sz="1500" b="1">
                <a:latin typeface="Comic Sans MS" charset="0"/>
                <a:ea typeface="Arial" charset="0"/>
                <a:cs typeface="Arial" charset="0"/>
              </a:rPr>
              <a:t>“</a:t>
            </a:r>
            <a:r>
              <a:rPr lang="en-US" altLang="ja-JP" sz="1500" b="1">
                <a:latin typeface="Comic Sans MS" charset="0"/>
                <a:ea typeface="Arial" charset="0"/>
                <a:cs typeface="Arial" charset="0"/>
              </a:rPr>
              <a:t>l</a:t>
            </a:r>
            <a:r>
              <a:rPr lang="ja-JP" altLang="en-US" sz="1500" b="1">
                <a:latin typeface="Comic Sans MS" charset="0"/>
                <a:ea typeface="Arial" charset="0"/>
                <a:cs typeface="Arial" charset="0"/>
              </a:rPr>
              <a:t>”</a:t>
            </a:r>
            <a:r>
              <a:rPr lang="en-US" altLang="ja-JP" sz="1500" b="1">
                <a:latin typeface="Comic Sans MS" charset="0"/>
                <a:ea typeface="Arial" charset="0"/>
                <a:cs typeface="Arial" charset="0"/>
              </a:rPr>
              <a:t> to </a:t>
            </a:r>
            <a:r>
              <a:rPr lang="ja-JP" altLang="en-US" sz="1500" b="1">
                <a:latin typeface="Comic Sans MS" charset="0"/>
                <a:ea typeface="Arial" charset="0"/>
                <a:cs typeface="Arial" charset="0"/>
              </a:rPr>
              <a:t>“</a:t>
            </a:r>
            <a:r>
              <a:rPr lang="en-US" altLang="ja-JP" sz="1500" b="1">
                <a:latin typeface="Comic Sans MS" charset="0"/>
                <a:ea typeface="Arial" charset="0"/>
                <a:cs typeface="Arial" charset="0"/>
              </a:rPr>
              <a:t>u</a:t>
            </a:r>
            <a:r>
              <a:rPr lang="ja-JP" altLang="en-US" sz="1500" b="1">
                <a:latin typeface="Comic Sans MS" charset="0"/>
                <a:ea typeface="Arial" charset="0"/>
                <a:cs typeface="Arial" charset="0"/>
              </a:rPr>
              <a:t>”</a:t>
            </a:r>
            <a:r>
              <a:rPr lang="en-US" altLang="ja-JP" sz="1500" b="1">
                <a:latin typeface="Comic Sans MS" charset="0"/>
                <a:ea typeface="Arial" charset="0"/>
                <a:cs typeface="Arial" charset="0"/>
              </a:rPr>
              <a:t>.</a:t>
            </a:r>
            <a:endParaRPr lang="en-US" altLang="ja-JP" sz="1500" b="1">
              <a:latin typeface="Courier New" charset="0"/>
              <a:ea typeface="Arial" charset="0"/>
              <a:cs typeface="Arial" charset="0"/>
            </a:endParaRPr>
          </a:p>
          <a:p>
            <a:pPr marL="534591" lvl="1" indent="-191691" defTabSz="548879"/>
            <a:r>
              <a:rPr lang="en-US" sz="1500" b="1">
                <a:latin typeface="Courier New" charset="0"/>
                <a:ea typeface="Arial" charset="0"/>
                <a:cs typeface="Arial" charset="0"/>
              </a:rPr>
              <a:t>int n1[m], … ;		</a:t>
            </a:r>
            <a:r>
              <a:rPr lang="en-US" sz="1500" b="1">
                <a:latin typeface="Comic Sans MS" charset="0"/>
                <a:ea typeface="Arial" charset="0"/>
                <a:cs typeface="Arial" charset="0"/>
              </a:rPr>
              <a:t>Integer array w. elements n1[0] to 						n1[m-1].</a:t>
            </a:r>
            <a:endParaRPr lang="en-US" sz="1500" b="1">
              <a:latin typeface="Courier New" charset="0"/>
              <a:ea typeface="Arial" charset="0"/>
              <a:cs typeface="Arial" charset="0"/>
            </a:endParaRPr>
          </a:p>
          <a:p>
            <a:pPr marL="534591" lvl="1" indent="-191691" defTabSz="548879"/>
            <a:endParaRPr lang="en-US" sz="1500" b="1">
              <a:latin typeface="Courier New" charset="0"/>
              <a:ea typeface="Arial" charset="0"/>
              <a:cs typeface="Arial" charset="0"/>
            </a:endParaRPr>
          </a:p>
          <a:p>
            <a:pPr marL="534591" lvl="1" indent="-191691" defTabSz="548879"/>
            <a:r>
              <a:rPr lang="en-US" sz="1500" b="1">
                <a:latin typeface="Comic Sans MS" charset="0"/>
                <a:ea typeface="Arial" charset="0"/>
                <a:cs typeface="Arial" charset="0"/>
              </a:rPr>
              <a:t>Example;</a:t>
            </a:r>
          </a:p>
          <a:p>
            <a:pPr marL="534591" lvl="1" indent="-191691" defTabSz="548879"/>
            <a:r>
              <a:rPr lang="en-US" sz="1500" b="1">
                <a:latin typeface="Courier New" charset="0"/>
                <a:ea typeface="Arial" charset="0"/>
                <a:cs typeface="Arial" charset="0"/>
              </a:rPr>
              <a:t>int a, b;</a:t>
            </a:r>
          </a:p>
          <a:p>
            <a:pPr marL="534591" lvl="1" indent="-191691" defTabSz="548879"/>
            <a:r>
              <a:rPr lang="en-US" sz="1500" b="1">
                <a:latin typeface="Courier New" charset="0"/>
                <a:ea typeface="Arial" charset="0"/>
                <a:cs typeface="Arial" charset="0"/>
              </a:rPr>
              <a:t>int[0,1] a, b[5][6];</a:t>
            </a:r>
          </a:p>
          <a:p>
            <a:pPr marL="534591" lvl="1" indent="-191691" defTabSz="548879"/>
            <a:endParaRPr lang="sv-SE" sz="1500" b="1">
              <a:latin typeface="Courier New" charset="0"/>
              <a:ea typeface="Arial" charset="0"/>
              <a:cs typeface="Arial" charset="0"/>
            </a:endParaRPr>
          </a:p>
        </p:txBody>
      </p:sp>
    </p:spTree>
    <p:extLst>
      <p:ext uri="{BB962C8B-B14F-4D97-AF65-F5344CB8AC3E}">
        <p14:creationId xmlns:p14="http://schemas.microsoft.com/office/powerpoint/2010/main" val="6300234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1885950" y="2171700"/>
            <a:ext cx="2655094" cy="857250"/>
          </a:xfrm>
          <a:prstGeom prst="rect">
            <a:avLst/>
          </a:prstGeom>
          <a:solidFill>
            <a:schemeClr val="accent1"/>
          </a:solidFill>
          <a:ln w="22225">
            <a:solidFill>
              <a:schemeClr val="tx1"/>
            </a:solidFill>
            <a:miter lim="800000"/>
            <a:headEnd/>
            <a:tailEnd/>
          </a:ln>
        </p:spPr>
        <p:txBody>
          <a:bodyPr wrap="none" lIns="65484" tIns="33338" rIns="65484" bIns="33338" anchor="ctr"/>
          <a:lstStyle/>
          <a:p>
            <a:endParaRPr lang="sv-SE" sz="1013">
              <a:cs typeface="Arial" charset="0"/>
            </a:endParaRPr>
          </a:p>
        </p:txBody>
      </p:sp>
      <p:sp>
        <p:nvSpPr>
          <p:cNvPr id="21507" name="Rectangle 3"/>
          <p:cNvSpPr>
            <a:spLocks noGrp="1" noChangeArrowheads="1"/>
          </p:cNvSpPr>
          <p:nvPr>
            <p:ph type="title"/>
          </p:nvPr>
        </p:nvSpPr>
        <p:spPr/>
        <p:txBody>
          <a:bodyPr/>
          <a:lstStyle/>
          <a:p>
            <a:pPr defTabSz="548879"/>
            <a:r>
              <a:rPr lang="en-US" sz="3000">
                <a:latin typeface="Comic Sans MS" charset="0"/>
                <a:cs typeface="Arial" charset="0"/>
              </a:rPr>
              <a:t>Declarations in UPPAAL (cont.)</a:t>
            </a:r>
            <a:endParaRPr lang="sv-SE" sz="3000">
              <a:latin typeface="Comic Sans MS" charset="0"/>
              <a:cs typeface="Arial" charset="0"/>
            </a:endParaRPr>
          </a:p>
        </p:txBody>
      </p:sp>
      <p:sp>
        <p:nvSpPr>
          <p:cNvPr id="21508" name="Rectangle 4"/>
          <p:cNvSpPr>
            <a:spLocks noGrp="1" noChangeArrowheads="1"/>
          </p:cNvSpPr>
          <p:nvPr>
            <p:ph type="body" idx="1"/>
          </p:nvPr>
        </p:nvSpPr>
        <p:spPr>
          <a:xfrm>
            <a:off x="1683544" y="1371600"/>
            <a:ext cx="5974556" cy="3429000"/>
          </a:xfrm>
        </p:spPr>
        <p:txBody>
          <a:bodyPr/>
          <a:lstStyle/>
          <a:p>
            <a:pPr defTabSz="548879"/>
            <a:r>
              <a:rPr lang="en-US" sz="1800">
                <a:latin typeface="Comic Sans MS" charset="0"/>
                <a:cs typeface="Arial" charset="0"/>
              </a:rPr>
              <a:t>Actions (or channels):</a:t>
            </a:r>
          </a:p>
          <a:p>
            <a:pPr marL="534591" lvl="1" indent="-191691" defTabSz="548879"/>
            <a:r>
              <a:rPr lang="en-US" sz="1500" b="1">
                <a:latin typeface="Comic Sans MS" charset="0"/>
                <a:ea typeface="Arial" charset="0"/>
                <a:cs typeface="Arial" charset="0"/>
              </a:rPr>
              <a:t>Syntax:</a:t>
            </a:r>
          </a:p>
          <a:p>
            <a:pPr marL="534591" lvl="1" indent="-191691" defTabSz="548879"/>
            <a:endParaRPr lang="en-US" sz="1500" b="1">
              <a:latin typeface="Comic Sans MS" charset="0"/>
              <a:ea typeface="Arial" charset="0"/>
              <a:cs typeface="Arial" charset="0"/>
            </a:endParaRPr>
          </a:p>
          <a:p>
            <a:pPr marL="534591" lvl="1" indent="-191691" defTabSz="548879"/>
            <a:r>
              <a:rPr lang="en-US" sz="1500" b="1">
                <a:latin typeface="Courier New" charset="0"/>
                <a:ea typeface="Arial" charset="0"/>
                <a:cs typeface="Arial" charset="0"/>
              </a:rPr>
              <a:t>chan a, … ;			</a:t>
            </a:r>
            <a:r>
              <a:rPr lang="en-US" sz="1500" b="1">
                <a:latin typeface="Comic Sans MS" charset="0"/>
                <a:ea typeface="Arial" charset="0"/>
                <a:cs typeface="Arial" charset="0"/>
              </a:rPr>
              <a:t>Ordinary channels.</a:t>
            </a:r>
            <a:endParaRPr lang="en-US" sz="1500" b="1">
              <a:latin typeface="Courier New" charset="0"/>
              <a:ea typeface="Arial" charset="0"/>
              <a:cs typeface="Arial" charset="0"/>
            </a:endParaRPr>
          </a:p>
          <a:p>
            <a:pPr marL="534591" lvl="1" indent="-191691" defTabSz="548879"/>
            <a:r>
              <a:rPr lang="en-US" sz="1500" b="1">
                <a:latin typeface="Courier New" charset="0"/>
                <a:ea typeface="Arial" charset="0"/>
                <a:cs typeface="Arial" charset="0"/>
              </a:rPr>
              <a:t>urgent chan b, … ;	     </a:t>
            </a:r>
            <a:r>
              <a:rPr lang="en-US" sz="1500" b="1">
                <a:latin typeface="Comic Sans MS" charset="0"/>
                <a:ea typeface="Arial" charset="0"/>
                <a:cs typeface="Arial" charset="0"/>
              </a:rPr>
              <a:t>Urgent actions (see later)</a:t>
            </a:r>
            <a:endParaRPr lang="en-US" sz="1500" b="1">
              <a:latin typeface="Courier New" charset="0"/>
              <a:ea typeface="Arial" charset="0"/>
              <a:cs typeface="Arial" charset="0"/>
            </a:endParaRPr>
          </a:p>
          <a:p>
            <a:pPr marL="534591" lvl="1" indent="-191691" defTabSz="548879"/>
            <a:endParaRPr lang="en-US" sz="1500" b="1">
              <a:latin typeface="Courier New" charset="0"/>
              <a:ea typeface="Arial" charset="0"/>
              <a:cs typeface="Arial" charset="0"/>
            </a:endParaRPr>
          </a:p>
          <a:p>
            <a:pPr marL="534591" lvl="1" indent="-191691" defTabSz="548879"/>
            <a:r>
              <a:rPr lang="en-US" sz="1500" b="1">
                <a:latin typeface="Comic Sans MS" charset="0"/>
                <a:ea typeface="Arial" charset="0"/>
                <a:cs typeface="Arial" charset="0"/>
              </a:rPr>
              <a:t>Example:</a:t>
            </a:r>
          </a:p>
          <a:p>
            <a:pPr marL="534591" lvl="1" indent="-191691" defTabSz="548879"/>
            <a:r>
              <a:rPr lang="en-US" sz="1500" b="1">
                <a:latin typeface="Courier New" charset="0"/>
                <a:ea typeface="Arial" charset="0"/>
                <a:cs typeface="Arial" charset="0"/>
              </a:rPr>
              <a:t>chan a, b;</a:t>
            </a:r>
          </a:p>
          <a:p>
            <a:pPr marL="534591" lvl="1" indent="-191691" defTabSz="548879"/>
            <a:r>
              <a:rPr lang="en-US" sz="1500" b="1">
                <a:latin typeface="Courier New" charset="0"/>
                <a:ea typeface="Arial" charset="0"/>
                <a:cs typeface="Arial" charset="0"/>
              </a:rPr>
              <a:t>urgent chan c;</a:t>
            </a:r>
          </a:p>
          <a:p>
            <a:pPr marL="534591" lvl="1" indent="-191691" defTabSz="548879"/>
            <a:endParaRPr lang="en-US" sz="1500" b="1">
              <a:latin typeface="Comic Sans MS" charset="0"/>
              <a:ea typeface="Arial" charset="0"/>
              <a:cs typeface="Arial" charset="0"/>
            </a:endParaRPr>
          </a:p>
          <a:p>
            <a:pPr marL="534591" lvl="1" indent="-191691" defTabSz="548879"/>
            <a:endParaRPr lang="sv-SE" sz="1500" b="1">
              <a:latin typeface="Comic Sans MS" charset="0"/>
              <a:ea typeface="Arial" charset="0"/>
              <a:cs typeface="Arial" charset="0"/>
            </a:endParaRPr>
          </a:p>
        </p:txBody>
      </p:sp>
    </p:spTree>
    <p:extLst>
      <p:ext uri="{BB962C8B-B14F-4D97-AF65-F5344CB8AC3E}">
        <p14:creationId xmlns:p14="http://schemas.microsoft.com/office/powerpoint/2010/main" val="5545924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2057400" y="2171700"/>
            <a:ext cx="3007519" cy="742950"/>
          </a:xfrm>
          <a:prstGeom prst="rect">
            <a:avLst/>
          </a:prstGeom>
          <a:solidFill>
            <a:schemeClr val="accent1"/>
          </a:solidFill>
          <a:ln w="22225">
            <a:solidFill>
              <a:schemeClr val="tx1"/>
            </a:solidFill>
            <a:miter lim="800000"/>
            <a:headEnd/>
            <a:tailEnd/>
          </a:ln>
        </p:spPr>
        <p:txBody>
          <a:bodyPr wrap="none" lIns="65484" tIns="33338" rIns="65484" bIns="33338" anchor="ctr"/>
          <a:lstStyle/>
          <a:p>
            <a:endParaRPr lang="sv-SE" sz="1013">
              <a:cs typeface="Arial" charset="0"/>
            </a:endParaRPr>
          </a:p>
        </p:txBody>
      </p:sp>
      <p:sp>
        <p:nvSpPr>
          <p:cNvPr id="22531" name="Rectangle 3"/>
          <p:cNvSpPr>
            <a:spLocks noGrp="1" noChangeArrowheads="1"/>
          </p:cNvSpPr>
          <p:nvPr>
            <p:ph type="title"/>
          </p:nvPr>
        </p:nvSpPr>
        <p:spPr/>
        <p:txBody>
          <a:bodyPr/>
          <a:lstStyle/>
          <a:p>
            <a:pPr defTabSz="548879"/>
            <a:r>
              <a:rPr lang="en-US" sz="3000">
                <a:latin typeface="Comic Sans MS" charset="0"/>
                <a:cs typeface="Arial" charset="0"/>
              </a:rPr>
              <a:t>Declarations U</a:t>
            </a:r>
            <a:r>
              <a:rPr lang="en-US" sz="2700">
                <a:latin typeface="Comic Sans MS" charset="0"/>
                <a:cs typeface="Arial" charset="0"/>
              </a:rPr>
              <a:t>PPAAL</a:t>
            </a:r>
            <a:r>
              <a:rPr lang="en-US" sz="3000">
                <a:latin typeface="Comic Sans MS" charset="0"/>
                <a:cs typeface="Arial" charset="0"/>
              </a:rPr>
              <a:t> (const.)</a:t>
            </a:r>
            <a:endParaRPr lang="sv-SE" sz="3000">
              <a:latin typeface="Comic Sans MS" charset="0"/>
              <a:cs typeface="Arial" charset="0"/>
            </a:endParaRPr>
          </a:p>
        </p:txBody>
      </p:sp>
      <p:sp>
        <p:nvSpPr>
          <p:cNvPr id="22532" name="Rectangle 4"/>
          <p:cNvSpPr>
            <a:spLocks noGrp="1" noChangeArrowheads="1"/>
          </p:cNvSpPr>
          <p:nvPr>
            <p:ph type="body" idx="1"/>
          </p:nvPr>
        </p:nvSpPr>
        <p:spPr>
          <a:xfrm>
            <a:off x="1828800" y="1543050"/>
            <a:ext cx="6172200" cy="3257550"/>
          </a:xfrm>
        </p:spPr>
        <p:txBody>
          <a:bodyPr/>
          <a:lstStyle/>
          <a:p>
            <a:pPr defTabSz="548879"/>
            <a:r>
              <a:rPr lang="en-US" sz="1800">
                <a:latin typeface="Comic Sans MS" charset="0"/>
                <a:cs typeface="Arial" charset="0"/>
              </a:rPr>
              <a:t>Constants</a:t>
            </a:r>
            <a:endParaRPr lang="en-US" sz="1800" b="1">
              <a:latin typeface="Comic Sans MS" charset="0"/>
              <a:cs typeface="Arial" charset="0"/>
            </a:endParaRPr>
          </a:p>
          <a:p>
            <a:pPr marL="534591" lvl="1" indent="-191691" defTabSz="548879"/>
            <a:r>
              <a:rPr lang="en-US" sz="1500" b="1">
                <a:latin typeface="Comic Sans MS" charset="0"/>
                <a:ea typeface="Arial" charset="0"/>
                <a:cs typeface="Arial" charset="0"/>
              </a:rPr>
              <a:t>Syntax:</a:t>
            </a:r>
          </a:p>
          <a:p>
            <a:pPr marL="534591" lvl="1" indent="-191691" defTabSz="548879"/>
            <a:endParaRPr lang="en-US" sz="1500" b="1">
              <a:latin typeface="Comic Sans MS" charset="0"/>
              <a:ea typeface="Arial" charset="0"/>
              <a:cs typeface="Arial" charset="0"/>
            </a:endParaRPr>
          </a:p>
          <a:p>
            <a:pPr marL="534591" lvl="1" indent="-191691" defTabSz="548879"/>
            <a:r>
              <a:rPr lang="en-US" sz="1500" b="1">
                <a:latin typeface="Courier New" charset="0"/>
                <a:ea typeface="Arial" charset="0"/>
                <a:cs typeface="Arial" charset="0"/>
              </a:rPr>
              <a:t>const int c1 = n1;</a:t>
            </a:r>
          </a:p>
          <a:p>
            <a:pPr marL="534591" lvl="1" indent="-191691" defTabSz="548879"/>
            <a:endParaRPr lang="en-US" sz="1500" b="1">
              <a:latin typeface="Courier New" charset="0"/>
              <a:ea typeface="Arial" charset="0"/>
              <a:cs typeface="Arial" charset="0"/>
            </a:endParaRPr>
          </a:p>
          <a:p>
            <a:pPr marL="534591" lvl="1" indent="-191691" defTabSz="548879"/>
            <a:endParaRPr lang="en-US" sz="1500" b="1">
              <a:latin typeface="Courier New" charset="0"/>
              <a:ea typeface="Arial" charset="0"/>
              <a:cs typeface="Arial" charset="0"/>
            </a:endParaRPr>
          </a:p>
          <a:p>
            <a:pPr marL="534591" lvl="1" indent="-191691" defTabSz="548879"/>
            <a:r>
              <a:rPr lang="en-US" sz="1500" b="1">
                <a:latin typeface="Comic Sans MS" charset="0"/>
                <a:ea typeface="Arial" charset="0"/>
                <a:cs typeface="Arial" charset="0"/>
              </a:rPr>
              <a:t>Example:</a:t>
            </a:r>
          </a:p>
          <a:p>
            <a:pPr marL="534591" lvl="1" indent="-191691" defTabSz="548879"/>
            <a:r>
              <a:rPr lang="en-US" sz="1500" b="1">
                <a:latin typeface="Courier New" charset="0"/>
                <a:ea typeface="Arial" charset="0"/>
                <a:cs typeface="Arial" charset="0"/>
              </a:rPr>
              <a:t>const int[0,1] YES = 1;</a:t>
            </a:r>
          </a:p>
          <a:p>
            <a:pPr marL="534591" lvl="1" indent="-191691" defTabSz="548879"/>
            <a:r>
              <a:rPr lang="en-US" sz="1500" b="1">
                <a:latin typeface="Courier New" charset="0"/>
                <a:ea typeface="Arial" charset="0"/>
                <a:cs typeface="Arial" charset="0"/>
              </a:rPr>
              <a:t>const bool NO = false;</a:t>
            </a:r>
            <a:endParaRPr lang="sv-SE" sz="1500" b="1">
              <a:latin typeface="Courier New" charset="0"/>
              <a:ea typeface="Arial" charset="0"/>
              <a:cs typeface="Arial" charset="0"/>
            </a:endParaRPr>
          </a:p>
        </p:txBody>
      </p:sp>
    </p:spTree>
    <p:extLst>
      <p:ext uri="{BB962C8B-B14F-4D97-AF65-F5344CB8AC3E}">
        <p14:creationId xmlns:p14="http://schemas.microsoft.com/office/powerpoint/2010/main" val="30347682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4901804" y="1688623"/>
            <a:ext cx="3007519" cy="223204"/>
          </a:xfrm>
          <a:prstGeom prst="rect">
            <a:avLst/>
          </a:prstGeom>
          <a:solidFill>
            <a:schemeClr val="accent1"/>
          </a:solidFill>
          <a:ln w="25400">
            <a:solidFill>
              <a:schemeClr val="tx1"/>
            </a:solidFill>
            <a:miter lim="800000"/>
            <a:headEnd/>
            <a:tailEnd/>
          </a:ln>
        </p:spPr>
        <p:txBody>
          <a:bodyPr lIns="65484" tIns="33338" rIns="65484" bIns="33338" anchor="ctr">
            <a:spAutoFit/>
          </a:bodyPr>
          <a:lstStyle/>
          <a:p>
            <a:endParaRPr lang="sv-SE" sz="1013">
              <a:cs typeface="Arial" charset="0"/>
            </a:endParaRPr>
          </a:p>
        </p:txBody>
      </p:sp>
      <p:sp>
        <p:nvSpPr>
          <p:cNvPr id="23555" name="Rectangle 3"/>
          <p:cNvSpPr>
            <a:spLocks noChangeArrowheads="1"/>
          </p:cNvSpPr>
          <p:nvPr/>
        </p:nvSpPr>
        <p:spPr bwMode="auto">
          <a:xfrm>
            <a:off x="4691063" y="3746023"/>
            <a:ext cx="2321719" cy="223204"/>
          </a:xfrm>
          <a:prstGeom prst="rect">
            <a:avLst/>
          </a:prstGeom>
          <a:solidFill>
            <a:schemeClr val="accent1"/>
          </a:solidFill>
          <a:ln w="25400">
            <a:solidFill>
              <a:schemeClr val="tx1"/>
            </a:solidFill>
            <a:miter lim="800000"/>
            <a:headEnd/>
            <a:tailEnd/>
          </a:ln>
        </p:spPr>
        <p:txBody>
          <a:bodyPr lIns="65484" tIns="33338" rIns="65484" bIns="33338" anchor="ctr">
            <a:spAutoFit/>
          </a:bodyPr>
          <a:lstStyle/>
          <a:p>
            <a:endParaRPr lang="sv-SE" sz="1013">
              <a:cs typeface="Arial" charset="0"/>
            </a:endParaRPr>
          </a:p>
        </p:txBody>
      </p:sp>
      <p:sp>
        <p:nvSpPr>
          <p:cNvPr id="23556" name="Rectangle 4"/>
          <p:cNvSpPr>
            <a:spLocks noChangeArrowheads="1"/>
          </p:cNvSpPr>
          <p:nvPr/>
        </p:nvSpPr>
        <p:spPr bwMode="auto">
          <a:xfrm>
            <a:off x="1578769" y="3574573"/>
            <a:ext cx="1793081" cy="223204"/>
          </a:xfrm>
          <a:prstGeom prst="rect">
            <a:avLst/>
          </a:prstGeom>
          <a:solidFill>
            <a:schemeClr val="accent1"/>
          </a:solidFill>
          <a:ln w="25400">
            <a:solidFill>
              <a:schemeClr val="tx1"/>
            </a:solidFill>
            <a:miter lim="800000"/>
            <a:headEnd/>
            <a:tailEnd/>
          </a:ln>
        </p:spPr>
        <p:txBody>
          <a:bodyPr lIns="65484" tIns="33338" rIns="65484" bIns="33338" anchor="ctr">
            <a:spAutoFit/>
          </a:bodyPr>
          <a:lstStyle/>
          <a:p>
            <a:endParaRPr lang="sv-SE" sz="1013">
              <a:cs typeface="Arial" charset="0"/>
            </a:endParaRPr>
          </a:p>
        </p:txBody>
      </p:sp>
      <p:sp>
        <p:nvSpPr>
          <p:cNvPr id="23557" name="Rectangle 5"/>
          <p:cNvSpPr>
            <a:spLocks noChangeArrowheads="1"/>
          </p:cNvSpPr>
          <p:nvPr/>
        </p:nvSpPr>
        <p:spPr bwMode="auto">
          <a:xfrm>
            <a:off x="1578769" y="1602898"/>
            <a:ext cx="132312" cy="223204"/>
          </a:xfrm>
          <a:prstGeom prst="rect">
            <a:avLst/>
          </a:prstGeom>
          <a:solidFill>
            <a:schemeClr val="accent1"/>
          </a:solidFill>
          <a:ln w="25400">
            <a:solidFill>
              <a:schemeClr val="tx1"/>
            </a:solidFill>
            <a:miter lim="800000"/>
            <a:headEnd/>
            <a:tailEnd/>
          </a:ln>
        </p:spPr>
        <p:txBody>
          <a:bodyPr wrap="none" lIns="65484" tIns="33338" rIns="65484" bIns="33338" anchor="ctr">
            <a:spAutoFit/>
          </a:bodyPr>
          <a:lstStyle/>
          <a:p>
            <a:endParaRPr lang="sv-SE" sz="1013">
              <a:cs typeface="Arial" charset="0"/>
            </a:endParaRPr>
          </a:p>
        </p:txBody>
      </p:sp>
      <p:sp>
        <p:nvSpPr>
          <p:cNvPr id="23558" name="Rectangle 6"/>
          <p:cNvSpPr>
            <a:spLocks noGrp="1" noChangeArrowheads="1"/>
          </p:cNvSpPr>
          <p:nvPr>
            <p:ph type="title"/>
          </p:nvPr>
        </p:nvSpPr>
        <p:spPr>
          <a:xfrm>
            <a:off x="2337198" y="57151"/>
            <a:ext cx="5835253" cy="832247"/>
          </a:xfrm>
        </p:spPr>
        <p:txBody>
          <a:bodyPr/>
          <a:lstStyle/>
          <a:p>
            <a:pPr defTabSz="548879"/>
            <a:r>
              <a:rPr lang="en-US" sz="3000">
                <a:latin typeface="Comic Sans MS" charset="0"/>
                <a:cs typeface="Arial" charset="0"/>
              </a:rPr>
              <a:t>Timed Automata in U</a:t>
            </a:r>
            <a:r>
              <a:rPr lang="en-US" sz="2700">
                <a:latin typeface="Comic Sans MS" charset="0"/>
                <a:cs typeface="Arial" charset="0"/>
              </a:rPr>
              <a:t>PPAAL</a:t>
            </a:r>
            <a:endParaRPr lang="en-US" sz="3000">
              <a:latin typeface="Comic Sans MS" charset="0"/>
              <a:cs typeface="Arial" charset="0"/>
            </a:endParaRPr>
          </a:p>
        </p:txBody>
      </p:sp>
      <p:sp>
        <p:nvSpPr>
          <p:cNvPr id="23559" name="Oval 7"/>
          <p:cNvSpPr>
            <a:spLocks noChangeArrowheads="1"/>
          </p:cNvSpPr>
          <p:nvPr/>
        </p:nvSpPr>
        <p:spPr bwMode="auto">
          <a:xfrm>
            <a:off x="3479006" y="1756173"/>
            <a:ext cx="539354" cy="639365"/>
          </a:xfrm>
          <a:prstGeom prst="ellipse">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cs typeface="Arial" charset="0"/>
            </a:endParaRPr>
          </a:p>
        </p:txBody>
      </p:sp>
      <p:sp>
        <p:nvSpPr>
          <p:cNvPr id="23560" name="Oval 8"/>
          <p:cNvSpPr>
            <a:spLocks noChangeArrowheads="1"/>
          </p:cNvSpPr>
          <p:nvPr/>
        </p:nvSpPr>
        <p:spPr bwMode="auto">
          <a:xfrm>
            <a:off x="3499248" y="3837385"/>
            <a:ext cx="539353" cy="639365"/>
          </a:xfrm>
          <a:prstGeom prst="ellipse">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cs typeface="Arial" charset="0"/>
            </a:endParaRPr>
          </a:p>
        </p:txBody>
      </p:sp>
      <p:sp>
        <p:nvSpPr>
          <p:cNvPr id="23561" name="Line 9"/>
          <p:cNvSpPr>
            <a:spLocks noChangeShapeType="1"/>
          </p:cNvSpPr>
          <p:nvPr/>
        </p:nvSpPr>
        <p:spPr bwMode="auto">
          <a:xfrm flipH="1">
            <a:off x="3742135" y="2400300"/>
            <a:ext cx="7144" cy="14192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3562" name="Line 10"/>
          <p:cNvSpPr>
            <a:spLocks noChangeShapeType="1"/>
          </p:cNvSpPr>
          <p:nvPr/>
        </p:nvSpPr>
        <p:spPr bwMode="auto">
          <a:xfrm>
            <a:off x="3371851" y="1759744"/>
            <a:ext cx="155972" cy="13096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3563" name="Line 11"/>
          <p:cNvSpPr>
            <a:spLocks noChangeShapeType="1"/>
          </p:cNvSpPr>
          <p:nvPr/>
        </p:nvSpPr>
        <p:spPr bwMode="auto">
          <a:xfrm flipH="1">
            <a:off x="3937398" y="1732360"/>
            <a:ext cx="196453" cy="12025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3564" name="Line 12"/>
          <p:cNvSpPr>
            <a:spLocks noChangeShapeType="1"/>
          </p:cNvSpPr>
          <p:nvPr/>
        </p:nvSpPr>
        <p:spPr bwMode="auto">
          <a:xfrm>
            <a:off x="3723085" y="1537097"/>
            <a:ext cx="0" cy="2226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3565" name="Line 13"/>
          <p:cNvSpPr>
            <a:spLocks noChangeShapeType="1"/>
          </p:cNvSpPr>
          <p:nvPr/>
        </p:nvSpPr>
        <p:spPr bwMode="auto">
          <a:xfrm flipH="1">
            <a:off x="3313510" y="4386262"/>
            <a:ext cx="246459" cy="15716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3566" name="Line 14"/>
          <p:cNvSpPr>
            <a:spLocks noChangeShapeType="1"/>
          </p:cNvSpPr>
          <p:nvPr/>
        </p:nvSpPr>
        <p:spPr bwMode="auto">
          <a:xfrm>
            <a:off x="3748087" y="4487466"/>
            <a:ext cx="42863" cy="21431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3567" name="Line 15"/>
          <p:cNvSpPr>
            <a:spLocks noChangeShapeType="1"/>
          </p:cNvSpPr>
          <p:nvPr/>
        </p:nvSpPr>
        <p:spPr bwMode="auto">
          <a:xfrm>
            <a:off x="3902869" y="4423173"/>
            <a:ext cx="163116" cy="25955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3568" name="Line 16"/>
          <p:cNvSpPr>
            <a:spLocks noChangeShapeType="1"/>
          </p:cNvSpPr>
          <p:nvPr/>
        </p:nvSpPr>
        <p:spPr bwMode="auto">
          <a:xfrm>
            <a:off x="4013598" y="4320778"/>
            <a:ext cx="248840" cy="17621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3569" name="Rectangle 17"/>
          <p:cNvSpPr>
            <a:spLocks noChangeArrowheads="1"/>
          </p:cNvSpPr>
          <p:nvPr/>
        </p:nvSpPr>
        <p:spPr bwMode="auto">
          <a:xfrm>
            <a:off x="3642123" y="1745457"/>
            <a:ext cx="22922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n</a:t>
            </a:r>
          </a:p>
        </p:txBody>
      </p:sp>
      <p:sp>
        <p:nvSpPr>
          <p:cNvPr id="23570" name="Rectangle 18"/>
          <p:cNvSpPr>
            <a:spLocks noChangeArrowheads="1"/>
          </p:cNvSpPr>
          <p:nvPr/>
        </p:nvSpPr>
        <p:spPr bwMode="auto">
          <a:xfrm>
            <a:off x="3650456" y="3861198"/>
            <a:ext cx="272510"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m</a:t>
            </a:r>
          </a:p>
        </p:txBody>
      </p:sp>
      <p:sp>
        <p:nvSpPr>
          <p:cNvPr id="23571" name="Rectangle 19"/>
          <p:cNvSpPr>
            <a:spLocks noChangeArrowheads="1"/>
          </p:cNvSpPr>
          <p:nvPr/>
        </p:nvSpPr>
        <p:spPr bwMode="auto">
          <a:xfrm>
            <a:off x="3794522" y="3028950"/>
            <a:ext cx="272510"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a:cs typeface="Arial" charset="0"/>
              </a:rPr>
              <a:t>a!</a:t>
            </a:r>
          </a:p>
        </p:txBody>
      </p:sp>
      <p:sp>
        <p:nvSpPr>
          <p:cNvPr id="23572" name="Rectangle 20"/>
          <p:cNvSpPr>
            <a:spLocks noChangeArrowheads="1"/>
          </p:cNvSpPr>
          <p:nvPr/>
        </p:nvSpPr>
        <p:spPr bwMode="auto">
          <a:xfrm>
            <a:off x="3779044" y="2515791"/>
            <a:ext cx="1053172"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a:cs typeface="Arial" charset="0"/>
              </a:rPr>
              <a:t>x&gt;=5 &amp;&amp; y&gt;3</a:t>
            </a:r>
          </a:p>
        </p:txBody>
      </p:sp>
      <p:sp>
        <p:nvSpPr>
          <p:cNvPr id="23573" name="Rectangle 21"/>
          <p:cNvSpPr>
            <a:spLocks noChangeArrowheads="1"/>
          </p:cNvSpPr>
          <p:nvPr/>
        </p:nvSpPr>
        <p:spPr bwMode="auto">
          <a:xfrm>
            <a:off x="3796904" y="3461148"/>
            <a:ext cx="46967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a:cs typeface="Arial" charset="0"/>
              </a:rPr>
              <a:t>x = 0</a:t>
            </a:r>
          </a:p>
        </p:txBody>
      </p:sp>
      <p:sp>
        <p:nvSpPr>
          <p:cNvPr id="23574" name="Rectangle 22"/>
          <p:cNvSpPr>
            <a:spLocks noChangeArrowheads="1"/>
          </p:cNvSpPr>
          <p:nvPr/>
        </p:nvSpPr>
        <p:spPr bwMode="auto">
          <a:xfrm>
            <a:off x="3433762" y="1989535"/>
            <a:ext cx="47769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solidFill>
                  <a:srgbClr val="FF0000"/>
                </a:solidFill>
                <a:cs typeface="Arial" charset="0"/>
              </a:rPr>
              <a:t>x&lt;=5</a:t>
            </a:r>
          </a:p>
        </p:txBody>
      </p:sp>
      <p:sp>
        <p:nvSpPr>
          <p:cNvPr id="23575" name="Rectangle 23"/>
          <p:cNvSpPr>
            <a:spLocks noChangeArrowheads="1"/>
          </p:cNvSpPr>
          <p:nvPr/>
        </p:nvSpPr>
        <p:spPr bwMode="auto">
          <a:xfrm>
            <a:off x="3433763" y="4104085"/>
            <a:ext cx="569066"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solidFill>
                  <a:srgbClr val="FF0000"/>
                </a:solidFill>
                <a:cs typeface="Arial" charset="0"/>
              </a:rPr>
              <a:t>y&lt;=10</a:t>
            </a:r>
          </a:p>
        </p:txBody>
      </p:sp>
      <p:sp>
        <p:nvSpPr>
          <p:cNvPr id="23576" name="Rectangle 24"/>
          <p:cNvSpPr>
            <a:spLocks noChangeArrowheads="1"/>
          </p:cNvSpPr>
          <p:nvPr/>
        </p:nvSpPr>
        <p:spPr bwMode="auto">
          <a:xfrm>
            <a:off x="3321844" y="4507707"/>
            <a:ext cx="31418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g1</a:t>
            </a:r>
          </a:p>
        </p:txBody>
      </p:sp>
      <p:sp>
        <p:nvSpPr>
          <p:cNvPr id="23577" name="Rectangle 25"/>
          <p:cNvSpPr>
            <a:spLocks noChangeArrowheads="1"/>
          </p:cNvSpPr>
          <p:nvPr/>
        </p:nvSpPr>
        <p:spPr bwMode="auto">
          <a:xfrm>
            <a:off x="3742135" y="4637485"/>
            <a:ext cx="31418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g2</a:t>
            </a:r>
          </a:p>
        </p:txBody>
      </p:sp>
      <p:sp>
        <p:nvSpPr>
          <p:cNvPr id="23578" name="Rectangle 26"/>
          <p:cNvSpPr>
            <a:spLocks noChangeArrowheads="1"/>
          </p:cNvSpPr>
          <p:nvPr/>
        </p:nvSpPr>
        <p:spPr bwMode="auto">
          <a:xfrm>
            <a:off x="4015979" y="4563666"/>
            <a:ext cx="31418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g3</a:t>
            </a:r>
          </a:p>
        </p:txBody>
      </p:sp>
      <p:sp>
        <p:nvSpPr>
          <p:cNvPr id="23579" name="Rectangle 27"/>
          <p:cNvSpPr>
            <a:spLocks noChangeArrowheads="1"/>
          </p:cNvSpPr>
          <p:nvPr/>
        </p:nvSpPr>
        <p:spPr bwMode="auto">
          <a:xfrm>
            <a:off x="4220766" y="4274344"/>
            <a:ext cx="31418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g4</a:t>
            </a:r>
          </a:p>
        </p:txBody>
      </p:sp>
      <p:graphicFrame>
        <p:nvGraphicFramePr>
          <p:cNvPr id="23580" name="Object 28"/>
          <p:cNvGraphicFramePr>
            <a:graphicFrameLocks noChangeAspect="1"/>
          </p:cNvGraphicFramePr>
          <p:nvPr/>
        </p:nvGraphicFramePr>
        <p:xfrm>
          <a:off x="4979194" y="1589485"/>
          <a:ext cx="2836069" cy="358378"/>
        </p:xfrm>
        <a:graphic>
          <a:graphicData uri="http://schemas.openxmlformats.org/presentationml/2006/ole">
            <mc:AlternateContent xmlns:mc="http://schemas.openxmlformats.org/markup-compatibility/2006">
              <mc:Choice xmlns:v="urn:schemas-microsoft-com:vml" Requires="v">
                <p:oleObj name="Formel" r:id="rId3" imgW="1726451" imgH="203112" progId="Equation.3">
                  <p:embed/>
                </p:oleObj>
              </mc:Choice>
              <mc:Fallback>
                <p:oleObj name="Formel" r:id="rId3" imgW="1726451" imgH="203112" progId="Equation.3">
                  <p:embed/>
                  <p:pic>
                    <p:nvPicPr>
                      <p:cNvPr id="2358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9194" y="1589485"/>
                        <a:ext cx="2836069" cy="35837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3581" name="Text Box 29"/>
          <p:cNvSpPr txBox="1">
            <a:spLocks noChangeArrowheads="1"/>
          </p:cNvSpPr>
          <p:nvPr/>
        </p:nvSpPr>
        <p:spPr bwMode="auto">
          <a:xfrm>
            <a:off x="5320903" y="2250261"/>
            <a:ext cx="2555987"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clock   natural number  </a:t>
            </a:r>
            <a:r>
              <a:rPr lang="ja-JP" altLang="en-US" sz="1350" b="1">
                <a:solidFill>
                  <a:srgbClr val="000080"/>
                </a:solidFill>
                <a:latin typeface="Arial" charset="0"/>
              </a:rPr>
              <a:t>“</a:t>
            </a:r>
            <a:r>
              <a:rPr lang="en-US" altLang="ja-JP" sz="1350" b="1">
                <a:solidFill>
                  <a:srgbClr val="000080"/>
                </a:solidFill>
                <a:latin typeface="Arial" charset="0"/>
              </a:rPr>
              <a:t>and</a:t>
            </a:r>
            <a:r>
              <a:rPr lang="ja-JP" altLang="en-US" sz="1350" b="1">
                <a:solidFill>
                  <a:srgbClr val="000080"/>
                </a:solidFill>
                <a:latin typeface="Arial" charset="0"/>
              </a:rPr>
              <a:t>”</a:t>
            </a:r>
            <a:endParaRPr lang="en-US" sz="1350" b="1">
              <a:solidFill>
                <a:srgbClr val="000080"/>
              </a:solidFill>
              <a:latin typeface="Arial" charset="0"/>
            </a:endParaRPr>
          </a:p>
        </p:txBody>
      </p:sp>
      <p:sp>
        <p:nvSpPr>
          <p:cNvPr id="23582" name="Line 30"/>
          <p:cNvSpPr>
            <a:spLocks noChangeShapeType="1"/>
          </p:cNvSpPr>
          <p:nvPr/>
        </p:nvSpPr>
        <p:spPr bwMode="auto">
          <a:xfrm flipV="1">
            <a:off x="5597129" y="1875235"/>
            <a:ext cx="114300" cy="391715"/>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3583" name="Line 31"/>
          <p:cNvSpPr>
            <a:spLocks noChangeShapeType="1"/>
          </p:cNvSpPr>
          <p:nvPr/>
        </p:nvSpPr>
        <p:spPr bwMode="auto">
          <a:xfrm flipV="1">
            <a:off x="6096000" y="1888331"/>
            <a:ext cx="0" cy="3429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3584" name="Line 32"/>
          <p:cNvSpPr>
            <a:spLocks noChangeShapeType="1"/>
          </p:cNvSpPr>
          <p:nvPr/>
        </p:nvSpPr>
        <p:spPr bwMode="auto">
          <a:xfrm flipV="1">
            <a:off x="7347348" y="1915717"/>
            <a:ext cx="44053" cy="296465"/>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3585" name="Line 33"/>
          <p:cNvSpPr>
            <a:spLocks noChangeShapeType="1"/>
          </p:cNvSpPr>
          <p:nvPr/>
        </p:nvSpPr>
        <p:spPr bwMode="auto">
          <a:xfrm flipV="1">
            <a:off x="3943350" y="1818085"/>
            <a:ext cx="1056085" cy="28575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lIns="65484" tIns="33338" rIns="65484" bIns="33338" anchor="ctr">
            <a:spAutoFit/>
          </a:bodyPr>
          <a:lstStyle/>
          <a:p>
            <a:endParaRPr lang="en-GB" sz="1013"/>
          </a:p>
        </p:txBody>
      </p:sp>
      <p:graphicFrame>
        <p:nvGraphicFramePr>
          <p:cNvPr id="23586" name="Object 34"/>
          <p:cNvGraphicFramePr>
            <a:graphicFrameLocks noChangeAspect="1"/>
          </p:cNvGraphicFramePr>
          <p:nvPr/>
        </p:nvGraphicFramePr>
        <p:xfrm>
          <a:off x="4691063" y="2857500"/>
          <a:ext cx="2308622" cy="1852613"/>
        </p:xfrm>
        <a:graphic>
          <a:graphicData uri="http://schemas.openxmlformats.org/presentationml/2006/ole">
            <mc:AlternateContent xmlns:mc="http://schemas.openxmlformats.org/markup-compatibility/2006">
              <mc:Choice xmlns:v="urn:schemas-microsoft-com:vml" Requires="v">
                <p:oleObj name="Formel" r:id="rId5" imgW="1511300" imgH="1117600" progId="Equation.3">
                  <p:embed/>
                </p:oleObj>
              </mc:Choice>
              <mc:Fallback>
                <p:oleObj name="Formel" r:id="rId5" imgW="1511300" imgH="1117600" progId="Equation.3">
                  <p:embed/>
                  <p:pic>
                    <p:nvPicPr>
                      <p:cNvPr id="23586"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1063" y="2857500"/>
                        <a:ext cx="2308622" cy="18526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3587" name="Line 35"/>
          <p:cNvSpPr>
            <a:spLocks noChangeShapeType="1"/>
          </p:cNvSpPr>
          <p:nvPr/>
        </p:nvSpPr>
        <p:spPr bwMode="auto">
          <a:xfrm flipH="1" flipV="1">
            <a:off x="4418410" y="2789635"/>
            <a:ext cx="685800" cy="1143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lIns="65484" tIns="33338" rIns="65484" bIns="33338" anchor="ctr">
            <a:spAutoFit/>
          </a:bodyPr>
          <a:lstStyle/>
          <a:p>
            <a:endParaRPr lang="en-GB" sz="1013"/>
          </a:p>
        </p:txBody>
      </p:sp>
      <p:sp>
        <p:nvSpPr>
          <p:cNvPr id="23588" name="Text Box 37"/>
          <p:cNvSpPr txBox="1">
            <a:spLocks noChangeArrowheads="1"/>
          </p:cNvSpPr>
          <p:nvPr/>
        </p:nvSpPr>
        <p:spPr bwMode="auto">
          <a:xfrm>
            <a:off x="7029451" y="3313355"/>
            <a:ext cx="985045" cy="2289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050" b="1">
                <a:solidFill>
                  <a:srgbClr val="000080"/>
                </a:solidFill>
                <a:latin typeface="Arial" charset="0"/>
              </a:rPr>
              <a:t>Clock guards</a:t>
            </a:r>
          </a:p>
        </p:txBody>
      </p:sp>
      <p:sp>
        <p:nvSpPr>
          <p:cNvPr id="23589" name="Text Box 38"/>
          <p:cNvSpPr txBox="1">
            <a:spLocks noChangeArrowheads="1"/>
          </p:cNvSpPr>
          <p:nvPr/>
        </p:nvSpPr>
        <p:spPr bwMode="auto">
          <a:xfrm>
            <a:off x="7044929" y="3656255"/>
            <a:ext cx="911306" cy="2289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050" b="1">
                <a:solidFill>
                  <a:srgbClr val="000080"/>
                </a:solidFill>
                <a:latin typeface="Arial" charset="0"/>
              </a:rPr>
              <a:t>Data guards</a:t>
            </a:r>
          </a:p>
        </p:txBody>
      </p:sp>
      <p:sp>
        <p:nvSpPr>
          <p:cNvPr id="23590" name="Text Box 39"/>
          <p:cNvSpPr txBox="1">
            <a:spLocks noChangeArrowheads="1"/>
          </p:cNvSpPr>
          <p:nvPr/>
        </p:nvSpPr>
        <p:spPr bwMode="auto">
          <a:xfrm>
            <a:off x="1526381" y="1256089"/>
            <a:ext cx="1732044"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Clock Assignments</a:t>
            </a:r>
          </a:p>
        </p:txBody>
      </p:sp>
      <p:sp>
        <p:nvSpPr>
          <p:cNvPr id="23591" name="Text Box 40"/>
          <p:cNvSpPr txBox="1">
            <a:spLocks noChangeArrowheads="1"/>
          </p:cNvSpPr>
          <p:nvPr/>
        </p:nvSpPr>
        <p:spPr bwMode="auto">
          <a:xfrm>
            <a:off x="1578769" y="1999039"/>
            <a:ext cx="1924469"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Variable Assignments</a:t>
            </a:r>
          </a:p>
        </p:txBody>
      </p:sp>
      <p:graphicFrame>
        <p:nvGraphicFramePr>
          <p:cNvPr id="23592" name="Object 41"/>
          <p:cNvGraphicFramePr>
            <a:graphicFrameLocks noChangeAspect="1"/>
          </p:cNvGraphicFramePr>
          <p:nvPr/>
        </p:nvGraphicFramePr>
        <p:xfrm>
          <a:off x="1758553" y="2400300"/>
          <a:ext cx="1603772" cy="2628900"/>
        </p:xfrm>
        <a:graphic>
          <a:graphicData uri="http://schemas.openxmlformats.org/presentationml/2006/ole">
            <mc:AlternateContent xmlns:mc="http://schemas.openxmlformats.org/markup-compatibility/2006">
              <mc:Choice xmlns:v="urn:schemas-microsoft-com:vml" Requires="v">
                <p:oleObj name="Equation" r:id="rId7" imgW="1193800" imgH="1803400" progId="Equation.3">
                  <p:embed/>
                </p:oleObj>
              </mc:Choice>
              <mc:Fallback>
                <p:oleObj name="Equation" r:id="rId7" imgW="1193800" imgH="1803400" progId="Equation.3">
                  <p:embed/>
                  <p:pic>
                    <p:nvPicPr>
                      <p:cNvPr id="23592"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8553" y="2400300"/>
                        <a:ext cx="1603772" cy="26289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3593" name="Line 42"/>
          <p:cNvSpPr>
            <a:spLocks noChangeShapeType="1"/>
          </p:cNvSpPr>
          <p:nvPr/>
        </p:nvSpPr>
        <p:spPr bwMode="auto">
          <a:xfrm>
            <a:off x="2633663" y="1943100"/>
            <a:ext cx="1160860" cy="165735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3594" name="Text Box 43"/>
          <p:cNvSpPr txBox="1">
            <a:spLocks noChangeArrowheads="1"/>
          </p:cNvSpPr>
          <p:nvPr/>
        </p:nvSpPr>
        <p:spPr bwMode="auto">
          <a:xfrm>
            <a:off x="4849416" y="1198939"/>
            <a:ext cx="1719220"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Location Invariants</a:t>
            </a:r>
          </a:p>
        </p:txBody>
      </p:sp>
      <p:sp>
        <p:nvSpPr>
          <p:cNvPr id="23595" name="Line 44"/>
          <p:cNvSpPr>
            <a:spLocks noChangeShapeType="1"/>
          </p:cNvSpPr>
          <p:nvPr/>
        </p:nvSpPr>
        <p:spPr bwMode="auto">
          <a:xfrm flipH="1">
            <a:off x="6115050" y="2514600"/>
            <a:ext cx="950119" cy="40005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3596" name="Text Box 47"/>
          <p:cNvSpPr txBox="1">
            <a:spLocks noChangeArrowheads="1"/>
          </p:cNvSpPr>
          <p:nvPr/>
        </p:nvSpPr>
        <p:spPr bwMode="auto">
          <a:xfrm>
            <a:off x="1777603" y="1543050"/>
            <a:ext cx="73129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r>
              <a:rPr lang="sv-SE" sz="1800" i="1">
                <a:latin typeface="Times New Roman" charset="0"/>
              </a:rPr>
              <a:t>x = n </a:t>
            </a:r>
          </a:p>
        </p:txBody>
      </p:sp>
    </p:spTree>
    <p:extLst>
      <p:ext uri="{BB962C8B-B14F-4D97-AF65-F5344CB8AC3E}">
        <p14:creationId xmlns:p14="http://schemas.microsoft.com/office/powerpoint/2010/main" val="31817951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4901804" y="1688623"/>
            <a:ext cx="3007519" cy="223204"/>
          </a:xfrm>
          <a:prstGeom prst="rect">
            <a:avLst/>
          </a:prstGeom>
          <a:solidFill>
            <a:schemeClr val="accent1"/>
          </a:solidFill>
          <a:ln w="25400">
            <a:solidFill>
              <a:schemeClr val="tx1"/>
            </a:solidFill>
            <a:miter lim="800000"/>
            <a:headEnd/>
            <a:tailEnd/>
          </a:ln>
        </p:spPr>
        <p:txBody>
          <a:bodyPr lIns="65484" tIns="33338" rIns="65484" bIns="33338" anchor="ctr">
            <a:spAutoFit/>
          </a:bodyPr>
          <a:lstStyle/>
          <a:p>
            <a:endParaRPr lang="sv-SE" sz="1013">
              <a:cs typeface="Arial" charset="0"/>
            </a:endParaRPr>
          </a:p>
        </p:txBody>
      </p:sp>
      <p:sp>
        <p:nvSpPr>
          <p:cNvPr id="25603" name="Rectangle 3"/>
          <p:cNvSpPr>
            <a:spLocks noChangeArrowheads="1"/>
          </p:cNvSpPr>
          <p:nvPr/>
        </p:nvSpPr>
        <p:spPr bwMode="auto">
          <a:xfrm>
            <a:off x="4691063" y="3746023"/>
            <a:ext cx="2321719" cy="223204"/>
          </a:xfrm>
          <a:prstGeom prst="rect">
            <a:avLst/>
          </a:prstGeom>
          <a:solidFill>
            <a:schemeClr val="accent1"/>
          </a:solidFill>
          <a:ln w="25400">
            <a:solidFill>
              <a:schemeClr val="tx1"/>
            </a:solidFill>
            <a:miter lim="800000"/>
            <a:headEnd/>
            <a:tailEnd/>
          </a:ln>
        </p:spPr>
        <p:txBody>
          <a:bodyPr lIns="65484" tIns="33338" rIns="65484" bIns="33338" anchor="ctr">
            <a:spAutoFit/>
          </a:bodyPr>
          <a:lstStyle/>
          <a:p>
            <a:endParaRPr lang="sv-SE" sz="1013">
              <a:cs typeface="Arial" charset="0"/>
            </a:endParaRPr>
          </a:p>
        </p:txBody>
      </p:sp>
      <p:sp>
        <p:nvSpPr>
          <p:cNvPr id="25604" name="Rectangle 4"/>
          <p:cNvSpPr>
            <a:spLocks noChangeArrowheads="1"/>
          </p:cNvSpPr>
          <p:nvPr/>
        </p:nvSpPr>
        <p:spPr bwMode="auto">
          <a:xfrm>
            <a:off x="1578769" y="3574573"/>
            <a:ext cx="1793081" cy="223204"/>
          </a:xfrm>
          <a:prstGeom prst="rect">
            <a:avLst/>
          </a:prstGeom>
          <a:solidFill>
            <a:schemeClr val="accent1"/>
          </a:solidFill>
          <a:ln w="25400">
            <a:solidFill>
              <a:schemeClr val="tx1"/>
            </a:solidFill>
            <a:miter lim="800000"/>
            <a:headEnd/>
            <a:tailEnd/>
          </a:ln>
        </p:spPr>
        <p:txBody>
          <a:bodyPr lIns="65484" tIns="33338" rIns="65484" bIns="33338" anchor="ctr">
            <a:spAutoFit/>
          </a:bodyPr>
          <a:lstStyle/>
          <a:p>
            <a:endParaRPr lang="sv-SE" sz="1013">
              <a:cs typeface="Arial" charset="0"/>
            </a:endParaRPr>
          </a:p>
        </p:txBody>
      </p:sp>
      <p:sp>
        <p:nvSpPr>
          <p:cNvPr id="25605" name="Rectangle 5"/>
          <p:cNvSpPr>
            <a:spLocks noChangeArrowheads="1"/>
          </p:cNvSpPr>
          <p:nvPr/>
        </p:nvSpPr>
        <p:spPr bwMode="auto">
          <a:xfrm>
            <a:off x="1578769" y="1602898"/>
            <a:ext cx="132312" cy="223204"/>
          </a:xfrm>
          <a:prstGeom prst="rect">
            <a:avLst/>
          </a:prstGeom>
          <a:solidFill>
            <a:schemeClr val="accent1"/>
          </a:solidFill>
          <a:ln w="25400">
            <a:solidFill>
              <a:schemeClr val="tx1"/>
            </a:solidFill>
            <a:miter lim="800000"/>
            <a:headEnd/>
            <a:tailEnd/>
          </a:ln>
        </p:spPr>
        <p:txBody>
          <a:bodyPr wrap="none" lIns="65484" tIns="33338" rIns="65484" bIns="33338" anchor="ctr">
            <a:spAutoFit/>
          </a:bodyPr>
          <a:lstStyle/>
          <a:p>
            <a:endParaRPr lang="sv-SE" sz="1013">
              <a:cs typeface="Arial" charset="0"/>
            </a:endParaRPr>
          </a:p>
        </p:txBody>
      </p:sp>
      <p:sp>
        <p:nvSpPr>
          <p:cNvPr id="25606" name="Rectangle 6"/>
          <p:cNvSpPr>
            <a:spLocks noGrp="1" noChangeArrowheads="1"/>
          </p:cNvSpPr>
          <p:nvPr>
            <p:ph type="title"/>
          </p:nvPr>
        </p:nvSpPr>
        <p:spPr>
          <a:xfrm>
            <a:off x="2337198" y="57151"/>
            <a:ext cx="5835253" cy="832247"/>
          </a:xfrm>
        </p:spPr>
        <p:txBody>
          <a:bodyPr/>
          <a:lstStyle/>
          <a:p>
            <a:pPr defTabSz="548879"/>
            <a:r>
              <a:rPr lang="en-US" sz="3000">
                <a:latin typeface="Comic Sans MS" charset="0"/>
                <a:cs typeface="Arial" charset="0"/>
              </a:rPr>
              <a:t>Timed Automata in U</a:t>
            </a:r>
            <a:r>
              <a:rPr lang="en-US" sz="2700">
                <a:latin typeface="Comic Sans MS" charset="0"/>
                <a:cs typeface="Arial" charset="0"/>
              </a:rPr>
              <a:t>PPAAL</a:t>
            </a:r>
            <a:endParaRPr lang="en-US" sz="3000">
              <a:latin typeface="Comic Sans MS" charset="0"/>
              <a:cs typeface="Arial" charset="0"/>
            </a:endParaRPr>
          </a:p>
        </p:txBody>
      </p:sp>
      <p:sp>
        <p:nvSpPr>
          <p:cNvPr id="25607" name="Oval 7"/>
          <p:cNvSpPr>
            <a:spLocks noChangeArrowheads="1"/>
          </p:cNvSpPr>
          <p:nvPr/>
        </p:nvSpPr>
        <p:spPr bwMode="auto">
          <a:xfrm>
            <a:off x="3479006" y="1756173"/>
            <a:ext cx="539354" cy="639365"/>
          </a:xfrm>
          <a:prstGeom prst="ellipse">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cs typeface="Arial" charset="0"/>
            </a:endParaRPr>
          </a:p>
        </p:txBody>
      </p:sp>
      <p:sp>
        <p:nvSpPr>
          <p:cNvPr id="25608" name="Oval 8"/>
          <p:cNvSpPr>
            <a:spLocks noChangeArrowheads="1"/>
          </p:cNvSpPr>
          <p:nvPr/>
        </p:nvSpPr>
        <p:spPr bwMode="auto">
          <a:xfrm>
            <a:off x="3499248" y="3837385"/>
            <a:ext cx="539353" cy="639365"/>
          </a:xfrm>
          <a:prstGeom prst="ellipse">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sv-SE" sz="1013">
              <a:cs typeface="Arial" charset="0"/>
            </a:endParaRPr>
          </a:p>
        </p:txBody>
      </p:sp>
      <p:sp>
        <p:nvSpPr>
          <p:cNvPr id="25609" name="Line 9"/>
          <p:cNvSpPr>
            <a:spLocks noChangeShapeType="1"/>
          </p:cNvSpPr>
          <p:nvPr/>
        </p:nvSpPr>
        <p:spPr bwMode="auto">
          <a:xfrm flipH="1">
            <a:off x="3742135" y="2400300"/>
            <a:ext cx="7144" cy="14192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5610" name="Line 10"/>
          <p:cNvSpPr>
            <a:spLocks noChangeShapeType="1"/>
          </p:cNvSpPr>
          <p:nvPr/>
        </p:nvSpPr>
        <p:spPr bwMode="auto">
          <a:xfrm>
            <a:off x="3371851" y="1759744"/>
            <a:ext cx="155972" cy="130969"/>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5611" name="Line 11"/>
          <p:cNvSpPr>
            <a:spLocks noChangeShapeType="1"/>
          </p:cNvSpPr>
          <p:nvPr/>
        </p:nvSpPr>
        <p:spPr bwMode="auto">
          <a:xfrm flipH="1">
            <a:off x="3937398" y="1732360"/>
            <a:ext cx="196453" cy="12025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5612" name="Line 12"/>
          <p:cNvSpPr>
            <a:spLocks noChangeShapeType="1"/>
          </p:cNvSpPr>
          <p:nvPr/>
        </p:nvSpPr>
        <p:spPr bwMode="auto">
          <a:xfrm>
            <a:off x="3723085" y="1537097"/>
            <a:ext cx="0" cy="22264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5613" name="Line 13"/>
          <p:cNvSpPr>
            <a:spLocks noChangeShapeType="1"/>
          </p:cNvSpPr>
          <p:nvPr/>
        </p:nvSpPr>
        <p:spPr bwMode="auto">
          <a:xfrm flipH="1">
            <a:off x="3313510" y="4386262"/>
            <a:ext cx="246459" cy="15716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5614" name="Line 14"/>
          <p:cNvSpPr>
            <a:spLocks noChangeShapeType="1"/>
          </p:cNvSpPr>
          <p:nvPr/>
        </p:nvSpPr>
        <p:spPr bwMode="auto">
          <a:xfrm>
            <a:off x="3748087" y="4487466"/>
            <a:ext cx="42863" cy="21431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5615" name="Line 15"/>
          <p:cNvSpPr>
            <a:spLocks noChangeShapeType="1"/>
          </p:cNvSpPr>
          <p:nvPr/>
        </p:nvSpPr>
        <p:spPr bwMode="auto">
          <a:xfrm>
            <a:off x="3902869" y="4423173"/>
            <a:ext cx="163116" cy="25955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5616" name="Line 16"/>
          <p:cNvSpPr>
            <a:spLocks noChangeShapeType="1"/>
          </p:cNvSpPr>
          <p:nvPr/>
        </p:nvSpPr>
        <p:spPr bwMode="auto">
          <a:xfrm>
            <a:off x="4013598" y="4320778"/>
            <a:ext cx="248840" cy="176213"/>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xmlns="">
                <a:noFill/>
              </a14:hiddenFill>
            </a:ext>
          </a:extLst>
        </p:spPr>
        <p:txBody>
          <a:bodyPr wrap="none" anchor="ctr"/>
          <a:lstStyle/>
          <a:p>
            <a:endParaRPr lang="en-GB" sz="1013"/>
          </a:p>
        </p:txBody>
      </p:sp>
      <p:sp>
        <p:nvSpPr>
          <p:cNvPr id="25617" name="Rectangle 17"/>
          <p:cNvSpPr>
            <a:spLocks noChangeArrowheads="1"/>
          </p:cNvSpPr>
          <p:nvPr/>
        </p:nvSpPr>
        <p:spPr bwMode="auto">
          <a:xfrm>
            <a:off x="3642123" y="1745457"/>
            <a:ext cx="22922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n</a:t>
            </a:r>
          </a:p>
        </p:txBody>
      </p:sp>
      <p:sp>
        <p:nvSpPr>
          <p:cNvPr id="25618" name="Rectangle 18"/>
          <p:cNvSpPr>
            <a:spLocks noChangeArrowheads="1"/>
          </p:cNvSpPr>
          <p:nvPr/>
        </p:nvSpPr>
        <p:spPr bwMode="auto">
          <a:xfrm>
            <a:off x="3650456" y="3861198"/>
            <a:ext cx="272510"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m</a:t>
            </a:r>
          </a:p>
        </p:txBody>
      </p:sp>
      <p:sp>
        <p:nvSpPr>
          <p:cNvPr id="25619" name="Rectangle 19"/>
          <p:cNvSpPr>
            <a:spLocks noChangeArrowheads="1"/>
          </p:cNvSpPr>
          <p:nvPr/>
        </p:nvSpPr>
        <p:spPr bwMode="auto">
          <a:xfrm>
            <a:off x="3794522" y="3028950"/>
            <a:ext cx="272510"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a:cs typeface="Arial" charset="0"/>
              </a:rPr>
              <a:t>a!</a:t>
            </a:r>
          </a:p>
        </p:txBody>
      </p:sp>
      <p:sp>
        <p:nvSpPr>
          <p:cNvPr id="25620" name="Rectangle 20"/>
          <p:cNvSpPr>
            <a:spLocks noChangeArrowheads="1"/>
          </p:cNvSpPr>
          <p:nvPr/>
        </p:nvSpPr>
        <p:spPr bwMode="auto">
          <a:xfrm>
            <a:off x="3779044" y="2515791"/>
            <a:ext cx="860812"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a:cs typeface="Arial" charset="0"/>
              </a:rPr>
              <a:t>x&gt;=5 , y&gt;3</a:t>
            </a:r>
          </a:p>
        </p:txBody>
      </p:sp>
      <p:sp>
        <p:nvSpPr>
          <p:cNvPr id="25621" name="Rectangle 21"/>
          <p:cNvSpPr>
            <a:spLocks noChangeArrowheads="1"/>
          </p:cNvSpPr>
          <p:nvPr/>
        </p:nvSpPr>
        <p:spPr bwMode="auto">
          <a:xfrm>
            <a:off x="3796904" y="3461148"/>
            <a:ext cx="512961"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a:cs typeface="Arial" charset="0"/>
              </a:rPr>
              <a:t>x := 0</a:t>
            </a:r>
          </a:p>
        </p:txBody>
      </p:sp>
      <p:sp>
        <p:nvSpPr>
          <p:cNvPr id="25622" name="Rectangle 22"/>
          <p:cNvSpPr>
            <a:spLocks noChangeArrowheads="1"/>
          </p:cNvSpPr>
          <p:nvPr/>
        </p:nvSpPr>
        <p:spPr bwMode="auto">
          <a:xfrm>
            <a:off x="3433762" y="1989535"/>
            <a:ext cx="477695"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solidFill>
                  <a:srgbClr val="FF0000"/>
                </a:solidFill>
                <a:cs typeface="Arial" charset="0"/>
              </a:rPr>
              <a:t>x&lt;=5</a:t>
            </a:r>
          </a:p>
        </p:txBody>
      </p:sp>
      <p:sp>
        <p:nvSpPr>
          <p:cNvPr id="25623" name="Rectangle 23"/>
          <p:cNvSpPr>
            <a:spLocks noChangeArrowheads="1"/>
          </p:cNvSpPr>
          <p:nvPr/>
        </p:nvSpPr>
        <p:spPr bwMode="auto">
          <a:xfrm>
            <a:off x="3433763" y="4104085"/>
            <a:ext cx="569066"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solidFill>
                  <a:srgbClr val="FF0000"/>
                </a:solidFill>
                <a:cs typeface="Arial" charset="0"/>
              </a:rPr>
              <a:t>y&lt;=10</a:t>
            </a:r>
          </a:p>
        </p:txBody>
      </p:sp>
      <p:sp>
        <p:nvSpPr>
          <p:cNvPr id="25624" name="Rectangle 24"/>
          <p:cNvSpPr>
            <a:spLocks noChangeArrowheads="1"/>
          </p:cNvSpPr>
          <p:nvPr/>
        </p:nvSpPr>
        <p:spPr bwMode="auto">
          <a:xfrm>
            <a:off x="3321844" y="4507707"/>
            <a:ext cx="31418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g1</a:t>
            </a:r>
          </a:p>
        </p:txBody>
      </p:sp>
      <p:sp>
        <p:nvSpPr>
          <p:cNvPr id="25625" name="Rectangle 25"/>
          <p:cNvSpPr>
            <a:spLocks noChangeArrowheads="1"/>
          </p:cNvSpPr>
          <p:nvPr/>
        </p:nvSpPr>
        <p:spPr bwMode="auto">
          <a:xfrm>
            <a:off x="3742135" y="4637485"/>
            <a:ext cx="31418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g2</a:t>
            </a:r>
          </a:p>
        </p:txBody>
      </p:sp>
      <p:sp>
        <p:nvSpPr>
          <p:cNvPr id="25626" name="Rectangle 26"/>
          <p:cNvSpPr>
            <a:spLocks noChangeArrowheads="1"/>
          </p:cNvSpPr>
          <p:nvPr/>
        </p:nvSpPr>
        <p:spPr bwMode="auto">
          <a:xfrm>
            <a:off x="4015979" y="4563666"/>
            <a:ext cx="31418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g3</a:t>
            </a:r>
          </a:p>
        </p:txBody>
      </p:sp>
      <p:sp>
        <p:nvSpPr>
          <p:cNvPr id="25627" name="Rectangle 27"/>
          <p:cNvSpPr>
            <a:spLocks noChangeArrowheads="1"/>
          </p:cNvSpPr>
          <p:nvPr/>
        </p:nvSpPr>
        <p:spPr bwMode="auto">
          <a:xfrm>
            <a:off x="4220766" y="4274344"/>
            <a:ext cx="314189" cy="254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69056" tIns="34529" rIns="69056" bIns="34529">
            <a:spAutoFit/>
          </a:bodyPr>
          <a:lstStyle/>
          <a:p>
            <a:r>
              <a:rPr lang="en-US" sz="1200" b="1" i="1">
                <a:cs typeface="Arial" charset="0"/>
              </a:rPr>
              <a:t>g4</a:t>
            </a:r>
          </a:p>
        </p:txBody>
      </p:sp>
      <p:graphicFrame>
        <p:nvGraphicFramePr>
          <p:cNvPr id="25628" name="Object 28"/>
          <p:cNvGraphicFramePr>
            <a:graphicFrameLocks noChangeAspect="1"/>
          </p:cNvGraphicFramePr>
          <p:nvPr/>
        </p:nvGraphicFramePr>
        <p:xfrm>
          <a:off x="4979194" y="1589485"/>
          <a:ext cx="2836069" cy="358378"/>
        </p:xfrm>
        <a:graphic>
          <a:graphicData uri="http://schemas.openxmlformats.org/presentationml/2006/ole">
            <mc:AlternateContent xmlns:mc="http://schemas.openxmlformats.org/markup-compatibility/2006">
              <mc:Choice xmlns:v="urn:schemas-microsoft-com:vml" Requires="v">
                <p:oleObj name="Formel" r:id="rId3" imgW="1726451" imgH="203112" progId="Equation.3">
                  <p:embed/>
                </p:oleObj>
              </mc:Choice>
              <mc:Fallback>
                <p:oleObj name="Formel" r:id="rId3" imgW="1726451" imgH="203112" progId="Equation.3">
                  <p:embed/>
                  <p:pic>
                    <p:nvPicPr>
                      <p:cNvPr id="25628"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9194" y="1589485"/>
                        <a:ext cx="2836069" cy="35837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5629" name="Text Box 29"/>
          <p:cNvSpPr txBox="1">
            <a:spLocks noChangeArrowheads="1"/>
          </p:cNvSpPr>
          <p:nvPr/>
        </p:nvSpPr>
        <p:spPr bwMode="auto">
          <a:xfrm>
            <a:off x="5320903" y="2250261"/>
            <a:ext cx="2555987"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clock   natural number  </a:t>
            </a:r>
            <a:r>
              <a:rPr lang="ja-JP" altLang="en-US" sz="1350" b="1">
                <a:solidFill>
                  <a:srgbClr val="000080"/>
                </a:solidFill>
                <a:latin typeface="Arial" charset="0"/>
              </a:rPr>
              <a:t>“</a:t>
            </a:r>
            <a:r>
              <a:rPr lang="en-US" altLang="ja-JP" sz="1350" b="1">
                <a:solidFill>
                  <a:srgbClr val="000080"/>
                </a:solidFill>
                <a:latin typeface="Arial" charset="0"/>
              </a:rPr>
              <a:t>and</a:t>
            </a:r>
            <a:r>
              <a:rPr lang="ja-JP" altLang="en-US" sz="1350" b="1">
                <a:solidFill>
                  <a:srgbClr val="000080"/>
                </a:solidFill>
                <a:latin typeface="Arial" charset="0"/>
              </a:rPr>
              <a:t>”</a:t>
            </a:r>
            <a:endParaRPr lang="en-US" sz="1350" b="1">
              <a:solidFill>
                <a:srgbClr val="000080"/>
              </a:solidFill>
              <a:latin typeface="Arial" charset="0"/>
            </a:endParaRPr>
          </a:p>
        </p:txBody>
      </p:sp>
      <p:sp>
        <p:nvSpPr>
          <p:cNvPr id="25630" name="Line 30"/>
          <p:cNvSpPr>
            <a:spLocks noChangeShapeType="1"/>
          </p:cNvSpPr>
          <p:nvPr/>
        </p:nvSpPr>
        <p:spPr bwMode="auto">
          <a:xfrm flipV="1">
            <a:off x="5597129" y="1875235"/>
            <a:ext cx="114300" cy="391715"/>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5631" name="Line 31"/>
          <p:cNvSpPr>
            <a:spLocks noChangeShapeType="1"/>
          </p:cNvSpPr>
          <p:nvPr/>
        </p:nvSpPr>
        <p:spPr bwMode="auto">
          <a:xfrm flipV="1">
            <a:off x="6096000" y="1888331"/>
            <a:ext cx="0" cy="3429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5632" name="Line 32"/>
          <p:cNvSpPr>
            <a:spLocks noChangeShapeType="1"/>
          </p:cNvSpPr>
          <p:nvPr/>
        </p:nvSpPr>
        <p:spPr bwMode="auto">
          <a:xfrm flipV="1">
            <a:off x="7347348" y="1915717"/>
            <a:ext cx="44053" cy="296465"/>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5633" name="Line 33"/>
          <p:cNvSpPr>
            <a:spLocks noChangeShapeType="1"/>
          </p:cNvSpPr>
          <p:nvPr/>
        </p:nvSpPr>
        <p:spPr bwMode="auto">
          <a:xfrm flipV="1">
            <a:off x="3943350" y="1818085"/>
            <a:ext cx="1056085" cy="28575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lIns="65484" tIns="33338" rIns="65484" bIns="33338" anchor="ctr">
            <a:spAutoFit/>
          </a:bodyPr>
          <a:lstStyle/>
          <a:p>
            <a:endParaRPr lang="en-GB" sz="1013"/>
          </a:p>
        </p:txBody>
      </p:sp>
      <p:graphicFrame>
        <p:nvGraphicFramePr>
          <p:cNvPr id="25634" name="Object 34"/>
          <p:cNvGraphicFramePr>
            <a:graphicFrameLocks noChangeAspect="1"/>
          </p:cNvGraphicFramePr>
          <p:nvPr/>
        </p:nvGraphicFramePr>
        <p:xfrm>
          <a:off x="4691063" y="2857500"/>
          <a:ext cx="2308622" cy="1852613"/>
        </p:xfrm>
        <a:graphic>
          <a:graphicData uri="http://schemas.openxmlformats.org/presentationml/2006/ole">
            <mc:AlternateContent xmlns:mc="http://schemas.openxmlformats.org/markup-compatibility/2006">
              <mc:Choice xmlns:v="urn:schemas-microsoft-com:vml" Requires="v">
                <p:oleObj name="Formel" r:id="rId5" imgW="1511300" imgH="1117600" progId="Equation.3">
                  <p:embed/>
                </p:oleObj>
              </mc:Choice>
              <mc:Fallback>
                <p:oleObj name="Formel" r:id="rId5" imgW="1511300" imgH="1117600" progId="Equation.3">
                  <p:embed/>
                  <p:pic>
                    <p:nvPicPr>
                      <p:cNvPr id="25634"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1063" y="2857500"/>
                        <a:ext cx="2308622" cy="18526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5635" name="Line 35"/>
          <p:cNvSpPr>
            <a:spLocks noChangeShapeType="1"/>
          </p:cNvSpPr>
          <p:nvPr/>
        </p:nvSpPr>
        <p:spPr bwMode="auto">
          <a:xfrm flipH="1" flipV="1">
            <a:off x="4418410" y="2789635"/>
            <a:ext cx="685800" cy="1143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lIns="65484" tIns="33338" rIns="65484" bIns="33338" anchor="ctr">
            <a:spAutoFit/>
          </a:bodyPr>
          <a:lstStyle/>
          <a:p>
            <a:endParaRPr lang="en-GB" sz="1013"/>
          </a:p>
        </p:txBody>
      </p:sp>
      <p:graphicFrame>
        <p:nvGraphicFramePr>
          <p:cNvPr id="25636" name="Object 36"/>
          <p:cNvGraphicFramePr>
            <a:graphicFrameLocks noChangeAspect="1"/>
          </p:cNvGraphicFramePr>
          <p:nvPr/>
        </p:nvGraphicFramePr>
        <p:xfrm>
          <a:off x="1737123" y="1600200"/>
          <a:ext cx="625078" cy="248841"/>
        </p:xfrm>
        <a:graphic>
          <a:graphicData uri="http://schemas.openxmlformats.org/presentationml/2006/ole">
            <mc:AlternateContent xmlns:mc="http://schemas.openxmlformats.org/markup-compatibility/2006">
              <mc:Choice xmlns:v="urn:schemas-microsoft-com:vml" Requires="v">
                <p:oleObj name="Equation" r:id="rId7" imgW="380835" imgH="139639" progId="Equation.3">
                  <p:embed/>
                </p:oleObj>
              </mc:Choice>
              <mc:Fallback>
                <p:oleObj name="Equation" r:id="rId7" imgW="380835" imgH="139639" progId="Equation.3">
                  <p:embed/>
                  <p:pic>
                    <p:nvPicPr>
                      <p:cNvPr id="25636"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7123" y="1600200"/>
                        <a:ext cx="625078" cy="24884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5637" name="Text Box 37"/>
          <p:cNvSpPr txBox="1">
            <a:spLocks noChangeArrowheads="1"/>
          </p:cNvSpPr>
          <p:nvPr/>
        </p:nvSpPr>
        <p:spPr bwMode="auto">
          <a:xfrm>
            <a:off x="7029451" y="3313355"/>
            <a:ext cx="985045" cy="2289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050" b="1">
                <a:solidFill>
                  <a:srgbClr val="000080"/>
                </a:solidFill>
                <a:latin typeface="Arial" charset="0"/>
              </a:rPr>
              <a:t>Clock guards</a:t>
            </a:r>
          </a:p>
        </p:txBody>
      </p:sp>
      <p:sp>
        <p:nvSpPr>
          <p:cNvPr id="25638" name="Text Box 38"/>
          <p:cNvSpPr txBox="1">
            <a:spLocks noChangeArrowheads="1"/>
          </p:cNvSpPr>
          <p:nvPr/>
        </p:nvSpPr>
        <p:spPr bwMode="auto">
          <a:xfrm>
            <a:off x="7044929" y="3656255"/>
            <a:ext cx="911306" cy="2289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050" b="1">
                <a:solidFill>
                  <a:srgbClr val="000080"/>
                </a:solidFill>
                <a:latin typeface="Arial" charset="0"/>
              </a:rPr>
              <a:t>Data guards</a:t>
            </a:r>
          </a:p>
        </p:txBody>
      </p:sp>
      <p:sp>
        <p:nvSpPr>
          <p:cNvPr id="25639" name="Text Box 39"/>
          <p:cNvSpPr txBox="1">
            <a:spLocks noChangeArrowheads="1"/>
          </p:cNvSpPr>
          <p:nvPr/>
        </p:nvSpPr>
        <p:spPr bwMode="auto">
          <a:xfrm>
            <a:off x="1526381" y="1256089"/>
            <a:ext cx="1732044"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Clock Assignments</a:t>
            </a:r>
          </a:p>
        </p:txBody>
      </p:sp>
      <p:sp>
        <p:nvSpPr>
          <p:cNvPr id="25640" name="Text Box 40"/>
          <p:cNvSpPr txBox="1">
            <a:spLocks noChangeArrowheads="1"/>
          </p:cNvSpPr>
          <p:nvPr/>
        </p:nvSpPr>
        <p:spPr bwMode="auto">
          <a:xfrm>
            <a:off x="1578769" y="1999039"/>
            <a:ext cx="1924469"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Variable Assignments</a:t>
            </a:r>
          </a:p>
        </p:txBody>
      </p:sp>
      <p:graphicFrame>
        <p:nvGraphicFramePr>
          <p:cNvPr id="25641" name="Object 41"/>
          <p:cNvGraphicFramePr>
            <a:graphicFrameLocks noChangeAspect="1"/>
          </p:cNvGraphicFramePr>
          <p:nvPr/>
        </p:nvGraphicFramePr>
        <p:xfrm>
          <a:off x="1758553" y="2400300"/>
          <a:ext cx="1603772" cy="2628900"/>
        </p:xfrm>
        <a:graphic>
          <a:graphicData uri="http://schemas.openxmlformats.org/presentationml/2006/ole">
            <mc:AlternateContent xmlns:mc="http://schemas.openxmlformats.org/markup-compatibility/2006">
              <mc:Choice xmlns:v="urn:schemas-microsoft-com:vml" Requires="v">
                <p:oleObj name="Equation" r:id="rId9" imgW="1193800" imgH="1803400" progId="Equation.3">
                  <p:embed/>
                </p:oleObj>
              </mc:Choice>
              <mc:Fallback>
                <p:oleObj name="Equation" r:id="rId9" imgW="1193800" imgH="1803400" progId="Equation.3">
                  <p:embed/>
                  <p:pic>
                    <p:nvPicPr>
                      <p:cNvPr id="25641" name="Object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8553" y="2400300"/>
                        <a:ext cx="1603772" cy="26289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5642" name="Line 42"/>
          <p:cNvSpPr>
            <a:spLocks noChangeShapeType="1"/>
          </p:cNvSpPr>
          <p:nvPr/>
        </p:nvSpPr>
        <p:spPr bwMode="auto">
          <a:xfrm>
            <a:off x="2633663" y="1943100"/>
            <a:ext cx="1160860" cy="165735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25643" name="Text Box 43"/>
          <p:cNvSpPr txBox="1">
            <a:spLocks noChangeArrowheads="1"/>
          </p:cNvSpPr>
          <p:nvPr/>
        </p:nvSpPr>
        <p:spPr bwMode="auto">
          <a:xfrm>
            <a:off x="4849416" y="1198939"/>
            <a:ext cx="1719220"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Location Invariants</a:t>
            </a:r>
          </a:p>
        </p:txBody>
      </p:sp>
      <p:sp>
        <p:nvSpPr>
          <p:cNvPr id="25644" name="Line 44"/>
          <p:cNvSpPr>
            <a:spLocks noChangeShapeType="1"/>
          </p:cNvSpPr>
          <p:nvPr/>
        </p:nvSpPr>
        <p:spPr bwMode="auto">
          <a:xfrm flipH="1">
            <a:off x="6115050" y="2514600"/>
            <a:ext cx="950119" cy="40005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155693" name="Freeform 45"/>
          <p:cNvSpPr>
            <a:spLocks/>
          </p:cNvSpPr>
          <p:nvPr/>
        </p:nvSpPr>
        <p:spPr bwMode="auto">
          <a:xfrm>
            <a:off x="3833813" y="3031648"/>
            <a:ext cx="3375422" cy="223204"/>
          </a:xfrm>
          <a:custGeom>
            <a:avLst/>
            <a:gdLst/>
            <a:ahLst/>
            <a:cxnLst>
              <a:cxn ang="0">
                <a:pos x="0" y="576"/>
              </a:cxn>
              <a:cxn ang="0">
                <a:pos x="768" y="480"/>
              </a:cxn>
              <a:cxn ang="0">
                <a:pos x="768" y="0"/>
              </a:cxn>
              <a:cxn ang="0">
                <a:pos x="3072" y="0"/>
              </a:cxn>
              <a:cxn ang="0">
                <a:pos x="3072" y="1728"/>
              </a:cxn>
              <a:cxn ang="0">
                <a:pos x="768" y="1728"/>
              </a:cxn>
              <a:cxn ang="0">
                <a:pos x="768" y="816"/>
              </a:cxn>
              <a:cxn ang="0">
                <a:pos x="0" y="576"/>
              </a:cxn>
            </a:cxnLst>
            <a:rect l="0" t="0" r="r" b="b"/>
            <a:pathLst>
              <a:path w="3072" h="1728">
                <a:moveTo>
                  <a:pt x="0" y="576"/>
                </a:moveTo>
                <a:lnTo>
                  <a:pt x="768" y="480"/>
                </a:lnTo>
                <a:lnTo>
                  <a:pt x="768" y="0"/>
                </a:lnTo>
                <a:lnTo>
                  <a:pt x="3072" y="0"/>
                </a:lnTo>
                <a:lnTo>
                  <a:pt x="3072" y="1728"/>
                </a:lnTo>
                <a:lnTo>
                  <a:pt x="768" y="1728"/>
                </a:lnTo>
                <a:lnTo>
                  <a:pt x="768" y="816"/>
                </a:lnTo>
                <a:lnTo>
                  <a:pt x="0" y="576"/>
                </a:lnTo>
                <a:close/>
              </a:path>
            </a:pathLst>
          </a:custGeom>
          <a:solidFill>
            <a:schemeClr val="accent1"/>
          </a:solidFill>
          <a:ln w="25400" cap="flat" cmpd="sng">
            <a:solidFill>
              <a:schemeClr val="tx1"/>
            </a:solidFill>
            <a:prstDash val="solid"/>
            <a:round/>
            <a:headEnd type="none" w="med" len="med"/>
            <a:tailEnd type="none" w="med" len="med"/>
          </a:ln>
          <a:effectLst>
            <a:outerShdw dist="107763" dir="2700000" algn="ctr" rotWithShape="0">
              <a:schemeClr val="tx1">
                <a:alpha val="50000"/>
              </a:schemeClr>
            </a:outerShdw>
          </a:effectLst>
        </p:spPr>
        <p:txBody>
          <a:bodyPr lIns="65484" tIns="33338" rIns="65484" bIns="33338" anchor="ctr">
            <a:spAutoFit/>
          </a:bodyPr>
          <a:lstStyle/>
          <a:p>
            <a:pPr>
              <a:defRPr/>
            </a:pPr>
            <a:endParaRPr lang="sv-SE" sz="1013">
              <a:latin typeface="Tahoma" pitchFamily="34" charset="0"/>
            </a:endParaRPr>
          </a:p>
        </p:txBody>
      </p:sp>
      <p:sp>
        <p:nvSpPr>
          <p:cNvPr id="25646" name="Text Box 46"/>
          <p:cNvSpPr txBox="1">
            <a:spLocks noChangeArrowheads="1"/>
          </p:cNvSpPr>
          <p:nvPr/>
        </p:nvSpPr>
        <p:spPr bwMode="auto">
          <a:xfrm>
            <a:off x="4888706" y="2228850"/>
            <a:ext cx="2328863" cy="14061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Actions:</a:t>
            </a:r>
          </a:p>
          <a:p>
            <a:pPr>
              <a:spcBef>
                <a:spcPct val="20000"/>
              </a:spcBef>
              <a:buFontTx/>
              <a:buChar char="•"/>
            </a:pPr>
            <a:r>
              <a:rPr lang="en-US" sz="1500" b="1">
                <a:latin typeface="Arial" charset="0"/>
              </a:rPr>
              <a:t> </a:t>
            </a:r>
            <a:r>
              <a:rPr lang="ja-JP" altLang="en-US" sz="1500" b="1">
                <a:latin typeface="Arial" charset="0"/>
              </a:rPr>
              <a:t>“</a:t>
            </a:r>
            <a:r>
              <a:rPr lang="en-US" altLang="ja-JP" sz="1500" b="1">
                <a:latin typeface="Arial" charset="0"/>
              </a:rPr>
              <a:t>a</a:t>
            </a:r>
            <a:r>
              <a:rPr lang="ja-JP" altLang="en-US" sz="1500" b="1">
                <a:latin typeface="Arial" charset="0"/>
              </a:rPr>
              <a:t>”</a:t>
            </a:r>
            <a:r>
              <a:rPr lang="en-US" altLang="ja-JP" sz="1500" b="1">
                <a:latin typeface="Arial" charset="0"/>
              </a:rPr>
              <a:t> name of action</a:t>
            </a:r>
          </a:p>
          <a:p>
            <a:pPr>
              <a:spcBef>
                <a:spcPct val="20000"/>
              </a:spcBef>
              <a:buFontTx/>
              <a:buChar char="•"/>
            </a:pPr>
            <a:r>
              <a:rPr lang="en-US" sz="1500" b="1">
                <a:latin typeface="Arial" charset="0"/>
              </a:rPr>
              <a:t>  a! or a?</a:t>
            </a:r>
          </a:p>
          <a:p>
            <a:pPr>
              <a:spcBef>
                <a:spcPct val="20000"/>
              </a:spcBef>
              <a:buFontTx/>
              <a:buChar char="•"/>
            </a:pPr>
            <a:r>
              <a:rPr lang="en-US" sz="1500" b="1">
                <a:latin typeface="Arial" charset="0"/>
              </a:rPr>
              <a:t>  one or zero per edge</a:t>
            </a:r>
          </a:p>
          <a:p>
            <a:pPr>
              <a:spcBef>
                <a:spcPct val="20000"/>
              </a:spcBef>
            </a:pPr>
            <a:endParaRPr lang="sv-SE" sz="1500" b="1">
              <a:latin typeface="Arial" charset="0"/>
            </a:endParaRPr>
          </a:p>
        </p:txBody>
      </p:sp>
    </p:spTree>
    <p:extLst>
      <p:ext uri="{BB962C8B-B14F-4D97-AF65-F5344CB8AC3E}">
        <p14:creationId xmlns:p14="http://schemas.microsoft.com/office/powerpoint/2010/main" val="32741682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733675" y="-19050"/>
            <a:ext cx="5153025" cy="990600"/>
          </a:xfrm>
        </p:spPr>
        <p:txBody>
          <a:bodyPr/>
          <a:lstStyle/>
          <a:p>
            <a:pPr eaLnBrk="1" hangingPunct="1"/>
            <a:r>
              <a:rPr lang="en-GB" sz="2700">
                <a:latin typeface="Comic Sans MS" charset="0"/>
                <a:cs typeface="Arial" charset="0"/>
              </a:rPr>
              <a:t>Broadcast Synchronization</a:t>
            </a:r>
          </a:p>
        </p:txBody>
      </p:sp>
      <p:sp>
        <p:nvSpPr>
          <p:cNvPr id="26627" name="Rectangle 4"/>
          <p:cNvSpPr>
            <a:spLocks noGrp="1" noChangeArrowheads="1"/>
          </p:cNvSpPr>
          <p:nvPr>
            <p:ph type="body" sz="half" idx="2"/>
          </p:nvPr>
        </p:nvSpPr>
        <p:spPr>
          <a:xfrm>
            <a:off x="1943100" y="1314450"/>
            <a:ext cx="6057900" cy="3657600"/>
          </a:xfrm>
        </p:spPr>
        <p:txBody>
          <a:bodyPr>
            <a:normAutofit lnSpcReduction="10000"/>
          </a:bodyPr>
          <a:lstStyle/>
          <a:p>
            <a:pPr eaLnBrk="1" hangingPunct="1">
              <a:lnSpc>
                <a:spcPct val="90000"/>
              </a:lnSpc>
            </a:pPr>
            <a:r>
              <a:rPr lang="en-GB" sz="1800">
                <a:latin typeface="Comic Sans MS" charset="0"/>
                <a:cs typeface="Arial" charset="0"/>
              </a:rPr>
              <a:t>Declared like</a:t>
            </a:r>
            <a:br>
              <a:rPr lang="en-GB" sz="1800">
                <a:latin typeface="Comic Sans MS" charset="0"/>
                <a:cs typeface="Arial" charset="0"/>
              </a:rPr>
            </a:br>
            <a:r>
              <a:rPr lang="en-GB" sz="1800">
                <a:latin typeface="Courier New" charset="0"/>
                <a:cs typeface="Arial" charset="0"/>
              </a:rPr>
              <a:t>broadcast chan a, b, c[2];</a:t>
            </a:r>
          </a:p>
          <a:p>
            <a:pPr eaLnBrk="1" hangingPunct="1">
              <a:lnSpc>
                <a:spcPct val="90000"/>
              </a:lnSpc>
            </a:pPr>
            <a:r>
              <a:rPr lang="en-GB" sz="1800">
                <a:latin typeface="Comic Sans MS" charset="0"/>
                <a:cs typeface="Arial" charset="0"/>
              </a:rPr>
              <a:t>If a is a broadcast channel:</a:t>
            </a:r>
          </a:p>
          <a:p>
            <a:pPr lvl="1" eaLnBrk="1" hangingPunct="1">
              <a:lnSpc>
                <a:spcPct val="90000"/>
              </a:lnSpc>
            </a:pPr>
            <a:r>
              <a:rPr lang="en-GB" sz="1500">
                <a:latin typeface="Courier New" charset="0"/>
                <a:ea typeface="Arial" charset="0"/>
                <a:cs typeface="Arial" charset="0"/>
              </a:rPr>
              <a:t>a!</a:t>
            </a:r>
            <a:r>
              <a:rPr lang="en-GB" sz="1500">
                <a:latin typeface="Comic Sans MS" charset="0"/>
                <a:ea typeface="Arial" charset="0"/>
                <a:cs typeface="Arial" charset="0"/>
              </a:rPr>
              <a:t> = Emmision of broadcast</a:t>
            </a:r>
          </a:p>
          <a:p>
            <a:pPr lvl="1" eaLnBrk="1" hangingPunct="1">
              <a:lnSpc>
                <a:spcPct val="90000"/>
              </a:lnSpc>
            </a:pPr>
            <a:r>
              <a:rPr lang="en-GB" sz="1500">
                <a:latin typeface="Courier New" charset="0"/>
                <a:ea typeface="Arial" charset="0"/>
                <a:cs typeface="Arial" charset="0"/>
              </a:rPr>
              <a:t>a?</a:t>
            </a:r>
            <a:r>
              <a:rPr lang="en-GB" sz="1500">
                <a:latin typeface="Comic Sans MS" charset="0"/>
                <a:ea typeface="Arial" charset="0"/>
                <a:cs typeface="Arial" charset="0"/>
              </a:rPr>
              <a:t> = Reception of broadcast</a:t>
            </a:r>
          </a:p>
          <a:p>
            <a:pPr eaLnBrk="1" hangingPunct="1">
              <a:lnSpc>
                <a:spcPct val="90000"/>
              </a:lnSpc>
            </a:pPr>
            <a:endParaRPr lang="en-GB" sz="1800">
              <a:latin typeface="Comic Sans MS" charset="0"/>
              <a:cs typeface="Arial" charset="0"/>
            </a:endParaRPr>
          </a:p>
          <a:p>
            <a:pPr eaLnBrk="1" hangingPunct="1">
              <a:lnSpc>
                <a:spcPct val="90000"/>
              </a:lnSpc>
            </a:pPr>
            <a:r>
              <a:rPr lang="en-GB" sz="1800">
                <a:latin typeface="Comic Sans MS" charset="0"/>
                <a:cs typeface="Arial" charset="0"/>
              </a:rPr>
              <a:t>A set of edges in different processes can synchronize if one is emitting and the others are receiving on the same b.c. channel.  </a:t>
            </a:r>
          </a:p>
          <a:p>
            <a:pPr eaLnBrk="1" hangingPunct="1">
              <a:lnSpc>
                <a:spcPct val="90000"/>
              </a:lnSpc>
            </a:pPr>
            <a:r>
              <a:rPr lang="en-GB" sz="1800">
                <a:latin typeface="Comic Sans MS" charset="0"/>
                <a:cs typeface="Arial" charset="0"/>
              </a:rPr>
              <a:t>A process can always emit.  </a:t>
            </a:r>
          </a:p>
          <a:p>
            <a:pPr eaLnBrk="1" hangingPunct="1">
              <a:lnSpc>
                <a:spcPct val="90000"/>
              </a:lnSpc>
            </a:pPr>
            <a:r>
              <a:rPr lang="en-GB" sz="1800">
                <a:latin typeface="Comic Sans MS" charset="0"/>
                <a:cs typeface="Arial" charset="0"/>
              </a:rPr>
              <a:t>Receivers </a:t>
            </a:r>
            <a:r>
              <a:rPr lang="en-GB" sz="1800" i="1">
                <a:latin typeface="Comic Sans MS" charset="0"/>
                <a:cs typeface="Arial" charset="0"/>
              </a:rPr>
              <a:t>must</a:t>
            </a:r>
            <a:r>
              <a:rPr lang="en-GB" sz="1800">
                <a:latin typeface="Comic Sans MS" charset="0"/>
                <a:cs typeface="Arial" charset="0"/>
              </a:rPr>
              <a:t> synchronize if they can. </a:t>
            </a:r>
          </a:p>
          <a:p>
            <a:pPr eaLnBrk="1" hangingPunct="1">
              <a:lnSpc>
                <a:spcPct val="90000"/>
              </a:lnSpc>
            </a:pPr>
            <a:r>
              <a:rPr lang="en-GB" sz="1800">
                <a:latin typeface="Comic Sans MS" charset="0"/>
                <a:cs typeface="Arial" charset="0"/>
              </a:rPr>
              <a:t>No blocking.</a:t>
            </a:r>
          </a:p>
        </p:txBody>
      </p:sp>
    </p:spTree>
    <p:extLst>
      <p:ext uri="{BB962C8B-B14F-4D97-AF65-F5344CB8AC3E}">
        <p14:creationId xmlns:p14="http://schemas.microsoft.com/office/powerpoint/2010/main" val="16357574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686050" y="-171450"/>
            <a:ext cx="5153025" cy="1200150"/>
          </a:xfrm>
        </p:spPr>
        <p:txBody>
          <a:bodyPr/>
          <a:lstStyle/>
          <a:p>
            <a:pPr defTabSz="548879"/>
            <a:r>
              <a:rPr lang="en-US" sz="3000">
                <a:latin typeface="Comic Sans MS" charset="0"/>
                <a:cs typeface="Arial" charset="0"/>
              </a:rPr>
              <a:t>Urgent Channels: Example 1</a:t>
            </a:r>
            <a:endParaRPr lang="sv-SE" sz="2400">
              <a:latin typeface="Comic Sans MS" charset="0"/>
              <a:cs typeface="Arial" charset="0"/>
            </a:endParaRPr>
          </a:p>
        </p:txBody>
      </p:sp>
      <p:sp>
        <p:nvSpPr>
          <p:cNvPr id="27651" name="Rectangle 3"/>
          <p:cNvSpPr>
            <a:spLocks noGrp="1" noChangeArrowheads="1"/>
          </p:cNvSpPr>
          <p:nvPr>
            <p:ph type="body" idx="1"/>
          </p:nvPr>
        </p:nvSpPr>
        <p:spPr>
          <a:xfrm>
            <a:off x="4241007" y="1426369"/>
            <a:ext cx="3546872" cy="3148013"/>
          </a:xfrm>
        </p:spPr>
        <p:txBody>
          <a:bodyPr/>
          <a:lstStyle/>
          <a:p>
            <a:pPr defTabSz="548879"/>
            <a:r>
              <a:rPr lang="en-US" sz="1800">
                <a:latin typeface="Comic Sans MS" charset="0"/>
                <a:cs typeface="Arial" charset="0"/>
              </a:rPr>
              <a:t>Suppose the two edges in automata P and Q should be taken as soon as possible.</a:t>
            </a:r>
          </a:p>
          <a:p>
            <a:pPr defTabSz="548879"/>
            <a:r>
              <a:rPr lang="en-US" sz="1800">
                <a:latin typeface="Comic Sans MS" charset="0"/>
                <a:cs typeface="Arial" charset="0"/>
              </a:rPr>
              <a:t>I.e. as soon as both automata are ready (simultaneously in locations l</a:t>
            </a:r>
            <a:r>
              <a:rPr lang="en-US" sz="1200">
                <a:latin typeface="Comic Sans MS" charset="0"/>
                <a:cs typeface="Arial" charset="0"/>
              </a:rPr>
              <a:t>1</a:t>
            </a:r>
            <a:r>
              <a:rPr lang="en-US" sz="1800">
                <a:latin typeface="Comic Sans MS" charset="0"/>
                <a:cs typeface="Arial" charset="0"/>
              </a:rPr>
              <a:t> and s</a:t>
            </a:r>
            <a:r>
              <a:rPr lang="en-US" sz="1200">
                <a:latin typeface="Comic Sans MS" charset="0"/>
                <a:cs typeface="Arial" charset="0"/>
              </a:rPr>
              <a:t>1</a:t>
            </a:r>
            <a:r>
              <a:rPr lang="en-US" sz="1800">
                <a:latin typeface="Comic Sans MS" charset="0"/>
                <a:cs typeface="Arial" charset="0"/>
              </a:rPr>
              <a:t>).</a:t>
            </a:r>
          </a:p>
          <a:p>
            <a:pPr defTabSz="548879"/>
            <a:r>
              <a:rPr lang="en-US" sz="1800">
                <a:latin typeface="Comic Sans MS" charset="0"/>
                <a:cs typeface="Arial" charset="0"/>
              </a:rPr>
              <a:t>How to model with invariants if either one may reach l</a:t>
            </a:r>
            <a:r>
              <a:rPr lang="en-US" sz="1200">
                <a:latin typeface="Comic Sans MS" charset="0"/>
                <a:cs typeface="Arial" charset="0"/>
              </a:rPr>
              <a:t>1</a:t>
            </a:r>
            <a:r>
              <a:rPr lang="en-US" sz="1800">
                <a:latin typeface="Comic Sans MS" charset="0"/>
                <a:cs typeface="Arial" charset="0"/>
              </a:rPr>
              <a:t> or s</a:t>
            </a:r>
            <a:r>
              <a:rPr lang="en-US" sz="1200">
                <a:latin typeface="Comic Sans MS" charset="0"/>
                <a:cs typeface="Arial" charset="0"/>
              </a:rPr>
              <a:t>1</a:t>
            </a:r>
            <a:r>
              <a:rPr lang="en-US" sz="1800">
                <a:latin typeface="Comic Sans MS" charset="0"/>
                <a:cs typeface="Arial" charset="0"/>
              </a:rPr>
              <a:t> first?</a:t>
            </a:r>
          </a:p>
        </p:txBody>
      </p:sp>
      <p:sp>
        <p:nvSpPr>
          <p:cNvPr id="27652" name="Oval 4"/>
          <p:cNvSpPr>
            <a:spLocks noChangeArrowheads="1"/>
          </p:cNvSpPr>
          <p:nvPr/>
        </p:nvSpPr>
        <p:spPr bwMode="auto">
          <a:xfrm>
            <a:off x="2093119" y="177165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27653" name="Oval 5"/>
          <p:cNvSpPr>
            <a:spLocks noChangeArrowheads="1"/>
          </p:cNvSpPr>
          <p:nvPr/>
        </p:nvSpPr>
        <p:spPr bwMode="auto">
          <a:xfrm>
            <a:off x="2093119" y="308610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27654" name="Line 6"/>
          <p:cNvSpPr>
            <a:spLocks noChangeShapeType="1"/>
          </p:cNvSpPr>
          <p:nvPr/>
        </p:nvSpPr>
        <p:spPr bwMode="auto">
          <a:xfrm>
            <a:off x="2303860" y="222885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55" name="Text Box 7"/>
          <p:cNvSpPr txBox="1">
            <a:spLocks noChangeArrowheads="1"/>
          </p:cNvSpPr>
          <p:nvPr/>
        </p:nvSpPr>
        <p:spPr bwMode="auto">
          <a:xfrm>
            <a:off x="2290088" y="2457450"/>
            <a:ext cx="3037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t>
            </a:r>
            <a:endParaRPr lang="sv-SE" sz="1500" b="1">
              <a:latin typeface="Arial" charset="0"/>
            </a:endParaRPr>
          </a:p>
        </p:txBody>
      </p:sp>
      <p:sp>
        <p:nvSpPr>
          <p:cNvPr id="27656" name="Line 8"/>
          <p:cNvSpPr>
            <a:spLocks noChangeShapeType="1"/>
          </p:cNvSpPr>
          <p:nvPr/>
        </p:nvSpPr>
        <p:spPr bwMode="auto">
          <a:xfrm>
            <a:off x="2145506" y="1485900"/>
            <a:ext cx="104775"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57" name="Line 9"/>
          <p:cNvSpPr>
            <a:spLocks noChangeShapeType="1"/>
          </p:cNvSpPr>
          <p:nvPr/>
        </p:nvSpPr>
        <p:spPr bwMode="auto">
          <a:xfrm flipH="1">
            <a:off x="2408635" y="1485900"/>
            <a:ext cx="105965"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58" name="Line 10"/>
          <p:cNvSpPr>
            <a:spLocks noChangeShapeType="1"/>
          </p:cNvSpPr>
          <p:nvPr/>
        </p:nvSpPr>
        <p:spPr bwMode="auto">
          <a:xfrm flipH="1">
            <a:off x="2197894" y="354330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59" name="Line 11"/>
          <p:cNvSpPr>
            <a:spLocks noChangeShapeType="1"/>
          </p:cNvSpPr>
          <p:nvPr/>
        </p:nvSpPr>
        <p:spPr bwMode="auto">
          <a:xfrm>
            <a:off x="2356247" y="354330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60" name="Oval 12"/>
          <p:cNvSpPr>
            <a:spLocks noChangeArrowheads="1"/>
          </p:cNvSpPr>
          <p:nvPr/>
        </p:nvSpPr>
        <p:spPr bwMode="auto">
          <a:xfrm>
            <a:off x="3094435" y="17716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27661" name="Oval 13"/>
          <p:cNvSpPr>
            <a:spLocks noChangeArrowheads="1"/>
          </p:cNvSpPr>
          <p:nvPr/>
        </p:nvSpPr>
        <p:spPr bwMode="auto">
          <a:xfrm>
            <a:off x="3094435" y="30861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27662" name="Line 14"/>
          <p:cNvSpPr>
            <a:spLocks noChangeShapeType="1"/>
          </p:cNvSpPr>
          <p:nvPr/>
        </p:nvSpPr>
        <p:spPr bwMode="auto">
          <a:xfrm>
            <a:off x="3306366" y="222885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63" name="Text Box 15"/>
          <p:cNvSpPr txBox="1">
            <a:spLocks noChangeArrowheads="1"/>
          </p:cNvSpPr>
          <p:nvPr/>
        </p:nvSpPr>
        <p:spPr bwMode="auto">
          <a:xfrm>
            <a:off x="3306366" y="2466975"/>
            <a:ext cx="369094"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t>
            </a:r>
            <a:endParaRPr lang="sv-SE" sz="1500" b="1">
              <a:latin typeface="Arial" charset="0"/>
            </a:endParaRPr>
          </a:p>
        </p:txBody>
      </p:sp>
      <p:sp>
        <p:nvSpPr>
          <p:cNvPr id="27664" name="Line 16"/>
          <p:cNvSpPr>
            <a:spLocks noChangeShapeType="1"/>
          </p:cNvSpPr>
          <p:nvPr/>
        </p:nvSpPr>
        <p:spPr bwMode="auto">
          <a:xfrm>
            <a:off x="3148013" y="1485900"/>
            <a:ext cx="104775"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65" name="Line 17"/>
          <p:cNvSpPr>
            <a:spLocks noChangeShapeType="1"/>
          </p:cNvSpPr>
          <p:nvPr/>
        </p:nvSpPr>
        <p:spPr bwMode="auto">
          <a:xfrm flipH="1">
            <a:off x="3411142" y="1485900"/>
            <a:ext cx="105965"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66" name="Line 18"/>
          <p:cNvSpPr>
            <a:spLocks noChangeShapeType="1"/>
          </p:cNvSpPr>
          <p:nvPr/>
        </p:nvSpPr>
        <p:spPr bwMode="auto">
          <a:xfrm flipH="1">
            <a:off x="3200400" y="354330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67" name="Line 19"/>
          <p:cNvSpPr>
            <a:spLocks noChangeShapeType="1"/>
          </p:cNvSpPr>
          <p:nvPr/>
        </p:nvSpPr>
        <p:spPr bwMode="auto">
          <a:xfrm>
            <a:off x="3358753" y="354330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7668" name="Text Box 20"/>
          <p:cNvSpPr txBox="1">
            <a:spLocks noChangeArrowheads="1"/>
          </p:cNvSpPr>
          <p:nvPr/>
        </p:nvSpPr>
        <p:spPr bwMode="auto">
          <a:xfrm>
            <a:off x="2186666" y="18288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27669" name="Text Box 21"/>
          <p:cNvSpPr txBox="1">
            <a:spLocks noChangeArrowheads="1"/>
          </p:cNvSpPr>
          <p:nvPr/>
        </p:nvSpPr>
        <p:spPr bwMode="auto">
          <a:xfrm>
            <a:off x="2186666" y="31432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27670" name="Text Box 22"/>
          <p:cNvSpPr txBox="1">
            <a:spLocks noChangeArrowheads="1"/>
          </p:cNvSpPr>
          <p:nvPr/>
        </p:nvSpPr>
        <p:spPr bwMode="auto">
          <a:xfrm>
            <a:off x="3162518" y="18288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s</a:t>
            </a:r>
            <a:r>
              <a:rPr lang="en-US" sz="1200" b="1">
                <a:latin typeface="Arial" charset="0"/>
              </a:rPr>
              <a:t>1</a:t>
            </a:r>
            <a:endParaRPr lang="sv-SE" sz="1200" b="1">
              <a:latin typeface="Arial" charset="0"/>
            </a:endParaRPr>
          </a:p>
        </p:txBody>
      </p:sp>
      <p:sp>
        <p:nvSpPr>
          <p:cNvPr id="27671" name="Text Box 23"/>
          <p:cNvSpPr txBox="1">
            <a:spLocks noChangeArrowheads="1"/>
          </p:cNvSpPr>
          <p:nvPr/>
        </p:nvSpPr>
        <p:spPr bwMode="auto">
          <a:xfrm>
            <a:off x="3162518" y="314325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s</a:t>
            </a:r>
            <a:r>
              <a:rPr lang="en-US" sz="1200" b="1">
                <a:latin typeface="Arial" charset="0"/>
              </a:rPr>
              <a:t>2</a:t>
            </a:r>
            <a:endParaRPr lang="sv-SE" sz="1200" b="1">
              <a:latin typeface="Arial" charset="0"/>
            </a:endParaRPr>
          </a:p>
        </p:txBody>
      </p:sp>
      <p:sp>
        <p:nvSpPr>
          <p:cNvPr id="27672" name="Text Box 24"/>
          <p:cNvSpPr txBox="1">
            <a:spLocks noChangeArrowheads="1"/>
          </p:cNvSpPr>
          <p:nvPr/>
        </p:nvSpPr>
        <p:spPr bwMode="auto">
          <a:xfrm>
            <a:off x="1709360" y="154305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
        <p:nvSpPr>
          <p:cNvPr id="27673" name="Text Box 25"/>
          <p:cNvSpPr txBox="1">
            <a:spLocks noChangeArrowheads="1"/>
          </p:cNvSpPr>
          <p:nvPr/>
        </p:nvSpPr>
        <p:spPr bwMode="auto">
          <a:xfrm>
            <a:off x="2763358" y="1543050"/>
            <a:ext cx="34544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Q:</a:t>
            </a:r>
            <a:endParaRPr lang="sv-SE" sz="1500" b="1">
              <a:latin typeface="Arial" charset="0"/>
            </a:endParaRPr>
          </a:p>
        </p:txBody>
      </p:sp>
    </p:spTree>
    <p:extLst>
      <p:ext uri="{BB962C8B-B14F-4D97-AF65-F5344CB8AC3E}">
        <p14:creationId xmlns:p14="http://schemas.microsoft.com/office/powerpoint/2010/main" val="26610596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686050" y="-114300"/>
            <a:ext cx="5153025" cy="1200150"/>
          </a:xfrm>
        </p:spPr>
        <p:txBody>
          <a:bodyPr/>
          <a:lstStyle/>
          <a:p>
            <a:pPr defTabSz="548879"/>
            <a:r>
              <a:rPr lang="en-US" sz="3000">
                <a:latin typeface="Comic Sans MS" charset="0"/>
                <a:cs typeface="Arial" charset="0"/>
              </a:rPr>
              <a:t>Urgent Channels: Example 1</a:t>
            </a:r>
            <a:endParaRPr lang="sv-SE" sz="2400">
              <a:latin typeface="Comic Sans MS" charset="0"/>
              <a:cs typeface="Arial" charset="0"/>
            </a:endParaRPr>
          </a:p>
        </p:txBody>
      </p:sp>
      <p:sp>
        <p:nvSpPr>
          <p:cNvPr id="28675" name="Rectangle 3"/>
          <p:cNvSpPr>
            <a:spLocks noGrp="1" noChangeArrowheads="1"/>
          </p:cNvSpPr>
          <p:nvPr>
            <p:ph type="body" idx="1"/>
          </p:nvPr>
        </p:nvSpPr>
        <p:spPr>
          <a:xfrm>
            <a:off x="4241007" y="1426369"/>
            <a:ext cx="3546872" cy="3148013"/>
          </a:xfrm>
        </p:spPr>
        <p:txBody>
          <a:bodyPr/>
          <a:lstStyle/>
          <a:p>
            <a:pPr defTabSz="548879"/>
            <a:r>
              <a:rPr lang="en-US" sz="1800">
                <a:latin typeface="Comic Sans MS" charset="0"/>
                <a:cs typeface="Arial" charset="0"/>
              </a:rPr>
              <a:t>Suppose the two edges in automata P and Q should be taken as soon as possible</a:t>
            </a:r>
          </a:p>
          <a:p>
            <a:pPr defTabSz="548879"/>
            <a:r>
              <a:rPr lang="en-US" sz="1800">
                <a:latin typeface="Comic Sans MS" charset="0"/>
                <a:cs typeface="Arial" charset="0"/>
              </a:rPr>
              <a:t>I.e. as soon as both automata are ready (simultaneously in locations l</a:t>
            </a:r>
            <a:r>
              <a:rPr lang="en-US" sz="1200">
                <a:latin typeface="Comic Sans MS" charset="0"/>
                <a:cs typeface="Arial" charset="0"/>
              </a:rPr>
              <a:t>1</a:t>
            </a:r>
            <a:r>
              <a:rPr lang="en-US" sz="1800">
                <a:latin typeface="Comic Sans MS" charset="0"/>
                <a:cs typeface="Arial" charset="0"/>
              </a:rPr>
              <a:t> and s</a:t>
            </a:r>
            <a:r>
              <a:rPr lang="en-US" sz="1200">
                <a:latin typeface="Comic Sans MS" charset="0"/>
                <a:cs typeface="Arial" charset="0"/>
              </a:rPr>
              <a:t>1</a:t>
            </a:r>
            <a:r>
              <a:rPr lang="en-US" sz="1800">
                <a:latin typeface="Comic Sans MS" charset="0"/>
                <a:cs typeface="Arial" charset="0"/>
              </a:rPr>
              <a:t>).</a:t>
            </a:r>
          </a:p>
          <a:p>
            <a:pPr defTabSz="548879"/>
            <a:r>
              <a:rPr lang="en-US" sz="1800">
                <a:latin typeface="Comic Sans MS" charset="0"/>
                <a:cs typeface="Arial" charset="0"/>
              </a:rPr>
              <a:t>How to model with invariants if either one may reach l</a:t>
            </a:r>
            <a:r>
              <a:rPr lang="en-US" sz="1200">
                <a:latin typeface="Comic Sans MS" charset="0"/>
                <a:cs typeface="Arial" charset="0"/>
              </a:rPr>
              <a:t>1</a:t>
            </a:r>
            <a:r>
              <a:rPr lang="en-US" sz="1800">
                <a:latin typeface="Comic Sans MS" charset="0"/>
                <a:cs typeface="Arial" charset="0"/>
              </a:rPr>
              <a:t> or s</a:t>
            </a:r>
            <a:r>
              <a:rPr lang="en-US" sz="1200">
                <a:latin typeface="Comic Sans MS" charset="0"/>
                <a:cs typeface="Arial" charset="0"/>
              </a:rPr>
              <a:t>1</a:t>
            </a:r>
            <a:r>
              <a:rPr lang="en-US" sz="1800">
                <a:latin typeface="Comic Sans MS" charset="0"/>
                <a:cs typeface="Arial" charset="0"/>
              </a:rPr>
              <a:t> first?</a:t>
            </a:r>
          </a:p>
          <a:p>
            <a:pPr defTabSz="548879"/>
            <a:r>
              <a:rPr lang="en-US" sz="1800" b="1">
                <a:latin typeface="Comic Sans MS" charset="0"/>
                <a:cs typeface="Arial" charset="0"/>
              </a:rPr>
              <a:t>Solution</a:t>
            </a:r>
            <a:r>
              <a:rPr lang="en-US" sz="1800">
                <a:latin typeface="Comic Sans MS" charset="0"/>
                <a:cs typeface="Arial" charset="0"/>
              </a:rPr>
              <a:t>: declare action </a:t>
            </a:r>
            <a:r>
              <a:rPr lang="ja-JP" altLang="en-US" sz="1800">
                <a:latin typeface="Comic Sans MS" charset="0"/>
                <a:cs typeface="Arial" charset="0"/>
              </a:rPr>
              <a:t>“</a:t>
            </a:r>
            <a:r>
              <a:rPr lang="en-US" altLang="ja-JP" sz="1800">
                <a:latin typeface="Comic Sans MS" charset="0"/>
                <a:cs typeface="Arial" charset="0"/>
              </a:rPr>
              <a:t>a</a:t>
            </a:r>
            <a:r>
              <a:rPr lang="ja-JP" altLang="en-US" sz="1800">
                <a:latin typeface="Comic Sans MS" charset="0"/>
                <a:cs typeface="Arial" charset="0"/>
              </a:rPr>
              <a:t>”</a:t>
            </a:r>
            <a:r>
              <a:rPr lang="en-US" altLang="ja-JP" sz="1800">
                <a:latin typeface="Comic Sans MS" charset="0"/>
                <a:cs typeface="Arial" charset="0"/>
              </a:rPr>
              <a:t> as urgent.</a:t>
            </a:r>
            <a:endParaRPr lang="en-US" sz="1800" b="1">
              <a:latin typeface="Comic Sans MS" charset="0"/>
              <a:cs typeface="Arial" charset="0"/>
            </a:endParaRPr>
          </a:p>
        </p:txBody>
      </p:sp>
      <p:sp>
        <p:nvSpPr>
          <p:cNvPr id="28676" name="Oval 4"/>
          <p:cNvSpPr>
            <a:spLocks noChangeArrowheads="1"/>
          </p:cNvSpPr>
          <p:nvPr/>
        </p:nvSpPr>
        <p:spPr bwMode="auto">
          <a:xfrm>
            <a:off x="2093119" y="177165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28677" name="Oval 5"/>
          <p:cNvSpPr>
            <a:spLocks noChangeArrowheads="1"/>
          </p:cNvSpPr>
          <p:nvPr/>
        </p:nvSpPr>
        <p:spPr bwMode="auto">
          <a:xfrm>
            <a:off x="2093119" y="308610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28678" name="Line 6"/>
          <p:cNvSpPr>
            <a:spLocks noChangeShapeType="1"/>
          </p:cNvSpPr>
          <p:nvPr/>
        </p:nvSpPr>
        <p:spPr bwMode="auto">
          <a:xfrm>
            <a:off x="2303860" y="222885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79" name="Text Box 7"/>
          <p:cNvSpPr txBox="1">
            <a:spLocks noChangeArrowheads="1"/>
          </p:cNvSpPr>
          <p:nvPr/>
        </p:nvSpPr>
        <p:spPr bwMode="auto">
          <a:xfrm>
            <a:off x="2290088" y="2457450"/>
            <a:ext cx="3037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t>
            </a:r>
            <a:endParaRPr lang="sv-SE" sz="1500" b="1">
              <a:latin typeface="Arial" charset="0"/>
            </a:endParaRPr>
          </a:p>
        </p:txBody>
      </p:sp>
      <p:sp>
        <p:nvSpPr>
          <p:cNvPr id="28680" name="Line 8"/>
          <p:cNvSpPr>
            <a:spLocks noChangeShapeType="1"/>
          </p:cNvSpPr>
          <p:nvPr/>
        </p:nvSpPr>
        <p:spPr bwMode="auto">
          <a:xfrm>
            <a:off x="2145506" y="1485900"/>
            <a:ext cx="104775"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81" name="Line 9"/>
          <p:cNvSpPr>
            <a:spLocks noChangeShapeType="1"/>
          </p:cNvSpPr>
          <p:nvPr/>
        </p:nvSpPr>
        <p:spPr bwMode="auto">
          <a:xfrm flipH="1">
            <a:off x="2408635" y="1485900"/>
            <a:ext cx="105965"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82" name="Line 10"/>
          <p:cNvSpPr>
            <a:spLocks noChangeShapeType="1"/>
          </p:cNvSpPr>
          <p:nvPr/>
        </p:nvSpPr>
        <p:spPr bwMode="auto">
          <a:xfrm flipH="1">
            <a:off x="2197894" y="354330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83" name="Line 11"/>
          <p:cNvSpPr>
            <a:spLocks noChangeShapeType="1"/>
          </p:cNvSpPr>
          <p:nvPr/>
        </p:nvSpPr>
        <p:spPr bwMode="auto">
          <a:xfrm>
            <a:off x="2356247" y="354330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84" name="Oval 12"/>
          <p:cNvSpPr>
            <a:spLocks noChangeArrowheads="1"/>
          </p:cNvSpPr>
          <p:nvPr/>
        </p:nvSpPr>
        <p:spPr bwMode="auto">
          <a:xfrm>
            <a:off x="3094435" y="17716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28685" name="Oval 13"/>
          <p:cNvSpPr>
            <a:spLocks noChangeArrowheads="1"/>
          </p:cNvSpPr>
          <p:nvPr/>
        </p:nvSpPr>
        <p:spPr bwMode="auto">
          <a:xfrm>
            <a:off x="3094435" y="30861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28686" name="Line 14"/>
          <p:cNvSpPr>
            <a:spLocks noChangeShapeType="1"/>
          </p:cNvSpPr>
          <p:nvPr/>
        </p:nvSpPr>
        <p:spPr bwMode="auto">
          <a:xfrm>
            <a:off x="3306366" y="222885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87" name="Text Box 15"/>
          <p:cNvSpPr txBox="1">
            <a:spLocks noChangeArrowheads="1"/>
          </p:cNvSpPr>
          <p:nvPr/>
        </p:nvSpPr>
        <p:spPr bwMode="auto">
          <a:xfrm>
            <a:off x="3306366" y="2466975"/>
            <a:ext cx="369094"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t>
            </a:r>
            <a:endParaRPr lang="sv-SE" sz="1500" b="1">
              <a:latin typeface="Arial" charset="0"/>
            </a:endParaRPr>
          </a:p>
        </p:txBody>
      </p:sp>
      <p:sp>
        <p:nvSpPr>
          <p:cNvPr id="28688" name="Line 16"/>
          <p:cNvSpPr>
            <a:spLocks noChangeShapeType="1"/>
          </p:cNvSpPr>
          <p:nvPr/>
        </p:nvSpPr>
        <p:spPr bwMode="auto">
          <a:xfrm>
            <a:off x="3148013" y="1485900"/>
            <a:ext cx="104775"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89" name="Line 17"/>
          <p:cNvSpPr>
            <a:spLocks noChangeShapeType="1"/>
          </p:cNvSpPr>
          <p:nvPr/>
        </p:nvSpPr>
        <p:spPr bwMode="auto">
          <a:xfrm flipH="1">
            <a:off x="3411142" y="1485900"/>
            <a:ext cx="105965"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90" name="Line 18"/>
          <p:cNvSpPr>
            <a:spLocks noChangeShapeType="1"/>
          </p:cNvSpPr>
          <p:nvPr/>
        </p:nvSpPr>
        <p:spPr bwMode="auto">
          <a:xfrm flipH="1">
            <a:off x="3200400" y="354330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91" name="Line 19"/>
          <p:cNvSpPr>
            <a:spLocks noChangeShapeType="1"/>
          </p:cNvSpPr>
          <p:nvPr/>
        </p:nvSpPr>
        <p:spPr bwMode="auto">
          <a:xfrm>
            <a:off x="3358753" y="354330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28692" name="Text Box 20"/>
          <p:cNvSpPr txBox="1">
            <a:spLocks noChangeArrowheads="1"/>
          </p:cNvSpPr>
          <p:nvPr/>
        </p:nvSpPr>
        <p:spPr bwMode="auto">
          <a:xfrm>
            <a:off x="2186666" y="18288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28693" name="Text Box 21"/>
          <p:cNvSpPr txBox="1">
            <a:spLocks noChangeArrowheads="1"/>
          </p:cNvSpPr>
          <p:nvPr/>
        </p:nvSpPr>
        <p:spPr bwMode="auto">
          <a:xfrm>
            <a:off x="2186666" y="31432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28694" name="Text Box 22"/>
          <p:cNvSpPr txBox="1">
            <a:spLocks noChangeArrowheads="1"/>
          </p:cNvSpPr>
          <p:nvPr/>
        </p:nvSpPr>
        <p:spPr bwMode="auto">
          <a:xfrm>
            <a:off x="3162518" y="18288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s</a:t>
            </a:r>
            <a:r>
              <a:rPr lang="en-US" sz="1200" b="1">
                <a:latin typeface="Arial" charset="0"/>
              </a:rPr>
              <a:t>1</a:t>
            </a:r>
            <a:endParaRPr lang="sv-SE" sz="1200" b="1">
              <a:latin typeface="Arial" charset="0"/>
            </a:endParaRPr>
          </a:p>
        </p:txBody>
      </p:sp>
      <p:sp>
        <p:nvSpPr>
          <p:cNvPr id="28695" name="Text Box 23"/>
          <p:cNvSpPr txBox="1">
            <a:spLocks noChangeArrowheads="1"/>
          </p:cNvSpPr>
          <p:nvPr/>
        </p:nvSpPr>
        <p:spPr bwMode="auto">
          <a:xfrm>
            <a:off x="3162518" y="314325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s</a:t>
            </a:r>
            <a:r>
              <a:rPr lang="en-US" sz="1200" b="1">
                <a:latin typeface="Arial" charset="0"/>
              </a:rPr>
              <a:t>2</a:t>
            </a:r>
            <a:endParaRPr lang="sv-SE" sz="1200" b="1">
              <a:latin typeface="Arial" charset="0"/>
            </a:endParaRPr>
          </a:p>
        </p:txBody>
      </p:sp>
      <p:sp>
        <p:nvSpPr>
          <p:cNvPr id="28696" name="Text Box 24"/>
          <p:cNvSpPr txBox="1">
            <a:spLocks noChangeArrowheads="1"/>
          </p:cNvSpPr>
          <p:nvPr/>
        </p:nvSpPr>
        <p:spPr bwMode="auto">
          <a:xfrm>
            <a:off x="1709360" y="154305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
        <p:nvSpPr>
          <p:cNvPr id="28697" name="Text Box 25"/>
          <p:cNvSpPr txBox="1">
            <a:spLocks noChangeArrowheads="1"/>
          </p:cNvSpPr>
          <p:nvPr/>
        </p:nvSpPr>
        <p:spPr bwMode="auto">
          <a:xfrm>
            <a:off x="2763358" y="1543050"/>
            <a:ext cx="34544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Q:</a:t>
            </a:r>
            <a:endParaRPr lang="sv-SE" sz="1500" b="1">
              <a:latin typeface="Arial" charset="0"/>
            </a:endParaRPr>
          </a:p>
        </p:txBody>
      </p:sp>
    </p:spTree>
    <p:extLst>
      <p:ext uri="{BB962C8B-B14F-4D97-AF65-F5344CB8AC3E}">
        <p14:creationId xmlns:p14="http://schemas.microsoft.com/office/powerpoint/2010/main" val="4365783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1643062" y="1717198"/>
            <a:ext cx="132312" cy="223204"/>
          </a:xfrm>
          <a:prstGeom prst="rect">
            <a:avLst/>
          </a:prstGeom>
          <a:solidFill>
            <a:schemeClr val="accent1"/>
          </a:solidFill>
          <a:ln w="25400">
            <a:solidFill>
              <a:schemeClr val="tx1"/>
            </a:solidFill>
            <a:miter lim="800000"/>
            <a:headEnd/>
            <a:tailEnd/>
          </a:ln>
        </p:spPr>
        <p:txBody>
          <a:bodyPr wrap="none" lIns="65484" tIns="33338" rIns="65484" bIns="33338" anchor="ctr">
            <a:spAutoFit/>
          </a:bodyPr>
          <a:lstStyle/>
          <a:p>
            <a:endParaRPr lang="sv-SE" sz="1013">
              <a:cs typeface="Arial" charset="0"/>
            </a:endParaRPr>
          </a:p>
        </p:txBody>
      </p:sp>
      <p:sp>
        <p:nvSpPr>
          <p:cNvPr id="29699" name="Rectangle 3"/>
          <p:cNvSpPr>
            <a:spLocks noGrp="1" noChangeArrowheads="1"/>
          </p:cNvSpPr>
          <p:nvPr>
            <p:ph type="title"/>
          </p:nvPr>
        </p:nvSpPr>
        <p:spPr>
          <a:xfrm>
            <a:off x="2343150" y="-114300"/>
            <a:ext cx="5153025" cy="1200150"/>
          </a:xfrm>
        </p:spPr>
        <p:txBody>
          <a:bodyPr/>
          <a:lstStyle/>
          <a:p>
            <a:pPr defTabSz="548879"/>
            <a:r>
              <a:rPr lang="en-US">
                <a:latin typeface="Comic Sans MS" charset="0"/>
                <a:cs typeface="Arial" charset="0"/>
              </a:rPr>
              <a:t>Urgent Channels</a:t>
            </a:r>
          </a:p>
        </p:txBody>
      </p:sp>
      <p:sp>
        <p:nvSpPr>
          <p:cNvPr id="29700" name="Text Box 4"/>
          <p:cNvSpPr txBox="1">
            <a:spLocks noChangeArrowheads="1"/>
          </p:cNvSpPr>
          <p:nvPr/>
        </p:nvSpPr>
        <p:spPr bwMode="auto">
          <a:xfrm>
            <a:off x="1747837" y="1655447"/>
            <a:ext cx="2613696"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800" b="1">
                <a:latin typeface="Courier New" charset="0"/>
              </a:rPr>
              <a:t>urgent chan hurry;</a:t>
            </a:r>
          </a:p>
        </p:txBody>
      </p:sp>
      <p:sp>
        <p:nvSpPr>
          <p:cNvPr id="29701" name="Text Box 5"/>
          <p:cNvSpPr txBox="1">
            <a:spLocks noChangeArrowheads="1"/>
          </p:cNvSpPr>
          <p:nvPr/>
        </p:nvSpPr>
        <p:spPr bwMode="auto">
          <a:xfrm>
            <a:off x="1618060" y="2364172"/>
            <a:ext cx="6172200" cy="21725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65484" tIns="33338" rIns="65484" bIns="33338" anchor="ctr">
            <a:spAutoFit/>
          </a:bodyPr>
          <a:lstStyle>
            <a:lvl1pPr marL="168275" indent="-168275">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800" b="1">
                <a:latin typeface="Arial" charset="0"/>
              </a:rPr>
              <a:t>Informal Semantics:</a:t>
            </a:r>
          </a:p>
          <a:p>
            <a:pPr>
              <a:spcBef>
                <a:spcPct val="20000"/>
              </a:spcBef>
              <a:buFontTx/>
              <a:buChar char="•"/>
            </a:pPr>
            <a:r>
              <a:rPr lang="en-US" sz="1800">
                <a:latin typeface="Arial" charset="0"/>
              </a:rPr>
              <a:t>There will be </a:t>
            </a:r>
            <a:r>
              <a:rPr lang="en-US" sz="1800" u="sng">
                <a:latin typeface="Arial" charset="0"/>
              </a:rPr>
              <a:t>no delay</a:t>
            </a:r>
            <a:r>
              <a:rPr lang="en-US" sz="1800">
                <a:latin typeface="Arial" charset="0"/>
              </a:rPr>
              <a:t> if transition with urgent action can be taken.</a:t>
            </a:r>
            <a:br>
              <a:rPr lang="en-US" sz="1800">
                <a:latin typeface="Arial" charset="0"/>
              </a:rPr>
            </a:br>
            <a:br>
              <a:rPr lang="en-US" sz="1800">
                <a:latin typeface="Arial" charset="0"/>
              </a:rPr>
            </a:br>
            <a:r>
              <a:rPr lang="en-US" sz="1800" b="1">
                <a:latin typeface="Arial" charset="0"/>
              </a:rPr>
              <a:t>Restrictions:</a:t>
            </a:r>
          </a:p>
          <a:p>
            <a:pPr>
              <a:spcBef>
                <a:spcPct val="20000"/>
              </a:spcBef>
              <a:buFontTx/>
              <a:buChar char="•"/>
            </a:pPr>
            <a:r>
              <a:rPr lang="en-US" sz="1800" u="sng">
                <a:latin typeface="Arial" charset="0"/>
              </a:rPr>
              <a:t>No clock guard</a:t>
            </a:r>
            <a:r>
              <a:rPr lang="en-US" sz="1800">
                <a:latin typeface="Arial" charset="0"/>
              </a:rPr>
              <a:t> allowed on transitions with urgent actions.</a:t>
            </a:r>
          </a:p>
          <a:p>
            <a:pPr>
              <a:spcBef>
                <a:spcPct val="20000"/>
              </a:spcBef>
              <a:buFontTx/>
              <a:buChar char="•"/>
            </a:pPr>
            <a:r>
              <a:rPr lang="en-US" sz="1800" u="sng">
                <a:latin typeface="Arial" charset="0"/>
              </a:rPr>
              <a:t>Invariants</a:t>
            </a:r>
            <a:r>
              <a:rPr lang="en-US" sz="1800">
                <a:latin typeface="Arial" charset="0"/>
              </a:rPr>
              <a:t> and </a:t>
            </a:r>
            <a:r>
              <a:rPr lang="en-US" sz="1800" u="sng">
                <a:latin typeface="Arial" charset="0"/>
              </a:rPr>
              <a:t>data-variable guards</a:t>
            </a:r>
            <a:r>
              <a:rPr lang="en-US" sz="1800">
                <a:latin typeface="Arial" charset="0"/>
              </a:rPr>
              <a:t> are allowed.</a:t>
            </a:r>
          </a:p>
        </p:txBody>
      </p:sp>
    </p:spTree>
    <p:extLst>
      <p:ext uri="{BB962C8B-B14F-4D97-AF65-F5344CB8AC3E}">
        <p14:creationId xmlns:p14="http://schemas.microsoft.com/office/powerpoint/2010/main" val="19342149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76475" y="196453"/>
            <a:ext cx="6067425" cy="717947"/>
          </a:xfrm>
        </p:spPr>
        <p:txBody>
          <a:bodyPr/>
          <a:lstStyle/>
          <a:p>
            <a:pPr defTabSz="548879"/>
            <a:r>
              <a:rPr lang="en-US" sz="3000">
                <a:latin typeface="Comic Sans MS" charset="0"/>
                <a:cs typeface="Arial" charset="0"/>
              </a:rPr>
              <a:t>Urgent Channel: Example 2</a:t>
            </a:r>
            <a:endParaRPr lang="sv-SE" sz="3000">
              <a:latin typeface="Comic Sans MS" charset="0"/>
              <a:cs typeface="Arial" charset="0"/>
            </a:endParaRPr>
          </a:p>
        </p:txBody>
      </p:sp>
      <p:sp>
        <p:nvSpPr>
          <p:cNvPr id="30723" name="Rectangle 3"/>
          <p:cNvSpPr>
            <a:spLocks noGrp="1" noChangeArrowheads="1"/>
          </p:cNvSpPr>
          <p:nvPr>
            <p:ph type="body" idx="1"/>
          </p:nvPr>
        </p:nvSpPr>
        <p:spPr>
          <a:xfrm>
            <a:off x="3850482" y="1371600"/>
            <a:ext cx="3979069" cy="3257550"/>
          </a:xfrm>
        </p:spPr>
        <p:txBody>
          <a:bodyPr/>
          <a:lstStyle/>
          <a:p>
            <a:pPr defTabSz="548879"/>
            <a:r>
              <a:rPr lang="en-US" sz="1800">
                <a:latin typeface="Comic Sans MS" charset="0"/>
                <a:cs typeface="Arial" charset="0"/>
              </a:rPr>
              <a:t>Assume i is a data variable.</a:t>
            </a:r>
          </a:p>
          <a:p>
            <a:pPr defTabSz="548879"/>
            <a:r>
              <a:rPr lang="en-US" sz="1800">
                <a:latin typeface="Comic Sans MS" charset="0"/>
                <a:cs typeface="Arial" charset="0"/>
              </a:rPr>
              <a:t>We want P to take the transition from l1 to l2  as soon as i==5.</a:t>
            </a:r>
          </a:p>
          <a:p>
            <a:pPr defTabSz="548879"/>
            <a:endParaRPr lang="en-US" sz="1800">
              <a:latin typeface="Comic Sans MS" charset="0"/>
              <a:cs typeface="Arial" charset="0"/>
            </a:endParaRPr>
          </a:p>
          <a:p>
            <a:pPr defTabSz="548879"/>
            <a:endParaRPr lang="en-US" sz="1800">
              <a:latin typeface="Comic Sans MS" charset="0"/>
              <a:cs typeface="Arial" charset="0"/>
            </a:endParaRPr>
          </a:p>
        </p:txBody>
      </p:sp>
      <p:sp>
        <p:nvSpPr>
          <p:cNvPr id="30724" name="Oval 4"/>
          <p:cNvSpPr>
            <a:spLocks noChangeArrowheads="1"/>
          </p:cNvSpPr>
          <p:nvPr/>
        </p:nvSpPr>
        <p:spPr bwMode="auto">
          <a:xfrm>
            <a:off x="2197894" y="18288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0725" name="Oval 5"/>
          <p:cNvSpPr>
            <a:spLocks noChangeArrowheads="1"/>
          </p:cNvSpPr>
          <p:nvPr/>
        </p:nvSpPr>
        <p:spPr bwMode="auto">
          <a:xfrm>
            <a:off x="2197894" y="31432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0726" name="Line 6"/>
          <p:cNvSpPr>
            <a:spLocks noChangeShapeType="1"/>
          </p:cNvSpPr>
          <p:nvPr/>
        </p:nvSpPr>
        <p:spPr bwMode="auto">
          <a:xfrm>
            <a:off x="2408635" y="228600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0727" name="Text Box 7"/>
          <p:cNvSpPr txBox="1">
            <a:spLocks noChangeArrowheads="1"/>
          </p:cNvSpPr>
          <p:nvPr/>
        </p:nvSpPr>
        <p:spPr bwMode="auto">
          <a:xfrm>
            <a:off x="2439472" y="2514600"/>
            <a:ext cx="5169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i==5</a:t>
            </a:r>
            <a:endParaRPr lang="sv-SE" sz="1500" b="1">
              <a:latin typeface="Arial" charset="0"/>
            </a:endParaRPr>
          </a:p>
        </p:txBody>
      </p:sp>
      <p:sp>
        <p:nvSpPr>
          <p:cNvPr id="30728" name="Line 8"/>
          <p:cNvSpPr>
            <a:spLocks noChangeShapeType="1"/>
          </p:cNvSpPr>
          <p:nvPr/>
        </p:nvSpPr>
        <p:spPr bwMode="auto">
          <a:xfrm>
            <a:off x="2250281" y="1543050"/>
            <a:ext cx="105966"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0729" name="Line 9"/>
          <p:cNvSpPr>
            <a:spLocks noChangeShapeType="1"/>
          </p:cNvSpPr>
          <p:nvPr/>
        </p:nvSpPr>
        <p:spPr bwMode="auto">
          <a:xfrm flipH="1">
            <a:off x="2514600" y="1543050"/>
            <a:ext cx="105966"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0730" name="Line 10"/>
          <p:cNvSpPr>
            <a:spLocks noChangeShapeType="1"/>
          </p:cNvSpPr>
          <p:nvPr/>
        </p:nvSpPr>
        <p:spPr bwMode="auto">
          <a:xfrm flipH="1">
            <a:off x="2303860" y="360045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0731" name="Line 11"/>
          <p:cNvSpPr>
            <a:spLocks noChangeShapeType="1"/>
          </p:cNvSpPr>
          <p:nvPr/>
        </p:nvSpPr>
        <p:spPr bwMode="auto">
          <a:xfrm>
            <a:off x="2462212" y="360045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0732" name="Text Box 12"/>
          <p:cNvSpPr txBox="1">
            <a:spLocks noChangeArrowheads="1"/>
          </p:cNvSpPr>
          <p:nvPr/>
        </p:nvSpPr>
        <p:spPr bwMode="auto">
          <a:xfrm>
            <a:off x="2292037" y="18859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0733" name="Text Box 13"/>
          <p:cNvSpPr txBox="1">
            <a:spLocks noChangeArrowheads="1"/>
          </p:cNvSpPr>
          <p:nvPr/>
        </p:nvSpPr>
        <p:spPr bwMode="auto">
          <a:xfrm>
            <a:off x="2292037" y="32004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30734" name="Text Box 14"/>
          <p:cNvSpPr txBox="1">
            <a:spLocks noChangeArrowheads="1"/>
          </p:cNvSpPr>
          <p:nvPr/>
        </p:nvSpPr>
        <p:spPr bwMode="auto">
          <a:xfrm>
            <a:off x="1814730" y="16002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Tree>
    <p:extLst>
      <p:ext uri="{BB962C8B-B14F-4D97-AF65-F5344CB8AC3E}">
        <p14:creationId xmlns:p14="http://schemas.microsoft.com/office/powerpoint/2010/main" val="1451428137"/>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86000" y="114301"/>
            <a:ext cx="6067425" cy="717947"/>
          </a:xfrm>
        </p:spPr>
        <p:txBody>
          <a:bodyPr/>
          <a:lstStyle/>
          <a:p>
            <a:pPr defTabSz="548879"/>
            <a:r>
              <a:rPr lang="en-US" sz="3000">
                <a:latin typeface="Comic Sans MS" charset="0"/>
                <a:cs typeface="Arial" charset="0"/>
              </a:rPr>
              <a:t>Urgent Channel: Example 2</a:t>
            </a:r>
            <a:endParaRPr lang="sv-SE" sz="3000">
              <a:latin typeface="Comic Sans MS" charset="0"/>
              <a:cs typeface="Arial" charset="0"/>
            </a:endParaRPr>
          </a:p>
        </p:txBody>
      </p:sp>
      <p:sp>
        <p:nvSpPr>
          <p:cNvPr id="31747" name="Rectangle 3"/>
          <p:cNvSpPr>
            <a:spLocks noGrp="1" noChangeArrowheads="1"/>
          </p:cNvSpPr>
          <p:nvPr>
            <p:ph type="body" idx="1"/>
          </p:nvPr>
        </p:nvSpPr>
        <p:spPr>
          <a:xfrm>
            <a:off x="3850482" y="1371600"/>
            <a:ext cx="3979069" cy="3257550"/>
          </a:xfrm>
        </p:spPr>
        <p:txBody>
          <a:bodyPr/>
          <a:lstStyle/>
          <a:p>
            <a:pPr defTabSz="548879"/>
            <a:r>
              <a:rPr lang="en-US" sz="1800">
                <a:latin typeface="Comic Sans MS" charset="0"/>
                <a:cs typeface="Arial" charset="0"/>
              </a:rPr>
              <a:t>Assume i is a data variable.</a:t>
            </a:r>
          </a:p>
          <a:p>
            <a:pPr defTabSz="548879"/>
            <a:r>
              <a:rPr lang="en-US" sz="1800">
                <a:latin typeface="Comic Sans MS" charset="0"/>
                <a:cs typeface="Arial" charset="0"/>
              </a:rPr>
              <a:t>We want P to take the transition from l1 to l2  as soon as i==5.</a:t>
            </a:r>
          </a:p>
          <a:p>
            <a:pPr defTabSz="548879"/>
            <a:r>
              <a:rPr lang="en-US" sz="1800" b="1">
                <a:latin typeface="Comic Sans MS" charset="0"/>
                <a:cs typeface="Arial" charset="0"/>
              </a:rPr>
              <a:t>Solution</a:t>
            </a:r>
            <a:r>
              <a:rPr lang="en-US" sz="1800">
                <a:latin typeface="Comic Sans MS" charset="0"/>
                <a:cs typeface="Arial" charset="0"/>
              </a:rPr>
              <a:t>: P can be forced to take transition if we add another automaton: </a:t>
            </a:r>
            <a:br>
              <a:rPr lang="en-US" sz="1800">
                <a:latin typeface="Comic Sans MS" charset="0"/>
                <a:cs typeface="Arial" charset="0"/>
              </a:rPr>
            </a:br>
            <a:br>
              <a:rPr lang="en-US" sz="1800">
                <a:latin typeface="Comic Sans MS" charset="0"/>
                <a:cs typeface="Arial" charset="0"/>
              </a:rPr>
            </a:br>
            <a:br>
              <a:rPr lang="en-US" sz="1800">
                <a:latin typeface="Comic Sans MS" charset="0"/>
                <a:cs typeface="Arial" charset="0"/>
              </a:rPr>
            </a:br>
            <a:r>
              <a:rPr lang="en-US" sz="1800">
                <a:latin typeface="Comic Sans MS" charset="0"/>
                <a:cs typeface="Arial" charset="0"/>
              </a:rPr>
              <a:t>where </a:t>
            </a:r>
            <a:r>
              <a:rPr lang="ja-JP" altLang="en-US" sz="1800">
                <a:latin typeface="Comic Sans MS" charset="0"/>
                <a:cs typeface="Arial" charset="0"/>
              </a:rPr>
              <a:t>“</a:t>
            </a:r>
            <a:r>
              <a:rPr lang="en-US" altLang="ja-JP" sz="1800">
                <a:latin typeface="Comic Sans MS" charset="0"/>
                <a:cs typeface="Arial" charset="0"/>
              </a:rPr>
              <a:t>go</a:t>
            </a:r>
            <a:r>
              <a:rPr lang="ja-JP" altLang="en-US" sz="1800">
                <a:latin typeface="Comic Sans MS" charset="0"/>
                <a:cs typeface="Arial" charset="0"/>
              </a:rPr>
              <a:t>”</a:t>
            </a:r>
            <a:r>
              <a:rPr lang="en-US" altLang="ja-JP" sz="1800">
                <a:latin typeface="Comic Sans MS" charset="0"/>
                <a:cs typeface="Arial" charset="0"/>
              </a:rPr>
              <a:t> is an urgent channel, and we add </a:t>
            </a:r>
            <a:r>
              <a:rPr lang="ja-JP" altLang="en-US" sz="1800">
                <a:latin typeface="Comic Sans MS" charset="0"/>
                <a:cs typeface="Arial" charset="0"/>
              </a:rPr>
              <a:t>“</a:t>
            </a:r>
            <a:r>
              <a:rPr lang="en-US" altLang="ja-JP" sz="1800">
                <a:latin typeface="Comic Sans MS" charset="0"/>
                <a:cs typeface="Arial" charset="0"/>
              </a:rPr>
              <a:t>go?</a:t>
            </a:r>
            <a:r>
              <a:rPr lang="ja-JP" altLang="en-US" sz="1800">
                <a:latin typeface="Comic Sans MS" charset="0"/>
                <a:cs typeface="Arial" charset="0"/>
              </a:rPr>
              <a:t>”</a:t>
            </a:r>
            <a:r>
              <a:rPr lang="en-US" altLang="ja-JP" sz="1800">
                <a:latin typeface="Comic Sans MS" charset="0"/>
                <a:cs typeface="Arial" charset="0"/>
              </a:rPr>
              <a:t> to transition l1</a:t>
            </a:r>
            <a:r>
              <a:rPr lang="en-US" altLang="ja-JP" sz="1800">
                <a:latin typeface="Comic Sans MS" charset="0"/>
                <a:cs typeface="Arial" charset="0"/>
                <a:sym typeface="Wingdings" charset="0"/>
              </a:rPr>
              <a:t>l2 </a:t>
            </a:r>
            <a:r>
              <a:rPr lang="en-US" altLang="ja-JP" sz="1800">
                <a:latin typeface="Comic Sans MS" charset="0"/>
                <a:cs typeface="Arial" charset="0"/>
              </a:rPr>
              <a:t>in automaton P.</a:t>
            </a:r>
          </a:p>
          <a:p>
            <a:pPr defTabSz="548879"/>
            <a:endParaRPr lang="en-US" sz="1800">
              <a:latin typeface="Comic Sans MS" charset="0"/>
              <a:cs typeface="Arial" charset="0"/>
            </a:endParaRPr>
          </a:p>
          <a:p>
            <a:pPr defTabSz="548879"/>
            <a:endParaRPr lang="en-US" sz="1800">
              <a:latin typeface="Comic Sans MS" charset="0"/>
              <a:cs typeface="Arial" charset="0"/>
            </a:endParaRPr>
          </a:p>
          <a:p>
            <a:pPr defTabSz="548879"/>
            <a:endParaRPr lang="en-US" sz="1800">
              <a:latin typeface="Comic Sans MS" charset="0"/>
              <a:cs typeface="Arial" charset="0"/>
            </a:endParaRPr>
          </a:p>
        </p:txBody>
      </p:sp>
      <p:sp>
        <p:nvSpPr>
          <p:cNvPr id="31748" name="Oval 4"/>
          <p:cNvSpPr>
            <a:spLocks noChangeArrowheads="1"/>
          </p:cNvSpPr>
          <p:nvPr/>
        </p:nvSpPr>
        <p:spPr bwMode="auto">
          <a:xfrm>
            <a:off x="2197894" y="18288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1749" name="Oval 5"/>
          <p:cNvSpPr>
            <a:spLocks noChangeArrowheads="1"/>
          </p:cNvSpPr>
          <p:nvPr/>
        </p:nvSpPr>
        <p:spPr bwMode="auto">
          <a:xfrm>
            <a:off x="2197894" y="31432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1750" name="Line 6"/>
          <p:cNvSpPr>
            <a:spLocks noChangeShapeType="1"/>
          </p:cNvSpPr>
          <p:nvPr/>
        </p:nvSpPr>
        <p:spPr bwMode="auto">
          <a:xfrm>
            <a:off x="2408635" y="228600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1751" name="Text Box 7"/>
          <p:cNvSpPr txBox="1">
            <a:spLocks noChangeArrowheads="1"/>
          </p:cNvSpPr>
          <p:nvPr/>
        </p:nvSpPr>
        <p:spPr bwMode="auto">
          <a:xfrm>
            <a:off x="2439472" y="2514600"/>
            <a:ext cx="5169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i==5</a:t>
            </a:r>
            <a:endParaRPr lang="sv-SE" sz="1500" b="1">
              <a:latin typeface="Arial" charset="0"/>
            </a:endParaRPr>
          </a:p>
        </p:txBody>
      </p:sp>
      <p:sp>
        <p:nvSpPr>
          <p:cNvPr id="31752" name="Line 8"/>
          <p:cNvSpPr>
            <a:spLocks noChangeShapeType="1"/>
          </p:cNvSpPr>
          <p:nvPr/>
        </p:nvSpPr>
        <p:spPr bwMode="auto">
          <a:xfrm>
            <a:off x="2250281" y="1543050"/>
            <a:ext cx="105966"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1753" name="Line 9"/>
          <p:cNvSpPr>
            <a:spLocks noChangeShapeType="1"/>
          </p:cNvSpPr>
          <p:nvPr/>
        </p:nvSpPr>
        <p:spPr bwMode="auto">
          <a:xfrm flipH="1">
            <a:off x="2514600" y="1543050"/>
            <a:ext cx="105966"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1754" name="Line 10"/>
          <p:cNvSpPr>
            <a:spLocks noChangeShapeType="1"/>
          </p:cNvSpPr>
          <p:nvPr/>
        </p:nvSpPr>
        <p:spPr bwMode="auto">
          <a:xfrm flipH="1">
            <a:off x="2303860" y="360045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1755" name="Line 11"/>
          <p:cNvSpPr>
            <a:spLocks noChangeShapeType="1"/>
          </p:cNvSpPr>
          <p:nvPr/>
        </p:nvSpPr>
        <p:spPr bwMode="auto">
          <a:xfrm>
            <a:off x="2462212" y="360045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1756" name="Text Box 12"/>
          <p:cNvSpPr txBox="1">
            <a:spLocks noChangeArrowheads="1"/>
          </p:cNvSpPr>
          <p:nvPr/>
        </p:nvSpPr>
        <p:spPr bwMode="auto">
          <a:xfrm>
            <a:off x="2292037" y="18859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1757" name="Text Box 13"/>
          <p:cNvSpPr txBox="1">
            <a:spLocks noChangeArrowheads="1"/>
          </p:cNvSpPr>
          <p:nvPr/>
        </p:nvSpPr>
        <p:spPr bwMode="auto">
          <a:xfrm>
            <a:off x="2292037" y="32004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31758" name="Text Box 14"/>
          <p:cNvSpPr txBox="1">
            <a:spLocks noChangeArrowheads="1"/>
          </p:cNvSpPr>
          <p:nvPr/>
        </p:nvSpPr>
        <p:spPr bwMode="auto">
          <a:xfrm>
            <a:off x="1814730" y="16002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
        <p:nvSpPr>
          <p:cNvPr id="31759" name="Oval 15"/>
          <p:cNvSpPr>
            <a:spLocks noChangeArrowheads="1"/>
          </p:cNvSpPr>
          <p:nvPr/>
        </p:nvSpPr>
        <p:spPr bwMode="auto">
          <a:xfrm>
            <a:off x="5582842" y="3038475"/>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1760" name="Text Box 16"/>
          <p:cNvSpPr txBox="1">
            <a:spLocks noChangeArrowheads="1"/>
          </p:cNvSpPr>
          <p:nvPr/>
        </p:nvSpPr>
        <p:spPr bwMode="auto">
          <a:xfrm>
            <a:off x="5650328" y="3095625"/>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s</a:t>
            </a:r>
            <a:r>
              <a:rPr lang="en-US" sz="1200" b="1">
                <a:latin typeface="Arial" charset="0"/>
              </a:rPr>
              <a:t>1</a:t>
            </a:r>
            <a:endParaRPr lang="sv-SE" sz="1200" b="1">
              <a:latin typeface="Arial" charset="0"/>
            </a:endParaRPr>
          </a:p>
        </p:txBody>
      </p:sp>
      <p:sp>
        <p:nvSpPr>
          <p:cNvPr id="31761" name="Freeform 17"/>
          <p:cNvSpPr>
            <a:spLocks/>
          </p:cNvSpPr>
          <p:nvPr/>
        </p:nvSpPr>
        <p:spPr bwMode="auto">
          <a:xfrm>
            <a:off x="5951935" y="3086100"/>
            <a:ext cx="527447" cy="514350"/>
          </a:xfrm>
          <a:custGeom>
            <a:avLst/>
            <a:gdLst>
              <a:gd name="T0" fmla="*/ 2147483646 w 480"/>
              <a:gd name="T1" fmla="*/ 2147483646 h 432"/>
              <a:gd name="T2" fmla="*/ 2147483646 w 480"/>
              <a:gd name="T3" fmla="*/ 2147483646 h 432"/>
              <a:gd name="T4" fmla="*/ 2147483646 w 480"/>
              <a:gd name="T5" fmla="*/ 2147483646 h 432"/>
              <a:gd name="T6" fmla="*/ 0 w 480"/>
              <a:gd name="T7" fmla="*/ 2147483646 h 432"/>
              <a:gd name="T8" fmla="*/ 0 60000 65536"/>
              <a:gd name="T9" fmla="*/ 0 60000 65536"/>
              <a:gd name="T10" fmla="*/ 0 60000 65536"/>
              <a:gd name="T11" fmla="*/ 0 60000 65536"/>
              <a:gd name="T12" fmla="*/ 0 w 480"/>
              <a:gd name="T13" fmla="*/ 0 h 432"/>
              <a:gd name="T14" fmla="*/ 480 w 480"/>
              <a:gd name="T15" fmla="*/ 432 h 432"/>
            </a:gdLst>
            <a:ahLst/>
            <a:cxnLst>
              <a:cxn ang="T8">
                <a:pos x="T0" y="T1"/>
              </a:cxn>
              <a:cxn ang="T9">
                <a:pos x="T2" y="T3"/>
              </a:cxn>
              <a:cxn ang="T10">
                <a:pos x="T4" y="T5"/>
              </a:cxn>
              <a:cxn ang="T11">
                <a:pos x="T6" y="T7"/>
              </a:cxn>
            </a:cxnLst>
            <a:rect l="T12" t="T13" r="T14" b="T15"/>
            <a:pathLst>
              <a:path w="480" h="432">
                <a:moveTo>
                  <a:pt x="48" y="56"/>
                </a:moveTo>
                <a:cubicBezTo>
                  <a:pt x="216" y="28"/>
                  <a:pt x="384" y="0"/>
                  <a:pt x="432" y="56"/>
                </a:cubicBezTo>
                <a:cubicBezTo>
                  <a:pt x="480" y="112"/>
                  <a:pt x="408" y="352"/>
                  <a:pt x="336" y="392"/>
                </a:cubicBezTo>
                <a:cubicBezTo>
                  <a:pt x="264" y="432"/>
                  <a:pt x="132" y="364"/>
                  <a:pt x="0" y="296"/>
                </a:cubicBezTo>
              </a:path>
            </a:pathLst>
          </a:custGeom>
          <a:noFill/>
          <a:ln w="222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65484" tIns="33338" rIns="65484" bIns="33338" anchor="ctr"/>
          <a:lstStyle/>
          <a:p>
            <a:endParaRPr lang="en-GB" sz="1013"/>
          </a:p>
        </p:txBody>
      </p:sp>
      <p:sp>
        <p:nvSpPr>
          <p:cNvPr id="31762" name="Text Box 18"/>
          <p:cNvSpPr txBox="1">
            <a:spLocks noChangeArrowheads="1"/>
          </p:cNvSpPr>
          <p:nvPr/>
        </p:nvSpPr>
        <p:spPr bwMode="auto">
          <a:xfrm>
            <a:off x="6423127" y="3162300"/>
            <a:ext cx="430406"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solidFill>
                  <a:schemeClr val="hlink"/>
                </a:solidFill>
                <a:latin typeface="Arial" charset="0"/>
              </a:rPr>
              <a:t>go!</a:t>
            </a:r>
            <a:endParaRPr lang="sv-SE" sz="1500" b="1">
              <a:solidFill>
                <a:schemeClr val="hlink"/>
              </a:solidFill>
              <a:latin typeface="Arial" charset="0"/>
            </a:endParaRPr>
          </a:p>
        </p:txBody>
      </p:sp>
      <p:sp>
        <p:nvSpPr>
          <p:cNvPr id="31763" name="Line 19"/>
          <p:cNvSpPr>
            <a:spLocks noChangeShapeType="1"/>
          </p:cNvSpPr>
          <p:nvPr/>
        </p:nvSpPr>
        <p:spPr bwMode="auto">
          <a:xfrm>
            <a:off x="5372100" y="3267075"/>
            <a:ext cx="210741"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1764" name="Text Box 20"/>
          <p:cNvSpPr txBox="1">
            <a:spLocks noChangeArrowheads="1"/>
          </p:cNvSpPr>
          <p:nvPr/>
        </p:nvSpPr>
        <p:spPr bwMode="auto">
          <a:xfrm>
            <a:off x="2495000" y="2800350"/>
            <a:ext cx="4833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solidFill>
                  <a:schemeClr val="hlink"/>
                </a:solidFill>
                <a:latin typeface="Arial" charset="0"/>
              </a:rPr>
              <a:t>go?</a:t>
            </a:r>
            <a:endParaRPr lang="sv-SE" sz="1500" b="1">
              <a:solidFill>
                <a:schemeClr val="hlink"/>
              </a:solidFill>
              <a:latin typeface="Arial" charset="0"/>
            </a:endParaRPr>
          </a:p>
        </p:txBody>
      </p:sp>
    </p:spTree>
    <p:extLst>
      <p:ext uri="{BB962C8B-B14F-4D97-AF65-F5344CB8AC3E}">
        <p14:creationId xmlns:p14="http://schemas.microsoft.com/office/powerpoint/2010/main" val="982051829"/>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686050" y="-342900"/>
            <a:ext cx="5153025" cy="1200150"/>
          </a:xfrm>
        </p:spPr>
        <p:txBody>
          <a:bodyPr/>
          <a:lstStyle/>
          <a:p>
            <a:pPr defTabSz="548879"/>
            <a:r>
              <a:rPr lang="sv-SE" sz="3000">
                <a:latin typeface="Comic Sans MS" charset="0"/>
                <a:cs typeface="Arial" charset="0"/>
              </a:rPr>
              <a:t>Urgent Location</a:t>
            </a:r>
            <a:r>
              <a:rPr lang="en-US" sz="3000">
                <a:latin typeface="Comic Sans MS" charset="0"/>
                <a:cs typeface="Arial" charset="0"/>
              </a:rPr>
              <a:t>: Example</a:t>
            </a:r>
            <a:endParaRPr lang="sv-SE" sz="3000">
              <a:latin typeface="Comic Sans MS" charset="0"/>
              <a:cs typeface="Arial" charset="0"/>
            </a:endParaRPr>
          </a:p>
        </p:txBody>
      </p:sp>
      <p:sp>
        <p:nvSpPr>
          <p:cNvPr id="32771" name="Rectangle 3"/>
          <p:cNvSpPr>
            <a:spLocks noGrp="1" noChangeArrowheads="1"/>
          </p:cNvSpPr>
          <p:nvPr>
            <p:ph type="body" idx="1"/>
          </p:nvPr>
        </p:nvSpPr>
        <p:spPr>
          <a:xfrm>
            <a:off x="2343151" y="1143000"/>
            <a:ext cx="3851672" cy="3771900"/>
          </a:xfrm>
        </p:spPr>
        <p:txBody>
          <a:bodyPr/>
          <a:lstStyle/>
          <a:p>
            <a:pPr defTabSz="548879"/>
            <a:r>
              <a:rPr lang="en-US" sz="1800">
                <a:latin typeface="Comic Sans MS" charset="0"/>
                <a:cs typeface="Arial" charset="0"/>
              </a:rPr>
              <a:t>Assume that we model a simple media M:</a:t>
            </a:r>
            <a:br>
              <a:rPr lang="en-US" sz="1800">
                <a:latin typeface="Comic Sans MS" charset="0"/>
                <a:cs typeface="Arial" charset="0"/>
              </a:rPr>
            </a:br>
            <a:br>
              <a:rPr lang="en-US" sz="1800">
                <a:latin typeface="Comic Sans MS" charset="0"/>
                <a:cs typeface="Arial" charset="0"/>
              </a:rPr>
            </a:br>
            <a:br>
              <a:rPr lang="en-US" sz="1800">
                <a:latin typeface="Comic Sans MS" charset="0"/>
                <a:cs typeface="Arial" charset="0"/>
              </a:rPr>
            </a:br>
            <a:br>
              <a:rPr lang="en-US" sz="1800">
                <a:latin typeface="Comic Sans MS" charset="0"/>
                <a:cs typeface="Arial" charset="0"/>
              </a:rPr>
            </a:br>
            <a:r>
              <a:rPr lang="en-US" sz="1800">
                <a:latin typeface="Comic Sans MS" charset="0"/>
                <a:cs typeface="Arial" charset="0"/>
              </a:rPr>
              <a:t>that receives packages on channel a and immediately sends them on channel b.</a:t>
            </a:r>
          </a:p>
          <a:p>
            <a:pPr defTabSz="548879"/>
            <a:r>
              <a:rPr lang="en-US" sz="1800">
                <a:latin typeface="Comic Sans MS" charset="0"/>
                <a:cs typeface="Arial" charset="0"/>
              </a:rPr>
              <a:t>P models the media using clock x.</a:t>
            </a:r>
          </a:p>
        </p:txBody>
      </p:sp>
      <p:sp>
        <p:nvSpPr>
          <p:cNvPr id="32772" name="Rectangle 4"/>
          <p:cNvSpPr>
            <a:spLocks noChangeArrowheads="1"/>
          </p:cNvSpPr>
          <p:nvPr/>
        </p:nvSpPr>
        <p:spPr bwMode="auto">
          <a:xfrm>
            <a:off x="3714750" y="1943100"/>
            <a:ext cx="685800" cy="400050"/>
          </a:xfrm>
          <a:prstGeom prst="rect">
            <a:avLst/>
          </a:prstGeom>
          <a:solidFill>
            <a:schemeClr val="accent1"/>
          </a:solidFill>
          <a:ln w="31750">
            <a:solidFill>
              <a:schemeClr val="tx1"/>
            </a:solidFill>
            <a:miter lim="800000"/>
            <a:headEnd/>
            <a:tailEnd/>
          </a:ln>
        </p:spPr>
        <p:txBody>
          <a:bodyPr wrap="none" lIns="65484" tIns="33338" rIns="65484" bIns="33338" anchor="ctr"/>
          <a:lstStyle/>
          <a:p>
            <a:pPr algn="ctr">
              <a:spcBef>
                <a:spcPct val="20000"/>
              </a:spcBef>
            </a:pPr>
            <a:r>
              <a:rPr lang="en-US" sz="1013" b="1">
                <a:latin typeface="Arial" charset="0"/>
                <a:cs typeface="Arial" charset="0"/>
              </a:rPr>
              <a:t>M</a:t>
            </a:r>
            <a:endParaRPr lang="sv-SE" sz="1013" b="1">
              <a:latin typeface="Arial" charset="0"/>
              <a:cs typeface="Arial" charset="0"/>
            </a:endParaRPr>
          </a:p>
        </p:txBody>
      </p:sp>
      <p:sp>
        <p:nvSpPr>
          <p:cNvPr id="32773" name="Line 5"/>
          <p:cNvSpPr>
            <a:spLocks noChangeShapeType="1"/>
          </p:cNvSpPr>
          <p:nvPr/>
        </p:nvSpPr>
        <p:spPr bwMode="auto">
          <a:xfrm>
            <a:off x="3028950" y="2171700"/>
            <a:ext cx="685800"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2774" name="Line 6"/>
          <p:cNvSpPr>
            <a:spLocks noChangeShapeType="1"/>
          </p:cNvSpPr>
          <p:nvPr/>
        </p:nvSpPr>
        <p:spPr bwMode="auto">
          <a:xfrm>
            <a:off x="4400550" y="2171700"/>
            <a:ext cx="738188"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2775" name="Text Box 7"/>
          <p:cNvSpPr txBox="1">
            <a:spLocks noChangeArrowheads="1"/>
          </p:cNvSpPr>
          <p:nvPr/>
        </p:nvSpPr>
        <p:spPr bwMode="auto">
          <a:xfrm>
            <a:off x="3229999" y="1885950"/>
            <a:ext cx="23964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t>
            </a:r>
            <a:endParaRPr lang="sv-SE" sz="1500" b="1">
              <a:latin typeface="Arial" charset="0"/>
            </a:endParaRPr>
          </a:p>
        </p:txBody>
      </p:sp>
      <p:sp>
        <p:nvSpPr>
          <p:cNvPr id="32776" name="Text Box 8"/>
          <p:cNvSpPr txBox="1">
            <a:spLocks noChangeArrowheads="1"/>
          </p:cNvSpPr>
          <p:nvPr/>
        </p:nvSpPr>
        <p:spPr bwMode="auto">
          <a:xfrm>
            <a:off x="4645011" y="1895475"/>
            <a:ext cx="24926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b</a:t>
            </a:r>
            <a:endParaRPr lang="sv-SE" sz="1500" b="1">
              <a:latin typeface="Arial" charset="0"/>
            </a:endParaRPr>
          </a:p>
        </p:txBody>
      </p:sp>
      <p:sp>
        <p:nvSpPr>
          <p:cNvPr id="32777" name="Oval 9"/>
          <p:cNvSpPr>
            <a:spLocks noChangeArrowheads="1"/>
          </p:cNvSpPr>
          <p:nvPr/>
        </p:nvSpPr>
        <p:spPr bwMode="auto">
          <a:xfrm>
            <a:off x="6405563" y="160020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2778" name="Line 10"/>
          <p:cNvSpPr>
            <a:spLocks noChangeShapeType="1"/>
          </p:cNvSpPr>
          <p:nvPr/>
        </p:nvSpPr>
        <p:spPr bwMode="auto">
          <a:xfrm>
            <a:off x="6616304" y="205740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2779" name="Text Box 11"/>
          <p:cNvSpPr txBox="1">
            <a:spLocks noChangeArrowheads="1"/>
          </p:cNvSpPr>
          <p:nvPr/>
        </p:nvSpPr>
        <p:spPr bwMode="auto">
          <a:xfrm>
            <a:off x="6722269" y="2000251"/>
            <a:ext cx="523380" cy="575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a:t>
            </a:r>
          </a:p>
          <a:p>
            <a:pPr>
              <a:spcBef>
                <a:spcPct val="20000"/>
              </a:spcBef>
            </a:pPr>
            <a:r>
              <a:rPr lang="en-US" sz="1500" b="1">
                <a:latin typeface="Arial" charset="0"/>
              </a:rPr>
              <a:t>x:=0</a:t>
            </a:r>
            <a:endParaRPr lang="sv-SE" sz="1500" b="1">
              <a:latin typeface="Arial" charset="0"/>
            </a:endParaRPr>
          </a:p>
        </p:txBody>
      </p:sp>
      <p:sp>
        <p:nvSpPr>
          <p:cNvPr id="32780" name="Line 12"/>
          <p:cNvSpPr>
            <a:spLocks noChangeShapeType="1"/>
          </p:cNvSpPr>
          <p:nvPr/>
        </p:nvSpPr>
        <p:spPr bwMode="auto">
          <a:xfrm>
            <a:off x="6457950" y="1314450"/>
            <a:ext cx="105966"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2781" name="Line 13"/>
          <p:cNvSpPr>
            <a:spLocks noChangeShapeType="1"/>
          </p:cNvSpPr>
          <p:nvPr/>
        </p:nvSpPr>
        <p:spPr bwMode="auto">
          <a:xfrm flipH="1">
            <a:off x="6722269" y="1314450"/>
            <a:ext cx="104775"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2782" name="Text Box 14"/>
          <p:cNvSpPr txBox="1">
            <a:spLocks noChangeArrowheads="1"/>
          </p:cNvSpPr>
          <p:nvPr/>
        </p:nvSpPr>
        <p:spPr bwMode="auto">
          <a:xfrm>
            <a:off x="6499706" y="16573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2783" name="Text Box 15"/>
          <p:cNvSpPr txBox="1">
            <a:spLocks noChangeArrowheads="1"/>
          </p:cNvSpPr>
          <p:nvPr/>
        </p:nvSpPr>
        <p:spPr bwMode="auto">
          <a:xfrm>
            <a:off x="6181347" y="13716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
        <p:nvSpPr>
          <p:cNvPr id="32784" name="Oval 16"/>
          <p:cNvSpPr>
            <a:spLocks noChangeArrowheads="1"/>
          </p:cNvSpPr>
          <p:nvPr/>
        </p:nvSpPr>
        <p:spPr bwMode="auto">
          <a:xfrm>
            <a:off x="6405563" y="257175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2785" name="Line 17"/>
          <p:cNvSpPr>
            <a:spLocks noChangeShapeType="1"/>
          </p:cNvSpPr>
          <p:nvPr/>
        </p:nvSpPr>
        <p:spPr bwMode="auto">
          <a:xfrm>
            <a:off x="6616304" y="302895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2786" name="Text Box 18"/>
          <p:cNvSpPr txBox="1">
            <a:spLocks noChangeArrowheads="1"/>
          </p:cNvSpPr>
          <p:nvPr/>
        </p:nvSpPr>
        <p:spPr bwMode="auto">
          <a:xfrm>
            <a:off x="6668691" y="2971801"/>
            <a:ext cx="571470" cy="575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x==0</a:t>
            </a:r>
          </a:p>
          <a:p>
            <a:pPr>
              <a:spcBef>
                <a:spcPct val="20000"/>
              </a:spcBef>
            </a:pPr>
            <a:r>
              <a:rPr lang="en-US" sz="1500" b="1">
                <a:latin typeface="Arial" charset="0"/>
              </a:rPr>
              <a:t>b!</a:t>
            </a:r>
            <a:endParaRPr lang="sv-SE" sz="1500" b="1">
              <a:latin typeface="Arial" charset="0"/>
            </a:endParaRPr>
          </a:p>
        </p:txBody>
      </p:sp>
      <p:sp>
        <p:nvSpPr>
          <p:cNvPr id="32787" name="Text Box 19"/>
          <p:cNvSpPr txBox="1">
            <a:spLocks noChangeArrowheads="1"/>
          </p:cNvSpPr>
          <p:nvPr/>
        </p:nvSpPr>
        <p:spPr bwMode="auto">
          <a:xfrm>
            <a:off x="6499706" y="25717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900" b="1">
              <a:latin typeface="Arial" charset="0"/>
            </a:endParaRPr>
          </a:p>
        </p:txBody>
      </p:sp>
      <p:sp>
        <p:nvSpPr>
          <p:cNvPr id="32788" name="Oval 20"/>
          <p:cNvSpPr>
            <a:spLocks noChangeArrowheads="1"/>
          </p:cNvSpPr>
          <p:nvPr/>
        </p:nvSpPr>
        <p:spPr bwMode="auto">
          <a:xfrm>
            <a:off x="6405563" y="354330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2789" name="Text Box 21"/>
          <p:cNvSpPr txBox="1">
            <a:spLocks noChangeArrowheads="1"/>
          </p:cNvSpPr>
          <p:nvPr/>
        </p:nvSpPr>
        <p:spPr bwMode="auto">
          <a:xfrm>
            <a:off x="6499706" y="36004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3</a:t>
            </a:r>
            <a:endParaRPr lang="sv-SE" sz="1200" b="1">
              <a:latin typeface="Arial" charset="0"/>
            </a:endParaRPr>
          </a:p>
        </p:txBody>
      </p:sp>
      <p:sp>
        <p:nvSpPr>
          <p:cNvPr id="32790" name="Line 22"/>
          <p:cNvSpPr>
            <a:spLocks noChangeShapeType="1"/>
          </p:cNvSpPr>
          <p:nvPr/>
        </p:nvSpPr>
        <p:spPr bwMode="auto">
          <a:xfrm flipH="1">
            <a:off x="6510337" y="4000500"/>
            <a:ext cx="53579"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2791" name="Line 23"/>
          <p:cNvSpPr>
            <a:spLocks noChangeShapeType="1"/>
          </p:cNvSpPr>
          <p:nvPr/>
        </p:nvSpPr>
        <p:spPr bwMode="auto">
          <a:xfrm>
            <a:off x="6668691" y="4000500"/>
            <a:ext cx="5357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2792" name="Text Box 24"/>
          <p:cNvSpPr txBox="1">
            <a:spLocks noChangeArrowheads="1"/>
          </p:cNvSpPr>
          <p:nvPr/>
        </p:nvSpPr>
        <p:spPr bwMode="auto">
          <a:xfrm>
            <a:off x="6358301" y="2743200"/>
            <a:ext cx="49933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X</a:t>
            </a:r>
            <a:r>
              <a:rPr lang="en-US" sz="1200" b="1">
                <a:latin typeface="Arial" charset="0"/>
                <a:sym typeface="Symbol" charset="0"/>
              </a:rPr>
              <a:t>&lt;=0</a:t>
            </a:r>
            <a:endParaRPr lang="sv-SE" sz="1200" b="1">
              <a:latin typeface="Arial" charset="0"/>
            </a:endParaRPr>
          </a:p>
        </p:txBody>
      </p:sp>
    </p:spTree>
    <p:extLst>
      <p:ext uri="{BB962C8B-B14F-4D97-AF65-F5344CB8AC3E}">
        <p14:creationId xmlns:p14="http://schemas.microsoft.com/office/powerpoint/2010/main" val="24934591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2790825" y="-342900"/>
            <a:ext cx="5153025" cy="1200150"/>
          </a:xfrm>
        </p:spPr>
        <p:txBody>
          <a:bodyPr/>
          <a:lstStyle/>
          <a:p>
            <a:pPr defTabSz="548879"/>
            <a:r>
              <a:rPr lang="en-US" sz="3000">
                <a:latin typeface="Comic Sans MS" charset="0"/>
                <a:cs typeface="Arial" charset="0"/>
              </a:rPr>
              <a:t>Urgent Location: Example</a:t>
            </a:r>
          </a:p>
        </p:txBody>
      </p:sp>
      <p:sp>
        <p:nvSpPr>
          <p:cNvPr id="33795" name="Rectangle 3"/>
          <p:cNvSpPr>
            <a:spLocks noGrp="1" noChangeArrowheads="1"/>
          </p:cNvSpPr>
          <p:nvPr>
            <p:ph type="body" idx="1"/>
          </p:nvPr>
        </p:nvSpPr>
        <p:spPr>
          <a:xfrm>
            <a:off x="1905001" y="1200150"/>
            <a:ext cx="3851672" cy="3771900"/>
          </a:xfrm>
        </p:spPr>
        <p:txBody>
          <a:bodyPr/>
          <a:lstStyle/>
          <a:p>
            <a:pPr defTabSz="548879"/>
            <a:r>
              <a:rPr lang="en-US" sz="1800">
                <a:latin typeface="Comic Sans MS" charset="0"/>
                <a:cs typeface="Arial" charset="0"/>
              </a:rPr>
              <a:t>Assume that we model a simple media M:</a:t>
            </a:r>
            <a:br>
              <a:rPr lang="en-US" sz="1800">
                <a:latin typeface="Comic Sans MS" charset="0"/>
                <a:cs typeface="Arial" charset="0"/>
              </a:rPr>
            </a:br>
            <a:br>
              <a:rPr lang="en-US" sz="1800">
                <a:latin typeface="Comic Sans MS" charset="0"/>
                <a:cs typeface="Arial" charset="0"/>
              </a:rPr>
            </a:br>
            <a:br>
              <a:rPr lang="en-US" sz="1800">
                <a:latin typeface="Comic Sans MS" charset="0"/>
                <a:cs typeface="Arial" charset="0"/>
              </a:rPr>
            </a:br>
            <a:br>
              <a:rPr lang="en-US" sz="1800">
                <a:latin typeface="Comic Sans MS" charset="0"/>
                <a:cs typeface="Arial" charset="0"/>
              </a:rPr>
            </a:br>
            <a:r>
              <a:rPr lang="en-US" sz="1800">
                <a:latin typeface="Comic Sans MS" charset="0"/>
                <a:cs typeface="Arial" charset="0"/>
              </a:rPr>
              <a:t>that receives packages on channel a and immediately sends them on channel b.</a:t>
            </a:r>
          </a:p>
          <a:p>
            <a:pPr defTabSz="548879"/>
            <a:r>
              <a:rPr lang="en-US" sz="1800">
                <a:latin typeface="Comic Sans MS" charset="0"/>
                <a:cs typeface="Arial" charset="0"/>
              </a:rPr>
              <a:t>P models the media using clock x.</a:t>
            </a:r>
          </a:p>
          <a:p>
            <a:pPr defTabSz="548879"/>
            <a:r>
              <a:rPr lang="en-US" sz="1800">
                <a:latin typeface="Comic Sans MS" charset="0"/>
                <a:cs typeface="Arial" charset="0"/>
              </a:rPr>
              <a:t>Q models the media using </a:t>
            </a:r>
            <a:r>
              <a:rPr lang="en-US" sz="1800" b="1">
                <a:latin typeface="Comic Sans MS" charset="0"/>
                <a:cs typeface="Arial" charset="0"/>
              </a:rPr>
              <a:t>urgent location</a:t>
            </a:r>
            <a:r>
              <a:rPr lang="en-US" sz="1800">
                <a:latin typeface="Comic Sans MS" charset="0"/>
                <a:cs typeface="Arial" charset="0"/>
              </a:rPr>
              <a:t>. </a:t>
            </a:r>
          </a:p>
          <a:p>
            <a:pPr defTabSz="548879"/>
            <a:r>
              <a:rPr lang="en-US" sz="1800">
                <a:latin typeface="Comic Sans MS" charset="0"/>
                <a:cs typeface="Arial" charset="0"/>
              </a:rPr>
              <a:t>P and Q have the same behavior.</a:t>
            </a:r>
          </a:p>
        </p:txBody>
      </p:sp>
      <p:sp>
        <p:nvSpPr>
          <p:cNvPr id="33796" name="Rectangle 4"/>
          <p:cNvSpPr>
            <a:spLocks noChangeArrowheads="1"/>
          </p:cNvSpPr>
          <p:nvPr/>
        </p:nvSpPr>
        <p:spPr bwMode="auto">
          <a:xfrm>
            <a:off x="3276600" y="2000250"/>
            <a:ext cx="685800" cy="400050"/>
          </a:xfrm>
          <a:prstGeom prst="rect">
            <a:avLst/>
          </a:prstGeom>
          <a:solidFill>
            <a:schemeClr val="accent1"/>
          </a:solidFill>
          <a:ln w="31750">
            <a:solidFill>
              <a:schemeClr val="tx1"/>
            </a:solidFill>
            <a:miter lim="800000"/>
            <a:headEnd/>
            <a:tailEnd/>
          </a:ln>
        </p:spPr>
        <p:txBody>
          <a:bodyPr wrap="none" lIns="65484" tIns="33338" rIns="65484" bIns="33338" anchor="ctr"/>
          <a:lstStyle/>
          <a:p>
            <a:pPr algn="ctr">
              <a:spcBef>
                <a:spcPct val="20000"/>
              </a:spcBef>
            </a:pPr>
            <a:r>
              <a:rPr lang="en-US" sz="1013" b="1">
                <a:latin typeface="Arial" charset="0"/>
                <a:cs typeface="Arial" charset="0"/>
              </a:rPr>
              <a:t>M</a:t>
            </a:r>
            <a:endParaRPr lang="sv-SE" sz="1013" b="1">
              <a:latin typeface="Arial" charset="0"/>
              <a:cs typeface="Arial" charset="0"/>
            </a:endParaRPr>
          </a:p>
        </p:txBody>
      </p:sp>
      <p:sp>
        <p:nvSpPr>
          <p:cNvPr id="33797" name="Line 5"/>
          <p:cNvSpPr>
            <a:spLocks noChangeShapeType="1"/>
          </p:cNvSpPr>
          <p:nvPr/>
        </p:nvSpPr>
        <p:spPr bwMode="auto">
          <a:xfrm>
            <a:off x="2590800" y="2228850"/>
            <a:ext cx="685800"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798" name="Line 6"/>
          <p:cNvSpPr>
            <a:spLocks noChangeShapeType="1"/>
          </p:cNvSpPr>
          <p:nvPr/>
        </p:nvSpPr>
        <p:spPr bwMode="auto">
          <a:xfrm>
            <a:off x="3962400" y="2228850"/>
            <a:ext cx="738188"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799" name="Text Box 7"/>
          <p:cNvSpPr txBox="1">
            <a:spLocks noChangeArrowheads="1"/>
          </p:cNvSpPr>
          <p:nvPr/>
        </p:nvSpPr>
        <p:spPr bwMode="auto">
          <a:xfrm>
            <a:off x="2791849" y="1943100"/>
            <a:ext cx="23964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t>
            </a:r>
            <a:endParaRPr lang="sv-SE" sz="1500" b="1">
              <a:latin typeface="Arial" charset="0"/>
            </a:endParaRPr>
          </a:p>
        </p:txBody>
      </p:sp>
      <p:sp>
        <p:nvSpPr>
          <p:cNvPr id="33800" name="Text Box 8"/>
          <p:cNvSpPr txBox="1">
            <a:spLocks noChangeArrowheads="1"/>
          </p:cNvSpPr>
          <p:nvPr/>
        </p:nvSpPr>
        <p:spPr bwMode="auto">
          <a:xfrm>
            <a:off x="4206861" y="1952625"/>
            <a:ext cx="24926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b</a:t>
            </a:r>
            <a:endParaRPr lang="sv-SE" sz="1500" b="1">
              <a:latin typeface="Arial" charset="0"/>
            </a:endParaRPr>
          </a:p>
        </p:txBody>
      </p:sp>
      <p:sp>
        <p:nvSpPr>
          <p:cNvPr id="33801" name="Oval 9"/>
          <p:cNvSpPr>
            <a:spLocks noChangeArrowheads="1"/>
          </p:cNvSpPr>
          <p:nvPr/>
        </p:nvSpPr>
        <p:spPr bwMode="auto">
          <a:xfrm>
            <a:off x="5967413" y="165735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3802" name="Line 10"/>
          <p:cNvSpPr>
            <a:spLocks noChangeShapeType="1"/>
          </p:cNvSpPr>
          <p:nvPr/>
        </p:nvSpPr>
        <p:spPr bwMode="auto">
          <a:xfrm>
            <a:off x="6178154" y="211455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03" name="Text Box 11"/>
          <p:cNvSpPr txBox="1">
            <a:spLocks noChangeArrowheads="1"/>
          </p:cNvSpPr>
          <p:nvPr/>
        </p:nvSpPr>
        <p:spPr bwMode="auto">
          <a:xfrm>
            <a:off x="6284119" y="2057401"/>
            <a:ext cx="523380" cy="575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a:t>
            </a:r>
          </a:p>
          <a:p>
            <a:pPr>
              <a:spcBef>
                <a:spcPct val="20000"/>
              </a:spcBef>
            </a:pPr>
            <a:r>
              <a:rPr lang="en-US" sz="1500" b="1">
                <a:latin typeface="Arial" charset="0"/>
              </a:rPr>
              <a:t>x:=0</a:t>
            </a:r>
            <a:endParaRPr lang="sv-SE" sz="1500" b="1">
              <a:latin typeface="Arial" charset="0"/>
            </a:endParaRPr>
          </a:p>
        </p:txBody>
      </p:sp>
      <p:sp>
        <p:nvSpPr>
          <p:cNvPr id="33804" name="Line 12"/>
          <p:cNvSpPr>
            <a:spLocks noChangeShapeType="1"/>
          </p:cNvSpPr>
          <p:nvPr/>
        </p:nvSpPr>
        <p:spPr bwMode="auto">
          <a:xfrm>
            <a:off x="6019800" y="1371600"/>
            <a:ext cx="105966"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05" name="Line 13"/>
          <p:cNvSpPr>
            <a:spLocks noChangeShapeType="1"/>
          </p:cNvSpPr>
          <p:nvPr/>
        </p:nvSpPr>
        <p:spPr bwMode="auto">
          <a:xfrm flipH="1">
            <a:off x="6284119" y="1371600"/>
            <a:ext cx="104775"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06" name="Text Box 14"/>
          <p:cNvSpPr txBox="1">
            <a:spLocks noChangeArrowheads="1"/>
          </p:cNvSpPr>
          <p:nvPr/>
        </p:nvSpPr>
        <p:spPr bwMode="auto">
          <a:xfrm>
            <a:off x="6061556" y="17145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3807" name="Text Box 15"/>
          <p:cNvSpPr txBox="1">
            <a:spLocks noChangeArrowheads="1"/>
          </p:cNvSpPr>
          <p:nvPr/>
        </p:nvSpPr>
        <p:spPr bwMode="auto">
          <a:xfrm>
            <a:off x="5743197" y="142875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
        <p:nvSpPr>
          <p:cNvPr id="33808" name="Oval 16"/>
          <p:cNvSpPr>
            <a:spLocks noChangeArrowheads="1"/>
          </p:cNvSpPr>
          <p:nvPr/>
        </p:nvSpPr>
        <p:spPr bwMode="auto">
          <a:xfrm>
            <a:off x="5967413" y="262890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3809" name="Line 17"/>
          <p:cNvSpPr>
            <a:spLocks noChangeShapeType="1"/>
          </p:cNvSpPr>
          <p:nvPr/>
        </p:nvSpPr>
        <p:spPr bwMode="auto">
          <a:xfrm>
            <a:off x="6178154" y="308610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10" name="Text Box 18"/>
          <p:cNvSpPr txBox="1">
            <a:spLocks noChangeArrowheads="1"/>
          </p:cNvSpPr>
          <p:nvPr/>
        </p:nvSpPr>
        <p:spPr bwMode="auto">
          <a:xfrm>
            <a:off x="6230541" y="3028951"/>
            <a:ext cx="571470" cy="575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x==0</a:t>
            </a:r>
          </a:p>
          <a:p>
            <a:pPr>
              <a:spcBef>
                <a:spcPct val="20000"/>
              </a:spcBef>
            </a:pPr>
            <a:r>
              <a:rPr lang="en-US" sz="1500" b="1">
                <a:latin typeface="Arial" charset="0"/>
              </a:rPr>
              <a:t>b!</a:t>
            </a:r>
            <a:endParaRPr lang="sv-SE" sz="1500" b="1">
              <a:latin typeface="Arial" charset="0"/>
            </a:endParaRPr>
          </a:p>
        </p:txBody>
      </p:sp>
      <p:sp>
        <p:nvSpPr>
          <p:cNvPr id="33811" name="Text Box 19"/>
          <p:cNvSpPr txBox="1">
            <a:spLocks noChangeArrowheads="1"/>
          </p:cNvSpPr>
          <p:nvPr/>
        </p:nvSpPr>
        <p:spPr bwMode="auto">
          <a:xfrm>
            <a:off x="6061556" y="26289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900" b="1">
              <a:latin typeface="Arial" charset="0"/>
            </a:endParaRPr>
          </a:p>
        </p:txBody>
      </p:sp>
      <p:sp>
        <p:nvSpPr>
          <p:cNvPr id="33812" name="Oval 20"/>
          <p:cNvSpPr>
            <a:spLocks noChangeArrowheads="1"/>
          </p:cNvSpPr>
          <p:nvPr/>
        </p:nvSpPr>
        <p:spPr bwMode="auto">
          <a:xfrm>
            <a:off x="5967413" y="360045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3813" name="Text Box 21"/>
          <p:cNvSpPr txBox="1">
            <a:spLocks noChangeArrowheads="1"/>
          </p:cNvSpPr>
          <p:nvPr/>
        </p:nvSpPr>
        <p:spPr bwMode="auto">
          <a:xfrm>
            <a:off x="6061556" y="36576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3</a:t>
            </a:r>
            <a:endParaRPr lang="sv-SE" sz="1200" b="1">
              <a:latin typeface="Arial" charset="0"/>
            </a:endParaRPr>
          </a:p>
        </p:txBody>
      </p:sp>
      <p:sp>
        <p:nvSpPr>
          <p:cNvPr id="33814" name="Line 22"/>
          <p:cNvSpPr>
            <a:spLocks noChangeShapeType="1"/>
          </p:cNvSpPr>
          <p:nvPr/>
        </p:nvSpPr>
        <p:spPr bwMode="auto">
          <a:xfrm flipH="1">
            <a:off x="6072187" y="4057650"/>
            <a:ext cx="53579"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15" name="Line 23"/>
          <p:cNvSpPr>
            <a:spLocks noChangeShapeType="1"/>
          </p:cNvSpPr>
          <p:nvPr/>
        </p:nvSpPr>
        <p:spPr bwMode="auto">
          <a:xfrm>
            <a:off x="6230541" y="4057650"/>
            <a:ext cx="5357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16" name="Text Box 24"/>
          <p:cNvSpPr txBox="1">
            <a:spLocks noChangeArrowheads="1"/>
          </p:cNvSpPr>
          <p:nvPr/>
        </p:nvSpPr>
        <p:spPr bwMode="auto">
          <a:xfrm>
            <a:off x="5947536" y="2800350"/>
            <a:ext cx="49933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X</a:t>
            </a:r>
            <a:r>
              <a:rPr lang="en-US" sz="1200" b="1">
                <a:latin typeface="Arial" charset="0"/>
                <a:sym typeface="Symbol" charset="0"/>
              </a:rPr>
              <a:t>&lt;=0</a:t>
            </a:r>
            <a:endParaRPr lang="sv-SE" sz="1200" b="1">
              <a:latin typeface="Arial" charset="0"/>
            </a:endParaRPr>
          </a:p>
        </p:txBody>
      </p:sp>
      <p:sp>
        <p:nvSpPr>
          <p:cNvPr id="33817" name="Oval 25"/>
          <p:cNvSpPr>
            <a:spLocks noChangeArrowheads="1"/>
          </p:cNvSpPr>
          <p:nvPr/>
        </p:nvSpPr>
        <p:spPr bwMode="auto">
          <a:xfrm>
            <a:off x="7029451" y="16002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3818" name="Line 26"/>
          <p:cNvSpPr>
            <a:spLocks noChangeShapeType="1"/>
          </p:cNvSpPr>
          <p:nvPr/>
        </p:nvSpPr>
        <p:spPr bwMode="auto">
          <a:xfrm>
            <a:off x="7240191" y="205740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19" name="Text Box 27"/>
          <p:cNvSpPr txBox="1">
            <a:spLocks noChangeArrowheads="1"/>
          </p:cNvSpPr>
          <p:nvPr/>
        </p:nvSpPr>
        <p:spPr bwMode="auto">
          <a:xfrm>
            <a:off x="7346156" y="2171700"/>
            <a:ext cx="35666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a:t>
            </a:r>
            <a:endParaRPr lang="sv-SE" sz="1500" b="1">
              <a:latin typeface="Arial" charset="0"/>
            </a:endParaRPr>
          </a:p>
        </p:txBody>
      </p:sp>
      <p:sp>
        <p:nvSpPr>
          <p:cNvPr id="33820" name="Line 28"/>
          <p:cNvSpPr>
            <a:spLocks noChangeShapeType="1"/>
          </p:cNvSpPr>
          <p:nvPr/>
        </p:nvSpPr>
        <p:spPr bwMode="auto">
          <a:xfrm>
            <a:off x="7083029" y="1314450"/>
            <a:ext cx="104775"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21" name="Line 29"/>
          <p:cNvSpPr>
            <a:spLocks noChangeShapeType="1"/>
          </p:cNvSpPr>
          <p:nvPr/>
        </p:nvSpPr>
        <p:spPr bwMode="auto">
          <a:xfrm flipH="1">
            <a:off x="7346156" y="1314450"/>
            <a:ext cx="105966"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22" name="Text Box 30"/>
          <p:cNvSpPr txBox="1">
            <a:spLocks noChangeArrowheads="1"/>
          </p:cNvSpPr>
          <p:nvPr/>
        </p:nvSpPr>
        <p:spPr bwMode="auto">
          <a:xfrm>
            <a:off x="7124783" y="16573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3823" name="Text Box 31"/>
          <p:cNvSpPr txBox="1">
            <a:spLocks noChangeArrowheads="1"/>
          </p:cNvSpPr>
          <p:nvPr/>
        </p:nvSpPr>
        <p:spPr bwMode="auto">
          <a:xfrm>
            <a:off x="6818032" y="1371600"/>
            <a:ext cx="34544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Q:</a:t>
            </a:r>
            <a:endParaRPr lang="sv-SE" sz="1500" b="1">
              <a:latin typeface="Arial" charset="0"/>
            </a:endParaRPr>
          </a:p>
        </p:txBody>
      </p:sp>
      <p:sp>
        <p:nvSpPr>
          <p:cNvPr id="33824" name="Oval 32"/>
          <p:cNvSpPr>
            <a:spLocks noChangeArrowheads="1"/>
          </p:cNvSpPr>
          <p:nvPr/>
        </p:nvSpPr>
        <p:spPr bwMode="auto">
          <a:xfrm>
            <a:off x="7029451" y="25717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3825" name="Line 33"/>
          <p:cNvSpPr>
            <a:spLocks noChangeShapeType="1"/>
          </p:cNvSpPr>
          <p:nvPr/>
        </p:nvSpPr>
        <p:spPr bwMode="auto">
          <a:xfrm>
            <a:off x="7240191" y="302895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26" name="Text Box 34"/>
          <p:cNvSpPr txBox="1">
            <a:spLocks noChangeArrowheads="1"/>
          </p:cNvSpPr>
          <p:nvPr/>
        </p:nvSpPr>
        <p:spPr bwMode="auto">
          <a:xfrm>
            <a:off x="7293769" y="3143250"/>
            <a:ext cx="31338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b!</a:t>
            </a:r>
            <a:endParaRPr lang="sv-SE" sz="1500" b="1">
              <a:latin typeface="Arial" charset="0"/>
            </a:endParaRPr>
          </a:p>
        </p:txBody>
      </p:sp>
      <p:sp>
        <p:nvSpPr>
          <p:cNvPr id="33827" name="Text Box 35"/>
          <p:cNvSpPr txBox="1">
            <a:spLocks noChangeArrowheads="1"/>
          </p:cNvSpPr>
          <p:nvPr/>
        </p:nvSpPr>
        <p:spPr bwMode="auto">
          <a:xfrm>
            <a:off x="7124783" y="25717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900" b="1">
              <a:latin typeface="Arial" charset="0"/>
            </a:endParaRPr>
          </a:p>
        </p:txBody>
      </p:sp>
      <p:sp>
        <p:nvSpPr>
          <p:cNvPr id="33828" name="Oval 36"/>
          <p:cNvSpPr>
            <a:spLocks noChangeArrowheads="1"/>
          </p:cNvSpPr>
          <p:nvPr/>
        </p:nvSpPr>
        <p:spPr bwMode="auto">
          <a:xfrm>
            <a:off x="7029451" y="35433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3829" name="Text Box 37"/>
          <p:cNvSpPr txBox="1">
            <a:spLocks noChangeArrowheads="1"/>
          </p:cNvSpPr>
          <p:nvPr/>
        </p:nvSpPr>
        <p:spPr bwMode="auto">
          <a:xfrm>
            <a:off x="7124783" y="36004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3</a:t>
            </a:r>
            <a:endParaRPr lang="sv-SE" sz="1200" b="1">
              <a:latin typeface="Arial" charset="0"/>
            </a:endParaRPr>
          </a:p>
        </p:txBody>
      </p:sp>
      <p:sp>
        <p:nvSpPr>
          <p:cNvPr id="33830" name="Line 38"/>
          <p:cNvSpPr>
            <a:spLocks noChangeShapeType="1"/>
          </p:cNvSpPr>
          <p:nvPr/>
        </p:nvSpPr>
        <p:spPr bwMode="auto">
          <a:xfrm flipH="1">
            <a:off x="7135416" y="400050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31" name="Line 39"/>
          <p:cNvSpPr>
            <a:spLocks noChangeShapeType="1"/>
          </p:cNvSpPr>
          <p:nvPr/>
        </p:nvSpPr>
        <p:spPr bwMode="auto">
          <a:xfrm>
            <a:off x="7293769" y="400050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3832" name="Text Box 40"/>
          <p:cNvSpPr txBox="1">
            <a:spLocks noChangeArrowheads="1"/>
          </p:cNvSpPr>
          <p:nvPr/>
        </p:nvSpPr>
        <p:spPr bwMode="auto">
          <a:xfrm>
            <a:off x="7327324" y="2800350"/>
            <a:ext cx="611545" cy="251993"/>
          </a:xfrm>
          <a:prstGeom prst="rect">
            <a:avLst/>
          </a:prstGeom>
          <a:solidFill>
            <a:schemeClr val="accent1"/>
          </a:solidFill>
          <a:ln w="22225">
            <a:solidFill>
              <a:schemeClr val="tx1"/>
            </a:solidFill>
            <a:miter lim="800000"/>
            <a:headEnd/>
            <a:tailEnd/>
          </a:ln>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urgent</a:t>
            </a:r>
            <a:endParaRPr lang="sv-SE" sz="1200" b="1">
              <a:latin typeface="Arial" charset="0"/>
            </a:endParaRPr>
          </a:p>
        </p:txBody>
      </p:sp>
    </p:spTree>
    <p:extLst>
      <p:ext uri="{BB962C8B-B14F-4D97-AF65-F5344CB8AC3E}">
        <p14:creationId xmlns:p14="http://schemas.microsoft.com/office/powerpoint/2010/main" val="37959184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841898" y="1743392"/>
            <a:ext cx="4483894" cy="223204"/>
          </a:xfrm>
          <a:prstGeom prst="rect">
            <a:avLst/>
          </a:prstGeom>
          <a:solidFill>
            <a:schemeClr val="accent1"/>
          </a:solidFill>
          <a:ln w="25400">
            <a:solidFill>
              <a:schemeClr val="tx1"/>
            </a:solidFill>
            <a:miter lim="800000"/>
            <a:headEnd/>
            <a:tailEnd/>
          </a:ln>
        </p:spPr>
        <p:txBody>
          <a:bodyPr lIns="65484" tIns="33338" rIns="65484" bIns="33338" anchor="ctr">
            <a:spAutoFit/>
          </a:bodyPr>
          <a:lstStyle/>
          <a:p>
            <a:endParaRPr lang="sv-SE" sz="1013">
              <a:cs typeface="Arial" charset="0"/>
            </a:endParaRPr>
          </a:p>
        </p:txBody>
      </p:sp>
      <p:sp>
        <p:nvSpPr>
          <p:cNvPr id="34819" name="Rectangle 3"/>
          <p:cNvSpPr>
            <a:spLocks noGrp="1" noChangeArrowheads="1"/>
          </p:cNvSpPr>
          <p:nvPr>
            <p:ph type="title"/>
          </p:nvPr>
        </p:nvSpPr>
        <p:spPr>
          <a:xfrm>
            <a:off x="2276475" y="-228600"/>
            <a:ext cx="5153025" cy="1200150"/>
          </a:xfrm>
        </p:spPr>
        <p:txBody>
          <a:bodyPr/>
          <a:lstStyle/>
          <a:p>
            <a:pPr defTabSz="548879"/>
            <a:r>
              <a:rPr lang="en-US" sz="3000">
                <a:latin typeface="Comic Sans MS" charset="0"/>
                <a:cs typeface="Arial" charset="0"/>
              </a:rPr>
              <a:t>Urgent Location</a:t>
            </a:r>
          </a:p>
        </p:txBody>
      </p:sp>
      <p:sp>
        <p:nvSpPr>
          <p:cNvPr id="34820" name="Text Box 4"/>
          <p:cNvSpPr txBox="1">
            <a:spLocks noChangeArrowheads="1"/>
          </p:cNvSpPr>
          <p:nvPr/>
        </p:nvSpPr>
        <p:spPr bwMode="auto">
          <a:xfrm>
            <a:off x="1889281" y="1653199"/>
            <a:ext cx="3953358" cy="3904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2100" b="1">
                <a:latin typeface="Arial" charset="0"/>
              </a:rPr>
              <a:t>Click </a:t>
            </a:r>
            <a:r>
              <a:rPr lang="ja-JP" altLang="en-US" sz="2100" b="1">
                <a:latin typeface="Arial" charset="0"/>
              </a:rPr>
              <a:t>“</a:t>
            </a:r>
            <a:r>
              <a:rPr lang="en-US" altLang="ja-JP" sz="2100" b="1">
                <a:latin typeface="Arial" charset="0"/>
              </a:rPr>
              <a:t>Urgent</a:t>
            </a:r>
            <a:r>
              <a:rPr lang="ja-JP" altLang="en-US" sz="2100" b="1">
                <a:latin typeface="Arial" charset="0"/>
              </a:rPr>
              <a:t>”</a:t>
            </a:r>
            <a:r>
              <a:rPr lang="en-US" altLang="ja-JP" sz="2100" b="1">
                <a:latin typeface="Arial" charset="0"/>
              </a:rPr>
              <a:t> in State Editor.</a:t>
            </a:r>
            <a:endParaRPr lang="en-US" sz="2100" b="1">
              <a:latin typeface="Arial" charset="0"/>
            </a:endParaRPr>
          </a:p>
        </p:txBody>
      </p:sp>
      <p:sp>
        <p:nvSpPr>
          <p:cNvPr id="34821" name="Text Box 5"/>
          <p:cNvSpPr txBox="1">
            <a:spLocks noChangeArrowheads="1"/>
          </p:cNvSpPr>
          <p:nvPr/>
        </p:nvSpPr>
        <p:spPr bwMode="auto">
          <a:xfrm>
            <a:off x="1649016" y="2645375"/>
            <a:ext cx="6180534" cy="15077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800" b="1">
                <a:latin typeface="Arial" charset="0"/>
              </a:rPr>
              <a:t>Informal Semantics:</a:t>
            </a:r>
          </a:p>
          <a:p>
            <a:pPr>
              <a:spcBef>
                <a:spcPct val="20000"/>
              </a:spcBef>
              <a:buFontTx/>
              <a:buChar char="•"/>
            </a:pPr>
            <a:r>
              <a:rPr lang="en-US" sz="1800" b="1">
                <a:latin typeface="Arial" charset="0"/>
              </a:rPr>
              <a:t> </a:t>
            </a:r>
            <a:r>
              <a:rPr lang="en-US" sz="1800" u="sng">
                <a:latin typeface="Arial" charset="0"/>
              </a:rPr>
              <a:t>No delay</a:t>
            </a:r>
            <a:r>
              <a:rPr lang="en-US" sz="1800">
                <a:latin typeface="Arial" charset="0"/>
              </a:rPr>
              <a:t> in urgent location.</a:t>
            </a:r>
            <a:br>
              <a:rPr lang="en-US" sz="1800">
                <a:latin typeface="Arial" charset="0"/>
              </a:rPr>
            </a:br>
            <a:br>
              <a:rPr lang="en-US" sz="1800">
                <a:latin typeface="Arial" charset="0"/>
              </a:rPr>
            </a:br>
            <a:r>
              <a:rPr lang="en-US" sz="1800" b="1">
                <a:latin typeface="Arial" charset="0"/>
              </a:rPr>
              <a:t>Note: </a:t>
            </a:r>
            <a:r>
              <a:rPr lang="en-US" sz="1800">
                <a:latin typeface="Arial" charset="0"/>
              </a:rPr>
              <a:t>the use of urgent locations</a:t>
            </a:r>
            <a:r>
              <a:rPr lang="en-US" sz="1800" b="1">
                <a:latin typeface="Arial" charset="0"/>
              </a:rPr>
              <a:t> </a:t>
            </a:r>
            <a:r>
              <a:rPr lang="en-US" sz="1800" b="1" u="sng">
                <a:latin typeface="Arial" charset="0"/>
              </a:rPr>
              <a:t>reduces</a:t>
            </a:r>
            <a:r>
              <a:rPr lang="en-US" sz="1800" b="1">
                <a:latin typeface="Arial" charset="0"/>
              </a:rPr>
              <a:t> </a:t>
            </a:r>
            <a:r>
              <a:rPr lang="en-US" sz="1800">
                <a:latin typeface="Arial" charset="0"/>
              </a:rPr>
              <a:t>the number of clocks in a model, and thus the complexity of the analysis.</a:t>
            </a:r>
            <a:endParaRPr lang="sv-SE" sz="1800">
              <a:latin typeface="Arial" charset="0"/>
            </a:endParaRPr>
          </a:p>
        </p:txBody>
      </p:sp>
    </p:spTree>
    <p:extLst>
      <p:ext uri="{BB962C8B-B14F-4D97-AF65-F5344CB8AC3E}">
        <p14:creationId xmlns:p14="http://schemas.microsoft.com/office/powerpoint/2010/main" val="80504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733675" y="-400050"/>
            <a:ext cx="5153025" cy="1200150"/>
          </a:xfrm>
        </p:spPr>
        <p:txBody>
          <a:bodyPr/>
          <a:lstStyle/>
          <a:p>
            <a:pPr defTabSz="548879"/>
            <a:r>
              <a:rPr lang="en-US" sz="3000">
                <a:latin typeface="Comic Sans MS" charset="0"/>
                <a:cs typeface="Arial" charset="0"/>
              </a:rPr>
              <a:t>Committed Location: Ex. 1</a:t>
            </a:r>
            <a:endParaRPr lang="sv-SE" sz="3000">
              <a:latin typeface="Comic Sans MS" charset="0"/>
              <a:cs typeface="Arial" charset="0"/>
            </a:endParaRPr>
          </a:p>
        </p:txBody>
      </p:sp>
      <p:sp>
        <p:nvSpPr>
          <p:cNvPr id="35843" name="Rectangle 3"/>
          <p:cNvSpPr>
            <a:spLocks noGrp="1" noChangeArrowheads="1"/>
          </p:cNvSpPr>
          <p:nvPr>
            <p:ph type="body" idx="1"/>
          </p:nvPr>
        </p:nvSpPr>
        <p:spPr>
          <a:xfrm>
            <a:off x="3992166" y="1085850"/>
            <a:ext cx="4008834" cy="3600450"/>
          </a:xfrm>
        </p:spPr>
        <p:txBody>
          <a:bodyPr/>
          <a:lstStyle/>
          <a:p>
            <a:pPr defTabSz="548879"/>
            <a:r>
              <a:rPr lang="en-US" sz="1800" b="1">
                <a:latin typeface="Comic Sans MS" charset="0"/>
                <a:cs typeface="Arial" charset="0"/>
              </a:rPr>
              <a:t>Assume:</a:t>
            </a:r>
            <a:r>
              <a:rPr lang="en-US" sz="1800">
                <a:latin typeface="Comic Sans MS" charset="0"/>
                <a:cs typeface="Arial" charset="0"/>
              </a:rPr>
              <a:t> we want to model a process (P) simultaneously sending message (a) to two receiving processes (when i==0). </a:t>
            </a:r>
          </a:p>
          <a:p>
            <a:pPr defTabSz="548879"/>
            <a:r>
              <a:rPr lang="en-US" sz="1800">
                <a:latin typeface="Comic Sans MS" charset="0"/>
                <a:cs typeface="Arial" charset="0"/>
              </a:rPr>
              <a:t>P</a:t>
            </a:r>
            <a:r>
              <a:rPr lang="ja-JP" altLang="en-US" sz="1800">
                <a:latin typeface="Comic Sans MS" charset="0"/>
                <a:cs typeface="Arial" charset="0"/>
              </a:rPr>
              <a:t>’</a:t>
            </a:r>
            <a:r>
              <a:rPr lang="en-US" altLang="ja-JP" sz="1800">
                <a:latin typeface="Comic Sans MS" charset="0"/>
                <a:cs typeface="Arial" charset="0"/>
              </a:rPr>
              <a:t> sends </a:t>
            </a:r>
            <a:r>
              <a:rPr lang="ja-JP" altLang="en-US" sz="1800">
                <a:latin typeface="Comic Sans MS" charset="0"/>
                <a:cs typeface="Arial" charset="0"/>
              </a:rPr>
              <a:t>“</a:t>
            </a:r>
            <a:r>
              <a:rPr lang="en-US" altLang="ja-JP" sz="1800">
                <a:latin typeface="Comic Sans MS" charset="0"/>
                <a:cs typeface="Arial" charset="0"/>
              </a:rPr>
              <a:t>a</a:t>
            </a:r>
            <a:r>
              <a:rPr lang="ja-JP" altLang="en-US" sz="1800">
                <a:latin typeface="Comic Sans MS" charset="0"/>
                <a:cs typeface="Arial" charset="0"/>
              </a:rPr>
              <a:t>”</a:t>
            </a:r>
            <a:r>
              <a:rPr lang="en-US" altLang="ja-JP" sz="1800">
                <a:latin typeface="Comic Sans MS" charset="0"/>
                <a:cs typeface="Arial" charset="0"/>
              </a:rPr>
              <a:t> two times at the same time instant, but in location </a:t>
            </a:r>
            <a:r>
              <a:rPr lang="ja-JP" altLang="en-US" sz="1800">
                <a:latin typeface="Comic Sans MS" charset="0"/>
                <a:cs typeface="Arial" charset="0"/>
              </a:rPr>
              <a:t>“</a:t>
            </a:r>
            <a:r>
              <a:rPr lang="en-US" altLang="ja-JP" sz="1800">
                <a:latin typeface="Comic Sans MS" charset="0"/>
                <a:cs typeface="Arial" charset="0"/>
              </a:rPr>
              <a:t>n</a:t>
            </a:r>
            <a:r>
              <a:rPr lang="ja-JP" altLang="en-US" sz="1800">
                <a:latin typeface="Comic Sans MS" charset="0"/>
                <a:cs typeface="Arial" charset="0"/>
              </a:rPr>
              <a:t>”</a:t>
            </a:r>
            <a:r>
              <a:rPr lang="en-US" altLang="ja-JP" sz="1800">
                <a:latin typeface="Comic Sans MS" charset="0"/>
                <a:cs typeface="Arial" charset="0"/>
              </a:rPr>
              <a:t> other automata, e.g. Q may interleave (which is wrong):</a:t>
            </a:r>
          </a:p>
          <a:p>
            <a:pPr defTabSz="548879"/>
            <a:endParaRPr lang="en-US" sz="1800">
              <a:latin typeface="Comic Sans MS" charset="0"/>
              <a:cs typeface="Arial" charset="0"/>
            </a:endParaRPr>
          </a:p>
          <a:p>
            <a:pPr defTabSz="548879"/>
            <a:endParaRPr lang="en-US" sz="1800">
              <a:latin typeface="Comic Sans MS" charset="0"/>
              <a:cs typeface="Arial" charset="0"/>
            </a:endParaRPr>
          </a:p>
          <a:p>
            <a:pPr defTabSz="548879"/>
            <a:endParaRPr lang="sv-SE" sz="1800">
              <a:latin typeface="Comic Sans MS" charset="0"/>
              <a:cs typeface="Arial" charset="0"/>
            </a:endParaRPr>
          </a:p>
        </p:txBody>
      </p:sp>
      <p:sp>
        <p:nvSpPr>
          <p:cNvPr id="35844" name="Oval 4"/>
          <p:cNvSpPr>
            <a:spLocks noChangeArrowheads="1"/>
          </p:cNvSpPr>
          <p:nvPr/>
        </p:nvSpPr>
        <p:spPr bwMode="auto">
          <a:xfrm>
            <a:off x="1828801" y="171450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5845" name="Oval 5"/>
          <p:cNvSpPr>
            <a:spLocks noChangeArrowheads="1"/>
          </p:cNvSpPr>
          <p:nvPr/>
        </p:nvSpPr>
        <p:spPr bwMode="auto">
          <a:xfrm>
            <a:off x="1828801" y="302895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5846" name="Line 6"/>
          <p:cNvSpPr>
            <a:spLocks noChangeShapeType="1"/>
          </p:cNvSpPr>
          <p:nvPr/>
        </p:nvSpPr>
        <p:spPr bwMode="auto">
          <a:xfrm>
            <a:off x="2039541" y="217170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47" name="Text Box 7"/>
          <p:cNvSpPr txBox="1">
            <a:spLocks noChangeArrowheads="1"/>
          </p:cNvSpPr>
          <p:nvPr/>
        </p:nvSpPr>
        <p:spPr bwMode="auto">
          <a:xfrm>
            <a:off x="2071573" y="2400300"/>
            <a:ext cx="475290"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a:t>
            </a:r>
            <a:endParaRPr lang="sv-SE" sz="1500" b="1">
              <a:latin typeface="Arial" charset="0"/>
            </a:endParaRPr>
          </a:p>
        </p:txBody>
      </p:sp>
      <p:sp>
        <p:nvSpPr>
          <p:cNvPr id="35848" name="Line 8"/>
          <p:cNvSpPr>
            <a:spLocks noChangeShapeType="1"/>
          </p:cNvSpPr>
          <p:nvPr/>
        </p:nvSpPr>
        <p:spPr bwMode="auto">
          <a:xfrm>
            <a:off x="1881188" y="1428750"/>
            <a:ext cx="105966"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49" name="Line 9"/>
          <p:cNvSpPr>
            <a:spLocks noChangeShapeType="1"/>
          </p:cNvSpPr>
          <p:nvPr/>
        </p:nvSpPr>
        <p:spPr bwMode="auto">
          <a:xfrm flipH="1">
            <a:off x="2145506" y="1428750"/>
            <a:ext cx="104775"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50" name="Line 10"/>
          <p:cNvSpPr>
            <a:spLocks noChangeShapeType="1"/>
          </p:cNvSpPr>
          <p:nvPr/>
        </p:nvSpPr>
        <p:spPr bwMode="auto">
          <a:xfrm flipH="1">
            <a:off x="1934766" y="348615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51" name="Line 11"/>
          <p:cNvSpPr>
            <a:spLocks noChangeShapeType="1"/>
          </p:cNvSpPr>
          <p:nvPr/>
        </p:nvSpPr>
        <p:spPr bwMode="auto">
          <a:xfrm>
            <a:off x="2093119" y="348615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52" name="Text Box 12"/>
          <p:cNvSpPr txBox="1">
            <a:spLocks noChangeArrowheads="1"/>
          </p:cNvSpPr>
          <p:nvPr/>
        </p:nvSpPr>
        <p:spPr bwMode="auto">
          <a:xfrm>
            <a:off x="1922943" y="17716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5853" name="Text Box 13"/>
          <p:cNvSpPr txBox="1">
            <a:spLocks noChangeArrowheads="1"/>
          </p:cNvSpPr>
          <p:nvPr/>
        </p:nvSpPr>
        <p:spPr bwMode="auto">
          <a:xfrm>
            <a:off x="1922943" y="30861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35854" name="Text Box 14"/>
          <p:cNvSpPr txBox="1">
            <a:spLocks noChangeArrowheads="1"/>
          </p:cNvSpPr>
          <p:nvPr/>
        </p:nvSpPr>
        <p:spPr bwMode="auto">
          <a:xfrm>
            <a:off x="1445636" y="14859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
        <p:nvSpPr>
          <p:cNvPr id="35855" name="Oval 15"/>
          <p:cNvSpPr>
            <a:spLocks noChangeArrowheads="1"/>
          </p:cNvSpPr>
          <p:nvPr/>
        </p:nvSpPr>
        <p:spPr bwMode="auto">
          <a:xfrm>
            <a:off x="2883694" y="15430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5856" name="Line 16"/>
          <p:cNvSpPr>
            <a:spLocks noChangeShapeType="1"/>
          </p:cNvSpPr>
          <p:nvPr/>
        </p:nvSpPr>
        <p:spPr bwMode="auto">
          <a:xfrm>
            <a:off x="3094435" y="200025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57" name="Text Box 17"/>
          <p:cNvSpPr txBox="1">
            <a:spLocks noChangeArrowheads="1"/>
          </p:cNvSpPr>
          <p:nvPr/>
        </p:nvSpPr>
        <p:spPr bwMode="auto">
          <a:xfrm>
            <a:off x="3200401" y="2171700"/>
            <a:ext cx="3037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a:t>
            </a:r>
            <a:endParaRPr lang="sv-SE" sz="1500" b="1">
              <a:latin typeface="Arial" charset="0"/>
            </a:endParaRPr>
          </a:p>
        </p:txBody>
      </p:sp>
      <p:sp>
        <p:nvSpPr>
          <p:cNvPr id="35858" name="Line 18"/>
          <p:cNvSpPr>
            <a:spLocks noChangeShapeType="1"/>
          </p:cNvSpPr>
          <p:nvPr/>
        </p:nvSpPr>
        <p:spPr bwMode="auto">
          <a:xfrm>
            <a:off x="2936081" y="1257300"/>
            <a:ext cx="105966"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59" name="Line 19"/>
          <p:cNvSpPr>
            <a:spLocks noChangeShapeType="1"/>
          </p:cNvSpPr>
          <p:nvPr/>
        </p:nvSpPr>
        <p:spPr bwMode="auto">
          <a:xfrm flipH="1">
            <a:off x="3200400" y="1257300"/>
            <a:ext cx="105966"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60" name="Text Box 20"/>
          <p:cNvSpPr txBox="1">
            <a:spLocks noChangeArrowheads="1"/>
          </p:cNvSpPr>
          <p:nvPr/>
        </p:nvSpPr>
        <p:spPr bwMode="auto">
          <a:xfrm>
            <a:off x="2977837" y="16002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5861" name="Text Box 21"/>
          <p:cNvSpPr txBox="1">
            <a:spLocks noChangeArrowheads="1"/>
          </p:cNvSpPr>
          <p:nvPr/>
        </p:nvSpPr>
        <p:spPr bwMode="auto">
          <a:xfrm>
            <a:off x="2635200" y="1314450"/>
            <a:ext cx="42078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r>
              <a:rPr lang="ja-JP" altLang="en-US" sz="1500" b="1">
                <a:latin typeface="Arial" charset="0"/>
              </a:rPr>
              <a:t>’</a:t>
            </a:r>
            <a:r>
              <a:rPr lang="en-US" altLang="ja-JP" sz="1500" b="1">
                <a:latin typeface="Arial" charset="0"/>
              </a:rPr>
              <a:t>:</a:t>
            </a:r>
            <a:endParaRPr lang="sv-SE" sz="1500" b="1">
              <a:latin typeface="Arial" charset="0"/>
            </a:endParaRPr>
          </a:p>
        </p:txBody>
      </p:sp>
      <p:sp>
        <p:nvSpPr>
          <p:cNvPr id="35862" name="Oval 22"/>
          <p:cNvSpPr>
            <a:spLocks noChangeArrowheads="1"/>
          </p:cNvSpPr>
          <p:nvPr/>
        </p:nvSpPr>
        <p:spPr bwMode="auto">
          <a:xfrm>
            <a:off x="2883694" y="25146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5863" name="Line 23"/>
          <p:cNvSpPr>
            <a:spLocks noChangeShapeType="1"/>
          </p:cNvSpPr>
          <p:nvPr/>
        </p:nvSpPr>
        <p:spPr bwMode="auto">
          <a:xfrm>
            <a:off x="3094435" y="297180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64" name="Text Box 24"/>
          <p:cNvSpPr txBox="1">
            <a:spLocks noChangeArrowheads="1"/>
          </p:cNvSpPr>
          <p:nvPr/>
        </p:nvSpPr>
        <p:spPr bwMode="auto">
          <a:xfrm>
            <a:off x="3148013" y="3086100"/>
            <a:ext cx="3037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a:t>
            </a:r>
            <a:endParaRPr lang="sv-SE" sz="1500" b="1">
              <a:latin typeface="Arial" charset="0"/>
            </a:endParaRPr>
          </a:p>
        </p:txBody>
      </p:sp>
      <p:sp>
        <p:nvSpPr>
          <p:cNvPr id="35865" name="Text Box 25"/>
          <p:cNvSpPr txBox="1">
            <a:spLocks noChangeArrowheads="1"/>
          </p:cNvSpPr>
          <p:nvPr/>
        </p:nvSpPr>
        <p:spPr bwMode="auto">
          <a:xfrm>
            <a:off x="2987661" y="2514600"/>
            <a:ext cx="24926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n</a:t>
            </a:r>
            <a:endParaRPr lang="sv-SE" sz="900" b="1">
              <a:latin typeface="Arial" charset="0"/>
            </a:endParaRPr>
          </a:p>
        </p:txBody>
      </p:sp>
      <p:sp>
        <p:nvSpPr>
          <p:cNvPr id="35866" name="Oval 26"/>
          <p:cNvSpPr>
            <a:spLocks noChangeArrowheads="1"/>
          </p:cNvSpPr>
          <p:nvPr/>
        </p:nvSpPr>
        <p:spPr bwMode="auto">
          <a:xfrm>
            <a:off x="2883694" y="34861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5867" name="Text Box 27"/>
          <p:cNvSpPr txBox="1">
            <a:spLocks noChangeArrowheads="1"/>
          </p:cNvSpPr>
          <p:nvPr/>
        </p:nvSpPr>
        <p:spPr bwMode="auto">
          <a:xfrm>
            <a:off x="2977837" y="35433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35868" name="Line 28"/>
          <p:cNvSpPr>
            <a:spLocks noChangeShapeType="1"/>
          </p:cNvSpPr>
          <p:nvPr/>
        </p:nvSpPr>
        <p:spPr bwMode="auto">
          <a:xfrm flipH="1">
            <a:off x="2989660" y="394335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69" name="Line 29"/>
          <p:cNvSpPr>
            <a:spLocks noChangeShapeType="1"/>
          </p:cNvSpPr>
          <p:nvPr/>
        </p:nvSpPr>
        <p:spPr bwMode="auto">
          <a:xfrm>
            <a:off x="3148012" y="394335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70" name="Text Box 30"/>
          <p:cNvSpPr txBox="1">
            <a:spLocks noChangeArrowheads="1"/>
          </p:cNvSpPr>
          <p:nvPr/>
        </p:nvSpPr>
        <p:spPr bwMode="auto">
          <a:xfrm>
            <a:off x="3181568" y="2743200"/>
            <a:ext cx="611545" cy="251993"/>
          </a:xfrm>
          <a:prstGeom prst="rect">
            <a:avLst/>
          </a:prstGeom>
          <a:solidFill>
            <a:schemeClr val="accent1"/>
          </a:solidFill>
          <a:ln w="22225">
            <a:solidFill>
              <a:schemeClr val="tx1"/>
            </a:solidFill>
            <a:miter lim="800000"/>
            <a:headEnd/>
            <a:tailEnd/>
          </a:ln>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urgent</a:t>
            </a:r>
            <a:endParaRPr lang="sv-SE" sz="1200" b="1">
              <a:latin typeface="Arial" charset="0"/>
            </a:endParaRPr>
          </a:p>
        </p:txBody>
      </p:sp>
      <p:sp>
        <p:nvSpPr>
          <p:cNvPr id="35871" name="Text Box 31"/>
          <p:cNvSpPr txBox="1">
            <a:spLocks noChangeArrowheads="1"/>
          </p:cNvSpPr>
          <p:nvPr/>
        </p:nvSpPr>
        <p:spPr bwMode="auto">
          <a:xfrm>
            <a:off x="2072397" y="2686050"/>
            <a:ext cx="46887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i:=1</a:t>
            </a:r>
            <a:endParaRPr lang="sv-SE" sz="1500" b="1">
              <a:latin typeface="Arial" charset="0"/>
            </a:endParaRPr>
          </a:p>
        </p:txBody>
      </p:sp>
      <p:sp>
        <p:nvSpPr>
          <p:cNvPr id="35872" name="Text Box 32"/>
          <p:cNvSpPr txBox="1">
            <a:spLocks noChangeArrowheads="1"/>
          </p:cNvSpPr>
          <p:nvPr/>
        </p:nvSpPr>
        <p:spPr bwMode="auto">
          <a:xfrm>
            <a:off x="2093119" y="2171700"/>
            <a:ext cx="516968"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i==0</a:t>
            </a:r>
            <a:endParaRPr lang="sv-SE" sz="1500" b="1">
              <a:latin typeface="Arial" charset="0"/>
            </a:endParaRPr>
          </a:p>
        </p:txBody>
      </p:sp>
      <p:sp>
        <p:nvSpPr>
          <p:cNvPr id="35873" name="Text Box 33"/>
          <p:cNvSpPr txBox="1">
            <a:spLocks noChangeArrowheads="1"/>
          </p:cNvSpPr>
          <p:nvPr/>
        </p:nvSpPr>
        <p:spPr bwMode="auto">
          <a:xfrm>
            <a:off x="3200400" y="1943100"/>
            <a:ext cx="516968"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i==0</a:t>
            </a:r>
            <a:endParaRPr lang="sv-SE" sz="1500" b="1">
              <a:latin typeface="Arial" charset="0"/>
            </a:endParaRPr>
          </a:p>
        </p:txBody>
      </p:sp>
      <p:sp>
        <p:nvSpPr>
          <p:cNvPr id="35874" name="Text Box 34"/>
          <p:cNvSpPr txBox="1">
            <a:spLocks noChangeArrowheads="1"/>
          </p:cNvSpPr>
          <p:nvPr/>
        </p:nvSpPr>
        <p:spPr bwMode="auto">
          <a:xfrm>
            <a:off x="3127291" y="3257550"/>
            <a:ext cx="46887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i:=1</a:t>
            </a:r>
            <a:endParaRPr lang="sv-SE" sz="1500" b="1">
              <a:latin typeface="Arial" charset="0"/>
            </a:endParaRPr>
          </a:p>
        </p:txBody>
      </p:sp>
      <p:sp>
        <p:nvSpPr>
          <p:cNvPr id="35875" name="Oval 35"/>
          <p:cNvSpPr>
            <a:spLocks noChangeArrowheads="1"/>
          </p:cNvSpPr>
          <p:nvPr/>
        </p:nvSpPr>
        <p:spPr bwMode="auto">
          <a:xfrm>
            <a:off x="5123260" y="34861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5876" name="Text Box 36"/>
          <p:cNvSpPr txBox="1">
            <a:spLocks noChangeArrowheads="1"/>
          </p:cNvSpPr>
          <p:nvPr/>
        </p:nvSpPr>
        <p:spPr bwMode="auto">
          <a:xfrm>
            <a:off x="5191343" y="35433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k</a:t>
            </a:r>
            <a:r>
              <a:rPr lang="en-US" sz="1200" b="1">
                <a:latin typeface="Arial" charset="0"/>
              </a:rPr>
              <a:t>1</a:t>
            </a:r>
            <a:endParaRPr lang="sv-SE" sz="1200" b="1">
              <a:latin typeface="Arial" charset="0"/>
            </a:endParaRPr>
          </a:p>
        </p:txBody>
      </p:sp>
      <p:sp>
        <p:nvSpPr>
          <p:cNvPr id="35877" name="Oval 37"/>
          <p:cNvSpPr>
            <a:spLocks noChangeArrowheads="1"/>
          </p:cNvSpPr>
          <p:nvPr/>
        </p:nvSpPr>
        <p:spPr bwMode="auto">
          <a:xfrm>
            <a:off x="6442472" y="34861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5878" name="Text Box 38"/>
          <p:cNvSpPr txBox="1">
            <a:spLocks noChangeArrowheads="1"/>
          </p:cNvSpPr>
          <p:nvPr/>
        </p:nvSpPr>
        <p:spPr bwMode="auto">
          <a:xfrm>
            <a:off x="6509960" y="35433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k</a:t>
            </a:r>
            <a:r>
              <a:rPr lang="en-US" sz="1200" b="1">
                <a:latin typeface="Arial" charset="0"/>
              </a:rPr>
              <a:t>2</a:t>
            </a:r>
            <a:endParaRPr lang="sv-SE" sz="1200" b="1">
              <a:latin typeface="Arial" charset="0"/>
            </a:endParaRPr>
          </a:p>
        </p:txBody>
      </p:sp>
      <p:sp>
        <p:nvSpPr>
          <p:cNvPr id="35879" name="Line 39"/>
          <p:cNvSpPr>
            <a:spLocks noChangeShapeType="1"/>
          </p:cNvSpPr>
          <p:nvPr/>
        </p:nvSpPr>
        <p:spPr bwMode="auto">
          <a:xfrm>
            <a:off x="5545931" y="3714750"/>
            <a:ext cx="948929"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80" name="Line 40"/>
          <p:cNvSpPr>
            <a:spLocks noChangeShapeType="1"/>
          </p:cNvSpPr>
          <p:nvPr/>
        </p:nvSpPr>
        <p:spPr bwMode="auto">
          <a:xfrm>
            <a:off x="4860131" y="3543300"/>
            <a:ext cx="263129" cy="1143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81" name="Line 41"/>
          <p:cNvSpPr>
            <a:spLocks noChangeShapeType="1"/>
          </p:cNvSpPr>
          <p:nvPr/>
        </p:nvSpPr>
        <p:spPr bwMode="auto">
          <a:xfrm flipV="1">
            <a:off x="4807744" y="3829050"/>
            <a:ext cx="315516" cy="571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82" name="Line 42"/>
          <p:cNvSpPr>
            <a:spLocks noChangeShapeType="1"/>
          </p:cNvSpPr>
          <p:nvPr/>
        </p:nvSpPr>
        <p:spPr bwMode="auto">
          <a:xfrm flipV="1">
            <a:off x="6865144" y="3543300"/>
            <a:ext cx="263129" cy="1143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83" name="Line 43"/>
          <p:cNvSpPr>
            <a:spLocks noChangeShapeType="1"/>
          </p:cNvSpPr>
          <p:nvPr/>
        </p:nvSpPr>
        <p:spPr bwMode="auto">
          <a:xfrm>
            <a:off x="6865144" y="3829050"/>
            <a:ext cx="210741" cy="571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5884" name="Text Box 44"/>
          <p:cNvSpPr txBox="1">
            <a:spLocks noChangeArrowheads="1"/>
          </p:cNvSpPr>
          <p:nvPr/>
        </p:nvSpPr>
        <p:spPr bwMode="auto">
          <a:xfrm>
            <a:off x="5598319" y="3429000"/>
            <a:ext cx="516968"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i==0</a:t>
            </a:r>
            <a:endParaRPr lang="sv-SE" sz="1500" b="1">
              <a:latin typeface="Arial" charset="0"/>
            </a:endParaRPr>
          </a:p>
        </p:txBody>
      </p:sp>
      <p:sp>
        <p:nvSpPr>
          <p:cNvPr id="35885" name="Text Box 45"/>
          <p:cNvSpPr txBox="1">
            <a:spLocks noChangeArrowheads="1"/>
          </p:cNvSpPr>
          <p:nvPr/>
        </p:nvSpPr>
        <p:spPr bwMode="auto">
          <a:xfrm>
            <a:off x="4284382" y="3429000"/>
            <a:ext cx="34544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Q:</a:t>
            </a:r>
            <a:endParaRPr lang="sv-SE" sz="1500" b="1">
              <a:latin typeface="Arial" charset="0"/>
            </a:endParaRPr>
          </a:p>
        </p:txBody>
      </p:sp>
    </p:spTree>
    <p:extLst>
      <p:ext uri="{BB962C8B-B14F-4D97-AF65-F5344CB8AC3E}">
        <p14:creationId xmlns:p14="http://schemas.microsoft.com/office/powerpoint/2010/main" val="29446559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743200" y="-457200"/>
            <a:ext cx="5153025" cy="1200150"/>
          </a:xfrm>
        </p:spPr>
        <p:txBody>
          <a:bodyPr/>
          <a:lstStyle/>
          <a:p>
            <a:pPr defTabSz="548879"/>
            <a:r>
              <a:rPr lang="en-US" sz="3000">
                <a:latin typeface="Comic Sans MS" charset="0"/>
                <a:cs typeface="Arial" charset="0"/>
              </a:rPr>
              <a:t>Committed Location: Ex. 1</a:t>
            </a:r>
            <a:endParaRPr lang="sv-SE" sz="3000">
              <a:latin typeface="Comic Sans MS" charset="0"/>
              <a:cs typeface="Arial" charset="0"/>
            </a:endParaRPr>
          </a:p>
        </p:txBody>
      </p:sp>
      <p:sp>
        <p:nvSpPr>
          <p:cNvPr id="36867" name="Rectangle 3"/>
          <p:cNvSpPr>
            <a:spLocks noGrp="1" noChangeArrowheads="1"/>
          </p:cNvSpPr>
          <p:nvPr>
            <p:ph type="body" idx="1"/>
          </p:nvPr>
        </p:nvSpPr>
        <p:spPr>
          <a:xfrm>
            <a:off x="4000500" y="1085850"/>
            <a:ext cx="4008835" cy="3600450"/>
          </a:xfrm>
        </p:spPr>
        <p:txBody>
          <a:bodyPr>
            <a:normAutofit lnSpcReduction="10000"/>
          </a:bodyPr>
          <a:lstStyle/>
          <a:p>
            <a:pPr defTabSz="548879"/>
            <a:r>
              <a:rPr lang="en-US" sz="1800" b="1">
                <a:latin typeface="Comic Sans MS" charset="0"/>
                <a:cs typeface="Arial" charset="0"/>
              </a:rPr>
              <a:t>Assume:</a:t>
            </a:r>
            <a:r>
              <a:rPr lang="en-US" sz="1800">
                <a:latin typeface="Comic Sans MS" charset="0"/>
                <a:cs typeface="Arial" charset="0"/>
              </a:rPr>
              <a:t> we want to model a process (P) simultaneously sending message (a) to two receiving processes (when i==0). </a:t>
            </a:r>
          </a:p>
          <a:p>
            <a:pPr defTabSz="548879"/>
            <a:r>
              <a:rPr lang="en-US" sz="1800">
                <a:latin typeface="Comic Sans MS" charset="0"/>
                <a:cs typeface="Arial" charset="0"/>
              </a:rPr>
              <a:t>P</a:t>
            </a:r>
            <a:r>
              <a:rPr lang="ja-JP" altLang="en-US" sz="1800">
                <a:latin typeface="Comic Sans MS" charset="0"/>
                <a:cs typeface="Arial" charset="0"/>
              </a:rPr>
              <a:t>’</a:t>
            </a:r>
            <a:r>
              <a:rPr lang="en-US" altLang="ja-JP" sz="1800">
                <a:latin typeface="Comic Sans MS" charset="0"/>
                <a:cs typeface="Arial" charset="0"/>
              </a:rPr>
              <a:t> sends </a:t>
            </a:r>
            <a:r>
              <a:rPr lang="ja-JP" altLang="en-US" sz="1800">
                <a:latin typeface="Comic Sans MS" charset="0"/>
                <a:cs typeface="Arial" charset="0"/>
              </a:rPr>
              <a:t>“</a:t>
            </a:r>
            <a:r>
              <a:rPr lang="en-US" altLang="ja-JP" sz="1800">
                <a:latin typeface="Comic Sans MS" charset="0"/>
                <a:cs typeface="Arial" charset="0"/>
              </a:rPr>
              <a:t>a</a:t>
            </a:r>
            <a:r>
              <a:rPr lang="ja-JP" altLang="en-US" sz="1800">
                <a:latin typeface="Comic Sans MS" charset="0"/>
                <a:cs typeface="Arial" charset="0"/>
              </a:rPr>
              <a:t>”</a:t>
            </a:r>
            <a:r>
              <a:rPr lang="en-US" altLang="ja-JP" sz="1800">
                <a:latin typeface="Comic Sans MS" charset="0"/>
                <a:cs typeface="Arial" charset="0"/>
              </a:rPr>
              <a:t> two times at the same time instant, but in location </a:t>
            </a:r>
            <a:r>
              <a:rPr lang="ja-JP" altLang="en-US" sz="1800">
                <a:latin typeface="Comic Sans MS" charset="0"/>
                <a:cs typeface="Arial" charset="0"/>
              </a:rPr>
              <a:t>“</a:t>
            </a:r>
            <a:r>
              <a:rPr lang="en-US" altLang="ja-JP" sz="1800">
                <a:latin typeface="Comic Sans MS" charset="0"/>
                <a:cs typeface="Arial" charset="0"/>
              </a:rPr>
              <a:t>n</a:t>
            </a:r>
            <a:r>
              <a:rPr lang="ja-JP" altLang="en-US" sz="1800">
                <a:latin typeface="Comic Sans MS" charset="0"/>
                <a:cs typeface="Arial" charset="0"/>
              </a:rPr>
              <a:t>”</a:t>
            </a:r>
            <a:r>
              <a:rPr lang="en-US" altLang="ja-JP" sz="1800">
                <a:latin typeface="Comic Sans MS" charset="0"/>
                <a:cs typeface="Arial" charset="0"/>
              </a:rPr>
              <a:t> other automata, e.g. Q may interleave (which is wrong):</a:t>
            </a:r>
          </a:p>
          <a:p>
            <a:pPr defTabSz="548879"/>
            <a:endParaRPr lang="en-US" sz="1800">
              <a:latin typeface="Comic Sans MS" charset="0"/>
              <a:cs typeface="Arial" charset="0"/>
            </a:endParaRPr>
          </a:p>
          <a:p>
            <a:pPr defTabSz="548879"/>
            <a:endParaRPr lang="en-US" sz="1800">
              <a:latin typeface="Comic Sans MS" charset="0"/>
              <a:cs typeface="Arial" charset="0"/>
            </a:endParaRPr>
          </a:p>
          <a:p>
            <a:pPr defTabSz="548879"/>
            <a:r>
              <a:rPr lang="en-US" sz="1800" b="1">
                <a:latin typeface="Comic Sans MS" charset="0"/>
                <a:cs typeface="Arial" charset="0"/>
              </a:rPr>
              <a:t>Solution:</a:t>
            </a:r>
            <a:r>
              <a:rPr lang="en-US" sz="1800">
                <a:latin typeface="Comic Sans MS" charset="0"/>
                <a:cs typeface="Arial" charset="0"/>
              </a:rPr>
              <a:t> mark location n </a:t>
            </a:r>
            <a:r>
              <a:rPr lang="ja-JP" altLang="en-US" sz="1800">
                <a:latin typeface="Comic Sans MS" charset="0"/>
                <a:cs typeface="Arial" charset="0"/>
              </a:rPr>
              <a:t>“</a:t>
            </a:r>
            <a:r>
              <a:rPr lang="en-US" altLang="ja-JP" sz="1800">
                <a:latin typeface="Comic Sans MS" charset="0"/>
                <a:cs typeface="Arial" charset="0"/>
              </a:rPr>
              <a:t>committed</a:t>
            </a:r>
            <a:r>
              <a:rPr lang="ja-JP" altLang="en-US" sz="1800">
                <a:latin typeface="Comic Sans MS" charset="0"/>
                <a:cs typeface="Arial" charset="0"/>
              </a:rPr>
              <a:t>”</a:t>
            </a:r>
            <a:r>
              <a:rPr lang="en-US" altLang="ja-JP" sz="1800">
                <a:latin typeface="Comic Sans MS" charset="0"/>
                <a:cs typeface="Arial" charset="0"/>
              </a:rPr>
              <a:t> in automata P</a:t>
            </a:r>
            <a:r>
              <a:rPr lang="ja-JP" altLang="en-US" sz="1800">
                <a:latin typeface="Comic Sans MS" charset="0"/>
                <a:cs typeface="Arial" charset="0"/>
              </a:rPr>
              <a:t>’</a:t>
            </a:r>
            <a:r>
              <a:rPr lang="en-US" altLang="ja-JP" sz="1800">
                <a:latin typeface="Comic Sans MS" charset="0"/>
                <a:cs typeface="Arial" charset="0"/>
              </a:rPr>
              <a:t> (instead of </a:t>
            </a:r>
            <a:r>
              <a:rPr lang="ja-JP" altLang="en-US" sz="1800">
                <a:latin typeface="Comic Sans MS" charset="0"/>
                <a:cs typeface="Arial" charset="0"/>
              </a:rPr>
              <a:t>“</a:t>
            </a:r>
            <a:r>
              <a:rPr lang="en-US" altLang="ja-JP" sz="1800">
                <a:latin typeface="Comic Sans MS" charset="0"/>
                <a:cs typeface="Arial" charset="0"/>
              </a:rPr>
              <a:t>urgent</a:t>
            </a:r>
            <a:r>
              <a:rPr lang="ja-JP" altLang="en-US" sz="1800">
                <a:latin typeface="Comic Sans MS" charset="0"/>
                <a:cs typeface="Arial" charset="0"/>
              </a:rPr>
              <a:t>”</a:t>
            </a:r>
            <a:r>
              <a:rPr lang="en-US" altLang="ja-JP" sz="1800">
                <a:latin typeface="Comic Sans MS" charset="0"/>
                <a:cs typeface="Arial" charset="0"/>
              </a:rPr>
              <a:t>).</a:t>
            </a:r>
          </a:p>
          <a:p>
            <a:pPr defTabSz="548879"/>
            <a:endParaRPr lang="en-US" sz="1800">
              <a:latin typeface="Comic Sans MS" charset="0"/>
              <a:cs typeface="Arial" charset="0"/>
            </a:endParaRPr>
          </a:p>
        </p:txBody>
      </p:sp>
      <p:sp>
        <p:nvSpPr>
          <p:cNvPr id="36868" name="Oval 4"/>
          <p:cNvSpPr>
            <a:spLocks noChangeArrowheads="1"/>
          </p:cNvSpPr>
          <p:nvPr/>
        </p:nvSpPr>
        <p:spPr bwMode="auto">
          <a:xfrm>
            <a:off x="1828801" y="171450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6869" name="Oval 5"/>
          <p:cNvSpPr>
            <a:spLocks noChangeArrowheads="1"/>
          </p:cNvSpPr>
          <p:nvPr/>
        </p:nvSpPr>
        <p:spPr bwMode="auto">
          <a:xfrm>
            <a:off x="1828801" y="302895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6870" name="Line 6"/>
          <p:cNvSpPr>
            <a:spLocks noChangeShapeType="1"/>
          </p:cNvSpPr>
          <p:nvPr/>
        </p:nvSpPr>
        <p:spPr bwMode="auto">
          <a:xfrm>
            <a:off x="2039541" y="217170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71" name="Text Box 7"/>
          <p:cNvSpPr txBox="1">
            <a:spLocks noChangeArrowheads="1"/>
          </p:cNvSpPr>
          <p:nvPr/>
        </p:nvSpPr>
        <p:spPr bwMode="auto">
          <a:xfrm>
            <a:off x="2071573" y="2400300"/>
            <a:ext cx="475290"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a:t>
            </a:r>
            <a:endParaRPr lang="sv-SE" sz="1500" b="1">
              <a:latin typeface="Arial" charset="0"/>
            </a:endParaRPr>
          </a:p>
        </p:txBody>
      </p:sp>
      <p:sp>
        <p:nvSpPr>
          <p:cNvPr id="36872" name="Line 8"/>
          <p:cNvSpPr>
            <a:spLocks noChangeShapeType="1"/>
          </p:cNvSpPr>
          <p:nvPr/>
        </p:nvSpPr>
        <p:spPr bwMode="auto">
          <a:xfrm>
            <a:off x="1881188" y="1428750"/>
            <a:ext cx="105966"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73" name="Line 9"/>
          <p:cNvSpPr>
            <a:spLocks noChangeShapeType="1"/>
          </p:cNvSpPr>
          <p:nvPr/>
        </p:nvSpPr>
        <p:spPr bwMode="auto">
          <a:xfrm flipH="1">
            <a:off x="2145506" y="1428750"/>
            <a:ext cx="104775"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74" name="Line 10"/>
          <p:cNvSpPr>
            <a:spLocks noChangeShapeType="1"/>
          </p:cNvSpPr>
          <p:nvPr/>
        </p:nvSpPr>
        <p:spPr bwMode="auto">
          <a:xfrm flipH="1">
            <a:off x="1934766" y="348615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75" name="Line 11"/>
          <p:cNvSpPr>
            <a:spLocks noChangeShapeType="1"/>
          </p:cNvSpPr>
          <p:nvPr/>
        </p:nvSpPr>
        <p:spPr bwMode="auto">
          <a:xfrm>
            <a:off x="2093119" y="348615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76" name="Text Box 12"/>
          <p:cNvSpPr txBox="1">
            <a:spLocks noChangeArrowheads="1"/>
          </p:cNvSpPr>
          <p:nvPr/>
        </p:nvSpPr>
        <p:spPr bwMode="auto">
          <a:xfrm>
            <a:off x="1922943" y="17716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6877" name="Text Box 13"/>
          <p:cNvSpPr txBox="1">
            <a:spLocks noChangeArrowheads="1"/>
          </p:cNvSpPr>
          <p:nvPr/>
        </p:nvSpPr>
        <p:spPr bwMode="auto">
          <a:xfrm>
            <a:off x="1922943" y="30861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36878" name="Text Box 14"/>
          <p:cNvSpPr txBox="1">
            <a:spLocks noChangeArrowheads="1"/>
          </p:cNvSpPr>
          <p:nvPr/>
        </p:nvSpPr>
        <p:spPr bwMode="auto">
          <a:xfrm>
            <a:off x="1445636" y="14859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
        <p:nvSpPr>
          <p:cNvPr id="36879" name="Oval 15"/>
          <p:cNvSpPr>
            <a:spLocks noChangeArrowheads="1"/>
          </p:cNvSpPr>
          <p:nvPr/>
        </p:nvSpPr>
        <p:spPr bwMode="auto">
          <a:xfrm>
            <a:off x="2883694" y="15430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6880" name="Line 16"/>
          <p:cNvSpPr>
            <a:spLocks noChangeShapeType="1"/>
          </p:cNvSpPr>
          <p:nvPr/>
        </p:nvSpPr>
        <p:spPr bwMode="auto">
          <a:xfrm>
            <a:off x="3094435" y="200025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81" name="Text Box 17"/>
          <p:cNvSpPr txBox="1">
            <a:spLocks noChangeArrowheads="1"/>
          </p:cNvSpPr>
          <p:nvPr/>
        </p:nvSpPr>
        <p:spPr bwMode="auto">
          <a:xfrm>
            <a:off x="3200401" y="2171700"/>
            <a:ext cx="3037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a:t>
            </a:r>
            <a:endParaRPr lang="sv-SE" sz="1500" b="1">
              <a:latin typeface="Arial" charset="0"/>
            </a:endParaRPr>
          </a:p>
        </p:txBody>
      </p:sp>
      <p:sp>
        <p:nvSpPr>
          <p:cNvPr id="36882" name="Line 18"/>
          <p:cNvSpPr>
            <a:spLocks noChangeShapeType="1"/>
          </p:cNvSpPr>
          <p:nvPr/>
        </p:nvSpPr>
        <p:spPr bwMode="auto">
          <a:xfrm>
            <a:off x="2936081" y="1257300"/>
            <a:ext cx="105966"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83" name="Line 19"/>
          <p:cNvSpPr>
            <a:spLocks noChangeShapeType="1"/>
          </p:cNvSpPr>
          <p:nvPr/>
        </p:nvSpPr>
        <p:spPr bwMode="auto">
          <a:xfrm flipH="1">
            <a:off x="3200400" y="1257300"/>
            <a:ext cx="105966"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84" name="Text Box 20"/>
          <p:cNvSpPr txBox="1">
            <a:spLocks noChangeArrowheads="1"/>
          </p:cNvSpPr>
          <p:nvPr/>
        </p:nvSpPr>
        <p:spPr bwMode="auto">
          <a:xfrm>
            <a:off x="2977837" y="16002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6885" name="Text Box 21"/>
          <p:cNvSpPr txBox="1">
            <a:spLocks noChangeArrowheads="1"/>
          </p:cNvSpPr>
          <p:nvPr/>
        </p:nvSpPr>
        <p:spPr bwMode="auto">
          <a:xfrm>
            <a:off x="2635200" y="1314450"/>
            <a:ext cx="42078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r>
              <a:rPr lang="ja-JP" altLang="en-US" sz="1500" b="1">
                <a:latin typeface="Arial" charset="0"/>
              </a:rPr>
              <a:t>’</a:t>
            </a:r>
            <a:r>
              <a:rPr lang="en-US" altLang="ja-JP" sz="1500" b="1">
                <a:latin typeface="Arial" charset="0"/>
              </a:rPr>
              <a:t>:</a:t>
            </a:r>
            <a:endParaRPr lang="sv-SE" sz="1500" b="1">
              <a:latin typeface="Arial" charset="0"/>
            </a:endParaRPr>
          </a:p>
        </p:txBody>
      </p:sp>
      <p:sp>
        <p:nvSpPr>
          <p:cNvPr id="36886" name="Oval 22"/>
          <p:cNvSpPr>
            <a:spLocks noChangeArrowheads="1"/>
          </p:cNvSpPr>
          <p:nvPr/>
        </p:nvSpPr>
        <p:spPr bwMode="auto">
          <a:xfrm>
            <a:off x="2883694" y="25146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6887" name="Line 23"/>
          <p:cNvSpPr>
            <a:spLocks noChangeShapeType="1"/>
          </p:cNvSpPr>
          <p:nvPr/>
        </p:nvSpPr>
        <p:spPr bwMode="auto">
          <a:xfrm>
            <a:off x="3094435" y="297180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88" name="Text Box 24"/>
          <p:cNvSpPr txBox="1">
            <a:spLocks noChangeArrowheads="1"/>
          </p:cNvSpPr>
          <p:nvPr/>
        </p:nvSpPr>
        <p:spPr bwMode="auto">
          <a:xfrm>
            <a:off x="3148013" y="3086100"/>
            <a:ext cx="3037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a:t>
            </a:r>
            <a:endParaRPr lang="sv-SE" sz="1500" b="1">
              <a:latin typeface="Arial" charset="0"/>
            </a:endParaRPr>
          </a:p>
        </p:txBody>
      </p:sp>
      <p:sp>
        <p:nvSpPr>
          <p:cNvPr id="36889" name="Text Box 25"/>
          <p:cNvSpPr txBox="1">
            <a:spLocks noChangeArrowheads="1"/>
          </p:cNvSpPr>
          <p:nvPr/>
        </p:nvSpPr>
        <p:spPr bwMode="auto">
          <a:xfrm>
            <a:off x="2987661" y="2514600"/>
            <a:ext cx="24926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n</a:t>
            </a:r>
            <a:endParaRPr lang="sv-SE" sz="900" b="1">
              <a:latin typeface="Arial" charset="0"/>
            </a:endParaRPr>
          </a:p>
        </p:txBody>
      </p:sp>
      <p:sp>
        <p:nvSpPr>
          <p:cNvPr id="36890" name="Oval 26"/>
          <p:cNvSpPr>
            <a:spLocks noChangeArrowheads="1"/>
          </p:cNvSpPr>
          <p:nvPr/>
        </p:nvSpPr>
        <p:spPr bwMode="auto">
          <a:xfrm>
            <a:off x="2883694" y="34861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6891" name="Text Box 27"/>
          <p:cNvSpPr txBox="1">
            <a:spLocks noChangeArrowheads="1"/>
          </p:cNvSpPr>
          <p:nvPr/>
        </p:nvSpPr>
        <p:spPr bwMode="auto">
          <a:xfrm>
            <a:off x="2977837" y="35433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36892" name="Line 28"/>
          <p:cNvSpPr>
            <a:spLocks noChangeShapeType="1"/>
          </p:cNvSpPr>
          <p:nvPr/>
        </p:nvSpPr>
        <p:spPr bwMode="auto">
          <a:xfrm flipH="1">
            <a:off x="2989660" y="394335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93" name="Line 29"/>
          <p:cNvSpPr>
            <a:spLocks noChangeShapeType="1"/>
          </p:cNvSpPr>
          <p:nvPr/>
        </p:nvSpPr>
        <p:spPr bwMode="auto">
          <a:xfrm>
            <a:off x="3148012" y="394335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894" name="Text Box 30"/>
          <p:cNvSpPr txBox="1">
            <a:spLocks noChangeArrowheads="1"/>
          </p:cNvSpPr>
          <p:nvPr/>
        </p:nvSpPr>
        <p:spPr bwMode="auto">
          <a:xfrm>
            <a:off x="3117023" y="2800350"/>
            <a:ext cx="909704" cy="251993"/>
          </a:xfrm>
          <a:prstGeom prst="rect">
            <a:avLst/>
          </a:prstGeom>
          <a:solidFill>
            <a:schemeClr val="accent1"/>
          </a:solidFill>
          <a:ln w="22225">
            <a:solidFill>
              <a:schemeClr val="tx1"/>
            </a:solidFill>
            <a:miter lim="800000"/>
            <a:headEnd/>
            <a:tailEnd/>
          </a:ln>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solidFill>
                  <a:schemeClr val="hlink"/>
                </a:solidFill>
                <a:latin typeface="Arial" charset="0"/>
              </a:rPr>
              <a:t>committed</a:t>
            </a:r>
            <a:endParaRPr lang="sv-SE" sz="1200" b="1">
              <a:solidFill>
                <a:schemeClr val="hlink"/>
              </a:solidFill>
              <a:latin typeface="Arial" charset="0"/>
            </a:endParaRPr>
          </a:p>
        </p:txBody>
      </p:sp>
      <p:sp>
        <p:nvSpPr>
          <p:cNvPr id="36895" name="Text Box 31"/>
          <p:cNvSpPr txBox="1">
            <a:spLocks noChangeArrowheads="1"/>
          </p:cNvSpPr>
          <p:nvPr/>
        </p:nvSpPr>
        <p:spPr bwMode="auto">
          <a:xfrm>
            <a:off x="2072397" y="2686050"/>
            <a:ext cx="46887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i:=1</a:t>
            </a:r>
            <a:endParaRPr lang="sv-SE" sz="1500" b="1">
              <a:latin typeface="Arial" charset="0"/>
            </a:endParaRPr>
          </a:p>
        </p:txBody>
      </p:sp>
      <p:sp>
        <p:nvSpPr>
          <p:cNvPr id="36896" name="Text Box 32"/>
          <p:cNvSpPr txBox="1">
            <a:spLocks noChangeArrowheads="1"/>
          </p:cNvSpPr>
          <p:nvPr/>
        </p:nvSpPr>
        <p:spPr bwMode="auto">
          <a:xfrm>
            <a:off x="2093119" y="2171700"/>
            <a:ext cx="516968"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i==0</a:t>
            </a:r>
            <a:endParaRPr lang="sv-SE" sz="1500" b="1">
              <a:latin typeface="Arial" charset="0"/>
            </a:endParaRPr>
          </a:p>
        </p:txBody>
      </p:sp>
      <p:sp>
        <p:nvSpPr>
          <p:cNvPr id="36897" name="Text Box 33"/>
          <p:cNvSpPr txBox="1">
            <a:spLocks noChangeArrowheads="1"/>
          </p:cNvSpPr>
          <p:nvPr/>
        </p:nvSpPr>
        <p:spPr bwMode="auto">
          <a:xfrm>
            <a:off x="3200400" y="1943100"/>
            <a:ext cx="516968"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i==0</a:t>
            </a:r>
            <a:endParaRPr lang="sv-SE" sz="1500" b="1">
              <a:latin typeface="Arial" charset="0"/>
            </a:endParaRPr>
          </a:p>
        </p:txBody>
      </p:sp>
      <p:sp>
        <p:nvSpPr>
          <p:cNvPr id="36898" name="Text Box 34"/>
          <p:cNvSpPr txBox="1">
            <a:spLocks noChangeArrowheads="1"/>
          </p:cNvSpPr>
          <p:nvPr/>
        </p:nvSpPr>
        <p:spPr bwMode="auto">
          <a:xfrm>
            <a:off x="3127291" y="3257550"/>
            <a:ext cx="46887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i:=1</a:t>
            </a:r>
            <a:endParaRPr lang="sv-SE" sz="1500" b="1">
              <a:latin typeface="Arial" charset="0"/>
            </a:endParaRPr>
          </a:p>
        </p:txBody>
      </p:sp>
      <p:sp>
        <p:nvSpPr>
          <p:cNvPr id="36899" name="Oval 35"/>
          <p:cNvSpPr>
            <a:spLocks noChangeArrowheads="1"/>
          </p:cNvSpPr>
          <p:nvPr/>
        </p:nvSpPr>
        <p:spPr bwMode="auto">
          <a:xfrm>
            <a:off x="5123260" y="34861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6900" name="Text Box 36"/>
          <p:cNvSpPr txBox="1">
            <a:spLocks noChangeArrowheads="1"/>
          </p:cNvSpPr>
          <p:nvPr/>
        </p:nvSpPr>
        <p:spPr bwMode="auto">
          <a:xfrm>
            <a:off x="5191343" y="35433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k</a:t>
            </a:r>
            <a:r>
              <a:rPr lang="en-US" sz="1200" b="1">
                <a:latin typeface="Arial" charset="0"/>
              </a:rPr>
              <a:t>1</a:t>
            </a:r>
            <a:endParaRPr lang="sv-SE" sz="1200" b="1">
              <a:latin typeface="Arial" charset="0"/>
            </a:endParaRPr>
          </a:p>
        </p:txBody>
      </p:sp>
      <p:sp>
        <p:nvSpPr>
          <p:cNvPr id="36901" name="Oval 37"/>
          <p:cNvSpPr>
            <a:spLocks noChangeArrowheads="1"/>
          </p:cNvSpPr>
          <p:nvPr/>
        </p:nvSpPr>
        <p:spPr bwMode="auto">
          <a:xfrm>
            <a:off x="6442472" y="34861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6902" name="Text Box 38"/>
          <p:cNvSpPr txBox="1">
            <a:spLocks noChangeArrowheads="1"/>
          </p:cNvSpPr>
          <p:nvPr/>
        </p:nvSpPr>
        <p:spPr bwMode="auto">
          <a:xfrm>
            <a:off x="6509960" y="354330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k</a:t>
            </a:r>
            <a:r>
              <a:rPr lang="en-US" sz="1200" b="1">
                <a:latin typeface="Arial" charset="0"/>
              </a:rPr>
              <a:t>2</a:t>
            </a:r>
            <a:endParaRPr lang="sv-SE" sz="1200" b="1">
              <a:latin typeface="Arial" charset="0"/>
            </a:endParaRPr>
          </a:p>
        </p:txBody>
      </p:sp>
      <p:sp>
        <p:nvSpPr>
          <p:cNvPr id="36903" name="Line 39"/>
          <p:cNvSpPr>
            <a:spLocks noChangeShapeType="1"/>
          </p:cNvSpPr>
          <p:nvPr/>
        </p:nvSpPr>
        <p:spPr bwMode="auto">
          <a:xfrm>
            <a:off x="5545931" y="3714750"/>
            <a:ext cx="948929"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904" name="Line 40"/>
          <p:cNvSpPr>
            <a:spLocks noChangeShapeType="1"/>
          </p:cNvSpPr>
          <p:nvPr/>
        </p:nvSpPr>
        <p:spPr bwMode="auto">
          <a:xfrm>
            <a:off x="4860131" y="3543300"/>
            <a:ext cx="263129" cy="1143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905" name="Line 41"/>
          <p:cNvSpPr>
            <a:spLocks noChangeShapeType="1"/>
          </p:cNvSpPr>
          <p:nvPr/>
        </p:nvSpPr>
        <p:spPr bwMode="auto">
          <a:xfrm flipV="1">
            <a:off x="4807744" y="3829050"/>
            <a:ext cx="315516" cy="571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906" name="Line 42"/>
          <p:cNvSpPr>
            <a:spLocks noChangeShapeType="1"/>
          </p:cNvSpPr>
          <p:nvPr/>
        </p:nvSpPr>
        <p:spPr bwMode="auto">
          <a:xfrm flipV="1">
            <a:off x="6865144" y="3543300"/>
            <a:ext cx="263129" cy="1143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907" name="Line 43"/>
          <p:cNvSpPr>
            <a:spLocks noChangeShapeType="1"/>
          </p:cNvSpPr>
          <p:nvPr/>
        </p:nvSpPr>
        <p:spPr bwMode="auto">
          <a:xfrm>
            <a:off x="6865144" y="3829050"/>
            <a:ext cx="210741" cy="571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6908" name="Text Box 44"/>
          <p:cNvSpPr txBox="1">
            <a:spLocks noChangeArrowheads="1"/>
          </p:cNvSpPr>
          <p:nvPr/>
        </p:nvSpPr>
        <p:spPr bwMode="auto">
          <a:xfrm>
            <a:off x="5598319" y="3429000"/>
            <a:ext cx="516968"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i==0</a:t>
            </a:r>
            <a:endParaRPr lang="sv-SE" sz="1500" b="1">
              <a:latin typeface="Arial" charset="0"/>
            </a:endParaRPr>
          </a:p>
        </p:txBody>
      </p:sp>
      <p:sp>
        <p:nvSpPr>
          <p:cNvPr id="36909" name="Text Box 45"/>
          <p:cNvSpPr txBox="1">
            <a:spLocks noChangeArrowheads="1"/>
          </p:cNvSpPr>
          <p:nvPr/>
        </p:nvSpPr>
        <p:spPr bwMode="auto">
          <a:xfrm>
            <a:off x="4284382" y="3429000"/>
            <a:ext cx="34544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Q:</a:t>
            </a:r>
            <a:endParaRPr lang="sv-SE" sz="1500" b="1">
              <a:latin typeface="Arial" charset="0"/>
            </a:endParaRPr>
          </a:p>
        </p:txBody>
      </p:sp>
    </p:spTree>
    <p:extLst>
      <p:ext uri="{BB962C8B-B14F-4D97-AF65-F5344CB8AC3E}">
        <p14:creationId xmlns:p14="http://schemas.microsoft.com/office/powerpoint/2010/main" val="17400343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1828800" y="1592183"/>
            <a:ext cx="4852988" cy="223204"/>
          </a:xfrm>
          <a:prstGeom prst="rect">
            <a:avLst/>
          </a:prstGeom>
          <a:solidFill>
            <a:schemeClr val="accent1"/>
          </a:solidFill>
          <a:ln w="25400">
            <a:solidFill>
              <a:schemeClr val="tx1"/>
            </a:solidFill>
            <a:miter lim="800000"/>
            <a:headEnd/>
            <a:tailEnd/>
          </a:ln>
        </p:spPr>
        <p:txBody>
          <a:bodyPr lIns="65484" tIns="33338" rIns="65484" bIns="33338" anchor="ctr">
            <a:spAutoFit/>
          </a:bodyPr>
          <a:lstStyle/>
          <a:p>
            <a:endParaRPr lang="sv-SE" sz="1013">
              <a:cs typeface="Arial" charset="0"/>
            </a:endParaRPr>
          </a:p>
        </p:txBody>
      </p:sp>
      <p:sp>
        <p:nvSpPr>
          <p:cNvPr id="37891" name="Rectangle 3"/>
          <p:cNvSpPr>
            <a:spLocks noGrp="1" noChangeArrowheads="1"/>
          </p:cNvSpPr>
          <p:nvPr>
            <p:ph type="title"/>
          </p:nvPr>
        </p:nvSpPr>
        <p:spPr>
          <a:xfrm>
            <a:off x="2457450" y="-342900"/>
            <a:ext cx="5153025" cy="1200150"/>
          </a:xfrm>
        </p:spPr>
        <p:txBody>
          <a:bodyPr/>
          <a:lstStyle/>
          <a:p>
            <a:pPr defTabSz="548879"/>
            <a:r>
              <a:rPr lang="en-US" sz="3000">
                <a:latin typeface="Comic Sans MS" charset="0"/>
                <a:cs typeface="Arial" charset="0"/>
              </a:rPr>
              <a:t>Committed Location</a:t>
            </a:r>
          </a:p>
        </p:txBody>
      </p:sp>
      <p:sp>
        <p:nvSpPr>
          <p:cNvPr id="37892" name="Text Box 4"/>
          <p:cNvSpPr txBox="1">
            <a:spLocks noChangeArrowheads="1"/>
          </p:cNvSpPr>
          <p:nvPr/>
        </p:nvSpPr>
        <p:spPr bwMode="auto">
          <a:xfrm>
            <a:off x="2105559" y="1501989"/>
            <a:ext cx="4326857" cy="3904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2100" b="1">
                <a:latin typeface="Arial" charset="0"/>
              </a:rPr>
              <a:t>Click </a:t>
            </a:r>
            <a:r>
              <a:rPr lang="ja-JP" altLang="en-US" sz="2100" b="1">
                <a:latin typeface="Arial" charset="0"/>
              </a:rPr>
              <a:t>“</a:t>
            </a:r>
            <a:r>
              <a:rPr lang="en-US" altLang="ja-JP" sz="2100" b="1">
                <a:latin typeface="Arial" charset="0"/>
              </a:rPr>
              <a:t>Committed</a:t>
            </a:r>
            <a:r>
              <a:rPr lang="ja-JP" altLang="en-US" sz="2100" b="1">
                <a:latin typeface="Arial" charset="0"/>
              </a:rPr>
              <a:t>”</a:t>
            </a:r>
            <a:r>
              <a:rPr lang="en-US" altLang="ja-JP" sz="2100" b="1">
                <a:latin typeface="Arial" charset="0"/>
              </a:rPr>
              <a:t> i State Editor.</a:t>
            </a:r>
            <a:endParaRPr lang="en-US" sz="2100" b="1">
              <a:latin typeface="Arial" charset="0"/>
            </a:endParaRPr>
          </a:p>
        </p:txBody>
      </p:sp>
      <p:sp>
        <p:nvSpPr>
          <p:cNvPr id="37893" name="Text Box 5"/>
          <p:cNvSpPr txBox="1">
            <a:spLocks noChangeArrowheads="1"/>
          </p:cNvSpPr>
          <p:nvPr/>
        </p:nvSpPr>
        <p:spPr bwMode="auto">
          <a:xfrm>
            <a:off x="1828800" y="2309892"/>
            <a:ext cx="6172200" cy="25049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800" b="1">
                <a:solidFill>
                  <a:srgbClr val="000000"/>
                </a:solidFill>
                <a:latin typeface="Arial" charset="0"/>
              </a:rPr>
              <a:t>Informal Semantics:</a:t>
            </a:r>
          </a:p>
          <a:p>
            <a:pPr>
              <a:spcBef>
                <a:spcPct val="20000"/>
              </a:spcBef>
              <a:buFontTx/>
              <a:buChar char="•"/>
            </a:pPr>
            <a:r>
              <a:rPr lang="en-US" sz="1800" b="1">
                <a:solidFill>
                  <a:srgbClr val="000000"/>
                </a:solidFill>
                <a:latin typeface="Arial" charset="0"/>
              </a:rPr>
              <a:t> </a:t>
            </a:r>
            <a:r>
              <a:rPr lang="en-US" sz="1800" u="sng">
                <a:solidFill>
                  <a:srgbClr val="000000"/>
                </a:solidFill>
                <a:latin typeface="Arial" charset="0"/>
              </a:rPr>
              <a:t>No delay</a:t>
            </a:r>
            <a:r>
              <a:rPr lang="en-US" sz="1800">
                <a:solidFill>
                  <a:srgbClr val="000000"/>
                </a:solidFill>
                <a:latin typeface="Arial" charset="0"/>
              </a:rPr>
              <a:t> in committed location.</a:t>
            </a:r>
          </a:p>
          <a:p>
            <a:pPr>
              <a:spcBef>
                <a:spcPct val="20000"/>
              </a:spcBef>
              <a:buFontTx/>
              <a:buChar char="•"/>
            </a:pPr>
            <a:r>
              <a:rPr lang="en-US" sz="1800">
                <a:solidFill>
                  <a:srgbClr val="000000"/>
                </a:solidFill>
                <a:latin typeface="Arial" charset="0"/>
              </a:rPr>
              <a:t> Next transition must involve automata in </a:t>
            </a:r>
            <a:r>
              <a:rPr lang="en-US" sz="1800" u="sng">
                <a:solidFill>
                  <a:srgbClr val="000000"/>
                </a:solidFill>
                <a:latin typeface="Arial" charset="0"/>
              </a:rPr>
              <a:t>committed</a:t>
            </a:r>
            <a:br>
              <a:rPr lang="en-US" sz="1800" u="sng">
                <a:solidFill>
                  <a:srgbClr val="000000"/>
                </a:solidFill>
                <a:latin typeface="Arial" charset="0"/>
              </a:rPr>
            </a:br>
            <a:r>
              <a:rPr lang="en-US" sz="1800">
                <a:solidFill>
                  <a:srgbClr val="000000"/>
                </a:solidFill>
                <a:latin typeface="Arial" charset="0"/>
              </a:rPr>
              <a:t>  </a:t>
            </a:r>
            <a:r>
              <a:rPr lang="en-US" sz="1800" u="sng">
                <a:solidFill>
                  <a:srgbClr val="000000"/>
                </a:solidFill>
                <a:latin typeface="Arial" charset="0"/>
              </a:rPr>
              <a:t>location</a:t>
            </a:r>
            <a:r>
              <a:rPr lang="en-US" sz="1800">
                <a:solidFill>
                  <a:srgbClr val="000000"/>
                </a:solidFill>
                <a:latin typeface="Arial" charset="0"/>
              </a:rPr>
              <a:t>. </a:t>
            </a:r>
            <a:br>
              <a:rPr lang="en-US" sz="1800">
                <a:solidFill>
                  <a:srgbClr val="000000"/>
                </a:solidFill>
                <a:latin typeface="Arial" charset="0"/>
              </a:rPr>
            </a:br>
            <a:br>
              <a:rPr lang="en-US" sz="1800">
                <a:solidFill>
                  <a:srgbClr val="000000"/>
                </a:solidFill>
                <a:latin typeface="Arial" charset="0"/>
              </a:rPr>
            </a:br>
            <a:r>
              <a:rPr lang="en-US" sz="1800" b="1">
                <a:solidFill>
                  <a:srgbClr val="000000"/>
                </a:solidFill>
                <a:latin typeface="Arial" charset="0"/>
              </a:rPr>
              <a:t>Note: </a:t>
            </a:r>
            <a:r>
              <a:rPr lang="en-US" sz="1800">
                <a:solidFill>
                  <a:srgbClr val="000000"/>
                </a:solidFill>
                <a:latin typeface="Times New Roman" charset="0"/>
              </a:rPr>
              <a:t>the use of committed locations</a:t>
            </a:r>
            <a:r>
              <a:rPr lang="en-US" sz="1800" b="1">
                <a:solidFill>
                  <a:srgbClr val="000000"/>
                </a:solidFill>
                <a:latin typeface="Times New Roman" charset="0"/>
              </a:rPr>
              <a:t> </a:t>
            </a:r>
            <a:r>
              <a:rPr lang="en-US" sz="1800" b="1" u="sng">
                <a:solidFill>
                  <a:srgbClr val="000000"/>
                </a:solidFill>
                <a:latin typeface="Times New Roman" charset="0"/>
              </a:rPr>
              <a:t>reduces</a:t>
            </a:r>
            <a:r>
              <a:rPr lang="en-US" sz="1800" b="1">
                <a:solidFill>
                  <a:srgbClr val="000000"/>
                </a:solidFill>
                <a:latin typeface="Times New Roman" charset="0"/>
              </a:rPr>
              <a:t> </a:t>
            </a:r>
            <a:r>
              <a:rPr lang="en-US" sz="1800">
                <a:solidFill>
                  <a:srgbClr val="000000"/>
                </a:solidFill>
                <a:latin typeface="Times New Roman" charset="0"/>
              </a:rPr>
              <a:t>the number of </a:t>
            </a:r>
          </a:p>
          <a:p>
            <a:pPr>
              <a:spcBef>
                <a:spcPct val="20000"/>
              </a:spcBef>
            </a:pPr>
            <a:r>
              <a:rPr lang="en-US" sz="1800">
                <a:solidFill>
                  <a:srgbClr val="000000"/>
                </a:solidFill>
                <a:latin typeface="Times New Roman" charset="0"/>
              </a:rPr>
              <a:t>clocks in a model,</a:t>
            </a:r>
            <a:r>
              <a:rPr lang="en-US" sz="1800" b="1">
                <a:solidFill>
                  <a:srgbClr val="000000"/>
                </a:solidFill>
                <a:latin typeface="Times New Roman" charset="0"/>
              </a:rPr>
              <a:t> </a:t>
            </a:r>
            <a:r>
              <a:rPr lang="en-US" sz="1800" u="sng">
                <a:solidFill>
                  <a:srgbClr val="000000"/>
                </a:solidFill>
                <a:latin typeface="Times New Roman" charset="0"/>
              </a:rPr>
              <a:t>and</a:t>
            </a:r>
            <a:r>
              <a:rPr lang="en-US" sz="1800" b="1">
                <a:solidFill>
                  <a:srgbClr val="000000"/>
                </a:solidFill>
                <a:latin typeface="Times New Roman" charset="0"/>
              </a:rPr>
              <a:t> </a:t>
            </a:r>
            <a:r>
              <a:rPr lang="en-US" sz="1800">
                <a:solidFill>
                  <a:srgbClr val="000000"/>
                </a:solidFill>
                <a:latin typeface="Times New Roman" charset="0"/>
              </a:rPr>
              <a:t>allows for more space and time efficient </a:t>
            </a:r>
          </a:p>
          <a:p>
            <a:pPr>
              <a:spcBef>
                <a:spcPct val="20000"/>
              </a:spcBef>
            </a:pPr>
            <a:r>
              <a:rPr lang="en-US" sz="1800">
                <a:solidFill>
                  <a:srgbClr val="000000"/>
                </a:solidFill>
                <a:latin typeface="Times New Roman" charset="0"/>
              </a:rPr>
              <a:t>analysis.</a:t>
            </a:r>
          </a:p>
        </p:txBody>
      </p:sp>
    </p:spTree>
    <p:extLst>
      <p:ext uri="{BB962C8B-B14F-4D97-AF65-F5344CB8AC3E}">
        <p14:creationId xmlns:p14="http://schemas.microsoft.com/office/powerpoint/2010/main" val="9714461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790825" y="-342900"/>
            <a:ext cx="5153025" cy="1200150"/>
          </a:xfrm>
        </p:spPr>
        <p:txBody>
          <a:bodyPr/>
          <a:lstStyle/>
          <a:p>
            <a:pPr defTabSz="548879"/>
            <a:r>
              <a:rPr lang="en-US" sz="3000">
                <a:latin typeface="Comic Sans MS" charset="0"/>
                <a:cs typeface="Arial" charset="0"/>
              </a:rPr>
              <a:t>Committed Location: Ex. 2</a:t>
            </a:r>
            <a:endParaRPr lang="sv-SE" sz="3000">
              <a:latin typeface="Comic Sans MS" charset="0"/>
              <a:cs typeface="Arial" charset="0"/>
            </a:endParaRPr>
          </a:p>
        </p:txBody>
      </p:sp>
      <p:sp>
        <p:nvSpPr>
          <p:cNvPr id="38915" name="Rectangle 3"/>
          <p:cNvSpPr>
            <a:spLocks noGrp="1" noChangeArrowheads="1"/>
          </p:cNvSpPr>
          <p:nvPr>
            <p:ph type="body" idx="1"/>
          </p:nvPr>
        </p:nvSpPr>
        <p:spPr>
          <a:xfrm>
            <a:off x="1657351" y="1371600"/>
            <a:ext cx="3308747" cy="3257550"/>
          </a:xfrm>
        </p:spPr>
        <p:txBody>
          <a:bodyPr/>
          <a:lstStyle/>
          <a:p>
            <a:pPr defTabSz="548879"/>
            <a:r>
              <a:rPr lang="en-US" sz="1800" b="1">
                <a:latin typeface="Comic Sans MS" charset="0"/>
                <a:cs typeface="Arial" charset="0"/>
              </a:rPr>
              <a:t>Assume:</a:t>
            </a:r>
            <a:r>
              <a:rPr lang="en-US" sz="1800">
                <a:latin typeface="Comic Sans MS" charset="0"/>
                <a:cs typeface="Arial" charset="0"/>
              </a:rPr>
              <a:t> we want to pass the value of integer </a:t>
            </a:r>
            <a:r>
              <a:rPr lang="ja-JP" altLang="en-US" sz="1800">
                <a:latin typeface="Comic Sans MS" charset="0"/>
                <a:cs typeface="Arial" charset="0"/>
              </a:rPr>
              <a:t>”</a:t>
            </a:r>
            <a:r>
              <a:rPr lang="en-US" altLang="ja-JP" sz="1800">
                <a:latin typeface="Comic Sans MS" charset="0"/>
                <a:cs typeface="Arial" charset="0"/>
              </a:rPr>
              <a:t>k</a:t>
            </a:r>
            <a:r>
              <a:rPr lang="ja-JP" altLang="en-US" sz="1800">
                <a:latin typeface="Comic Sans MS" charset="0"/>
                <a:cs typeface="Arial" charset="0"/>
              </a:rPr>
              <a:t>”</a:t>
            </a:r>
            <a:r>
              <a:rPr lang="en-US" altLang="ja-JP" sz="1800">
                <a:latin typeface="Comic Sans MS" charset="0"/>
                <a:cs typeface="Arial" charset="0"/>
              </a:rPr>
              <a:t> from automaton P to variable </a:t>
            </a:r>
            <a:r>
              <a:rPr lang="ja-JP" altLang="en-US" sz="1800">
                <a:latin typeface="Comic Sans MS" charset="0"/>
                <a:cs typeface="Arial" charset="0"/>
              </a:rPr>
              <a:t>”</a:t>
            </a:r>
            <a:r>
              <a:rPr lang="en-US" altLang="ja-JP" sz="1800">
                <a:latin typeface="Comic Sans MS" charset="0"/>
                <a:cs typeface="Arial" charset="0"/>
              </a:rPr>
              <a:t>j</a:t>
            </a:r>
            <a:r>
              <a:rPr lang="ja-JP" altLang="en-US" sz="1800">
                <a:latin typeface="Comic Sans MS" charset="0"/>
                <a:cs typeface="Arial" charset="0"/>
              </a:rPr>
              <a:t>”</a:t>
            </a:r>
            <a:r>
              <a:rPr lang="en-US" altLang="ja-JP" sz="1800">
                <a:latin typeface="Comic Sans MS" charset="0"/>
                <a:cs typeface="Arial" charset="0"/>
              </a:rPr>
              <a:t> in Q. </a:t>
            </a:r>
          </a:p>
          <a:p>
            <a:pPr defTabSz="548879"/>
            <a:r>
              <a:rPr lang="en-US" sz="1800">
                <a:latin typeface="Comic Sans MS" charset="0"/>
                <a:cs typeface="Arial" charset="0"/>
              </a:rPr>
              <a:t>The value of k can is passed using a global integer variable </a:t>
            </a:r>
            <a:r>
              <a:rPr lang="ja-JP" altLang="en-US" sz="1800">
                <a:latin typeface="Comic Sans MS" charset="0"/>
                <a:cs typeface="Arial" charset="0"/>
              </a:rPr>
              <a:t>”</a:t>
            </a:r>
            <a:r>
              <a:rPr lang="en-US" altLang="ja-JP" sz="1800">
                <a:latin typeface="Comic Sans MS" charset="0"/>
                <a:cs typeface="Arial" charset="0"/>
              </a:rPr>
              <a:t>t</a:t>
            </a:r>
            <a:r>
              <a:rPr lang="ja-JP" altLang="en-US" sz="1800">
                <a:latin typeface="Comic Sans MS" charset="0"/>
                <a:cs typeface="Arial" charset="0"/>
              </a:rPr>
              <a:t>”</a:t>
            </a:r>
            <a:r>
              <a:rPr lang="en-US" altLang="ja-JP" sz="1800">
                <a:latin typeface="Comic Sans MS" charset="0"/>
                <a:cs typeface="Arial" charset="0"/>
              </a:rPr>
              <a:t>. </a:t>
            </a:r>
          </a:p>
          <a:p>
            <a:pPr defTabSz="548879"/>
            <a:r>
              <a:rPr lang="en-US" sz="1800">
                <a:latin typeface="Comic Sans MS" charset="0"/>
                <a:cs typeface="Arial" charset="0"/>
              </a:rPr>
              <a:t>Location </a:t>
            </a:r>
            <a:r>
              <a:rPr lang="ja-JP" altLang="en-US" sz="1800">
                <a:latin typeface="Comic Sans MS" charset="0"/>
                <a:cs typeface="Arial" charset="0"/>
              </a:rPr>
              <a:t>“</a:t>
            </a:r>
            <a:r>
              <a:rPr lang="en-US" altLang="ja-JP" sz="1800">
                <a:latin typeface="Comic Sans MS" charset="0"/>
                <a:cs typeface="Arial" charset="0"/>
              </a:rPr>
              <a:t>n</a:t>
            </a:r>
            <a:r>
              <a:rPr lang="ja-JP" altLang="en-US" sz="1800">
                <a:latin typeface="Comic Sans MS" charset="0"/>
                <a:cs typeface="Arial" charset="0"/>
              </a:rPr>
              <a:t>”</a:t>
            </a:r>
            <a:r>
              <a:rPr lang="en-US" altLang="ja-JP" sz="1800">
                <a:latin typeface="Comic Sans MS" charset="0"/>
                <a:cs typeface="Arial" charset="0"/>
              </a:rPr>
              <a:t> is committed to ensure that no other automat can assign </a:t>
            </a:r>
            <a:r>
              <a:rPr lang="ja-JP" altLang="en-US" sz="1800">
                <a:latin typeface="Comic Sans MS" charset="0"/>
                <a:cs typeface="Arial" charset="0"/>
              </a:rPr>
              <a:t>“</a:t>
            </a:r>
            <a:r>
              <a:rPr lang="en-US" altLang="ja-JP" sz="1800">
                <a:latin typeface="Comic Sans MS" charset="0"/>
                <a:cs typeface="Arial" charset="0"/>
              </a:rPr>
              <a:t>t</a:t>
            </a:r>
            <a:r>
              <a:rPr lang="ja-JP" altLang="en-US" sz="1800">
                <a:latin typeface="Comic Sans MS" charset="0"/>
                <a:cs typeface="Arial" charset="0"/>
              </a:rPr>
              <a:t>”</a:t>
            </a:r>
            <a:r>
              <a:rPr lang="en-US" altLang="ja-JP" sz="1800">
                <a:latin typeface="Comic Sans MS" charset="0"/>
                <a:cs typeface="Arial" charset="0"/>
              </a:rPr>
              <a:t> before the assignment </a:t>
            </a:r>
            <a:r>
              <a:rPr lang="ja-JP" altLang="en-US" sz="1800">
                <a:latin typeface="Comic Sans MS" charset="0"/>
                <a:cs typeface="Arial" charset="0"/>
              </a:rPr>
              <a:t>“</a:t>
            </a:r>
            <a:r>
              <a:rPr lang="en-US" altLang="ja-JP" sz="1800">
                <a:latin typeface="Comic Sans MS" charset="0"/>
                <a:cs typeface="Arial" charset="0"/>
              </a:rPr>
              <a:t>j:=t</a:t>
            </a:r>
            <a:r>
              <a:rPr lang="ja-JP" altLang="en-US" sz="1800">
                <a:latin typeface="Comic Sans MS" charset="0"/>
                <a:cs typeface="Arial" charset="0"/>
              </a:rPr>
              <a:t>”</a:t>
            </a:r>
            <a:r>
              <a:rPr lang="en-US" altLang="ja-JP" sz="1800">
                <a:latin typeface="Comic Sans MS" charset="0"/>
                <a:cs typeface="Arial" charset="0"/>
              </a:rPr>
              <a:t>.</a:t>
            </a:r>
          </a:p>
          <a:p>
            <a:pPr defTabSz="548879"/>
            <a:endParaRPr lang="en-US" sz="1800">
              <a:latin typeface="Comic Sans MS" charset="0"/>
              <a:cs typeface="Arial" charset="0"/>
            </a:endParaRPr>
          </a:p>
          <a:p>
            <a:pPr defTabSz="548879"/>
            <a:endParaRPr lang="en-US" sz="1800">
              <a:latin typeface="Comic Sans MS" charset="0"/>
              <a:cs typeface="Arial" charset="0"/>
            </a:endParaRPr>
          </a:p>
        </p:txBody>
      </p:sp>
      <p:sp>
        <p:nvSpPr>
          <p:cNvPr id="38916" name="Oval 4"/>
          <p:cNvSpPr>
            <a:spLocks noChangeArrowheads="1"/>
          </p:cNvSpPr>
          <p:nvPr/>
        </p:nvSpPr>
        <p:spPr bwMode="auto">
          <a:xfrm>
            <a:off x="6735367" y="188595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8917" name="Oval 5"/>
          <p:cNvSpPr>
            <a:spLocks noChangeArrowheads="1"/>
          </p:cNvSpPr>
          <p:nvPr/>
        </p:nvSpPr>
        <p:spPr bwMode="auto">
          <a:xfrm>
            <a:off x="6735367" y="3200400"/>
            <a:ext cx="421481"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8918" name="Line 6"/>
          <p:cNvSpPr>
            <a:spLocks noChangeShapeType="1"/>
          </p:cNvSpPr>
          <p:nvPr/>
        </p:nvSpPr>
        <p:spPr bwMode="auto">
          <a:xfrm>
            <a:off x="6946106" y="2343150"/>
            <a:ext cx="0" cy="8572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19" name="Text Box 7"/>
          <p:cNvSpPr txBox="1">
            <a:spLocks noChangeArrowheads="1"/>
          </p:cNvSpPr>
          <p:nvPr/>
        </p:nvSpPr>
        <p:spPr bwMode="auto">
          <a:xfrm>
            <a:off x="7035663" y="2571750"/>
            <a:ext cx="356668"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a?</a:t>
            </a:r>
            <a:endParaRPr lang="sv-SE" sz="1500" b="1">
              <a:latin typeface="Arial" charset="0"/>
            </a:endParaRPr>
          </a:p>
        </p:txBody>
      </p:sp>
      <p:sp>
        <p:nvSpPr>
          <p:cNvPr id="38920" name="Line 8"/>
          <p:cNvSpPr>
            <a:spLocks noChangeShapeType="1"/>
          </p:cNvSpPr>
          <p:nvPr/>
        </p:nvSpPr>
        <p:spPr bwMode="auto">
          <a:xfrm>
            <a:off x="6787754" y="1600200"/>
            <a:ext cx="105965"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21" name="Line 9"/>
          <p:cNvSpPr>
            <a:spLocks noChangeShapeType="1"/>
          </p:cNvSpPr>
          <p:nvPr/>
        </p:nvSpPr>
        <p:spPr bwMode="auto">
          <a:xfrm flipH="1">
            <a:off x="7050881" y="1600200"/>
            <a:ext cx="105966"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22" name="Line 10"/>
          <p:cNvSpPr>
            <a:spLocks noChangeShapeType="1"/>
          </p:cNvSpPr>
          <p:nvPr/>
        </p:nvSpPr>
        <p:spPr bwMode="auto">
          <a:xfrm flipH="1">
            <a:off x="6840141" y="3657600"/>
            <a:ext cx="5357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23" name="Line 11"/>
          <p:cNvSpPr>
            <a:spLocks noChangeShapeType="1"/>
          </p:cNvSpPr>
          <p:nvPr/>
        </p:nvSpPr>
        <p:spPr bwMode="auto">
          <a:xfrm>
            <a:off x="6998494" y="365760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24" name="Text Box 12"/>
          <p:cNvSpPr txBox="1">
            <a:spLocks noChangeArrowheads="1"/>
          </p:cNvSpPr>
          <p:nvPr/>
        </p:nvSpPr>
        <p:spPr bwMode="auto">
          <a:xfrm>
            <a:off x="6828914" y="19431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8925" name="Text Box 13"/>
          <p:cNvSpPr txBox="1">
            <a:spLocks noChangeArrowheads="1"/>
          </p:cNvSpPr>
          <p:nvPr/>
        </p:nvSpPr>
        <p:spPr bwMode="auto">
          <a:xfrm>
            <a:off x="6828914" y="325755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38926" name="Text Box 14"/>
          <p:cNvSpPr txBox="1">
            <a:spLocks noChangeArrowheads="1"/>
          </p:cNvSpPr>
          <p:nvPr/>
        </p:nvSpPr>
        <p:spPr bwMode="auto">
          <a:xfrm>
            <a:off x="6340591" y="1657350"/>
            <a:ext cx="34544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Q:</a:t>
            </a:r>
            <a:endParaRPr lang="sv-SE" sz="1500" b="1">
              <a:latin typeface="Arial" charset="0"/>
            </a:endParaRPr>
          </a:p>
        </p:txBody>
      </p:sp>
      <p:sp>
        <p:nvSpPr>
          <p:cNvPr id="38927" name="Oval 15"/>
          <p:cNvSpPr>
            <a:spLocks noChangeArrowheads="1"/>
          </p:cNvSpPr>
          <p:nvPr/>
        </p:nvSpPr>
        <p:spPr bwMode="auto">
          <a:xfrm>
            <a:off x="5310188" y="15430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8928" name="Line 16"/>
          <p:cNvSpPr>
            <a:spLocks noChangeShapeType="1"/>
          </p:cNvSpPr>
          <p:nvPr/>
        </p:nvSpPr>
        <p:spPr bwMode="auto">
          <a:xfrm>
            <a:off x="5522119" y="200025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29" name="Line 17"/>
          <p:cNvSpPr>
            <a:spLocks noChangeShapeType="1"/>
          </p:cNvSpPr>
          <p:nvPr/>
        </p:nvSpPr>
        <p:spPr bwMode="auto">
          <a:xfrm>
            <a:off x="5363766" y="1257300"/>
            <a:ext cx="104775"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30" name="Line 18"/>
          <p:cNvSpPr>
            <a:spLocks noChangeShapeType="1"/>
          </p:cNvSpPr>
          <p:nvPr/>
        </p:nvSpPr>
        <p:spPr bwMode="auto">
          <a:xfrm flipH="1">
            <a:off x="5626894" y="1257300"/>
            <a:ext cx="105966" cy="3429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31" name="Text Box 19"/>
          <p:cNvSpPr txBox="1">
            <a:spLocks noChangeArrowheads="1"/>
          </p:cNvSpPr>
          <p:nvPr/>
        </p:nvSpPr>
        <p:spPr bwMode="auto">
          <a:xfrm>
            <a:off x="5404926" y="16002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1</a:t>
            </a:r>
            <a:endParaRPr lang="sv-SE" sz="1200" b="1">
              <a:latin typeface="Arial" charset="0"/>
            </a:endParaRPr>
          </a:p>
        </p:txBody>
      </p:sp>
      <p:sp>
        <p:nvSpPr>
          <p:cNvPr id="38932" name="Text Box 20"/>
          <p:cNvSpPr txBox="1">
            <a:spLocks noChangeArrowheads="1"/>
          </p:cNvSpPr>
          <p:nvPr/>
        </p:nvSpPr>
        <p:spPr bwMode="auto">
          <a:xfrm>
            <a:off x="5109785" y="1314450"/>
            <a:ext cx="32460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P:</a:t>
            </a:r>
            <a:endParaRPr lang="sv-SE" sz="1500" b="1">
              <a:latin typeface="Arial" charset="0"/>
            </a:endParaRPr>
          </a:p>
        </p:txBody>
      </p:sp>
      <p:sp>
        <p:nvSpPr>
          <p:cNvPr id="38933" name="Oval 21"/>
          <p:cNvSpPr>
            <a:spLocks noChangeArrowheads="1"/>
          </p:cNvSpPr>
          <p:nvPr/>
        </p:nvSpPr>
        <p:spPr bwMode="auto">
          <a:xfrm>
            <a:off x="5310188" y="251460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8934" name="Line 22"/>
          <p:cNvSpPr>
            <a:spLocks noChangeShapeType="1"/>
          </p:cNvSpPr>
          <p:nvPr/>
        </p:nvSpPr>
        <p:spPr bwMode="auto">
          <a:xfrm>
            <a:off x="5522119" y="2971800"/>
            <a:ext cx="0"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35" name="Text Box 23"/>
          <p:cNvSpPr txBox="1">
            <a:spLocks noChangeArrowheads="1"/>
          </p:cNvSpPr>
          <p:nvPr/>
        </p:nvSpPr>
        <p:spPr bwMode="auto">
          <a:xfrm>
            <a:off x="5574507" y="3086100"/>
            <a:ext cx="30376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a!</a:t>
            </a:r>
            <a:endParaRPr lang="sv-SE" sz="1500" b="1">
              <a:latin typeface="Arial" charset="0"/>
            </a:endParaRPr>
          </a:p>
        </p:txBody>
      </p:sp>
      <p:sp>
        <p:nvSpPr>
          <p:cNvPr id="38936" name="Text Box 24"/>
          <p:cNvSpPr txBox="1">
            <a:spLocks noChangeArrowheads="1"/>
          </p:cNvSpPr>
          <p:nvPr/>
        </p:nvSpPr>
        <p:spPr bwMode="auto">
          <a:xfrm>
            <a:off x="5414155" y="2514600"/>
            <a:ext cx="24926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n</a:t>
            </a:r>
            <a:endParaRPr lang="sv-SE" sz="900" b="1">
              <a:latin typeface="Arial" charset="0"/>
            </a:endParaRPr>
          </a:p>
        </p:txBody>
      </p:sp>
      <p:sp>
        <p:nvSpPr>
          <p:cNvPr id="38937" name="Oval 25"/>
          <p:cNvSpPr>
            <a:spLocks noChangeArrowheads="1"/>
          </p:cNvSpPr>
          <p:nvPr/>
        </p:nvSpPr>
        <p:spPr bwMode="auto">
          <a:xfrm>
            <a:off x="5310188" y="3486150"/>
            <a:ext cx="422672" cy="457200"/>
          </a:xfrm>
          <a:prstGeom prst="ellipse">
            <a:avLst/>
          </a:prstGeom>
          <a:solidFill>
            <a:schemeClr val="bg1"/>
          </a:solidFill>
          <a:ln w="31750">
            <a:solidFill>
              <a:schemeClr val="tx1"/>
            </a:solidFill>
            <a:round/>
            <a:headEnd/>
            <a:tailEnd/>
          </a:ln>
        </p:spPr>
        <p:txBody>
          <a:bodyPr wrap="none" lIns="65484" tIns="33338" rIns="65484" bIns="33338" anchor="ctr"/>
          <a:lstStyle/>
          <a:p>
            <a:endParaRPr lang="sv-SE" sz="1013">
              <a:cs typeface="Arial" charset="0"/>
            </a:endParaRPr>
          </a:p>
        </p:txBody>
      </p:sp>
      <p:sp>
        <p:nvSpPr>
          <p:cNvPr id="38938" name="Text Box 26"/>
          <p:cNvSpPr txBox="1">
            <a:spLocks noChangeArrowheads="1"/>
          </p:cNvSpPr>
          <p:nvPr/>
        </p:nvSpPr>
        <p:spPr bwMode="auto">
          <a:xfrm>
            <a:off x="5404926" y="3543300"/>
            <a:ext cx="270105"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l</a:t>
            </a:r>
            <a:r>
              <a:rPr lang="en-US" sz="1200" b="1">
                <a:latin typeface="Arial" charset="0"/>
              </a:rPr>
              <a:t>2</a:t>
            </a:r>
            <a:endParaRPr lang="sv-SE" sz="1200" b="1">
              <a:latin typeface="Arial" charset="0"/>
            </a:endParaRPr>
          </a:p>
        </p:txBody>
      </p:sp>
      <p:sp>
        <p:nvSpPr>
          <p:cNvPr id="38939" name="Line 27"/>
          <p:cNvSpPr>
            <a:spLocks noChangeShapeType="1"/>
          </p:cNvSpPr>
          <p:nvPr/>
        </p:nvSpPr>
        <p:spPr bwMode="auto">
          <a:xfrm flipH="1">
            <a:off x="5416153" y="3943350"/>
            <a:ext cx="52388"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40" name="Line 28"/>
          <p:cNvSpPr>
            <a:spLocks noChangeShapeType="1"/>
          </p:cNvSpPr>
          <p:nvPr/>
        </p:nvSpPr>
        <p:spPr bwMode="auto">
          <a:xfrm>
            <a:off x="5574506" y="3943350"/>
            <a:ext cx="52388" cy="2857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38941" name="Text Box 29"/>
          <p:cNvSpPr txBox="1">
            <a:spLocks noChangeArrowheads="1"/>
          </p:cNvSpPr>
          <p:nvPr/>
        </p:nvSpPr>
        <p:spPr bwMode="auto">
          <a:xfrm>
            <a:off x="7000009" y="2857500"/>
            <a:ext cx="425597"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500" b="1">
                <a:latin typeface="Arial" charset="0"/>
              </a:rPr>
              <a:t>j:=t</a:t>
            </a:r>
            <a:endParaRPr lang="sv-SE" sz="1500" b="1">
              <a:latin typeface="Arial" charset="0"/>
            </a:endParaRPr>
          </a:p>
        </p:txBody>
      </p:sp>
      <p:sp>
        <p:nvSpPr>
          <p:cNvPr id="38942" name="Text Box 30"/>
          <p:cNvSpPr txBox="1">
            <a:spLocks noChangeArrowheads="1"/>
          </p:cNvSpPr>
          <p:nvPr/>
        </p:nvSpPr>
        <p:spPr bwMode="auto">
          <a:xfrm>
            <a:off x="6998494" y="2343150"/>
            <a:ext cx="132312"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endParaRPr lang="sv-SE" sz="1500" b="1">
              <a:latin typeface="Arial" charset="0"/>
            </a:endParaRPr>
          </a:p>
        </p:txBody>
      </p:sp>
      <p:sp>
        <p:nvSpPr>
          <p:cNvPr id="38943" name="Text Box 31"/>
          <p:cNvSpPr txBox="1">
            <a:spLocks noChangeArrowheads="1"/>
          </p:cNvSpPr>
          <p:nvPr/>
        </p:nvSpPr>
        <p:spPr bwMode="auto">
          <a:xfrm>
            <a:off x="5626894" y="2114550"/>
            <a:ext cx="480099" cy="298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500" b="1">
                <a:latin typeface="Arial" charset="0"/>
              </a:rPr>
              <a:t>t:=k</a:t>
            </a:r>
            <a:endParaRPr lang="sv-SE" sz="1500" b="1">
              <a:latin typeface="Arial" charset="0"/>
            </a:endParaRPr>
          </a:p>
        </p:txBody>
      </p:sp>
      <p:sp>
        <p:nvSpPr>
          <p:cNvPr id="38944" name="Text Box 32"/>
          <p:cNvSpPr txBox="1">
            <a:spLocks noChangeArrowheads="1"/>
          </p:cNvSpPr>
          <p:nvPr/>
        </p:nvSpPr>
        <p:spPr bwMode="auto">
          <a:xfrm>
            <a:off x="5598751" y="2800351"/>
            <a:ext cx="813524" cy="228910"/>
          </a:xfrm>
          <a:prstGeom prst="rect">
            <a:avLst/>
          </a:prstGeom>
          <a:solidFill>
            <a:schemeClr val="accent1"/>
          </a:solidFill>
          <a:ln w="22225">
            <a:solidFill>
              <a:schemeClr val="tx1"/>
            </a:solidFill>
            <a:miter lim="800000"/>
            <a:headEnd/>
            <a:tailEnd/>
          </a:ln>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050" b="1">
                <a:latin typeface="Arial" charset="0"/>
              </a:rPr>
              <a:t>committed</a:t>
            </a:r>
            <a:endParaRPr lang="sv-SE" sz="1050" b="1">
              <a:latin typeface="Arial" charset="0"/>
            </a:endParaRPr>
          </a:p>
        </p:txBody>
      </p:sp>
    </p:spTree>
    <p:extLst>
      <p:ext uri="{BB962C8B-B14F-4D97-AF65-F5344CB8AC3E}">
        <p14:creationId xmlns:p14="http://schemas.microsoft.com/office/powerpoint/2010/main" val="26491433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514600" y="-342900"/>
            <a:ext cx="5314950" cy="1200150"/>
          </a:xfrm>
        </p:spPr>
        <p:txBody>
          <a:bodyPr/>
          <a:lstStyle/>
          <a:p>
            <a:pPr defTabSz="548879"/>
            <a:r>
              <a:rPr lang="sv-SE" sz="3000">
                <a:latin typeface="Comic Sans MS" charset="0"/>
                <a:cs typeface="Arial" charset="0"/>
              </a:rPr>
              <a:t>More Expressions</a:t>
            </a:r>
          </a:p>
        </p:txBody>
      </p:sp>
      <p:sp>
        <p:nvSpPr>
          <p:cNvPr id="39939" name="Rectangle 3"/>
          <p:cNvSpPr>
            <a:spLocks noGrp="1" noChangeArrowheads="1"/>
          </p:cNvSpPr>
          <p:nvPr>
            <p:ph type="body" idx="1"/>
          </p:nvPr>
        </p:nvSpPr>
        <p:spPr>
          <a:xfrm>
            <a:off x="2057400" y="1314450"/>
            <a:ext cx="5829300" cy="3569494"/>
          </a:xfrm>
        </p:spPr>
        <p:txBody>
          <a:bodyPr/>
          <a:lstStyle/>
          <a:p>
            <a:pPr defTabSz="548879"/>
            <a:r>
              <a:rPr lang="sv-SE" sz="1800">
                <a:latin typeface="Comic Sans MS" charset="0"/>
                <a:cs typeface="Arial" charset="0"/>
              </a:rPr>
              <a:t>Operators (not clocks): </a:t>
            </a:r>
          </a:p>
          <a:p>
            <a:pPr marL="534591" lvl="1" indent="-191691" defTabSz="548879"/>
            <a:r>
              <a:rPr lang="sv-SE" sz="1500">
                <a:latin typeface="Comic Sans MS" charset="0"/>
                <a:ea typeface="Arial" charset="0"/>
                <a:cs typeface="Arial" charset="0"/>
              </a:rPr>
              <a:t>Logical: </a:t>
            </a:r>
          </a:p>
          <a:p>
            <a:pPr lvl="2" defTabSz="548879"/>
            <a:r>
              <a:rPr lang="sv-SE" sz="1350">
                <a:latin typeface="Comic Sans MS" charset="0"/>
                <a:ea typeface="Arial" charset="0"/>
                <a:cs typeface="Arial" charset="0"/>
              </a:rPr>
              <a:t>&amp;&amp; (logical and), || (logical or), ! (logical negation), </a:t>
            </a:r>
          </a:p>
          <a:p>
            <a:pPr marL="534591" lvl="1" indent="-191691" defTabSz="548879"/>
            <a:r>
              <a:rPr lang="sv-SE" sz="1500">
                <a:latin typeface="Comic Sans MS" charset="0"/>
                <a:ea typeface="Arial" charset="0"/>
                <a:cs typeface="Arial" charset="0"/>
              </a:rPr>
              <a:t>Bitwise: </a:t>
            </a:r>
          </a:p>
          <a:p>
            <a:pPr lvl="2" defTabSz="548879"/>
            <a:r>
              <a:rPr lang="sv-SE" sz="1350">
                <a:latin typeface="Comic Sans MS" charset="0"/>
                <a:ea typeface="Arial" charset="0"/>
                <a:cs typeface="Arial" charset="0"/>
              </a:rPr>
              <a:t>^ (xor), &amp; (bitwise and), | (bitwise or), </a:t>
            </a:r>
          </a:p>
          <a:p>
            <a:pPr marL="534591" lvl="1" indent="-191691" defTabSz="548879"/>
            <a:r>
              <a:rPr lang="sv-SE" sz="1500">
                <a:latin typeface="Comic Sans MS" charset="0"/>
                <a:ea typeface="Arial" charset="0"/>
                <a:cs typeface="Arial" charset="0"/>
              </a:rPr>
              <a:t>Bit shift: </a:t>
            </a:r>
          </a:p>
          <a:p>
            <a:pPr lvl="2" defTabSz="548879"/>
            <a:r>
              <a:rPr lang="sv-SE" sz="1350">
                <a:latin typeface="Comic Sans MS" charset="0"/>
                <a:ea typeface="Arial" charset="0"/>
                <a:cs typeface="Arial" charset="0"/>
              </a:rPr>
              <a:t>&lt;&lt; (left), &gt;&gt; (right) </a:t>
            </a:r>
          </a:p>
          <a:p>
            <a:pPr marL="534591" lvl="1" indent="-191691" defTabSz="548879"/>
            <a:r>
              <a:rPr lang="sv-SE" sz="1500">
                <a:latin typeface="Comic Sans MS" charset="0"/>
                <a:ea typeface="Arial" charset="0"/>
                <a:cs typeface="Arial" charset="0"/>
              </a:rPr>
              <a:t>Numerical: </a:t>
            </a:r>
          </a:p>
          <a:p>
            <a:pPr lvl="2" defTabSz="548879"/>
            <a:r>
              <a:rPr lang="sv-SE" sz="1350">
                <a:latin typeface="Comic Sans MS" charset="0"/>
                <a:ea typeface="Arial" charset="0"/>
                <a:cs typeface="Arial" charset="0"/>
              </a:rPr>
              <a:t>% (modulo), ? (max) </a:t>
            </a:r>
          </a:p>
          <a:p>
            <a:pPr marL="534591" lvl="1" indent="-191691" defTabSz="548879"/>
            <a:r>
              <a:rPr lang="sv-SE" sz="1500">
                <a:latin typeface="Comic Sans MS" charset="0"/>
                <a:ea typeface="Arial" charset="0"/>
                <a:cs typeface="Arial" charset="0"/>
              </a:rPr>
              <a:t>Assignments: </a:t>
            </a:r>
          </a:p>
          <a:p>
            <a:pPr lvl="2" defTabSz="548879"/>
            <a:r>
              <a:rPr lang="sv-SE" sz="1350">
                <a:latin typeface="Comic Sans MS" charset="0"/>
                <a:ea typeface="Arial" charset="0"/>
                <a:cs typeface="Arial" charset="0"/>
              </a:rPr>
              <a:t>+=, -=, *=, /=, ^=, &lt;&lt;=, &gt;&gt;=, := </a:t>
            </a:r>
          </a:p>
          <a:p>
            <a:pPr marL="534591" lvl="1" indent="-191691" defTabSz="548879"/>
            <a:r>
              <a:rPr lang="sv-SE" sz="1500">
                <a:latin typeface="Comic Sans MS" charset="0"/>
                <a:ea typeface="Arial" charset="0"/>
                <a:cs typeface="Arial" charset="0"/>
              </a:rPr>
              <a:t>Prefix and postfix: </a:t>
            </a:r>
          </a:p>
          <a:p>
            <a:pPr lvl="2" defTabSz="548879"/>
            <a:r>
              <a:rPr lang="sv-SE" sz="1350">
                <a:latin typeface="Comic Sans MS" charset="0"/>
                <a:ea typeface="Arial" charset="0"/>
                <a:cs typeface="Arial" charset="0"/>
              </a:rPr>
              <a:t>++ (increment), -- (decrement) </a:t>
            </a:r>
          </a:p>
        </p:txBody>
      </p:sp>
    </p:spTree>
    <p:extLst>
      <p:ext uri="{BB962C8B-B14F-4D97-AF65-F5344CB8AC3E}">
        <p14:creationId xmlns:p14="http://schemas.microsoft.com/office/powerpoint/2010/main" val="5979367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286000" y="-171450"/>
            <a:ext cx="5153025" cy="1200150"/>
          </a:xfrm>
        </p:spPr>
        <p:txBody>
          <a:bodyPr/>
          <a:lstStyle/>
          <a:p>
            <a:pPr defTabSz="548879"/>
            <a:r>
              <a:rPr lang="sv-SE" sz="3000">
                <a:latin typeface="Comic Sans MS" charset="0"/>
                <a:cs typeface="Arial" charset="0"/>
              </a:rPr>
              <a:t>More on Types</a:t>
            </a:r>
          </a:p>
        </p:txBody>
      </p:sp>
      <p:sp>
        <p:nvSpPr>
          <p:cNvPr id="40963" name="Rectangle 3"/>
          <p:cNvSpPr>
            <a:spLocks noGrp="1" noChangeArrowheads="1"/>
          </p:cNvSpPr>
          <p:nvPr>
            <p:ph type="body" idx="1"/>
          </p:nvPr>
        </p:nvSpPr>
        <p:spPr/>
        <p:txBody>
          <a:bodyPr>
            <a:normAutofit fontScale="77500" lnSpcReduction="20000"/>
          </a:bodyPr>
          <a:lstStyle/>
          <a:p>
            <a:pPr defTabSz="548879"/>
            <a:r>
              <a:rPr lang="sv-SE" sz="1800">
                <a:latin typeface="Comic Sans MS" charset="0"/>
                <a:cs typeface="Arial" charset="0"/>
              </a:rPr>
              <a:t>Multi dimensional arrays</a:t>
            </a:r>
          </a:p>
          <a:p>
            <a:pPr marL="534591" lvl="1" indent="-191691" defTabSz="548879"/>
            <a:r>
              <a:rPr lang="sv-SE" sz="1500">
                <a:latin typeface="Comic Sans MS" charset="0"/>
                <a:ea typeface="Arial" charset="0"/>
                <a:cs typeface="Arial" charset="0"/>
              </a:rPr>
              <a:t>e.g. int b[4][2];</a:t>
            </a:r>
          </a:p>
          <a:p>
            <a:pPr defTabSz="548879"/>
            <a:r>
              <a:rPr lang="sv-SE" sz="1800">
                <a:latin typeface="Comic Sans MS" charset="0"/>
                <a:cs typeface="Arial" charset="0"/>
              </a:rPr>
              <a:t>Array initialiser:</a:t>
            </a:r>
          </a:p>
          <a:p>
            <a:pPr marL="534591" lvl="1" indent="-191691" defTabSz="548879"/>
            <a:r>
              <a:rPr lang="sv-SE" sz="1500">
                <a:latin typeface="Comic Sans MS" charset="0"/>
                <a:ea typeface="Arial" charset="0"/>
                <a:cs typeface="Arial" charset="0"/>
              </a:rPr>
              <a:t>e.g. int b[4] := { 1, 2, 3, 4 };</a:t>
            </a:r>
          </a:p>
          <a:p>
            <a:pPr defTabSz="548879"/>
            <a:r>
              <a:rPr lang="sv-SE" sz="1800">
                <a:latin typeface="Comic Sans MS" charset="0"/>
                <a:cs typeface="Arial" charset="0"/>
              </a:rPr>
              <a:t>Arrays of channels, clocks, constants. </a:t>
            </a:r>
          </a:p>
          <a:p>
            <a:pPr marL="534591" lvl="1" indent="-191691" defTabSz="548879"/>
            <a:r>
              <a:rPr lang="sv-SE" sz="1500">
                <a:latin typeface="Comic Sans MS" charset="0"/>
                <a:ea typeface="Arial" charset="0"/>
                <a:cs typeface="Arial" charset="0"/>
              </a:rPr>
              <a:t>e.g. </a:t>
            </a:r>
          </a:p>
          <a:p>
            <a:pPr marL="534591" lvl="1" indent="-191691" defTabSz="548879"/>
            <a:r>
              <a:rPr lang="sv-SE" sz="1500">
                <a:latin typeface="Comic Sans MS" charset="0"/>
                <a:ea typeface="Arial" charset="0"/>
                <a:cs typeface="Arial" charset="0"/>
              </a:rPr>
              <a:t>	chan a[3];</a:t>
            </a:r>
          </a:p>
          <a:p>
            <a:pPr marL="534591" lvl="1" indent="-191691" defTabSz="548879"/>
            <a:r>
              <a:rPr lang="sv-SE" sz="1500">
                <a:latin typeface="Comic Sans MS" charset="0"/>
                <a:ea typeface="Arial" charset="0"/>
                <a:cs typeface="Arial" charset="0"/>
              </a:rPr>
              <a:t>clock c[3];</a:t>
            </a:r>
          </a:p>
          <a:p>
            <a:pPr marL="534591" lvl="1" indent="-191691" defTabSz="548879"/>
            <a:r>
              <a:rPr lang="sv-SE" sz="1500">
                <a:latin typeface="Comic Sans MS" charset="0"/>
                <a:ea typeface="Arial" charset="0"/>
                <a:cs typeface="Arial" charset="0"/>
              </a:rPr>
              <a:t>const k[3] { 1, 2, 3 };</a:t>
            </a:r>
          </a:p>
          <a:p>
            <a:pPr defTabSz="548879"/>
            <a:r>
              <a:rPr lang="sv-SE" sz="1800">
                <a:latin typeface="Comic Sans MS" charset="0"/>
                <a:cs typeface="Arial" charset="0"/>
              </a:rPr>
              <a:t>Broadcast channels.</a:t>
            </a:r>
          </a:p>
          <a:p>
            <a:pPr marL="534591" lvl="1" indent="-191691" defTabSz="548879"/>
            <a:r>
              <a:rPr lang="sv-SE" sz="1500">
                <a:latin typeface="Comic Sans MS" charset="0"/>
                <a:ea typeface="Arial" charset="0"/>
                <a:cs typeface="Arial" charset="0"/>
              </a:rPr>
              <a:t>e.g. broadcast chan a;</a:t>
            </a:r>
          </a:p>
          <a:p>
            <a:pPr defTabSz="548879"/>
            <a:endParaRPr lang="sv-SE" sz="1800">
              <a:latin typeface="Comic Sans MS" charset="0"/>
              <a:cs typeface="Arial" charset="0"/>
            </a:endParaRPr>
          </a:p>
        </p:txBody>
      </p:sp>
    </p:spTree>
    <p:extLst>
      <p:ext uri="{BB962C8B-B14F-4D97-AF65-F5344CB8AC3E}">
        <p14:creationId xmlns:p14="http://schemas.microsoft.com/office/powerpoint/2010/main" val="21471667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485900" y="171450"/>
            <a:ext cx="6122194" cy="389335"/>
          </a:xfrm>
        </p:spPr>
        <p:txBody>
          <a:bodyPr>
            <a:normAutofit fontScale="90000"/>
          </a:bodyPr>
          <a:lstStyle/>
          <a:p>
            <a:pPr eaLnBrk="1" hangingPunct="1"/>
            <a:r>
              <a:rPr lang="en-GB" sz="2700">
                <a:latin typeface="Comic Sans MS" charset="0"/>
                <a:cs typeface="Arial" charset="0"/>
              </a:rPr>
              <a:t>Declarations</a:t>
            </a:r>
          </a:p>
        </p:txBody>
      </p:sp>
      <p:pic>
        <p:nvPicPr>
          <p:cNvPr id="41987" name="Picture 3"/>
          <p:cNvPicPr>
            <a:picLocks noChangeAspect="1" noChangeArrowheads="1"/>
          </p:cNvPicPr>
          <p:nvPr/>
        </p:nvPicPr>
        <p:blipFill>
          <a:blip r:embed="rId3">
            <a:extLst>
              <a:ext uri="{28A0092B-C50C-407E-A947-70E740481C1C}">
                <a14:useLocalDpi xmlns:a14="http://schemas.microsoft.com/office/drawing/2010/main" val="0"/>
              </a:ext>
            </a:extLst>
          </a:blip>
          <a:srcRect r="17188" b="59375"/>
          <a:stretch>
            <a:fillRect/>
          </a:stretch>
        </p:blipFill>
        <p:spPr bwMode="auto">
          <a:xfrm>
            <a:off x="1600200" y="571500"/>
            <a:ext cx="6057900" cy="2228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pic>
      <p:sp>
        <p:nvSpPr>
          <p:cNvPr id="41988" name="Line 4"/>
          <p:cNvSpPr>
            <a:spLocks noChangeShapeType="1"/>
          </p:cNvSpPr>
          <p:nvPr/>
        </p:nvSpPr>
        <p:spPr bwMode="auto">
          <a:xfrm>
            <a:off x="1600200" y="2743200"/>
            <a:ext cx="605790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lIns="67500" tIns="35100" rIns="67500" bIns="35100">
            <a:spAutoFit/>
          </a:bodyPr>
          <a:lstStyle/>
          <a:p>
            <a:endParaRPr lang="en-GB" sz="1013"/>
          </a:p>
        </p:txBody>
      </p:sp>
      <p:pic>
        <p:nvPicPr>
          <p:cNvPr id="41989" name="Picture 5"/>
          <p:cNvPicPr>
            <a:picLocks noChangeAspect="1" noChangeArrowheads="1"/>
          </p:cNvPicPr>
          <p:nvPr/>
        </p:nvPicPr>
        <p:blipFill>
          <a:blip r:embed="rId4">
            <a:extLst>
              <a:ext uri="{28A0092B-C50C-407E-A947-70E740481C1C}">
                <a14:useLocalDpi xmlns:a14="http://schemas.microsoft.com/office/drawing/2010/main" val="0"/>
              </a:ext>
            </a:extLst>
          </a:blip>
          <a:srcRect t="16667" r="17188" b="56921"/>
          <a:stretch>
            <a:fillRect/>
          </a:stretch>
        </p:blipFill>
        <p:spPr bwMode="auto">
          <a:xfrm>
            <a:off x="1600200" y="3188494"/>
            <a:ext cx="6057900" cy="14489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pic>
      <p:pic>
        <p:nvPicPr>
          <p:cNvPr id="41990" name="Picture 6"/>
          <p:cNvPicPr>
            <a:picLocks noChangeAspect="1" noChangeArrowheads="1"/>
          </p:cNvPicPr>
          <p:nvPr/>
        </p:nvPicPr>
        <p:blipFill>
          <a:blip r:embed="rId5">
            <a:extLst>
              <a:ext uri="{28A0092B-C50C-407E-A947-70E740481C1C}">
                <a14:useLocalDpi xmlns:a14="http://schemas.microsoft.com/office/drawing/2010/main" val="0"/>
              </a:ext>
            </a:extLst>
          </a:blip>
          <a:srcRect l="17969" t="13542" r="17188" b="73958"/>
          <a:stretch>
            <a:fillRect/>
          </a:stretch>
        </p:blipFill>
        <p:spPr bwMode="auto">
          <a:xfrm>
            <a:off x="2914650" y="4000500"/>
            <a:ext cx="4743450" cy="68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pic>
      <p:sp>
        <p:nvSpPr>
          <p:cNvPr id="41991" name="Line 7"/>
          <p:cNvSpPr>
            <a:spLocks noChangeShapeType="1"/>
          </p:cNvSpPr>
          <p:nvPr/>
        </p:nvSpPr>
        <p:spPr bwMode="auto">
          <a:xfrm>
            <a:off x="1600200" y="2734866"/>
            <a:ext cx="605790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lIns="67500" tIns="35100" rIns="67500" bIns="35100">
            <a:spAutoFit/>
          </a:bodyPr>
          <a:lstStyle/>
          <a:p>
            <a:endParaRPr lang="en-GB" sz="1013"/>
          </a:p>
        </p:txBody>
      </p:sp>
      <p:pic>
        <p:nvPicPr>
          <p:cNvPr id="41992" name="Picture 8"/>
          <p:cNvPicPr>
            <a:picLocks noChangeAspect="1" noChangeArrowheads="1"/>
          </p:cNvPicPr>
          <p:nvPr/>
        </p:nvPicPr>
        <p:blipFill>
          <a:blip r:embed="rId6">
            <a:extLst>
              <a:ext uri="{28A0092B-C50C-407E-A947-70E740481C1C}">
                <a14:useLocalDpi xmlns:a14="http://schemas.microsoft.com/office/drawing/2010/main" val="0"/>
              </a:ext>
            </a:extLst>
          </a:blip>
          <a:srcRect l="18750" t="13542" r="16406" b="77083"/>
          <a:stretch>
            <a:fillRect/>
          </a:stretch>
        </p:blipFill>
        <p:spPr bwMode="auto">
          <a:xfrm>
            <a:off x="3028950" y="4554141"/>
            <a:ext cx="4743450" cy="514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pic>
      <p:pic>
        <p:nvPicPr>
          <p:cNvPr id="41993" name="Picture 9"/>
          <p:cNvPicPr>
            <a:picLocks noChangeAspect="1" noChangeArrowheads="1"/>
          </p:cNvPicPr>
          <p:nvPr/>
        </p:nvPicPr>
        <p:blipFill>
          <a:blip r:embed="rId6">
            <a:extLst>
              <a:ext uri="{28A0092B-C50C-407E-A947-70E740481C1C}">
                <a14:useLocalDpi xmlns:a14="http://schemas.microsoft.com/office/drawing/2010/main" val="0"/>
              </a:ext>
            </a:extLst>
          </a:blip>
          <a:srcRect t="27083" r="80469" b="62718"/>
          <a:stretch>
            <a:fillRect/>
          </a:stretch>
        </p:blipFill>
        <p:spPr bwMode="auto">
          <a:xfrm>
            <a:off x="1600200" y="4554141"/>
            <a:ext cx="1428750" cy="5595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pic>
      <p:sp>
        <p:nvSpPr>
          <p:cNvPr id="41994" name="Line 10"/>
          <p:cNvSpPr>
            <a:spLocks noChangeShapeType="1"/>
          </p:cNvSpPr>
          <p:nvPr/>
        </p:nvSpPr>
        <p:spPr bwMode="auto">
          <a:xfrm>
            <a:off x="1600200" y="4550569"/>
            <a:ext cx="605790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lIns="67500" tIns="35100" rIns="67500" bIns="35100">
            <a:spAutoFit/>
          </a:bodyPr>
          <a:lstStyle/>
          <a:p>
            <a:endParaRPr lang="en-GB" sz="1013"/>
          </a:p>
        </p:txBody>
      </p:sp>
      <p:sp>
        <p:nvSpPr>
          <p:cNvPr id="41995" name="Line 11"/>
          <p:cNvSpPr>
            <a:spLocks noChangeShapeType="1"/>
          </p:cNvSpPr>
          <p:nvPr/>
        </p:nvSpPr>
        <p:spPr bwMode="auto">
          <a:xfrm>
            <a:off x="1600200" y="2743200"/>
            <a:ext cx="605790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lIns="67500" tIns="35100" rIns="67500" bIns="35100">
            <a:spAutoFit/>
          </a:bodyPr>
          <a:lstStyle/>
          <a:p>
            <a:endParaRPr lang="en-GB" sz="1013"/>
          </a:p>
        </p:txBody>
      </p:sp>
      <p:pic>
        <p:nvPicPr>
          <p:cNvPr id="41996" name="Picture 12"/>
          <p:cNvPicPr>
            <a:picLocks noChangeAspect="1" noChangeArrowheads="1"/>
          </p:cNvPicPr>
          <p:nvPr/>
        </p:nvPicPr>
        <p:blipFill>
          <a:blip r:embed="rId7">
            <a:extLst>
              <a:ext uri="{28A0092B-C50C-407E-A947-70E740481C1C}">
                <a14:useLocalDpi xmlns:a14="http://schemas.microsoft.com/office/drawing/2010/main" val="0"/>
              </a:ext>
            </a:extLst>
          </a:blip>
          <a:srcRect t="17101" r="17188" b="74783"/>
          <a:stretch>
            <a:fillRect/>
          </a:stretch>
        </p:blipFill>
        <p:spPr bwMode="auto">
          <a:xfrm>
            <a:off x="1600200" y="2743200"/>
            <a:ext cx="6057900" cy="4452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pic>
      <p:sp>
        <p:nvSpPr>
          <p:cNvPr id="41997" name="Line 13"/>
          <p:cNvSpPr>
            <a:spLocks noChangeShapeType="1"/>
          </p:cNvSpPr>
          <p:nvPr/>
        </p:nvSpPr>
        <p:spPr bwMode="auto">
          <a:xfrm>
            <a:off x="1600200" y="3188494"/>
            <a:ext cx="605790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lIns="67500" tIns="35100" rIns="67500" bIns="35100">
            <a:spAutoFit/>
          </a:bodyPr>
          <a:lstStyle/>
          <a:p>
            <a:endParaRPr lang="en-GB" sz="1013"/>
          </a:p>
        </p:txBody>
      </p:sp>
      <p:sp>
        <p:nvSpPr>
          <p:cNvPr id="41998" name="Line 14"/>
          <p:cNvSpPr>
            <a:spLocks noChangeShapeType="1"/>
          </p:cNvSpPr>
          <p:nvPr/>
        </p:nvSpPr>
        <p:spPr bwMode="auto">
          <a:xfrm>
            <a:off x="1600200" y="4000500"/>
            <a:ext cx="605790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lIns="67500" tIns="35100" rIns="67500" bIns="35100">
            <a:spAutoFit/>
          </a:bodyPr>
          <a:lstStyle/>
          <a:p>
            <a:endParaRPr lang="en-GB" sz="1013"/>
          </a:p>
        </p:txBody>
      </p:sp>
      <p:pic>
        <p:nvPicPr>
          <p:cNvPr id="41999" name="Picture 15"/>
          <p:cNvPicPr>
            <a:picLocks noChangeAspect="1" noChangeArrowheads="1"/>
          </p:cNvPicPr>
          <p:nvPr/>
        </p:nvPicPr>
        <p:blipFill>
          <a:blip r:embed="rId8">
            <a:extLst>
              <a:ext uri="{28A0092B-C50C-407E-A947-70E740481C1C}">
                <a14:useLocalDpi xmlns:a14="http://schemas.microsoft.com/office/drawing/2010/main" val="0"/>
              </a:ext>
            </a:extLst>
          </a:blip>
          <a:srcRect t="31250" r="82031" b="62500"/>
          <a:stretch>
            <a:fillRect/>
          </a:stretch>
        </p:blipFill>
        <p:spPr bwMode="auto">
          <a:xfrm>
            <a:off x="1600200" y="4000500"/>
            <a:ext cx="1314450" cy="342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pic>
      <p:sp>
        <p:nvSpPr>
          <p:cNvPr id="105488" name="Text Box 16"/>
          <p:cNvSpPr txBox="1">
            <a:spLocks noChangeArrowheads="1"/>
          </p:cNvSpPr>
          <p:nvPr/>
        </p:nvSpPr>
        <p:spPr bwMode="auto">
          <a:xfrm>
            <a:off x="6115051" y="2228850"/>
            <a:ext cx="1659171" cy="2086053"/>
          </a:xfrm>
          <a:prstGeom prst="rect">
            <a:avLst/>
          </a:prstGeom>
          <a:solidFill>
            <a:schemeClr val="accent1"/>
          </a:solidFill>
          <a:ln w="28575">
            <a:solidFill>
              <a:srgbClr val="003399"/>
            </a:solidFill>
            <a:miter lim="800000"/>
            <a:headEnd/>
            <a:tailEnd/>
          </a:ln>
          <a:effectLst>
            <a:outerShdw dist="107763" dir="2700000" algn="ctr" rotWithShape="0">
              <a:schemeClr val="bg2"/>
            </a:outerShdw>
          </a:effectLst>
        </p:spPr>
        <p:txBody>
          <a:bodyPr wrap="none" lIns="67500" tIns="35100" rIns="67500" bIns="35100">
            <a:spAutoFit/>
          </a:bodyPr>
          <a:lstStyle>
            <a:lvl1pPr>
              <a:defRPr sz="2000">
                <a:solidFill>
                  <a:schemeClr val="tx1"/>
                </a:solidFill>
                <a:latin typeface="Tahoma" charset="0"/>
                <a:ea typeface="ＭＳ Ｐゴシック" charset="0"/>
                <a:cs typeface="ＭＳ Ｐゴシック" charset="0"/>
              </a:defRPr>
            </a:lvl1pPr>
            <a:lvl2pPr marL="742950" indent="-285750">
              <a:defRPr sz="2000">
                <a:solidFill>
                  <a:schemeClr val="tx1"/>
                </a:solidFill>
                <a:latin typeface="Tahoma" charset="0"/>
                <a:ea typeface="ＭＳ Ｐゴシック" charset="0"/>
              </a:defRPr>
            </a:lvl2pPr>
            <a:lvl3pPr marL="1143000" indent="-228600">
              <a:defRPr sz="2000">
                <a:solidFill>
                  <a:schemeClr val="tx1"/>
                </a:solidFill>
                <a:latin typeface="Tahoma" charset="0"/>
                <a:ea typeface="ＭＳ Ｐゴシック" charset="0"/>
              </a:defRPr>
            </a:lvl3pPr>
            <a:lvl4pPr marL="1600200" indent="-228600">
              <a:defRPr sz="2000">
                <a:solidFill>
                  <a:schemeClr val="tx1"/>
                </a:solidFill>
                <a:latin typeface="Tahoma" charset="0"/>
                <a:ea typeface="ＭＳ Ｐゴシック" charset="0"/>
              </a:defRPr>
            </a:lvl4pPr>
            <a:lvl5pPr marL="2057400" indent="-228600">
              <a:defRPr sz="2000">
                <a:solidFill>
                  <a:schemeClr val="tx1"/>
                </a:solidFill>
                <a:latin typeface="Tahoma" charset="0"/>
                <a:ea typeface="ＭＳ Ｐゴシック" charset="0"/>
              </a:defRPr>
            </a:lvl5pPr>
            <a:lvl6pPr marL="2514600" indent="-228600" eaLnBrk="0" fontAlgn="base" hangingPunct="0">
              <a:spcBef>
                <a:spcPct val="0"/>
              </a:spcBef>
              <a:spcAft>
                <a:spcPct val="0"/>
              </a:spcAft>
              <a:defRPr sz="2000">
                <a:solidFill>
                  <a:schemeClr val="tx1"/>
                </a:solidFill>
                <a:latin typeface="Tahoma" charset="0"/>
                <a:ea typeface="ＭＳ Ｐゴシック" charset="0"/>
              </a:defRPr>
            </a:lvl6pPr>
            <a:lvl7pPr marL="2971800" indent="-228600" eaLnBrk="0" fontAlgn="base" hangingPunct="0">
              <a:spcBef>
                <a:spcPct val="0"/>
              </a:spcBef>
              <a:spcAft>
                <a:spcPct val="0"/>
              </a:spcAft>
              <a:defRPr sz="2000">
                <a:solidFill>
                  <a:schemeClr val="tx1"/>
                </a:solidFill>
                <a:latin typeface="Tahoma" charset="0"/>
                <a:ea typeface="ＭＳ Ｐゴシック" charset="0"/>
              </a:defRPr>
            </a:lvl7pPr>
            <a:lvl8pPr marL="3429000" indent="-228600" eaLnBrk="0" fontAlgn="base" hangingPunct="0">
              <a:spcBef>
                <a:spcPct val="0"/>
              </a:spcBef>
              <a:spcAft>
                <a:spcPct val="0"/>
              </a:spcAft>
              <a:defRPr sz="2000">
                <a:solidFill>
                  <a:schemeClr val="tx1"/>
                </a:solidFill>
                <a:latin typeface="Tahoma" charset="0"/>
                <a:ea typeface="ＭＳ Ｐゴシック" charset="0"/>
              </a:defRPr>
            </a:lvl8pPr>
            <a:lvl9pPr marL="3886200" indent="-228600" eaLnBrk="0" fontAlgn="base" hangingPunct="0">
              <a:spcBef>
                <a:spcPct val="0"/>
              </a:spcBef>
              <a:spcAft>
                <a:spcPct val="0"/>
              </a:spcAft>
              <a:defRPr sz="2000">
                <a:solidFill>
                  <a:schemeClr val="tx1"/>
                </a:solidFill>
                <a:latin typeface="Tahoma" charset="0"/>
                <a:ea typeface="ＭＳ Ｐゴシック" charset="0"/>
              </a:defRPr>
            </a:lvl9pPr>
          </a:lstStyle>
          <a:p>
            <a:pPr eaLnBrk="1" hangingPunct="1">
              <a:lnSpc>
                <a:spcPct val="90000"/>
              </a:lnSpc>
              <a:spcBef>
                <a:spcPct val="20000"/>
              </a:spcBef>
              <a:buClr>
                <a:schemeClr val="folHlink"/>
              </a:buClr>
            </a:pPr>
            <a:r>
              <a:rPr lang="en-GB" sz="1350">
                <a:solidFill>
                  <a:srgbClr val="003399"/>
                </a:solidFill>
                <a:latin typeface="Verdana" charset="0"/>
              </a:rPr>
              <a:t>Constants</a:t>
            </a:r>
          </a:p>
          <a:p>
            <a:pPr eaLnBrk="1" hangingPunct="1">
              <a:lnSpc>
                <a:spcPct val="90000"/>
              </a:lnSpc>
              <a:spcBef>
                <a:spcPct val="20000"/>
              </a:spcBef>
              <a:buClr>
                <a:schemeClr val="folHlink"/>
              </a:buClr>
            </a:pPr>
            <a:r>
              <a:rPr lang="en-GB" sz="1350">
                <a:solidFill>
                  <a:srgbClr val="003399"/>
                </a:solidFill>
                <a:latin typeface="Verdana" charset="0"/>
              </a:rPr>
              <a:t>Bounded integers</a:t>
            </a:r>
          </a:p>
          <a:p>
            <a:pPr eaLnBrk="1" hangingPunct="1">
              <a:lnSpc>
                <a:spcPct val="90000"/>
              </a:lnSpc>
              <a:spcBef>
                <a:spcPct val="20000"/>
              </a:spcBef>
              <a:buClr>
                <a:schemeClr val="folHlink"/>
              </a:buClr>
            </a:pPr>
            <a:r>
              <a:rPr lang="en-GB" sz="1350">
                <a:solidFill>
                  <a:srgbClr val="003399"/>
                </a:solidFill>
                <a:latin typeface="Verdana" charset="0"/>
              </a:rPr>
              <a:t>Channels</a:t>
            </a:r>
          </a:p>
          <a:p>
            <a:pPr eaLnBrk="1" hangingPunct="1">
              <a:lnSpc>
                <a:spcPct val="90000"/>
              </a:lnSpc>
              <a:spcBef>
                <a:spcPct val="20000"/>
              </a:spcBef>
              <a:buClr>
                <a:schemeClr val="folHlink"/>
              </a:buClr>
            </a:pPr>
            <a:r>
              <a:rPr lang="en-GB" sz="1350">
                <a:solidFill>
                  <a:srgbClr val="003399"/>
                </a:solidFill>
                <a:latin typeface="Verdana" charset="0"/>
              </a:rPr>
              <a:t>Clocks</a:t>
            </a:r>
          </a:p>
          <a:p>
            <a:pPr eaLnBrk="1" hangingPunct="1">
              <a:lnSpc>
                <a:spcPct val="90000"/>
              </a:lnSpc>
              <a:spcBef>
                <a:spcPct val="20000"/>
              </a:spcBef>
              <a:buClr>
                <a:schemeClr val="folHlink"/>
              </a:buClr>
            </a:pPr>
            <a:r>
              <a:rPr lang="en-GB" sz="1350">
                <a:solidFill>
                  <a:srgbClr val="003399"/>
                </a:solidFill>
                <a:latin typeface="Verdana" charset="0"/>
              </a:rPr>
              <a:t>Arrays</a:t>
            </a:r>
          </a:p>
          <a:p>
            <a:pPr eaLnBrk="1" hangingPunct="1">
              <a:lnSpc>
                <a:spcPct val="90000"/>
              </a:lnSpc>
              <a:spcBef>
                <a:spcPct val="20000"/>
              </a:spcBef>
              <a:buClr>
                <a:schemeClr val="folHlink"/>
              </a:buClr>
            </a:pPr>
            <a:endParaRPr lang="en-GB" sz="1350">
              <a:solidFill>
                <a:srgbClr val="003399"/>
              </a:solidFill>
              <a:latin typeface="Verdana" charset="0"/>
            </a:endParaRPr>
          </a:p>
          <a:p>
            <a:pPr eaLnBrk="1" hangingPunct="1">
              <a:lnSpc>
                <a:spcPct val="90000"/>
              </a:lnSpc>
              <a:spcBef>
                <a:spcPct val="20000"/>
              </a:spcBef>
              <a:buClr>
                <a:schemeClr val="folHlink"/>
              </a:buClr>
            </a:pPr>
            <a:r>
              <a:rPr lang="en-GB" sz="1350">
                <a:solidFill>
                  <a:srgbClr val="003399"/>
                </a:solidFill>
                <a:latin typeface="Verdana" charset="0"/>
              </a:rPr>
              <a:t>Templates</a:t>
            </a:r>
          </a:p>
          <a:p>
            <a:pPr eaLnBrk="1" hangingPunct="1">
              <a:lnSpc>
                <a:spcPct val="90000"/>
              </a:lnSpc>
              <a:spcBef>
                <a:spcPct val="20000"/>
              </a:spcBef>
              <a:buClr>
                <a:schemeClr val="folHlink"/>
              </a:buClr>
            </a:pPr>
            <a:r>
              <a:rPr lang="en-GB" sz="1350">
                <a:solidFill>
                  <a:srgbClr val="003399"/>
                </a:solidFill>
                <a:latin typeface="Verdana" charset="0"/>
              </a:rPr>
              <a:t>Processes</a:t>
            </a:r>
          </a:p>
          <a:p>
            <a:pPr eaLnBrk="1" hangingPunct="1">
              <a:lnSpc>
                <a:spcPct val="90000"/>
              </a:lnSpc>
              <a:spcBef>
                <a:spcPct val="20000"/>
              </a:spcBef>
              <a:buClr>
                <a:schemeClr val="folHlink"/>
              </a:buClr>
            </a:pPr>
            <a:r>
              <a:rPr lang="en-GB" sz="1350">
                <a:solidFill>
                  <a:srgbClr val="003399"/>
                </a:solidFill>
                <a:latin typeface="Verdana" charset="0"/>
              </a:rPr>
              <a:t>Systems</a:t>
            </a:r>
          </a:p>
        </p:txBody>
      </p:sp>
    </p:spTree>
    <p:extLst>
      <p:ext uri="{BB962C8B-B14F-4D97-AF65-F5344CB8AC3E}">
        <p14:creationId xmlns:p14="http://schemas.microsoft.com/office/powerpoint/2010/main" val="5774260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819275" y="-342900"/>
            <a:ext cx="5153025" cy="990600"/>
          </a:xfrm>
        </p:spPr>
        <p:txBody>
          <a:bodyPr/>
          <a:lstStyle/>
          <a:p>
            <a:pPr eaLnBrk="1" hangingPunct="1"/>
            <a:r>
              <a:rPr lang="en-GB" sz="2700">
                <a:latin typeface="Comic Sans MS" charset="0"/>
                <a:cs typeface="Arial" charset="0"/>
              </a:rPr>
              <a:t>Templates</a:t>
            </a:r>
          </a:p>
        </p:txBody>
      </p:sp>
      <p:sp>
        <p:nvSpPr>
          <p:cNvPr id="43011" name="Rectangle 3"/>
          <p:cNvSpPr>
            <a:spLocks noGrp="1" noChangeArrowheads="1"/>
          </p:cNvSpPr>
          <p:nvPr>
            <p:ph type="body" sz="half" idx="2"/>
          </p:nvPr>
        </p:nvSpPr>
        <p:spPr>
          <a:xfrm>
            <a:off x="4800601" y="914400"/>
            <a:ext cx="2984897" cy="3663554"/>
          </a:xfrm>
        </p:spPr>
        <p:txBody>
          <a:bodyPr>
            <a:normAutofit lnSpcReduction="10000"/>
          </a:bodyPr>
          <a:lstStyle/>
          <a:p>
            <a:pPr eaLnBrk="1" hangingPunct="1">
              <a:lnSpc>
                <a:spcPct val="90000"/>
              </a:lnSpc>
            </a:pPr>
            <a:r>
              <a:rPr lang="en-GB" sz="1500">
                <a:latin typeface="Comic Sans MS" charset="0"/>
                <a:cs typeface="Arial" charset="0"/>
              </a:rPr>
              <a:t>Templates may be </a:t>
            </a:r>
            <a:r>
              <a:rPr lang="en-GB" sz="1500">
                <a:solidFill>
                  <a:schemeClr val="folHlink"/>
                </a:solidFill>
                <a:latin typeface="Comic Sans MS" charset="0"/>
                <a:cs typeface="Arial" charset="0"/>
              </a:rPr>
              <a:t>parameterised</a:t>
            </a:r>
            <a:r>
              <a:rPr lang="en-GB" sz="1500">
                <a:latin typeface="Comic Sans MS" charset="0"/>
                <a:cs typeface="Arial" charset="0"/>
              </a:rPr>
              <a:t>:</a:t>
            </a:r>
          </a:p>
          <a:p>
            <a:pPr eaLnBrk="1" hangingPunct="1">
              <a:lnSpc>
                <a:spcPct val="90000"/>
              </a:lnSpc>
            </a:pPr>
            <a:endParaRPr lang="en-GB" sz="1500">
              <a:latin typeface="Comic Sans MS" charset="0"/>
              <a:cs typeface="Arial" charset="0"/>
            </a:endParaRPr>
          </a:p>
          <a:p>
            <a:pPr lvl="1" eaLnBrk="1" hangingPunct="1">
              <a:lnSpc>
                <a:spcPct val="90000"/>
              </a:lnSpc>
            </a:pPr>
            <a:r>
              <a:rPr lang="en-GB" sz="1350">
                <a:latin typeface="Courier New" charset="0"/>
                <a:ea typeface="Arial" charset="0"/>
                <a:cs typeface="Arial" charset="0"/>
              </a:rPr>
              <a:t>int v; const min; const max</a:t>
            </a:r>
            <a:br>
              <a:rPr lang="en-GB" sz="1350">
                <a:latin typeface="Courier New" charset="0"/>
                <a:ea typeface="Arial" charset="0"/>
                <a:cs typeface="Arial" charset="0"/>
              </a:rPr>
            </a:br>
            <a:endParaRPr lang="en-GB" sz="1350">
              <a:latin typeface="Courier New" charset="0"/>
              <a:ea typeface="Arial" charset="0"/>
              <a:cs typeface="Arial" charset="0"/>
            </a:endParaRPr>
          </a:p>
          <a:p>
            <a:pPr lvl="1" eaLnBrk="1" hangingPunct="1">
              <a:lnSpc>
                <a:spcPct val="90000"/>
              </a:lnSpc>
            </a:pPr>
            <a:r>
              <a:rPr lang="en-GB" sz="1350">
                <a:latin typeface="Courier New" charset="0"/>
                <a:ea typeface="Arial" charset="0"/>
                <a:cs typeface="Arial" charset="0"/>
              </a:rPr>
              <a:t>int[0,N] e; const id</a:t>
            </a:r>
          </a:p>
          <a:p>
            <a:pPr eaLnBrk="1" hangingPunct="1">
              <a:lnSpc>
                <a:spcPct val="90000"/>
              </a:lnSpc>
            </a:pPr>
            <a:endParaRPr lang="en-GB" sz="1500">
              <a:latin typeface="Courier New" charset="0"/>
              <a:cs typeface="Arial" charset="0"/>
            </a:endParaRPr>
          </a:p>
          <a:p>
            <a:pPr eaLnBrk="1" hangingPunct="1">
              <a:lnSpc>
                <a:spcPct val="90000"/>
              </a:lnSpc>
            </a:pPr>
            <a:r>
              <a:rPr lang="en-GB" sz="1500">
                <a:latin typeface="Comic Sans MS" charset="0"/>
                <a:cs typeface="Arial" charset="0"/>
              </a:rPr>
              <a:t>Templates are </a:t>
            </a:r>
            <a:r>
              <a:rPr lang="en-GB" sz="1500">
                <a:solidFill>
                  <a:schemeClr val="folHlink"/>
                </a:solidFill>
                <a:latin typeface="Comic Sans MS" charset="0"/>
                <a:cs typeface="Arial" charset="0"/>
              </a:rPr>
              <a:t>instantiated</a:t>
            </a:r>
            <a:r>
              <a:rPr lang="en-GB" sz="1500">
                <a:latin typeface="Comic Sans MS" charset="0"/>
                <a:cs typeface="Arial" charset="0"/>
              </a:rPr>
              <a:t> to form processes:</a:t>
            </a:r>
            <a:br>
              <a:rPr lang="en-GB" sz="1500">
                <a:latin typeface="Comic Sans MS" charset="0"/>
                <a:cs typeface="Arial" charset="0"/>
              </a:rPr>
            </a:br>
            <a:endParaRPr lang="en-GB" sz="1500">
              <a:latin typeface="Comic Sans MS" charset="0"/>
              <a:cs typeface="Arial" charset="0"/>
            </a:endParaRPr>
          </a:p>
          <a:p>
            <a:pPr lvl="1" eaLnBrk="1" hangingPunct="1">
              <a:lnSpc>
                <a:spcPct val="90000"/>
              </a:lnSpc>
            </a:pPr>
            <a:r>
              <a:rPr lang="en-GB" sz="1350">
                <a:latin typeface="Courier New" charset="0"/>
                <a:ea typeface="Arial" charset="0"/>
                <a:cs typeface="Arial" charset="0"/>
              </a:rPr>
              <a:t>P:= A(i,1,5);</a:t>
            </a:r>
          </a:p>
          <a:p>
            <a:pPr lvl="1" eaLnBrk="1" hangingPunct="1">
              <a:lnSpc>
                <a:spcPct val="90000"/>
              </a:lnSpc>
            </a:pPr>
            <a:r>
              <a:rPr lang="en-GB" sz="1350">
                <a:latin typeface="Courier New" charset="0"/>
                <a:ea typeface="Arial" charset="0"/>
                <a:cs typeface="Arial" charset="0"/>
              </a:rPr>
              <a:t>Q:= A(j,0,4);</a:t>
            </a:r>
          </a:p>
          <a:p>
            <a:pPr lvl="1" eaLnBrk="1" hangingPunct="1">
              <a:lnSpc>
                <a:spcPct val="90000"/>
              </a:lnSpc>
            </a:pPr>
            <a:endParaRPr lang="en-GB" sz="1350">
              <a:latin typeface="Courier New" charset="0"/>
              <a:ea typeface="Arial" charset="0"/>
              <a:cs typeface="Arial" charset="0"/>
            </a:endParaRPr>
          </a:p>
          <a:p>
            <a:pPr lvl="1" eaLnBrk="1" hangingPunct="1">
              <a:lnSpc>
                <a:spcPct val="90000"/>
              </a:lnSpc>
            </a:pPr>
            <a:r>
              <a:rPr lang="en-GB" sz="1350">
                <a:latin typeface="Courier New" charset="0"/>
                <a:ea typeface="Arial" charset="0"/>
                <a:cs typeface="Arial" charset="0"/>
              </a:rPr>
              <a:t>Train1:=Train(el, 1);</a:t>
            </a:r>
          </a:p>
          <a:p>
            <a:pPr lvl="1" eaLnBrk="1" hangingPunct="1">
              <a:lnSpc>
                <a:spcPct val="90000"/>
              </a:lnSpc>
            </a:pPr>
            <a:r>
              <a:rPr lang="en-GB" sz="1350">
                <a:latin typeface="Courier New" charset="0"/>
                <a:ea typeface="Arial" charset="0"/>
                <a:cs typeface="Arial" charset="0"/>
              </a:rPr>
              <a:t>Train2:=Train(el, 2);</a:t>
            </a:r>
          </a:p>
          <a:p>
            <a:pPr lvl="1" eaLnBrk="1" hangingPunct="1">
              <a:lnSpc>
                <a:spcPct val="90000"/>
              </a:lnSpc>
            </a:pPr>
            <a:endParaRPr lang="en-GB" sz="1350">
              <a:latin typeface="Courier New" charset="0"/>
              <a:ea typeface="Arial" charset="0"/>
              <a:cs typeface="Arial" charset="0"/>
            </a:endParaRPr>
          </a:p>
          <a:p>
            <a:pPr eaLnBrk="1" hangingPunct="1">
              <a:lnSpc>
                <a:spcPct val="90000"/>
              </a:lnSpc>
            </a:pPr>
            <a:endParaRPr lang="en-GB" sz="1500">
              <a:latin typeface="Courier New" charset="0"/>
              <a:cs typeface="Arial" charset="0"/>
            </a:endParaRPr>
          </a:p>
        </p:txBody>
      </p:sp>
      <p:pic>
        <p:nvPicPr>
          <p:cNvPr id="43012" name="Picture 4"/>
          <p:cNvPicPr>
            <a:picLocks noGrp="1" noChangeAspect="1" noChangeArrowheads="1"/>
          </p:cNvPicPr>
          <p:nvPr>
            <p:ph type="clipArt" sz="half" idx="1"/>
          </p:nvPr>
        </p:nvPicPr>
        <p:blipFill>
          <a:blip r:embed="rId3">
            <a:extLst>
              <a:ext uri="{28A0092B-C50C-407E-A947-70E740481C1C}">
                <a14:useLocalDpi xmlns:a14="http://schemas.microsoft.com/office/drawing/2010/main" val="0"/>
              </a:ext>
            </a:extLst>
          </a:blip>
          <a:srcRect l="17969" t="12500" r="25000" b="25000"/>
          <a:stretch>
            <a:fillRect/>
          </a:stretch>
        </p:blipFill>
        <p:spPr>
          <a:xfrm>
            <a:off x="1194198" y="971550"/>
            <a:ext cx="3440906" cy="2828925"/>
          </a:xfrm>
          <a:noFill/>
        </p:spPr>
      </p:pic>
      <p:pic>
        <p:nvPicPr>
          <p:cNvPr id="43013" name="Picture 5"/>
          <p:cNvPicPr>
            <a:picLocks noChangeAspect="1" noChangeArrowheads="1"/>
          </p:cNvPicPr>
          <p:nvPr/>
        </p:nvPicPr>
        <p:blipFill>
          <a:blip r:embed="rId4">
            <a:extLst>
              <a:ext uri="{28A0092B-C50C-407E-A947-70E740481C1C}">
                <a14:useLocalDpi xmlns:a14="http://schemas.microsoft.com/office/drawing/2010/main" val="0"/>
              </a:ext>
            </a:extLst>
          </a:blip>
          <a:srcRect t="13542" r="63281" b="61458"/>
          <a:stretch>
            <a:fillRect/>
          </a:stretch>
        </p:blipFill>
        <p:spPr bwMode="auto">
          <a:xfrm>
            <a:off x="2057400" y="3543300"/>
            <a:ext cx="2686050" cy="137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pic>
      <p:sp>
        <p:nvSpPr>
          <p:cNvPr id="43014" name="Oval 6"/>
          <p:cNvSpPr>
            <a:spLocks noChangeArrowheads="1"/>
          </p:cNvSpPr>
          <p:nvPr/>
        </p:nvSpPr>
        <p:spPr bwMode="auto">
          <a:xfrm>
            <a:off x="2228850" y="926416"/>
            <a:ext cx="914400" cy="318870"/>
          </a:xfrm>
          <a:prstGeom prst="ellipse">
            <a:avLst/>
          </a:prstGeom>
          <a:noFill/>
          <a:ln w="28575">
            <a:solidFill>
              <a:schemeClr val="folHlink"/>
            </a:solidFill>
            <a:round/>
            <a:headEnd/>
            <a:tailEnd/>
          </a:ln>
          <a:extLst>
            <a:ext uri="{909E8E84-426E-40dd-AFC4-6F175D3DCCD1}">
              <a14:hiddenFill xmlns:a14="http://schemas.microsoft.com/office/drawing/2010/main" xmlns="">
                <a:solidFill>
                  <a:srgbClr val="FFFFFF"/>
                </a:solidFill>
              </a14:hiddenFill>
            </a:ext>
          </a:extLst>
        </p:spPr>
        <p:txBody>
          <a:bodyPr lIns="67500" tIns="35100" rIns="67500" bIns="35100" anchor="ctr">
            <a:spAutoFit/>
          </a:bodyPr>
          <a:lstStyle/>
          <a:p>
            <a:endParaRPr lang="sv-SE" sz="1013">
              <a:cs typeface="Arial" charset="0"/>
            </a:endParaRPr>
          </a:p>
        </p:txBody>
      </p:sp>
      <p:sp>
        <p:nvSpPr>
          <p:cNvPr id="43015" name="Line 7"/>
          <p:cNvSpPr>
            <a:spLocks noChangeShapeType="1"/>
          </p:cNvSpPr>
          <p:nvPr/>
        </p:nvSpPr>
        <p:spPr bwMode="auto">
          <a:xfrm>
            <a:off x="3143250" y="1085850"/>
            <a:ext cx="2057400" cy="1314450"/>
          </a:xfrm>
          <a:prstGeom prst="line">
            <a:avLst/>
          </a:prstGeom>
          <a:noFill/>
          <a:ln w="28575">
            <a:solidFill>
              <a:schemeClr val="folHlink"/>
            </a:solidFill>
            <a:round/>
            <a:headEnd/>
            <a:tailEnd/>
          </a:ln>
          <a:extLst>
            <a:ext uri="{909E8E84-426E-40dd-AFC4-6F175D3DCCD1}">
              <a14:hiddenFill xmlns:a14="http://schemas.microsoft.com/office/drawing/2010/main" xmlns="">
                <a:noFill/>
              </a14:hiddenFill>
            </a:ext>
          </a:extLst>
        </p:spPr>
        <p:txBody>
          <a:bodyPr lIns="67500" tIns="35100" rIns="67500" bIns="35100">
            <a:spAutoFit/>
          </a:bodyPr>
          <a:lstStyle/>
          <a:p>
            <a:endParaRPr lang="en-GB" sz="1013"/>
          </a:p>
        </p:txBody>
      </p:sp>
      <p:sp>
        <p:nvSpPr>
          <p:cNvPr id="43016" name="Line 8"/>
          <p:cNvSpPr>
            <a:spLocks noChangeShapeType="1"/>
          </p:cNvSpPr>
          <p:nvPr/>
        </p:nvSpPr>
        <p:spPr bwMode="auto">
          <a:xfrm>
            <a:off x="4514850" y="3771900"/>
            <a:ext cx="628650" cy="342900"/>
          </a:xfrm>
          <a:prstGeom prst="line">
            <a:avLst/>
          </a:prstGeom>
          <a:noFill/>
          <a:ln w="28575">
            <a:solidFill>
              <a:schemeClr val="folHlink"/>
            </a:solidFill>
            <a:round/>
            <a:headEnd/>
            <a:tailEnd/>
          </a:ln>
          <a:extLst>
            <a:ext uri="{909E8E84-426E-40dd-AFC4-6F175D3DCCD1}">
              <a14:hiddenFill xmlns:a14="http://schemas.microsoft.com/office/drawing/2010/main" xmlns="">
                <a:noFill/>
              </a14:hiddenFill>
            </a:ext>
          </a:extLst>
        </p:spPr>
        <p:txBody>
          <a:bodyPr lIns="67500" tIns="35100" rIns="67500" bIns="35100">
            <a:spAutoFit/>
          </a:bodyPr>
          <a:lstStyle/>
          <a:p>
            <a:endParaRPr lang="en-GB" sz="1013"/>
          </a:p>
        </p:txBody>
      </p:sp>
    </p:spTree>
    <p:extLst>
      <p:ext uri="{BB962C8B-B14F-4D97-AF65-F5344CB8AC3E}">
        <p14:creationId xmlns:p14="http://schemas.microsoft.com/office/powerpoint/2010/main" val="1366018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828800" y="-285750"/>
            <a:ext cx="5153025" cy="1200150"/>
          </a:xfrm>
        </p:spPr>
        <p:txBody>
          <a:bodyPr/>
          <a:lstStyle/>
          <a:p>
            <a:pPr eaLnBrk="1" hangingPunct="1"/>
            <a:r>
              <a:rPr lang="en-US" sz="2700">
                <a:latin typeface="Comic Sans MS" charset="0"/>
                <a:cs typeface="Arial" charset="0"/>
              </a:rPr>
              <a:t>Extensions</a:t>
            </a:r>
          </a:p>
        </p:txBody>
      </p:sp>
      <p:sp>
        <p:nvSpPr>
          <p:cNvPr id="44035" name="Rectangle 3"/>
          <p:cNvSpPr>
            <a:spLocks noGrp="1" noChangeArrowheads="1"/>
          </p:cNvSpPr>
          <p:nvPr>
            <p:ph type="body" sz="half" idx="1"/>
          </p:nvPr>
        </p:nvSpPr>
        <p:spPr/>
        <p:txBody>
          <a:bodyPr>
            <a:normAutofit fontScale="92500" lnSpcReduction="10000"/>
          </a:bodyPr>
          <a:lstStyle/>
          <a:p>
            <a:pPr eaLnBrk="1" hangingPunct="1">
              <a:lnSpc>
                <a:spcPct val="90000"/>
              </a:lnSpc>
              <a:buFont typeface="Wingdings" charset="0"/>
              <a:buNone/>
            </a:pPr>
            <a:r>
              <a:rPr lang="en-GB" sz="1500" b="1">
                <a:solidFill>
                  <a:srgbClr val="003399"/>
                </a:solidFill>
                <a:latin typeface="Comic Sans MS" charset="0"/>
                <a:cs typeface="Arial" charset="0"/>
              </a:rPr>
              <a:t>Select statement</a:t>
            </a:r>
          </a:p>
          <a:p>
            <a:pPr eaLnBrk="1" hangingPunct="1">
              <a:lnSpc>
                <a:spcPct val="90000"/>
              </a:lnSpc>
              <a:buFont typeface="Wingdings" charset="0"/>
              <a:buNone/>
            </a:pPr>
            <a:endParaRPr lang="sv-SE" sz="1500">
              <a:latin typeface="Comic Sans MS" charset="0"/>
              <a:cs typeface="Arial" charset="0"/>
            </a:endParaRPr>
          </a:p>
          <a:p>
            <a:pPr eaLnBrk="1" hangingPunct="1">
              <a:lnSpc>
                <a:spcPct val="90000"/>
              </a:lnSpc>
            </a:pPr>
            <a:r>
              <a:rPr lang="sv-SE" sz="1500">
                <a:latin typeface="Comic Sans MS" charset="0"/>
                <a:cs typeface="Arial" charset="0"/>
              </a:rPr>
              <a:t>models a non-deterministic choice</a:t>
            </a:r>
          </a:p>
          <a:p>
            <a:pPr eaLnBrk="1" hangingPunct="1">
              <a:lnSpc>
                <a:spcPct val="90000"/>
              </a:lnSpc>
            </a:pPr>
            <a:r>
              <a:rPr lang="sv-SE" sz="1500">
                <a:latin typeface="Courier New" charset="0"/>
                <a:cs typeface="Arial" charset="0"/>
              </a:rPr>
              <a:t>x : int[0,42]</a:t>
            </a:r>
          </a:p>
          <a:p>
            <a:pPr eaLnBrk="1" hangingPunct="1">
              <a:lnSpc>
                <a:spcPct val="90000"/>
              </a:lnSpc>
            </a:pPr>
            <a:endParaRPr lang="sv-SE" sz="1500">
              <a:latin typeface="Courier New" charset="0"/>
              <a:cs typeface="Arial" charset="0"/>
            </a:endParaRPr>
          </a:p>
          <a:p>
            <a:pPr eaLnBrk="1" hangingPunct="1">
              <a:lnSpc>
                <a:spcPct val="90000"/>
              </a:lnSpc>
              <a:buFont typeface="Wingdings" charset="0"/>
              <a:buNone/>
            </a:pPr>
            <a:r>
              <a:rPr lang="en-GB" sz="1500" b="1">
                <a:solidFill>
                  <a:srgbClr val="003399"/>
                </a:solidFill>
                <a:latin typeface="Comic Sans MS" charset="0"/>
                <a:cs typeface="Arial" charset="0"/>
              </a:rPr>
              <a:t>Types</a:t>
            </a:r>
          </a:p>
          <a:p>
            <a:pPr eaLnBrk="1" hangingPunct="1">
              <a:lnSpc>
                <a:spcPct val="90000"/>
              </a:lnSpc>
              <a:buFont typeface="Wingdings" charset="0"/>
              <a:buNone/>
            </a:pPr>
            <a:endParaRPr lang="sv-SE" sz="1500">
              <a:latin typeface="Comic Sans MS" charset="0"/>
              <a:cs typeface="Arial" charset="0"/>
            </a:endParaRPr>
          </a:p>
          <a:p>
            <a:pPr eaLnBrk="1" hangingPunct="1">
              <a:lnSpc>
                <a:spcPct val="90000"/>
              </a:lnSpc>
            </a:pPr>
            <a:r>
              <a:rPr lang="sv-SE" sz="1500">
                <a:latin typeface="Comic Sans MS" charset="0"/>
                <a:cs typeface="Arial" charset="0"/>
              </a:rPr>
              <a:t>Record types</a:t>
            </a:r>
          </a:p>
          <a:p>
            <a:pPr eaLnBrk="1" hangingPunct="1">
              <a:lnSpc>
                <a:spcPct val="90000"/>
              </a:lnSpc>
            </a:pPr>
            <a:r>
              <a:rPr lang="sv-SE" sz="1500">
                <a:latin typeface="Comic Sans MS" charset="0"/>
                <a:cs typeface="Arial" charset="0"/>
              </a:rPr>
              <a:t>Type declarations</a:t>
            </a:r>
          </a:p>
          <a:p>
            <a:pPr eaLnBrk="1" hangingPunct="1">
              <a:lnSpc>
                <a:spcPct val="90000"/>
              </a:lnSpc>
            </a:pPr>
            <a:r>
              <a:rPr lang="sv-SE" sz="1500">
                <a:latin typeface="Comic Sans MS" charset="0"/>
                <a:cs typeface="Arial" charset="0"/>
              </a:rPr>
              <a:t>Meta variables:</a:t>
            </a:r>
          </a:p>
          <a:p>
            <a:pPr lvl="1" eaLnBrk="1" hangingPunct="1">
              <a:lnSpc>
                <a:spcPct val="90000"/>
              </a:lnSpc>
              <a:buFont typeface="Wingdings" charset="0"/>
              <a:buNone/>
            </a:pPr>
            <a:r>
              <a:rPr lang="sv-SE" sz="1500">
                <a:latin typeface="Comic Sans MS" charset="0"/>
                <a:ea typeface="Arial" charset="0"/>
                <a:cs typeface="Arial" charset="0"/>
              </a:rPr>
              <a:t>not stored with state</a:t>
            </a:r>
          </a:p>
          <a:p>
            <a:pPr lvl="1" eaLnBrk="1" hangingPunct="1">
              <a:lnSpc>
                <a:spcPct val="90000"/>
              </a:lnSpc>
              <a:buFont typeface="Wingdings" charset="0"/>
              <a:buNone/>
            </a:pPr>
            <a:r>
              <a:rPr lang="sv-SE" sz="1500">
                <a:latin typeface="Courier New" charset="0"/>
                <a:ea typeface="Arial" charset="0"/>
                <a:cs typeface="Arial" charset="0"/>
              </a:rPr>
              <a:t>meta int x;</a:t>
            </a:r>
            <a:endParaRPr lang="sv-SE" sz="1350">
              <a:latin typeface="Comic Sans MS" charset="0"/>
              <a:ea typeface="Arial" charset="0"/>
              <a:cs typeface="Arial" charset="0"/>
            </a:endParaRPr>
          </a:p>
        </p:txBody>
      </p:sp>
      <p:sp>
        <p:nvSpPr>
          <p:cNvPr id="44036" name="Rectangle 4"/>
          <p:cNvSpPr>
            <a:spLocks noGrp="1" noChangeArrowheads="1"/>
          </p:cNvSpPr>
          <p:nvPr>
            <p:ph type="body" sz="half" idx="2"/>
          </p:nvPr>
        </p:nvSpPr>
        <p:spPr>
          <a:xfrm>
            <a:off x="4686300" y="1371600"/>
            <a:ext cx="3143250" cy="3257550"/>
          </a:xfrm>
        </p:spPr>
        <p:txBody>
          <a:bodyPr>
            <a:normAutofit fontScale="92500"/>
          </a:bodyPr>
          <a:lstStyle/>
          <a:p>
            <a:pPr eaLnBrk="1" hangingPunct="1">
              <a:lnSpc>
                <a:spcPct val="90000"/>
              </a:lnSpc>
              <a:buFont typeface="Wingdings" charset="0"/>
              <a:buNone/>
            </a:pPr>
            <a:r>
              <a:rPr lang="en-GB" sz="1500" b="1">
                <a:solidFill>
                  <a:srgbClr val="003399"/>
                </a:solidFill>
                <a:latin typeface="Comic Sans MS" charset="0"/>
                <a:cs typeface="Arial" charset="0"/>
              </a:rPr>
              <a:t>Forall / Exists Expressions</a:t>
            </a:r>
          </a:p>
          <a:p>
            <a:pPr eaLnBrk="1" hangingPunct="1">
              <a:lnSpc>
                <a:spcPct val="90000"/>
              </a:lnSpc>
              <a:buFont typeface="Wingdings" charset="0"/>
              <a:buNone/>
            </a:pPr>
            <a:endParaRPr lang="sv-SE" sz="1500">
              <a:latin typeface="Comic Sans MS" charset="0"/>
              <a:cs typeface="Arial" charset="0"/>
            </a:endParaRPr>
          </a:p>
          <a:p>
            <a:pPr eaLnBrk="1" hangingPunct="1">
              <a:lnSpc>
                <a:spcPct val="90000"/>
              </a:lnSpc>
            </a:pPr>
            <a:r>
              <a:rPr lang="sv-SE" sz="1500">
                <a:latin typeface="Courier New" charset="0"/>
                <a:cs typeface="Arial" charset="0"/>
              </a:rPr>
              <a:t>forall (x:int[0,42]) expr</a:t>
            </a:r>
            <a:br>
              <a:rPr lang="sv-SE" sz="1500">
                <a:latin typeface="Courier New" charset="0"/>
                <a:cs typeface="Arial" charset="0"/>
              </a:rPr>
            </a:br>
            <a:r>
              <a:rPr lang="sv-SE" sz="1500">
                <a:latin typeface="Comic Sans MS" charset="0"/>
                <a:cs typeface="Arial" charset="0"/>
              </a:rPr>
              <a:t>true if expr is true for </a:t>
            </a:r>
            <a:r>
              <a:rPr lang="sv-SE" sz="1500" i="1">
                <a:latin typeface="Comic Sans MS" charset="0"/>
                <a:cs typeface="Arial" charset="0"/>
              </a:rPr>
              <a:t>all</a:t>
            </a:r>
            <a:r>
              <a:rPr lang="sv-SE" sz="1500">
                <a:latin typeface="Comic Sans MS" charset="0"/>
                <a:cs typeface="Arial" charset="0"/>
              </a:rPr>
              <a:t> values in [0,42] of x</a:t>
            </a:r>
          </a:p>
          <a:p>
            <a:pPr eaLnBrk="1" hangingPunct="1">
              <a:lnSpc>
                <a:spcPct val="90000"/>
              </a:lnSpc>
            </a:pPr>
            <a:endParaRPr lang="sv-SE" sz="1500">
              <a:latin typeface="Comic Sans MS" charset="0"/>
              <a:cs typeface="Arial" charset="0"/>
            </a:endParaRPr>
          </a:p>
          <a:p>
            <a:pPr eaLnBrk="1" hangingPunct="1">
              <a:lnSpc>
                <a:spcPct val="90000"/>
              </a:lnSpc>
            </a:pPr>
            <a:r>
              <a:rPr lang="sv-SE" sz="1500">
                <a:latin typeface="Courier New" charset="0"/>
                <a:cs typeface="Arial" charset="0"/>
              </a:rPr>
              <a:t>exists (x:int[0,4]) expr</a:t>
            </a:r>
            <a:br>
              <a:rPr lang="sv-SE" sz="1500">
                <a:latin typeface="Courier New" charset="0"/>
                <a:cs typeface="Arial" charset="0"/>
              </a:rPr>
            </a:br>
            <a:r>
              <a:rPr lang="sv-SE" sz="1500">
                <a:latin typeface="Comic Sans MS" charset="0"/>
                <a:cs typeface="Arial" charset="0"/>
              </a:rPr>
              <a:t>true if expr is true for </a:t>
            </a:r>
            <a:r>
              <a:rPr lang="sv-SE" sz="1500" i="1">
                <a:latin typeface="Comic Sans MS" charset="0"/>
                <a:cs typeface="Arial" charset="0"/>
              </a:rPr>
              <a:t>some</a:t>
            </a:r>
            <a:r>
              <a:rPr lang="sv-SE" sz="1500">
                <a:latin typeface="Comic Sans MS" charset="0"/>
                <a:cs typeface="Arial" charset="0"/>
              </a:rPr>
              <a:t> values in [0,42] of x</a:t>
            </a:r>
          </a:p>
          <a:p>
            <a:pPr eaLnBrk="1" hangingPunct="1">
              <a:lnSpc>
                <a:spcPct val="90000"/>
              </a:lnSpc>
            </a:pPr>
            <a:endParaRPr lang="sv-SE" sz="1500">
              <a:latin typeface="Comic Sans MS" charset="0"/>
              <a:cs typeface="Arial" charset="0"/>
            </a:endParaRPr>
          </a:p>
          <a:p>
            <a:pPr eaLnBrk="1" hangingPunct="1">
              <a:lnSpc>
                <a:spcPct val="90000"/>
              </a:lnSpc>
              <a:buFont typeface="Wingdings" charset="0"/>
              <a:buNone/>
            </a:pPr>
            <a:r>
              <a:rPr lang="sv-SE" sz="1500">
                <a:latin typeface="Comic Sans MS" charset="0"/>
                <a:cs typeface="Arial" charset="0"/>
              </a:rPr>
              <a:t>Example:</a:t>
            </a:r>
            <a:br>
              <a:rPr lang="sv-SE" sz="1500">
                <a:latin typeface="Comic Sans MS" charset="0"/>
                <a:cs typeface="Arial" charset="0"/>
              </a:rPr>
            </a:br>
            <a:r>
              <a:rPr lang="sv-SE" sz="1500">
                <a:latin typeface="Courier New" charset="0"/>
                <a:cs typeface="Arial" charset="0"/>
              </a:rPr>
              <a:t>forall (x:int[0,4])array[x];</a:t>
            </a:r>
          </a:p>
          <a:p>
            <a:pPr eaLnBrk="1" hangingPunct="1">
              <a:lnSpc>
                <a:spcPct val="90000"/>
              </a:lnSpc>
            </a:pPr>
            <a:endParaRPr lang="sv-SE" sz="1500">
              <a:latin typeface="Courier New" charset="0"/>
              <a:cs typeface="Arial" charset="0"/>
            </a:endParaRPr>
          </a:p>
          <a:p>
            <a:pPr eaLnBrk="1" hangingPunct="1">
              <a:lnSpc>
                <a:spcPct val="90000"/>
              </a:lnSpc>
              <a:buFont typeface="Wingdings" charset="0"/>
              <a:buNone/>
            </a:pPr>
            <a:endParaRPr lang="sv-SE" sz="1500">
              <a:latin typeface="Comic Sans MS" charset="0"/>
              <a:cs typeface="Arial" charset="0"/>
            </a:endParaRPr>
          </a:p>
          <a:p>
            <a:pPr eaLnBrk="1" hangingPunct="1">
              <a:lnSpc>
                <a:spcPct val="90000"/>
              </a:lnSpc>
            </a:pPr>
            <a:endParaRPr lang="sv-SE">
              <a:latin typeface="Comic Sans MS" charset="0"/>
              <a:cs typeface="Arial" charset="0"/>
            </a:endParaRPr>
          </a:p>
        </p:txBody>
      </p:sp>
    </p:spTree>
    <p:extLst>
      <p:ext uri="{BB962C8B-B14F-4D97-AF65-F5344CB8AC3E}">
        <p14:creationId xmlns:p14="http://schemas.microsoft.com/office/powerpoint/2010/main" val="34428639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543050" y="2045494"/>
            <a:ext cx="6122194" cy="526256"/>
          </a:xfrm>
        </p:spPr>
        <p:txBody>
          <a:bodyPr/>
          <a:lstStyle/>
          <a:p>
            <a:pPr eaLnBrk="1" hangingPunct="1"/>
            <a:r>
              <a:rPr lang="en-US" sz="3000">
                <a:latin typeface="Comic Sans MS" charset="0"/>
                <a:cs typeface="Arial" charset="0"/>
              </a:rPr>
              <a:t>Modeling Formalisms</a:t>
            </a:r>
          </a:p>
        </p:txBody>
      </p:sp>
      <p:sp>
        <p:nvSpPr>
          <p:cNvPr id="45059" name="Rectangle 3"/>
          <p:cNvSpPr>
            <a:spLocks noGrp="1" noChangeArrowheads="1"/>
          </p:cNvSpPr>
          <p:nvPr>
            <p:ph type="body" idx="1"/>
          </p:nvPr>
        </p:nvSpPr>
        <p:spPr>
          <a:xfrm>
            <a:off x="2689623" y="2533650"/>
            <a:ext cx="5139928" cy="2095500"/>
          </a:xfrm>
        </p:spPr>
        <p:txBody>
          <a:bodyPr/>
          <a:lstStyle/>
          <a:p>
            <a:pPr eaLnBrk="1" hangingPunct="1"/>
            <a:r>
              <a:rPr lang="en-US" sz="1800" b="1">
                <a:latin typeface="Comic Sans MS" charset="0"/>
                <a:cs typeface="Arial" charset="0"/>
              </a:rPr>
              <a:t>Query Language</a:t>
            </a:r>
            <a:endParaRPr lang="en-US" sz="1800">
              <a:latin typeface="Comic Sans MS" charset="0"/>
              <a:cs typeface="Arial" charset="0"/>
            </a:endParaRPr>
          </a:p>
          <a:p>
            <a:pPr eaLnBrk="1" hangingPunct="1"/>
            <a:endParaRPr lang="en-US" sz="1800">
              <a:latin typeface="Comic Sans MS" charset="0"/>
              <a:cs typeface="Arial" charset="0"/>
            </a:endParaRPr>
          </a:p>
          <a:p>
            <a:pPr eaLnBrk="1" hangingPunct="1"/>
            <a:endParaRPr lang="en-US" sz="1800">
              <a:latin typeface="Comic Sans MS" charset="0"/>
              <a:cs typeface="Arial" charset="0"/>
            </a:endParaRPr>
          </a:p>
        </p:txBody>
      </p:sp>
      <p:pic>
        <p:nvPicPr>
          <p:cNvPr id="45060" name="Picture 4"/>
          <p:cNvPicPr>
            <a:picLocks noChangeAspect="1" noChangeArrowheads="1"/>
          </p:cNvPicPr>
          <p:nvPr/>
        </p:nvPicPr>
        <p:blipFill>
          <a:blip r:embed="rId3">
            <a:extLst>
              <a:ext uri="{28A0092B-C50C-407E-A947-70E740481C1C}">
                <a14:useLocalDpi xmlns:a14="http://schemas.microsoft.com/office/drawing/2010/main" val="0"/>
              </a:ext>
            </a:extLst>
          </a:blip>
          <a:srcRect l="30469" t="31770" r="30469" b="30730"/>
          <a:stretch>
            <a:fillRect/>
          </a:stretch>
        </p:blipFill>
        <p:spPr bwMode="auto">
          <a:xfrm>
            <a:off x="5516166" y="3288507"/>
            <a:ext cx="2080022" cy="1497806"/>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8789" name="Text Box 5"/>
          <p:cNvSpPr txBox="1">
            <a:spLocks noChangeArrowheads="1"/>
          </p:cNvSpPr>
          <p:nvPr/>
        </p:nvSpPr>
        <p:spPr bwMode="auto">
          <a:xfrm>
            <a:off x="6387703" y="4569619"/>
            <a:ext cx="1484702" cy="383182"/>
          </a:xfrm>
          <a:prstGeom prst="rect">
            <a:avLst/>
          </a:prstGeom>
          <a:gradFill rotWithShape="0">
            <a:gsLst>
              <a:gs pos="0">
                <a:srgbClr val="99CCFF"/>
              </a:gs>
              <a:gs pos="100000">
                <a:srgbClr val="6699FF"/>
              </a:gs>
            </a:gsLst>
            <a:lin ang="2700000" scaled="1"/>
          </a:gradFill>
          <a:ln w="9525">
            <a:noFill/>
            <a:miter lim="800000"/>
            <a:headEnd/>
            <a:tailEnd/>
          </a:ln>
          <a:effectLst>
            <a:outerShdw dist="107763" dir="2700000" algn="ctr" rotWithShape="0">
              <a:schemeClr val="bg2"/>
            </a:outerShdw>
          </a:effectLst>
        </p:spPr>
        <p:txBody>
          <a:bodyPr wrap="none">
            <a:spAutoFit/>
          </a:bodyPr>
          <a:lstStyle>
            <a:lvl1pPr>
              <a:defRPr sz="2000">
                <a:solidFill>
                  <a:schemeClr val="tx1"/>
                </a:solidFill>
                <a:latin typeface="Tahoma" charset="0"/>
                <a:ea typeface="ＭＳ Ｐゴシック" charset="0"/>
                <a:cs typeface="ＭＳ Ｐゴシック" charset="0"/>
              </a:defRPr>
            </a:lvl1pPr>
            <a:lvl2pPr marL="37931725" indent="-37474525">
              <a:defRPr sz="2000">
                <a:solidFill>
                  <a:schemeClr val="tx1"/>
                </a:solidFill>
                <a:latin typeface="Tahoma" charset="0"/>
                <a:ea typeface="ＭＳ Ｐゴシック" charset="0"/>
              </a:defRPr>
            </a:lvl2pPr>
            <a:lvl3pPr marL="1143000" indent="-228600">
              <a:defRPr sz="2000">
                <a:solidFill>
                  <a:schemeClr val="tx1"/>
                </a:solidFill>
                <a:latin typeface="Tahoma" charset="0"/>
                <a:ea typeface="ＭＳ Ｐゴシック" charset="0"/>
              </a:defRPr>
            </a:lvl3pPr>
            <a:lvl4pPr marL="1600200" indent="-228600">
              <a:defRPr sz="2000">
                <a:solidFill>
                  <a:schemeClr val="tx1"/>
                </a:solidFill>
                <a:latin typeface="Tahoma" charset="0"/>
                <a:ea typeface="ＭＳ Ｐゴシック" charset="0"/>
              </a:defRPr>
            </a:lvl4pPr>
            <a:lvl5pPr marL="2057400" indent="-228600">
              <a:defRPr sz="2000">
                <a:solidFill>
                  <a:schemeClr val="tx1"/>
                </a:solidFill>
                <a:latin typeface="Tahoma" charset="0"/>
                <a:ea typeface="ＭＳ Ｐゴシック" charset="0"/>
              </a:defRPr>
            </a:lvl5pPr>
            <a:lvl6pPr marL="2514600" indent="-228600" eaLnBrk="0" fontAlgn="base" hangingPunct="0">
              <a:spcBef>
                <a:spcPct val="0"/>
              </a:spcBef>
              <a:spcAft>
                <a:spcPct val="0"/>
              </a:spcAft>
              <a:defRPr sz="2000">
                <a:solidFill>
                  <a:schemeClr val="tx1"/>
                </a:solidFill>
                <a:latin typeface="Tahoma" charset="0"/>
                <a:ea typeface="ＭＳ Ｐゴシック" charset="0"/>
              </a:defRPr>
            </a:lvl6pPr>
            <a:lvl7pPr marL="2971800" indent="-228600" eaLnBrk="0" fontAlgn="base" hangingPunct="0">
              <a:spcBef>
                <a:spcPct val="0"/>
              </a:spcBef>
              <a:spcAft>
                <a:spcPct val="0"/>
              </a:spcAft>
              <a:defRPr sz="2000">
                <a:solidFill>
                  <a:schemeClr val="tx1"/>
                </a:solidFill>
                <a:latin typeface="Tahoma" charset="0"/>
                <a:ea typeface="ＭＳ Ｐゴシック" charset="0"/>
              </a:defRPr>
            </a:lvl7pPr>
            <a:lvl8pPr marL="3429000" indent="-228600" eaLnBrk="0" fontAlgn="base" hangingPunct="0">
              <a:spcBef>
                <a:spcPct val="0"/>
              </a:spcBef>
              <a:spcAft>
                <a:spcPct val="0"/>
              </a:spcAft>
              <a:defRPr sz="2000">
                <a:solidFill>
                  <a:schemeClr val="tx1"/>
                </a:solidFill>
                <a:latin typeface="Tahoma" charset="0"/>
                <a:ea typeface="ＭＳ Ｐゴシック" charset="0"/>
              </a:defRPr>
            </a:lvl8pPr>
            <a:lvl9pPr marL="3886200" indent="-228600" eaLnBrk="0" fontAlgn="base" hangingPunct="0">
              <a:spcBef>
                <a:spcPct val="0"/>
              </a:spcBef>
              <a:spcAft>
                <a:spcPct val="0"/>
              </a:spcAft>
              <a:defRPr sz="2000">
                <a:solidFill>
                  <a:schemeClr val="tx1"/>
                </a:solidFill>
                <a:latin typeface="Tahoma" charset="0"/>
                <a:ea typeface="ＭＳ Ｐゴシック" charset="0"/>
              </a:defRPr>
            </a:lvl9pPr>
          </a:lstStyle>
          <a:p>
            <a:pPr eaLnBrk="1" hangingPunct="1">
              <a:lnSpc>
                <a:spcPct val="90000"/>
              </a:lnSpc>
              <a:spcBef>
                <a:spcPct val="20000"/>
              </a:spcBef>
              <a:buClr>
                <a:schemeClr val="folHlink"/>
              </a:buClr>
            </a:pPr>
            <a:r>
              <a:rPr lang="da-DK" sz="2100" b="1">
                <a:solidFill>
                  <a:schemeClr val="accent1"/>
                </a:solidFill>
                <a:effectLst>
                  <a:outerShdw blurRad="38100" dist="38100" dir="2700000" algn="tl">
                    <a:srgbClr val="000000"/>
                  </a:outerShdw>
                </a:effectLst>
                <a:latin typeface="Verdana" charset="0"/>
              </a:rPr>
              <a:t>CLASSIC</a:t>
            </a:r>
            <a:endParaRPr lang="en-GB" sz="2100" b="1">
              <a:solidFill>
                <a:schemeClr val="accent1"/>
              </a:solidFill>
              <a:effectLst>
                <a:outerShdw blurRad="38100" dist="38100" dir="2700000" algn="tl">
                  <a:srgbClr val="000000"/>
                </a:outerShdw>
              </a:effectLst>
              <a:latin typeface="Verdana" charset="0"/>
            </a:endParaRPr>
          </a:p>
        </p:txBody>
      </p:sp>
    </p:spTree>
    <p:extLst>
      <p:ext uri="{BB962C8B-B14F-4D97-AF65-F5344CB8AC3E}">
        <p14:creationId xmlns:p14="http://schemas.microsoft.com/office/powerpoint/2010/main" val="1999664801"/>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228850" y="-228600"/>
            <a:ext cx="5153025" cy="1200150"/>
          </a:xfrm>
        </p:spPr>
        <p:txBody>
          <a:bodyPr/>
          <a:lstStyle/>
          <a:p>
            <a:pPr defTabSz="548879"/>
            <a:r>
              <a:rPr lang="en-US" sz="3000">
                <a:latin typeface="Comic Sans MS" charset="0"/>
                <a:cs typeface="Arial" charset="0"/>
              </a:rPr>
              <a:t>Query Language</a:t>
            </a:r>
            <a:endParaRPr lang="sv-SE" sz="3000">
              <a:latin typeface="Comic Sans MS" charset="0"/>
              <a:cs typeface="Arial" charset="0"/>
            </a:endParaRPr>
          </a:p>
        </p:txBody>
      </p:sp>
      <p:sp>
        <p:nvSpPr>
          <p:cNvPr id="46083" name="Rectangle 3"/>
          <p:cNvSpPr>
            <a:spLocks noGrp="1" noChangeArrowheads="1"/>
          </p:cNvSpPr>
          <p:nvPr>
            <p:ph type="body" idx="1"/>
          </p:nvPr>
        </p:nvSpPr>
        <p:spPr/>
        <p:txBody>
          <a:bodyPr/>
          <a:lstStyle/>
          <a:p>
            <a:pPr defTabSz="548879"/>
            <a:r>
              <a:rPr lang="en-US">
                <a:latin typeface="Comic Sans MS" charset="0"/>
                <a:cs typeface="Arial" charset="0"/>
              </a:rPr>
              <a:t>A subset of the logic Timed Computation Tree Logic (TCTL).</a:t>
            </a:r>
          </a:p>
          <a:p>
            <a:pPr defTabSz="548879"/>
            <a:r>
              <a:rPr lang="en-US">
                <a:latin typeface="Comic Sans MS" charset="0"/>
                <a:cs typeface="Arial" charset="0"/>
              </a:rPr>
              <a:t>Can be efficiently implemented</a:t>
            </a:r>
          </a:p>
          <a:p>
            <a:pPr defTabSz="548879">
              <a:buNone/>
            </a:pPr>
            <a:endParaRPr lang="en-US" b="1">
              <a:latin typeface="Comic Sans MS" charset="0"/>
              <a:cs typeface="Arial" charset="0"/>
            </a:endParaRPr>
          </a:p>
        </p:txBody>
      </p:sp>
      <p:sp>
        <p:nvSpPr>
          <p:cNvPr id="46084" name="Oval 4"/>
          <p:cNvSpPr>
            <a:spLocks noChangeArrowheads="1"/>
          </p:cNvSpPr>
          <p:nvPr/>
        </p:nvSpPr>
        <p:spPr bwMode="auto">
          <a:xfrm>
            <a:off x="3151585" y="3314700"/>
            <a:ext cx="264319" cy="28575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13" b="1">
                <a:latin typeface="Arial" charset="0"/>
                <a:cs typeface="Arial" charset="0"/>
              </a:rPr>
              <a:t>A</a:t>
            </a:r>
            <a:endParaRPr lang="sv-SE" sz="1013" b="1">
              <a:latin typeface="Arial" charset="0"/>
              <a:cs typeface="Arial" charset="0"/>
            </a:endParaRPr>
          </a:p>
        </p:txBody>
      </p:sp>
      <p:sp>
        <p:nvSpPr>
          <p:cNvPr id="46085" name="Oval 5"/>
          <p:cNvSpPr>
            <a:spLocks noChangeArrowheads="1"/>
          </p:cNvSpPr>
          <p:nvPr/>
        </p:nvSpPr>
        <p:spPr bwMode="auto">
          <a:xfrm>
            <a:off x="2730104" y="4057650"/>
            <a:ext cx="263128" cy="28575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13" b="1">
                <a:latin typeface="Arial" charset="0"/>
                <a:cs typeface="Arial" charset="0"/>
              </a:rPr>
              <a:t>B</a:t>
            </a:r>
            <a:endParaRPr lang="sv-SE" sz="1013" b="1">
              <a:latin typeface="Arial" charset="0"/>
              <a:cs typeface="Arial" charset="0"/>
            </a:endParaRPr>
          </a:p>
        </p:txBody>
      </p:sp>
      <p:sp>
        <p:nvSpPr>
          <p:cNvPr id="46086" name="Oval 6"/>
          <p:cNvSpPr>
            <a:spLocks noChangeArrowheads="1"/>
          </p:cNvSpPr>
          <p:nvPr/>
        </p:nvSpPr>
        <p:spPr bwMode="auto">
          <a:xfrm>
            <a:off x="3626644" y="4057650"/>
            <a:ext cx="263129" cy="28575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13" b="1">
                <a:latin typeface="Arial" charset="0"/>
                <a:cs typeface="Arial" charset="0"/>
              </a:rPr>
              <a:t>C</a:t>
            </a:r>
            <a:endParaRPr lang="sv-SE" sz="1013" b="1">
              <a:latin typeface="Arial" charset="0"/>
              <a:cs typeface="Arial" charset="0"/>
            </a:endParaRPr>
          </a:p>
        </p:txBody>
      </p:sp>
      <p:sp>
        <p:nvSpPr>
          <p:cNvPr id="46087" name="Line 7"/>
          <p:cNvSpPr>
            <a:spLocks noChangeShapeType="1"/>
          </p:cNvSpPr>
          <p:nvPr/>
        </p:nvSpPr>
        <p:spPr bwMode="auto">
          <a:xfrm flipH="1">
            <a:off x="2940844" y="3543300"/>
            <a:ext cx="263129" cy="5715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088" name="Line 8"/>
          <p:cNvSpPr>
            <a:spLocks noChangeShapeType="1"/>
          </p:cNvSpPr>
          <p:nvPr/>
        </p:nvSpPr>
        <p:spPr bwMode="auto">
          <a:xfrm>
            <a:off x="3362326" y="3600450"/>
            <a:ext cx="316706" cy="5143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089" name="Freeform 9"/>
          <p:cNvSpPr>
            <a:spLocks/>
          </p:cNvSpPr>
          <p:nvPr/>
        </p:nvSpPr>
        <p:spPr bwMode="auto">
          <a:xfrm>
            <a:off x="2774156" y="3486150"/>
            <a:ext cx="377429" cy="628650"/>
          </a:xfrm>
          <a:custGeom>
            <a:avLst/>
            <a:gdLst>
              <a:gd name="T0" fmla="*/ 2147483646 w 344"/>
              <a:gd name="T1" fmla="*/ 2147483646 h 528"/>
              <a:gd name="T2" fmla="*/ 2147483646 w 344"/>
              <a:gd name="T3" fmla="*/ 2147483646 h 528"/>
              <a:gd name="T4" fmla="*/ 2147483646 w 344"/>
              <a:gd name="T5" fmla="*/ 0 h 528"/>
              <a:gd name="T6" fmla="*/ 0 60000 65536"/>
              <a:gd name="T7" fmla="*/ 0 60000 65536"/>
              <a:gd name="T8" fmla="*/ 0 60000 65536"/>
              <a:gd name="T9" fmla="*/ 0 w 344"/>
              <a:gd name="T10" fmla="*/ 0 h 528"/>
              <a:gd name="T11" fmla="*/ 344 w 344"/>
              <a:gd name="T12" fmla="*/ 528 h 528"/>
            </a:gdLst>
            <a:ahLst/>
            <a:cxnLst>
              <a:cxn ang="T6">
                <a:pos x="T0" y="T1"/>
              </a:cxn>
              <a:cxn ang="T7">
                <a:pos x="T2" y="T3"/>
              </a:cxn>
              <a:cxn ang="T8">
                <a:pos x="T4" y="T5"/>
              </a:cxn>
            </a:cxnLst>
            <a:rect l="T9" t="T10" r="T11" b="T12"/>
            <a:pathLst>
              <a:path w="344" h="528">
                <a:moveTo>
                  <a:pt x="8" y="528"/>
                </a:moveTo>
                <a:cubicBezTo>
                  <a:pt x="4" y="380"/>
                  <a:pt x="0" y="232"/>
                  <a:pt x="56" y="144"/>
                </a:cubicBezTo>
                <a:cubicBezTo>
                  <a:pt x="112" y="56"/>
                  <a:pt x="228" y="28"/>
                  <a:pt x="344" y="0"/>
                </a:cubicBezTo>
              </a:path>
            </a:pathLst>
          </a:custGeom>
          <a:noFill/>
          <a:ln w="222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65484" tIns="33338" rIns="65484" bIns="33338" anchor="ctr"/>
          <a:lstStyle/>
          <a:p>
            <a:endParaRPr lang="en-GB" sz="1013"/>
          </a:p>
        </p:txBody>
      </p:sp>
      <p:sp>
        <p:nvSpPr>
          <p:cNvPr id="46090" name="Freeform 10"/>
          <p:cNvSpPr>
            <a:spLocks/>
          </p:cNvSpPr>
          <p:nvPr/>
        </p:nvSpPr>
        <p:spPr bwMode="auto">
          <a:xfrm>
            <a:off x="3889773" y="4000500"/>
            <a:ext cx="264319" cy="438150"/>
          </a:xfrm>
          <a:custGeom>
            <a:avLst/>
            <a:gdLst>
              <a:gd name="T0" fmla="*/ 0 w 320"/>
              <a:gd name="T1" fmla="*/ 2147483646 h 416"/>
              <a:gd name="T2" fmla="*/ 2147483646 w 320"/>
              <a:gd name="T3" fmla="*/ 2147483646 h 416"/>
              <a:gd name="T4" fmla="*/ 2147483646 w 320"/>
              <a:gd name="T5" fmla="*/ 2147483646 h 416"/>
              <a:gd name="T6" fmla="*/ 0 w 320"/>
              <a:gd name="T7" fmla="*/ 2147483646 h 416"/>
              <a:gd name="T8" fmla="*/ 0 60000 65536"/>
              <a:gd name="T9" fmla="*/ 0 60000 65536"/>
              <a:gd name="T10" fmla="*/ 0 60000 65536"/>
              <a:gd name="T11" fmla="*/ 0 60000 65536"/>
              <a:gd name="T12" fmla="*/ 0 w 320"/>
              <a:gd name="T13" fmla="*/ 0 h 416"/>
              <a:gd name="T14" fmla="*/ 320 w 320"/>
              <a:gd name="T15" fmla="*/ 416 h 416"/>
            </a:gdLst>
            <a:ahLst/>
            <a:cxnLst>
              <a:cxn ang="T8">
                <a:pos x="T0" y="T1"/>
              </a:cxn>
              <a:cxn ang="T9">
                <a:pos x="T2" y="T3"/>
              </a:cxn>
              <a:cxn ang="T10">
                <a:pos x="T4" y="T5"/>
              </a:cxn>
              <a:cxn ang="T11">
                <a:pos x="T6" y="T7"/>
              </a:cxn>
            </a:cxnLst>
            <a:rect l="T12" t="T13" r="T14" b="T15"/>
            <a:pathLst>
              <a:path w="320" h="416">
                <a:moveTo>
                  <a:pt x="0" y="96"/>
                </a:moveTo>
                <a:cubicBezTo>
                  <a:pt x="128" y="48"/>
                  <a:pt x="256" y="0"/>
                  <a:pt x="288" y="48"/>
                </a:cubicBezTo>
                <a:cubicBezTo>
                  <a:pt x="320" y="96"/>
                  <a:pt x="240" y="352"/>
                  <a:pt x="192" y="384"/>
                </a:cubicBezTo>
                <a:cubicBezTo>
                  <a:pt x="144" y="416"/>
                  <a:pt x="72" y="328"/>
                  <a:pt x="0" y="240"/>
                </a:cubicBezTo>
              </a:path>
            </a:pathLst>
          </a:custGeom>
          <a:noFill/>
          <a:ln w="22225">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lIns="65484" tIns="33338" rIns="65484" bIns="33338" anchor="ctr"/>
          <a:lstStyle/>
          <a:p>
            <a:endParaRPr lang="en-GB" sz="1013"/>
          </a:p>
        </p:txBody>
      </p:sp>
      <p:sp>
        <p:nvSpPr>
          <p:cNvPr id="46091" name="Line 11"/>
          <p:cNvSpPr>
            <a:spLocks noChangeShapeType="1"/>
          </p:cNvSpPr>
          <p:nvPr/>
        </p:nvSpPr>
        <p:spPr bwMode="auto">
          <a:xfrm>
            <a:off x="2993231" y="4229100"/>
            <a:ext cx="633413" cy="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092" name="Line 12"/>
          <p:cNvSpPr>
            <a:spLocks noChangeShapeType="1"/>
          </p:cNvSpPr>
          <p:nvPr/>
        </p:nvSpPr>
        <p:spPr bwMode="auto">
          <a:xfrm>
            <a:off x="3257550" y="3143250"/>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093" name="Text Box 13"/>
          <p:cNvSpPr txBox="1">
            <a:spLocks noChangeArrowheads="1"/>
          </p:cNvSpPr>
          <p:nvPr/>
        </p:nvSpPr>
        <p:spPr bwMode="auto">
          <a:xfrm>
            <a:off x="2457450" y="3257551"/>
            <a:ext cx="369094" cy="34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800" b="1">
                <a:latin typeface="Arial" charset="0"/>
              </a:rPr>
              <a:t>P:</a:t>
            </a:r>
            <a:endParaRPr lang="sv-SE" sz="1800" b="1">
              <a:latin typeface="Arial" charset="0"/>
            </a:endParaRPr>
          </a:p>
        </p:txBody>
      </p:sp>
      <p:sp>
        <p:nvSpPr>
          <p:cNvPr id="46094" name="Text Box 14"/>
          <p:cNvSpPr txBox="1">
            <a:spLocks noChangeArrowheads="1"/>
          </p:cNvSpPr>
          <p:nvPr/>
        </p:nvSpPr>
        <p:spPr bwMode="auto">
          <a:xfrm>
            <a:off x="4039791" y="2971800"/>
            <a:ext cx="1319213" cy="898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800" b="1">
                <a:latin typeface="Arial" charset="0"/>
              </a:rPr>
              <a:t>P</a:t>
            </a:r>
            <a:r>
              <a:rPr lang="ja-JP" altLang="en-US" sz="1800" b="1">
                <a:latin typeface="Arial" charset="0"/>
              </a:rPr>
              <a:t>’</a:t>
            </a:r>
            <a:r>
              <a:rPr lang="en-US" altLang="ja-JP" sz="1800" b="1">
                <a:latin typeface="Arial" charset="0"/>
              </a:rPr>
              <a:t>s </a:t>
            </a:r>
            <a:r>
              <a:rPr lang="en-US" altLang="ja-JP" sz="1800">
                <a:latin typeface="Arial" charset="0"/>
              </a:rPr>
              <a:t>compu-tation tree:</a:t>
            </a:r>
            <a:endParaRPr lang="sv-SE" sz="1800" b="1">
              <a:latin typeface="Arial" charset="0"/>
            </a:endParaRPr>
          </a:p>
        </p:txBody>
      </p:sp>
      <p:sp>
        <p:nvSpPr>
          <p:cNvPr id="46095" name="Oval 15"/>
          <p:cNvSpPr>
            <a:spLocks noChangeArrowheads="1"/>
          </p:cNvSpPr>
          <p:nvPr/>
        </p:nvSpPr>
        <p:spPr bwMode="auto">
          <a:xfrm>
            <a:off x="5674519" y="3257550"/>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50" b="1">
                <a:latin typeface="Arial" charset="0"/>
                <a:cs typeface="Arial" charset="0"/>
              </a:rPr>
              <a:t>A</a:t>
            </a:r>
            <a:endParaRPr lang="sv-SE" sz="1050" b="1">
              <a:latin typeface="Arial" charset="0"/>
              <a:cs typeface="Arial" charset="0"/>
            </a:endParaRPr>
          </a:p>
        </p:txBody>
      </p:sp>
      <p:sp>
        <p:nvSpPr>
          <p:cNvPr id="46096" name="Oval 16"/>
          <p:cNvSpPr>
            <a:spLocks noChangeArrowheads="1"/>
          </p:cNvSpPr>
          <p:nvPr/>
        </p:nvSpPr>
        <p:spPr bwMode="auto">
          <a:xfrm>
            <a:off x="5411392" y="3714750"/>
            <a:ext cx="210740"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50" b="1">
                <a:latin typeface="Arial" charset="0"/>
                <a:cs typeface="Arial" charset="0"/>
              </a:rPr>
              <a:t>B</a:t>
            </a:r>
            <a:endParaRPr lang="sv-SE" sz="1050" b="1">
              <a:latin typeface="Arial" charset="0"/>
              <a:cs typeface="Arial" charset="0"/>
            </a:endParaRPr>
          </a:p>
        </p:txBody>
      </p:sp>
      <p:sp>
        <p:nvSpPr>
          <p:cNvPr id="46097" name="Oval 17"/>
          <p:cNvSpPr>
            <a:spLocks noChangeArrowheads="1"/>
          </p:cNvSpPr>
          <p:nvPr/>
        </p:nvSpPr>
        <p:spPr bwMode="auto">
          <a:xfrm>
            <a:off x="5147073" y="4171950"/>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50" b="1">
                <a:latin typeface="Arial" charset="0"/>
                <a:cs typeface="Arial" charset="0"/>
              </a:rPr>
              <a:t>A</a:t>
            </a:r>
            <a:endParaRPr lang="sv-SE" sz="1050" b="1">
              <a:latin typeface="Arial" charset="0"/>
              <a:cs typeface="Arial" charset="0"/>
            </a:endParaRPr>
          </a:p>
        </p:txBody>
      </p:sp>
      <p:sp>
        <p:nvSpPr>
          <p:cNvPr id="46098" name="Oval 18"/>
          <p:cNvSpPr>
            <a:spLocks noChangeArrowheads="1"/>
          </p:cNvSpPr>
          <p:nvPr/>
        </p:nvSpPr>
        <p:spPr bwMode="auto">
          <a:xfrm>
            <a:off x="5991226" y="3714750"/>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50" b="1">
                <a:latin typeface="Arial" charset="0"/>
                <a:cs typeface="Arial" charset="0"/>
              </a:rPr>
              <a:t>C</a:t>
            </a:r>
            <a:endParaRPr lang="sv-SE" sz="1050" b="1">
              <a:latin typeface="Arial" charset="0"/>
              <a:cs typeface="Arial" charset="0"/>
            </a:endParaRPr>
          </a:p>
        </p:txBody>
      </p:sp>
      <p:sp>
        <p:nvSpPr>
          <p:cNvPr id="46099" name="Oval 19"/>
          <p:cNvSpPr>
            <a:spLocks noChangeArrowheads="1"/>
          </p:cNvSpPr>
          <p:nvPr/>
        </p:nvSpPr>
        <p:spPr bwMode="auto">
          <a:xfrm>
            <a:off x="6255544" y="4171950"/>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50" b="1">
                <a:latin typeface="Arial" charset="0"/>
                <a:cs typeface="Arial" charset="0"/>
              </a:rPr>
              <a:t>C</a:t>
            </a:r>
            <a:endParaRPr lang="sv-SE" sz="1050" b="1">
              <a:latin typeface="Arial" charset="0"/>
              <a:cs typeface="Arial" charset="0"/>
            </a:endParaRPr>
          </a:p>
        </p:txBody>
      </p:sp>
      <p:sp>
        <p:nvSpPr>
          <p:cNvPr id="46100" name="Oval 20"/>
          <p:cNvSpPr>
            <a:spLocks noChangeArrowheads="1"/>
          </p:cNvSpPr>
          <p:nvPr/>
        </p:nvSpPr>
        <p:spPr bwMode="auto">
          <a:xfrm>
            <a:off x="5728098" y="4171950"/>
            <a:ext cx="210740"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r>
              <a:rPr lang="en-US" sz="1050" b="1">
                <a:latin typeface="Arial" charset="0"/>
                <a:cs typeface="Arial" charset="0"/>
              </a:rPr>
              <a:t>C</a:t>
            </a:r>
            <a:endParaRPr lang="sv-SE" sz="1050" b="1">
              <a:latin typeface="Arial" charset="0"/>
              <a:cs typeface="Arial" charset="0"/>
            </a:endParaRPr>
          </a:p>
        </p:txBody>
      </p:sp>
      <p:sp>
        <p:nvSpPr>
          <p:cNvPr id="46101" name="Line 21"/>
          <p:cNvSpPr>
            <a:spLocks noChangeShapeType="1"/>
          </p:cNvSpPr>
          <p:nvPr/>
        </p:nvSpPr>
        <p:spPr bwMode="auto">
          <a:xfrm>
            <a:off x="5780485" y="3086100"/>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102" name="Line 22"/>
          <p:cNvSpPr>
            <a:spLocks noChangeShapeType="1"/>
          </p:cNvSpPr>
          <p:nvPr/>
        </p:nvSpPr>
        <p:spPr bwMode="auto">
          <a:xfrm flipH="1">
            <a:off x="5569744" y="3486150"/>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103" name="Line 23"/>
          <p:cNvSpPr>
            <a:spLocks noChangeShapeType="1"/>
          </p:cNvSpPr>
          <p:nvPr/>
        </p:nvSpPr>
        <p:spPr bwMode="auto">
          <a:xfrm flipH="1">
            <a:off x="5305425" y="3943350"/>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104" name="Line 24"/>
          <p:cNvSpPr>
            <a:spLocks noChangeShapeType="1"/>
          </p:cNvSpPr>
          <p:nvPr/>
        </p:nvSpPr>
        <p:spPr bwMode="auto">
          <a:xfrm flipH="1">
            <a:off x="5042298" y="4400550"/>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105" name="Line 25"/>
          <p:cNvSpPr>
            <a:spLocks noChangeShapeType="1"/>
          </p:cNvSpPr>
          <p:nvPr/>
        </p:nvSpPr>
        <p:spPr bwMode="auto">
          <a:xfrm>
            <a:off x="5832873" y="3486150"/>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106" name="Line 26"/>
          <p:cNvSpPr>
            <a:spLocks noChangeShapeType="1"/>
          </p:cNvSpPr>
          <p:nvPr/>
        </p:nvSpPr>
        <p:spPr bwMode="auto">
          <a:xfrm>
            <a:off x="6149579" y="3943350"/>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107" name="Line 27"/>
          <p:cNvSpPr>
            <a:spLocks noChangeShapeType="1"/>
          </p:cNvSpPr>
          <p:nvPr/>
        </p:nvSpPr>
        <p:spPr bwMode="auto">
          <a:xfrm>
            <a:off x="5569744" y="3943350"/>
            <a:ext cx="21074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108" name="Line 28"/>
          <p:cNvSpPr>
            <a:spLocks noChangeShapeType="1"/>
          </p:cNvSpPr>
          <p:nvPr/>
        </p:nvSpPr>
        <p:spPr bwMode="auto">
          <a:xfrm>
            <a:off x="5886450" y="4400550"/>
            <a:ext cx="21074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6109" name="Line 29"/>
          <p:cNvSpPr>
            <a:spLocks noChangeShapeType="1"/>
          </p:cNvSpPr>
          <p:nvPr/>
        </p:nvSpPr>
        <p:spPr bwMode="auto">
          <a:xfrm>
            <a:off x="6413898" y="4400550"/>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Tree>
    <p:extLst>
      <p:ext uri="{BB962C8B-B14F-4D97-AF65-F5344CB8AC3E}">
        <p14:creationId xmlns:p14="http://schemas.microsoft.com/office/powerpoint/2010/main" val="14366645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457450" y="-114300"/>
            <a:ext cx="5153025" cy="1200150"/>
          </a:xfrm>
        </p:spPr>
        <p:txBody>
          <a:bodyPr/>
          <a:lstStyle/>
          <a:p>
            <a:pPr defTabSz="548879"/>
            <a:r>
              <a:rPr lang="en-US">
                <a:latin typeface="Comic Sans MS" charset="0"/>
                <a:cs typeface="Arial" charset="0"/>
              </a:rPr>
              <a:t>Quantifiers in TCTL</a:t>
            </a:r>
            <a:endParaRPr lang="sv-SE">
              <a:latin typeface="Comic Sans MS" charset="0"/>
              <a:cs typeface="Arial" charset="0"/>
            </a:endParaRPr>
          </a:p>
        </p:txBody>
      </p:sp>
      <p:sp>
        <p:nvSpPr>
          <p:cNvPr id="47107" name="Rectangle 3"/>
          <p:cNvSpPr>
            <a:spLocks noGrp="1" noChangeArrowheads="1"/>
          </p:cNvSpPr>
          <p:nvPr>
            <p:ph type="body" idx="1"/>
          </p:nvPr>
        </p:nvSpPr>
        <p:spPr/>
        <p:txBody>
          <a:bodyPr>
            <a:normAutofit fontScale="92500" lnSpcReduction="10000"/>
          </a:bodyPr>
          <a:lstStyle/>
          <a:p>
            <a:pPr defTabSz="548879"/>
            <a:r>
              <a:rPr lang="en-US">
                <a:latin typeface="Comic Sans MS" charset="0"/>
                <a:cs typeface="Arial" charset="0"/>
              </a:rPr>
              <a:t>E - exists a path ( </a:t>
            </a:r>
            <a:r>
              <a:rPr lang="ja-JP" altLang="en-US">
                <a:latin typeface="Comic Sans MS" charset="0"/>
                <a:cs typeface="Arial" charset="0"/>
              </a:rPr>
              <a:t>“</a:t>
            </a:r>
            <a:r>
              <a:rPr lang="en-US" altLang="ja-JP" b="1">
                <a:latin typeface="Courier New" charset="0"/>
                <a:cs typeface="Arial" charset="0"/>
              </a:rPr>
              <a:t>E</a:t>
            </a:r>
            <a:r>
              <a:rPr lang="ja-JP" altLang="en-US">
                <a:latin typeface="Comic Sans MS" charset="0"/>
                <a:cs typeface="Arial" charset="0"/>
              </a:rPr>
              <a:t>”</a:t>
            </a:r>
            <a:r>
              <a:rPr lang="en-US" altLang="ja-JP">
                <a:latin typeface="Comic Sans MS" charset="0"/>
                <a:cs typeface="Arial" charset="0"/>
              </a:rPr>
              <a:t> in U</a:t>
            </a:r>
            <a:r>
              <a:rPr lang="en-US" altLang="ja-JP" sz="1800">
                <a:latin typeface="Comic Sans MS" charset="0"/>
                <a:cs typeface="Arial" charset="0"/>
              </a:rPr>
              <a:t>PPAAL</a:t>
            </a:r>
            <a:r>
              <a:rPr lang="en-US" altLang="ja-JP">
                <a:latin typeface="Comic Sans MS" charset="0"/>
                <a:cs typeface="Arial" charset="0"/>
              </a:rPr>
              <a:t>).</a:t>
            </a:r>
          </a:p>
          <a:p>
            <a:pPr defTabSz="548879"/>
            <a:r>
              <a:rPr lang="en-US">
                <a:latin typeface="Comic Sans MS" charset="0"/>
                <a:cs typeface="Arial" charset="0"/>
              </a:rPr>
              <a:t>A - for all paths ( </a:t>
            </a:r>
            <a:r>
              <a:rPr lang="ja-JP" altLang="en-US">
                <a:latin typeface="Comic Sans MS" charset="0"/>
                <a:cs typeface="Arial" charset="0"/>
              </a:rPr>
              <a:t>“</a:t>
            </a:r>
            <a:r>
              <a:rPr lang="en-US" altLang="ja-JP" b="1">
                <a:latin typeface="Courier New" charset="0"/>
                <a:cs typeface="Arial" charset="0"/>
              </a:rPr>
              <a:t>A</a:t>
            </a:r>
            <a:r>
              <a:rPr lang="ja-JP" altLang="en-US">
                <a:latin typeface="Comic Sans MS" charset="0"/>
                <a:cs typeface="Arial" charset="0"/>
              </a:rPr>
              <a:t>”</a:t>
            </a:r>
            <a:r>
              <a:rPr lang="en-US" altLang="ja-JP">
                <a:latin typeface="Comic Sans MS" charset="0"/>
                <a:cs typeface="Arial" charset="0"/>
              </a:rPr>
              <a:t> in U</a:t>
            </a:r>
            <a:r>
              <a:rPr lang="en-US" altLang="ja-JP" sz="1800">
                <a:latin typeface="Comic Sans MS" charset="0"/>
                <a:cs typeface="Arial" charset="0"/>
              </a:rPr>
              <a:t>PPAAL</a:t>
            </a:r>
            <a:r>
              <a:rPr lang="en-US" altLang="ja-JP">
                <a:latin typeface="Comic Sans MS" charset="0"/>
                <a:cs typeface="Arial" charset="0"/>
              </a:rPr>
              <a:t>).</a:t>
            </a:r>
          </a:p>
          <a:p>
            <a:pPr defTabSz="548879"/>
            <a:r>
              <a:rPr lang="en-US">
                <a:latin typeface="Comic Sans MS" charset="0"/>
                <a:cs typeface="Arial" charset="0"/>
              </a:rPr>
              <a:t>G - all states in a path ( </a:t>
            </a:r>
            <a:r>
              <a:rPr lang="ja-JP" altLang="en-US">
                <a:latin typeface="Comic Sans MS" charset="0"/>
                <a:cs typeface="Arial" charset="0"/>
              </a:rPr>
              <a:t>“</a:t>
            </a:r>
            <a:r>
              <a:rPr lang="en-US" altLang="ja-JP" b="1">
                <a:latin typeface="Courier New" charset="0"/>
                <a:cs typeface="Arial" charset="0"/>
              </a:rPr>
              <a:t>[]</a:t>
            </a:r>
            <a:r>
              <a:rPr lang="ja-JP" altLang="en-US">
                <a:latin typeface="Comic Sans MS" charset="0"/>
                <a:cs typeface="Arial" charset="0"/>
              </a:rPr>
              <a:t>”</a:t>
            </a:r>
            <a:r>
              <a:rPr lang="en-US" altLang="ja-JP">
                <a:latin typeface="Comic Sans MS" charset="0"/>
                <a:cs typeface="Arial" charset="0"/>
              </a:rPr>
              <a:t> in U</a:t>
            </a:r>
            <a:r>
              <a:rPr lang="en-US" altLang="ja-JP" sz="1800">
                <a:latin typeface="Comic Sans MS" charset="0"/>
                <a:cs typeface="Arial" charset="0"/>
              </a:rPr>
              <a:t>PPAA</a:t>
            </a:r>
            <a:r>
              <a:rPr lang="en-US" altLang="ja-JP">
                <a:latin typeface="Comic Sans MS" charset="0"/>
                <a:cs typeface="Arial" charset="0"/>
              </a:rPr>
              <a:t>L).</a:t>
            </a:r>
          </a:p>
          <a:p>
            <a:pPr defTabSz="548879"/>
            <a:r>
              <a:rPr lang="en-US">
                <a:latin typeface="Comic Sans MS" charset="0"/>
                <a:cs typeface="Arial" charset="0"/>
              </a:rPr>
              <a:t>F - some state in a path ( </a:t>
            </a:r>
            <a:r>
              <a:rPr lang="ja-JP" altLang="en-US">
                <a:latin typeface="Comic Sans MS" charset="0"/>
                <a:cs typeface="Arial" charset="0"/>
              </a:rPr>
              <a:t>“</a:t>
            </a:r>
            <a:r>
              <a:rPr lang="en-US" altLang="ja-JP" b="1">
                <a:latin typeface="Courier New" charset="0"/>
                <a:cs typeface="Arial" charset="0"/>
              </a:rPr>
              <a:t>&lt;&gt;</a:t>
            </a:r>
            <a:r>
              <a:rPr lang="ja-JP" altLang="en-US">
                <a:latin typeface="Comic Sans MS" charset="0"/>
                <a:cs typeface="Arial" charset="0"/>
              </a:rPr>
              <a:t>”</a:t>
            </a:r>
            <a:r>
              <a:rPr lang="en-US" altLang="ja-JP">
                <a:latin typeface="Comic Sans MS" charset="0"/>
                <a:cs typeface="Arial" charset="0"/>
              </a:rPr>
              <a:t> in U</a:t>
            </a:r>
            <a:r>
              <a:rPr lang="en-US" altLang="ja-JP" sz="1800">
                <a:latin typeface="Comic Sans MS" charset="0"/>
                <a:cs typeface="Arial" charset="0"/>
              </a:rPr>
              <a:t>PPAAL</a:t>
            </a:r>
            <a:r>
              <a:rPr lang="en-US" altLang="ja-JP">
                <a:latin typeface="Comic Sans MS" charset="0"/>
                <a:cs typeface="Arial" charset="0"/>
              </a:rPr>
              <a:t>).</a:t>
            </a:r>
          </a:p>
          <a:p>
            <a:pPr defTabSz="548879"/>
            <a:endParaRPr lang="en-US">
              <a:latin typeface="Comic Sans MS" charset="0"/>
              <a:cs typeface="Arial" charset="0"/>
            </a:endParaRPr>
          </a:p>
          <a:p>
            <a:pPr defTabSz="548879"/>
            <a:r>
              <a:rPr lang="en-US">
                <a:latin typeface="Comic Sans MS" charset="0"/>
                <a:cs typeface="Arial" charset="0"/>
              </a:rPr>
              <a:t>The following combination are supported: </a:t>
            </a:r>
          </a:p>
          <a:p>
            <a:pPr marL="534591" lvl="1" indent="-191691" defTabSz="548879"/>
            <a:r>
              <a:rPr lang="en-US" sz="1800">
                <a:latin typeface="Comic Sans MS" charset="0"/>
                <a:ea typeface="Arial" charset="0"/>
                <a:cs typeface="Arial" charset="0"/>
              </a:rPr>
              <a:t> </a:t>
            </a:r>
            <a:r>
              <a:rPr lang="en-US" sz="1800" b="1">
                <a:latin typeface="Courier New" charset="0"/>
                <a:ea typeface="Arial" charset="0"/>
                <a:cs typeface="Arial" charset="0"/>
              </a:rPr>
              <a:t>A[], A&lt;&gt;, E&lt;&gt;,</a:t>
            </a:r>
            <a:r>
              <a:rPr lang="en-US" sz="1800">
                <a:latin typeface="Comic Sans MS" charset="0"/>
                <a:ea typeface="Arial" charset="0"/>
                <a:cs typeface="Arial" charset="0"/>
              </a:rPr>
              <a:t> </a:t>
            </a:r>
            <a:r>
              <a:rPr lang="en-US" sz="1800" b="1">
                <a:latin typeface="Courier New" charset="0"/>
                <a:ea typeface="Arial" charset="0"/>
                <a:cs typeface="Arial" charset="0"/>
              </a:rPr>
              <a:t>E[].</a:t>
            </a:r>
          </a:p>
          <a:p>
            <a:pPr defTabSz="548879"/>
            <a:endParaRPr lang="sv-SE">
              <a:latin typeface="Comic Sans MS" charset="0"/>
              <a:cs typeface="Arial" charset="0"/>
            </a:endParaRPr>
          </a:p>
        </p:txBody>
      </p:sp>
    </p:spTree>
    <p:extLst>
      <p:ext uri="{BB962C8B-B14F-4D97-AF65-F5344CB8AC3E}">
        <p14:creationId xmlns:p14="http://schemas.microsoft.com/office/powerpoint/2010/main" val="33274152"/>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400300" y="-114300"/>
            <a:ext cx="5153025" cy="1200150"/>
          </a:xfrm>
        </p:spPr>
        <p:txBody>
          <a:bodyPr/>
          <a:lstStyle/>
          <a:p>
            <a:pPr defTabSz="548879"/>
            <a:r>
              <a:rPr lang="en-US">
                <a:latin typeface="Comic Sans MS" charset="0"/>
                <a:cs typeface="Arial" charset="0"/>
              </a:rPr>
              <a:t>E&lt;&gt; p – </a:t>
            </a:r>
            <a:r>
              <a:rPr lang="ja-JP" altLang="en-US">
                <a:latin typeface="Comic Sans MS" charset="0"/>
                <a:cs typeface="Arial" charset="0"/>
              </a:rPr>
              <a:t>“</a:t>
            </a:r>
            <a:r>
              <a:rPr lang="en-US" altLang="ja-JP">
                <a:latin typeface="Comic Sans MS" charset="0"/>
                <a:cs typeface="Arial" charset="0"/>
              </a:rPr>
              <a:t>p Reachable</a:t>
            </a:r>
            <a:r>
              <a:rPr lang="ja-JP" altLang="en-US">
                <a:latin typeface="Comic Sans MS" charset="0"/>
                <a:cs typeface="Arial" charset="0"/>
              </a:rPr>
              <a:t>”</a:t>
            </a:r>
            <a:endParaRPr lang="sv-SE">
              <a:latin typeface="Comic Sans MS" charset="0"/>
              <a:cs typeface="Arial" charset="0"/>
            </a:endParaRPr>
          </a:p>
        </p:txBody>
      </p:sp>
      <p:sp>
        <p:nvSpPr>
          <p:cNvPr id="48131" name="Rectangle 3"/>
          <p:cNvSpPr>
            <a:spLocks noGrp="1" noChangeArrowheads="1"/>
          </p:cNvSpPr>
          <p:nvPr>
            <p:ph type="body" idx="1"/>
          </p:nvPr>
        </p:nvSpPr>
        <p:spPr/>
        <p:txBody>
          <a:bodyPr>
            <a:normAutofit fontScale="77500" lnSpcReduction="20000"/>
          </a:bodyPr>
          <a:lstStyle/>
          <a:p>
            <a:pPr defTabSz="548879"/>
            <a:r>
              <a:rPr lang="en-US" b="1">
                <a:latin typeface="Courier New" charset="0"/>
                <a:cs typeface="Arial" charset="0"/>
              </a:rPr>
              <a:t>E&lt;&gt; </a:t>
            </a:r>
            <a:r>
              <a:rPr lang="en-US" b="1">
                <a:latin typeface="Comic Sans MS" charset="0"/>
                <a:cs typeface="Arial" charset="0"/>
              </a:rPr>
              <a:t>p</a:t>
            </a:r>
            <a:r>
              <a:rPr lang="en-US">
                <a:latin typeface="Comic Sans MS" charset="0"/>
                <a:cs typeface="Arial" charset="0"/>
              </a:rPr>
              <a:t> – it is possible to reach a state in which p is satisfied.</a:t>
            </a: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r>
              <a:rPr lang="en-US">
                <a:latin typeface="Comic Sans MS" charset="0"/>
                <a:cs typeface="Arial" charset="0"/>
              </a:rPr>
              <a:t>p is true in (at least) one reachable state.</a:t>
            </a:r>
            <a:endParaRPr lang="sv-SE">
              <a:latin typeface="Comic Sans MS" charset="0"/>
              <a:cs typeface="Arial" charset="0"/>
            </a:endParaRPr>
          </a:p>
        </p:txBody>
      </p:sp>
      <p:sp>
        <p:nvSpPr>
          <p:cNvPr id="48132" name="Oval 4"/>
          <p:cNvSpPr>
            <a:spLocks noChangeArrowheads="1"/>
          </p:cNvSpPr>
          <p:nvPr/>
        </p:nvSpPr>
        <p:spPr bwMode="auto">
          <a:xfrm>
            <a:off x="3886200" y="2400300"/>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8133" name="Oval 5"/>
          <p:cNvSpPr>
            <a:spLocks noChangeArrowheads="1"/>
          </p:cNvSpPr>
          <p:nvPr/>
        </p:nvSpPr>
        <p:spPr bwMode="auto">
          <a:xfrm>
            <a:off x="3621882" y="2857500"/>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8134" name="Oval 6"/>
          <p:cNvSpPr>
            <a:spLocks noChangeArrowheads="1"/>
          </p:cNvSpPr>
          <p:nvPr/>
        </p:nvSpPr>
        <p:spPr bwMode="auto">
          <a:xfrm>
            <a:off x="3358754" y="3314700"/>
            <a:ext cx="210740"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8135" name="Oval 7"/>
          <p:cNvSpPr>
            <a:spLocks noChangeArrowheads="1"/>
          </p:cNvSpPr>
          <p:nvPr/>
        </p:nvSpPr>
        <p:spPr bwMode="auto">
          <a:xfrm>
            <a:off x="4202906" y="2857500"/>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8136" name="Oval 8"/>
          <p:cNvSpPr>
            <a:spLocks noChangeArrowheads="1"/>
          </p:cNvSpPr>
          <p:nvPr/>
        </p:nvSpPr>
        <p:spPr bwMode="auto">
          <a:xfrm>
            <a:off x="4466035" y="3314700"/>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8137" name="Oval 9"/>
          <p:cNvSpPr>
            <a:spLocks noChangeArrowheads="1"/>
          </p:cNvSpPr>
          <p:nvPr/>
        </p:nvSpPr>
        <p:spPr bwMode="auto">
          <a:xfrm>
            <a:off x="3938588" y="3314700"/>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8138" name="Line 10"/>
          <p:cNvSpPr>
            <a:spLocks noChangeShapeType="1"/>
          </p:cNvSpPr>
          <p:nvPr/>
        </p:nvSpPr>
        <p:spPr bwMode="auto">
          <a:xfrm>
            <a:off x="3992166" y="2228850"/>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39" name="Line 11"/>
          <p:cNvSpPr>
            <a:spLocks noChangeShapeType="1"/>
          </p:cNvSpPr>
          <p:nvPr/>
        </p:nvSpPr>
        <p:spPr bwMode="auto">
          <a:xfrm flipH="1">
            <a:off x="3780235" y="2628900"/>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40" name="Line 12"/>
          <p:cNvSpPr>
            <a:spLocks noChangeShapeType="1"/>
          </p:cNvSpPr>
          <p:nvPr/>
        </p:nvSpPr>
        <p:spPr bwMode="auto">
          <a:xfrm flipH="1">
            <a:off x="3517106" y="3086100"/>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41" name="Line 13"/>
          <p:cNvSpPr>
            <a:spLocks noChangeShapeType="1"/>
          </p:cNvSpPr>
          <p:nvPr/>
        </p:nvSpPr>
        <p:spPr bwMode="auto">
          <a:xfrm flipH="1">
            <a:off x="3252787" y="3543300"/>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42" name="Line 14"/>
          <p:cNvSpPr>
            <a:spLocks noChangeShapeType="1"/>
          </p:cNvSpPr>
          <p:nvPr/>
        </p:nvSpPr>
        <p:spPr bwMode="auto">
          <a:xfrm>
            <a:off x="4044554" y="2628900"/>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43" name="Line 15"/>
          <p:cNvSpPr>
            <a:spLocks noChangeShapeType="1"/>
          </p:cNvSpPr>
          <p:nvPr/>
        </p:nvSpPr>
        <p:spPr bwMode="auto">
          <a:xfrm>
            <a:off x="4361260" y="3086100"/>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44" name="Line 16"/>
          <p:cNvSpPr>
            <a:spLocks noChangeShapeType="1"/>
          </p:cNvSpPr>
          <p:nvPr/>
        </p:nvSpPr>
        <p:spPr bwMode="auto">
          <a:xfrm>
            <a:off x="3780235" y="3086100"/>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45" name="Line 17"/>
          <p:cNvSpPr>
            <a:spLocks noChangeShapeType="1"/>
          </p:cNvSpPr>
          <p:nvPr/>
        </p:nvSpPr>
        <p:spPr bwMode="auto">
          <a:xfrm>
            <a:off x="4096942" y="3543300"/>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46" name="Line 18"/>
          <p:cNvSpPr>
            <a:spLocks noChangeShapeType="1"/>
          </p:cNvSpPr>
          <p:nvPr/>
        </p:nvSpPr>
        <p:spPr bwMode="auto">
          <a:xfrm>
            <a:off x="4624388" y="3543300"/>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8147" name="Text Box 19"/>
          <p:cNvSpPr txBox="1">
            <a:spLocks noChangeArrowheads="1"/>
          </p:cNvSpPr>
          <p:nvPr/>
        </p:nvSpPr>
        <p:spPr bwMode="auto">
          <a:xfrm>
            <a:off x="4140692" y="3314700"/>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Tree>
    <p:extLst>
      <p:ext uri="{BB962C8B-B14F-4D97-AF65-F5344CB8AC3E}">
        <p14:creationId xmlns:p14="http://schemas.microsoft.com/office/powerpoint/2010/main" val="2157653518"/>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457450" y="-114300"/>
            <a:ext cx="5153025" cy="1200150"/>
          </a:xfrm>
        </p:spPr>
        <p:txBody>
          <a:bodyPr/>
          <a:lstStyle/>
          <a:p>
            <a:pPr defTabSz="548879"/>
            <a:r>
              <a:rPr lang="en-US">
                <a:latin typeface="Comic Sans MS" charset="0"/>
                <a:cs typeface="Arial" charset="0"/>
              </a:rPr>
              <a:t>A[] p – </a:t>
            </a:r>
            <a:r>
              <a:rPr lang="ja-JP" altLang="en-US">
                <a:latin typeface="Comic Sans MS" charset="0"/>
                <a:cs typeface="Arial" charset="0"/>
              </a:rPr>
              <a:t>“</a:t>
            </a:r>
            <a:r>
              <a:rPr lang="en-US" altLang="ja-JP">
                <a:latin typeface="Comic Sans MS" charset="0"/>
                <a:cs typeface="Arial" charset="0"/>
              </a:rPr>
              <a:t>Invariantly p</a:t>
            </a:r>
            <a:r>
              <a:rPr lang="ja-JP" altLang="en-US">
                <a:latin typeface="Comic Sans MS" charset="0"/>
                <a:cs typeface="Arial" charset="0"/>
              </a:rPr>
              <a:t>”</a:t>
            </a:r>
            <a:endParaRPr lang="sv-SE">
              <a:latin typeface="Comic Sans MS" charset="0"/>
              <a:cs typeface="Arial" charset="0"/>
            </a:endParaRPr>
          </a:p>
        </p:txBody>
      </p:sp>
      <p:sp>
        <p:nvSpPr>
          <p:cNvPr id="49155" name="Rectangle 3"/>
          <p:cNvSpPr>
            <a:spLocks noGrp="1" noChangeArrowheads="1"/>
          </p:cNvSpPr>
          <p:nvPr>
            <p:ph type="body" idx="1"/>
          </p:nvPr>
        </p:nvSpPr>
        <p:spPr/>
        <p:txBody>
          <a:bodyPr>
            <a:normAutofit fontScale="77500" lnSpcReduction="20000"/>
          </a:bodyPr>
          <a:lstStyle/>
          <a:p>
            <a:pPr defTabSz="548879"/>
            <a:r>
              <a:rPr lang="en-US" b="1">
                <a:latin typeface="Courier New" charset="0"/>
                <a:cs typeface="Arial" charset="0"/>
              </a:rPr>
              <a:t>A[]</a:t>
            </a:r>
            <a:r>
              <a:rPr lang="en-US">
                <a:latin typeface="Comic Sans MS" charset="0"/>
                <a:cs typeface="Arial" charset="0"/>
              </a:rPr>
              <a:t> </a:t>
            </a:r>
            <a:r>
              <a:rPr lang="en-US" b="1">
                <a:latin typeface="Comic Sans MS" charset="0"/>
                <a:cs typeface="Arial" charset="0"/>
              </a:rPr>
              <a:t>p</a:t>
            </a:r>
            <a:r>
              <a:rPr lang="en-US">
                <a:latin typeface="Comic Sans MS" charset="0"/>
                <a:cs typeface="Arial" charset="0"/>
              </a:rPr>
              <a:t> – p holds invariantly.</a:t>
            </a: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r>
              <a:rPr lang="en-US">
                <a:latin typeface="Comic Sans MS" charset="0"/>
                <a:cs typeface="Arial" charset="0"/>
              </a:rPr>
              <a:t>P is true in all reachable states.</a:t>
            </a:r>
            <a:endParaRPr lang="sv-SE">
              <a:latin typeface="Comic Sans MS" charset="0"/>
              <a:cs typeface="Arial" charset="0"/>
            </a:endParaRPr>
          </a:p>
        </p:txBody>
      </p:sp>
      <p:sp>
        <p:nvSpPr>
          <p:cNvPr id="49156" name="Oval 4"/>
          <p:cNvSpPr>
            <a:spLocks noChangeArrowheads="1"/>
          </p:cNvSpPr>
          <p:nvPr/>
        </p:nvSpPr>
        <p:spPr bwMode="auto">
          <a:xfrm>
            <a:off x="3564731" y="2228850"/>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9157" name="Oval 5"/>
          <p:cNvSpPr>
            <a:spLocks noChangeArrowheads="1"/>
          </p:cNvSpPr>
          <p:nvPr/>
        </p:nvSpPr>
        <p:spPr bwMode="auto">
          <a:xfrm>
            <a:off x="3301604" y="2686050"/>
            <a:ext cx="210740"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9158" name="Oval 6"/>
          <p:cNvSpPr>
            <a:spLocks noChangeArrowheads="1"/>
          </p:cNvSpPr>
          <p:nvPr/>
        </p:nvSpPr>
        <p:spPr bwMode="auto">
          <a:xfrm>
            <a:off x="3037285" y="3143250"/>
            <a:ext cx="210740"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9159" name="Oval 7"/>
          <p:cNvSpPr>
            <a:spLocks noChangeArrowheads="1"/>
          </p:cNvSpPr>
          <p:nvPr/>
        </p:nvSpPr>
        <p:spPr bwMode="auto">
          <a:xfrm>
            <a:off x="3881438" y="2686050"/>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9160" name="Oval 8"/>
          <p:cNvSpPr>
            <a:spLocks noChangeArrowheads="1"/>
          </p:cNvSpPr>
          <p:nvPr/>
        </p:nvSpPr>
        <p:spPr bwMode="auto">
          <a:xfrm>
            <a:off x="4144567" y="3143250"/>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9161" name="Oval 9"/>
          <p:cNvSpPr>
            <a:spLocks noChangeArrowheads="1"/>
          </p:cNvSpPr>
          <p:nvPr/>
        </p:nvSpPr>
        <p:spPr bwMode="auto">
          <a:xfrm>
            <a:off x="3617119" y="3143250"/>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49162" name="Line 10"/>
          <p:cNvSpPr>
            <a:spLocks noChangeShapeType="1"/>
          </p:cNvSpPr>
          <p:nvPr/>
        </p:nvSpPr>
        <p:spPr bwMode="auto">
          <a:xfrm>
            <a:off x="3670697" y="2057400"/>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63" name="Line 11"/>
          <p:cNvSpPr>
            <a:spLocks noChangeShapeType="1"/>
          </p:cNvSpPr>
          <p:nvPr/>
        </p:nvSpPr>
        <p:spPr bwMode="auto">
          <a:xfrm flipH="1">
            <a:off x="3458766" y="2457450"/>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64" name="Line 12"/>
          <p:cNvSpPr>
            <a:spLocks noChangeShapeType="1"/>
          </p:cNvSpPr>
          <p:nvPr/>
        </p:nvSpPr>
        <p:spPr bwMode="auto">
          <a:xfrm flipH="1">
            <a:off x="3195637" y="2914650"/>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65" name="Line 13"/>
          <p:cNvSpPr>
            <a:spLocks noChangeShapeType="1"/>
          </p:cNvSpPr>
          <p:nvPr/>
        </p:nvSpPr>
        <p:spPr bwMode="auto">
          <a:xfrm flipH="1">
            <a:off x="2931319" y="3371850"/>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66" name="Line 14"/>
          <p:cNvSpPr>
            <a:spLocks noChangeShapeType="1"/>
          </p:cNvSpPr>
          <p:nvPr/>
        </p:nvSpPr>
        <p:spPr bwMode="auto">
          <a:xfrm>
            <a:off x="3723085" y="2457450"/>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67" name="Line 15"/>
          <p:cNvSpPr>
            <a:spLocks noChangeShapeType="1"/>
          </p:cNvSpPr>
          <p:nvPr/>
        </p:nvSpPr>
        <p:spPr bwMode="auto">
          <a:xfrm>
            <a:off x="4039792" y="2914650"/>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68" name="Line 16"/>
          <p:cNvSpPr>
            <a:spLocks noChangeShapeType="1"/>
          </p:cNvSpPr>
          <p:nvPr/>
        </p:nvSpPr>
        <p:spPr bwMode="auto">
          <a:xfrm>
            <a:off x="3458767" y="2914650"/>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69" name="Line 17"/>
          <p:cNvSpPr>
            <a:spLocks noChangeShapeType="1"/>
          </p:cNvSpPr>
          <p:nvPr/>
        </p:nvSpPr>
        <p:spPr bwMode="auto">
          <a:xfrm>
            <a:off x="3775473" y="3371850"/>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70" name="Line 18"/>
          <p:cNvSpPr>
            <a:spLocks noChangeShapeType="1"/>
          </p:cNvSpPr>
          <p:nvPr/>
        </p:nvSpPr>
        <p:spPr bwMode="auto">
          <a:xfrm>
            <a:off x="4302919" y="3371850"/>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49171" name="Text Box 19"/>
          <p:cNvSpPr txBox="1">
            <a:spLocks noChangeArrowheads="1"/>
          </p:cNvSpPr>
          <p:nvPr/>
        </p:nvSpPr>
        <p:spPr bwMode="auto">
          <a:xfrm>
            <a:off x="3765644" y="2171700"/>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49172" name="Text Box 20"/>
          <p:cNvSpPr txBox="1">
            <a:spLocks noChangeArrowheads="1"/>
          </p:cNvSpPr>
          <p:nvPr/>
        </p:nvSpPr>
        <p:spPr bwMode="auto">
          <a:xfrm>
            <a:off x="4082351" y="2686050"/>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49173" name="Text Box 21"/>
          <p:cNvSpPr txBox="1">
            <a:spLocks noChangeArrowheads="1"/>
          </p:cNvSpPr>
          <p:nvPr/>
        </p:nvSpPr>
        <p:spPr bwMode="auto">
          <a:xfrm>
            <a:off x="4346669" y="3143250"/>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49174" name="Text Box 22"/>
          <p:cNvSpPr txBox="1">
            <a:spLocks noChangeArrowheads="1"/>
          </p:cNvSpPr>
          <p:nvPr/>
        </p:nvSpPr>
        <p:spPr bwMode="auto">
          <a:xfrm>
            <a:off x="3502517" y="2686050"/>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49175" name="Text Box 23"/>
          <p:cNvSpPr txBox="1">
            <a:spLocks noChangeArrowheads="1"/>
          </p:cNvSpPr>
          <p:nvPr/>
        </p:nvSpPr>
        <p:spPr bwMode="auto">
          <a:xfrm>
            <a:off x="3819223" y="3143250"/>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49176" name="Text Box 24"/>
          <p:cNvSpPr txBox="1">
            <a:spLocks noChangeArrowheads="1"/>
          </p:cNvSpPr>
          <p:nvPr/>
        </p:nvSpPr>
        <p:spPr bwMode="auto">
          <a:xfrm>
            <a:off x="3238198" y="3143250"/>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Tree>
    <p:extLst>
      <p:ext uri="{BB962C8B-B14F-4D97-AF65-F5344CB8AC3E}">
        <p14:creationId xmlns:p14="http://schemas.microsoft.com/office/powerpoint/2010/main" val="2082058734"/>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457450" y="-114300"/>
            <a:ext cx="5153025" cy="1200150"/>
          </a:xfrm>
        </p:spPr>
        <p:txBody>
          <a:bodyPr/>
          <a:lstStyle/>
          <a:p>
            <a:pPr defTabSz="548879"/>
            <a:r>
              <a:rPr lang="en-US">
                <a:latin typeface="Comic Sans MS" charset="0"/>
                <a:cs typeface="Arial" charset="0"/>
              </a:rPr>
              <a:t>A&lt;&gt; p – </a:t>
            </a:r>
            <a:r>
              <a:rPr lang="ja-JP" altLang="en-US">
                <a:latin typeface="Comic Sans MS" charset="0"/>
                <a:cs typeface="Arial" charset="0"/>
              </a:rPr>
              <a:t>“</a:t>
            </a:r>
            <a:r>
              <a:rPr lang="en-US" altLang="ja-JP">
                <a:latin typeface="Comic Sans MS" charset="0"/>
                <a:cs typeface="Arial" charset="0"/>
              </a:rPr>
              <a:t>Inevitable p</a:t>
            </a:r>
            <a:r>
              <a:rPr lang="ja-JP" altLang="en-US">
                <a:latin typeface="Comic Sans MS" charset="0"/>
                <a:cs typeface="Arial" charset="0"/>
              </a:rPr>
              <a:t>”</a:t>
            </a:r>
            <a:endParaRPr lang="sv-SE">
              <a:latin typeface="Comic Sans MS" charset="0"/>
              <a:cs typeface="Arial" charset="0"/>
            </a:endParaRPr>
          </a:p>
        </p:txBody>
      </p:sp>
      <p:sp>
        <p:nvSpPr>
          <p:cNvPr id="50179" name="Rectangle 3"/>
          <p:cNvSpPr>
            <a:spLocks noGrp="1" noChangeArrowheads="1"/>
          </p:cNvSpPr>
          <p:nvPr>
            <p:ph type="body" idx="1"/>
          </p:nvPr>
        </p:nvSpPr>
        <p:spPr/>
        <p:txBody>
          <a:bodyPr>
            <a:normAutofit fontScale="77500" lnSpcReduction="20000"/>
          </a:bodyPr>
          <a:lstStyle/>
          <a:p>
            <a:pPr defTabSz="548879"/>
            <a:r>
              <a:rPr lang="en-US" b="1">
                <a:latin typeface="Courier New" charset="0"/>
                <a:cs typeface="Arial" charset="0"/>
              </a:rPr>
              <a:t>A&lt;&gt;</a:t>
            </a:r>
            <a:r>
              <a:rPr lang="en-US">
                <a:latin typeface="Comic Sans MS" charset="0"/>
                <a:cs typeface="Arial" charset="0"/>
              </a:rPr>
              <a:t> </a:t>
            </a:r>
            <a:r>
              <a:rPr lang="en-US" b="1">
                <a:latin typeface="Comic Sans MS" charset="0"/>
                <a:cs typeface="Arial" charset="0"/>
              </a:rPr>
              <a:t>p</a:t>
            </a:r>
            <a:r>
              <a:rPr lang="en-US">
                <a:latin typeface="Comic Sans MS" charset="0"/>
                <a:cs typeface="Arial" charset="0"/>
              </a:rPr>
              <a:t> – p will inevitable become true</a:t>
            </a:r>
          </a:p>
          <a:p>
            <a:pPr marL="534591" lvl="1" indent="-191691" defTabSz="548879"/>
            <a:r>
              <a:rPr lang="en-US" sz="1800">
                <a:latin typeface="Comic Sans MS" charset="0"/>
                <a:ea typeface="Arial" charset="0"/>
                <a:cs typeface="Arial" charset="0"/>
              </a:rPr>
              <a:t>the automaton is guaranteed to eventually reach a state in which p is true.</a:t>
            </a: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r>
              <a:rPr lang="en-US">
                <a:latin typeface="Comic Sans MS" charset="0"/>
                <a:cs typeface="Arial" charset="0"/>
              </a:rPr>
              <a:t>P is true in some state of all paths.</a:t>
            </a:r>
            <a:endParaRPr lang="sv-SE">
              <a:latin typeface="Comic Sans MS" charset="0"/>
              <a:cs typeface="Arial" charset="0"/>
            </a:endParaRPr>
          </a:p>
        </p:txBody>
      </p:sp>
      <p:sp>
        <p:nvSpPr>
          <p:cNvPr id="50180" name="Oval 4"/>
          <p:cNvSpPr>
            <a:spLocks noChangeArrowheads="1"/>
          </p:cNvSpPr>
          <p:nvPr/>
        </p:nvSpPr>
        <p:spPr bwMode="auto">
          <a:xfrm>
            <a:off x="3783806" y="2658666"/>
            <a:ext cx="21074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0181" name="Oval 5"/>
          <p:cNvSpPr>
            <a:spLocks noChangeArrowheads="1"/>
          </p:cNvSpPr>
          <p:nvPr/>
        </p:nvSpPr>
        <p:spPr bwMode="auto">
          <a:xfrm>
            <a:off x="3519488" y="3115866"/>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0182" name="Oval 6"/>
          <p:cNvSpPr>
            <a:spLocks noChangeArrowheads="1"/>
          </p:cNvSpPr>
          <p:nvPr/>
        </p:nvSpPr>
        <p:spPr bwMode="auto">
          <a:xfrm>
            <a:off x="3256360" y="3573066"/>
            <a:ext cx="210740"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0183" name="Oval 7"/>
          <p:cNvSpPr>
            <a:spLocks noChangeArrowheads="1"/>
          </p:cNvSpPr>
          <p:nvPr/>
        </p:nvSpPr>
        <p:spPr bwMode="auto">
          <a:xfrm>
            <a:off x="4100513" y="3115866"/>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0184" name="Oval 8"/>
          <p:cNvSpPr>
            <a:spLocks noChangeArrowheads="1"/>
          </p:cNvSpPr>
          <p:nvPr/>
        </p:nvSpPr>
        <p:spPr bwMode="auto">
          <a:xfrm>
            <a:off x="4363642" y="3573066"/>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0185" name="Oval 9"/>
          <p:cNvSpPr>
            <a:spLocks noChangeArrowheads="1"/>
          </p:cNvSpPr>
          <p:nvPr/>
        </p:nvSpPr>
        <p:spPr bwMode="auto">
          <a:xfrm>
            <a:off x="3836194" y="3573066"/>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0186" name="Line 10"/>
          <p:cNvSpPr>
            <a:spLocks noChangeShapeType="1"/>
          </p:cNvSpPr>
          <p:nvPr/>
        </p:nvSpPr>
        <p:spPr bwMode="auto">
          <a:xfrm>
            <a:off x="3889772" y="2487216"/>
            <a:ext cx="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87" name="Line 11"/>
          <p:cNvSpPr>
            <a:spLocks noChangeShapeType="1"/>
          </p:cNvSpPr>
          <p:nvPr/>
        </p:nvSpPr>
        <p:spPr bwMode="auto">
          <a:xfrm flipH="1">
            <a:off x="3677841" y="2887266"/>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88" name="Line 12"/>
          <p:cNvSpPr>
            <a:spLocks noChangeShapeType="1"/>
          </p:cNvSpPr>
          <p:nvPr/>
        </p:nvSpPr>
        <p:spPr bwMode="auto">
          <a:xfrm flipH="1">
            <a:off x="3414712" y="3344466"/>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89" name="Line 13"/>
          <p:cNvSpPr>
            <a:spLocks noChangeShapeType="1"/>
          </p:cNvSpPr>
          <p:nvPr/>
        </p:nvSpPr>
        <p:spPr bwMode="auto">
          <a:xfrm flipH="1">
            <a:off x="3150394" y="3801666"/>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90" name="Line 14"/>
          <p:cNvSpPr>
            <a:spLocks noChangeShapeType="1"/>
          </p:cNvSpPr>
          <p:nvPr/>
        </p:nvSpPr>
        <p:spPr bwMode="auto">
          <a:xfrm>
            <a:off x="3942160" y="288726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91" name="Line 15"/>
          <p:cNvSpPr>
            <a:spLocks noChangeShapeType="1"/>
          </p:cNvSpPr>
          <p:nvPr/>
        </p:nvSpPr>
        <p:spPr bwMode="auto">
          <a:xfrm>
            <a:off x="4258867" y="334446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92" name="Line 16"/>
          <p:cNvSpPr>
            <a:spLocks noChangeShapeType="1"/>
          </p:cNvSpPr>
          <p:nvPr/>
        </p:nvSpPr>
        <p:spPr bwMode="auto">
          <a:xfrm>
            <a:off x="3677842" y="3344466"/>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93" name="Line 17"/>
          <p:cNvSpPr>
            <a:spLocks noChangeShapeType="1"/>
          </p:cNvSpPr>
          <p:nvPr/>
        </p:nvSpPr>
        <p:spPr bwMode="auto">
          <a:xfrm>
            <a:off x="3994548" y="3801666"/>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94" name="Line 18"/>
          <p:cNvSpPr>
            <a:spLocks noChangeShapeType="1"/>
          </p:cNvSpPr>
          <p:nvPr/>
        </p:nvSpPr>
        <p:spPr bwMode="auto">
          <a:xfrm>
            <a:off x="4521994" y="3801666"/>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0195" name="Text Box 19"/>
          <p:cNvSpPr txBox="1">
            <a:spLocks noChangeArrowheads="1"/>
          </p:cNvSpPr>
          <p:nvPr/>
        </p:nvSpPr>
        <p:spPr bwMode="auto">
          <a:xfrm>
            <a:off x="4301426" y="311586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50196" name="Text Box 20"/>
          <p:cNvSpPr txBox="1">
            <a:spLocks noChangeArrowheads="1"/>
          </p:cNvSpPr>
          <p:nvPr/>
        </p:nvSpPr>
        <p:spPr bwMode="auto">
          <a:xfrm>
            <a:off x="4038298" y="357306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50197" name="Text Box 21"/>
          <p:cNvSpPr txBox="1">
            <a:spLocks noChangeArrowheads="1"/>
          </p:cNvSpPr>
          <p:nvPr/>
        </p:nvSpPr>
        <p:spPr bwMode="auto">
          <a:xfrm>
            <a:off x="3457273" y="3573066"/>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Tree>
    <p:extLst>
      <p:ext uri="{BB962C8B-B14F-4D97-AF65-F5344CB8AC3E}">
        <p14:creationId xmlns:p14="http://schemas.microsoft.com/office/powerpoint/2010/main" val="2230478193"/>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828800" y="171450"/>
            <a:ext cx="6122194" cy="1073944"/>
          </a:xfrm>
        </p:spPr>
        <p:txBody>
          <a:bodyPr/>
          <a:lstStyle/>
          <a:p>
            <a:pPr defTabSz="548879"/>
            <a:r>
              <a:rPr lang="en-US">
                <a:latin typeface="Comic Sans MS" charset="0"/>
                <a:cs typeface="Arial" charset="0"/>
              </a:rPr>
              <a:t>E[] p – </a:t>
            </a:r>
            <a:r>
              <a:rPr lang="ja-JP" altLang="en-US">
                <a:latin typeface="Comic Sans MS" charset="0"/>
                <a:cs typeface="Arial" charset="0"/>
              </a:rPr>
              <a:t>“</a:t>
            </a:r>
            <a:r>
              <a:rPr lang="en-US" altLang="ja-JP">
                <a:latin typeface="Comic Sans MS" charset="0"/>
                <a:cs typeface="Arial" charset="0"/>
              </a:rPr>
              <a:t>Potentially </a:t>
            </a:r>
            <a:br>
              <a:rPr lang="en-US" altLang="ja-JP">
                <a:latin typeface="Comic Sans MS" charset="0"/>
                <a:cs typeface="Arial" charset="0"/>
              </a:rPr>
            </a:br>
            <a:r>
              <a:rPr lang="en-US" altLang="ja-JP">
                <a:latin typeface="Comic Sans MS" charset="0"/>
                <a:cs typeface="Arial" charset="0"/>
              </a:rPr>
              <a:t>Always p</a:t>
            </a:r>
            <a:r>
              <a:rPr lang="ja-JP" altLang="en-US">
                <a:latin typeface="Comic Sans MS" charset="0"/>
                <a:cs typeface="Arial" charset="0"/>
              </a:rPr>
              <a:t>”</a:t>
            </a:r>
            <a:endParaRPr lang="sv-SE">
              <a:latin typeface="Comic Sans MS" charset="0"/>
              <a:cs typeface="Arial" charset="0"/>
            </a:endParaRPr>
          </a:p>
        </p:txBody>
      </p:sp>
      <p:sp>
        <p:nvSpPr>
          <p:cNvPr id="51203" name="Rectangle 3"/>
          <p:cNvSpPr>
            <a:spLocks noGrp="1" noChangeArrowheads="1"/>
          </p:cNvSpPr>
          <p:nvPr>
            <p:ph type="body" idx="1"/>
          </p:nvPr>
        </p:nvSpPr>
        <p:spPr/>
        <p:txBody>
          <a:bodyPr>
            <a:normAutofit fontScale="77500" lnSpcReduction="20000"/>
          </a:bodyPr>
          <a:lstStyle/>
          <a:p>
            <a:pPr defTabSz="548879"/>
            <a:r>
              <a:rPr lang="en-US" b="1">
                <a:latin typeface="Courier New" charset="0"/>
                <a:cs typeface="Arial" charset="0"/>
              </a:rPr>
              <a:t>E[]</a:t>
            </a:r>
            <a:r>
              <a:rPr lang="en-US">
                <a:latin typeface="Comic Sans MS" charset="0"/>
                <a:cs typeface="Arial" charset="0"/>
              </a:rPr>
              <a:t> </a:t>
            </a:r>
            <a:r>
              <a:rPr lang="en-US" b="1">
                <a:latin typeface="Comic Sans MS" charset="0"/>
                <a:cs typeface="Arial" charset="0"/>
              </a:rPr>
              <a:t>p</a:t>
            </a:r>
            <a:r>
              <a:rPr lang="en-US">
                <a:latin typeface="Comic Sans MS" charset="0"/>
                <a:cs typeface="Arial" charset="0"/>
              </a:rPr>
              <a:t> – p is potentially always true.</a:t>
            </a: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endParaRPr lang="en-US">
              <a:latin typeface="Comic Sans MS" charset="0"/>
              <a:cs typeface="Arial" charset="0"/>
            </a:endParaRPr>
          </a:p>
          <a:p>
            <a:pPr defTabSz="548879"/>
            <a:r>
              <a:rPr lang="en-US">
                <a:latin typeface="Comic Sans MS" charset="0"/>
                <a:cs typeface="Arial" charset="0"/>
              </a:rPr>
              <a:t>There exists a path in which p is true in all states.</a:t>
            </a:r>
            <a:endParaRPr lang="sv-SE">
              <a:latin typeface="Comic Sans MS" charset="0"/>
              <a:cs typeface="Arial" charset="0"/>
            </a:endParaRPr>
          </a:p>
        </p:txBody>
      </p:sp>
      <p:sp>
        <p:nvSpPr>
          <p:cNvPr id="51204" name="Oval 4"/>
          <p:cNvSpPr>
            <a:spLocks noChangeArrowheads="1"/>
          </p:cNvSpPr>
          <p:nvPr/>
        </p:nvSpPr>
        <p:spPr bwMode="auto">
          <a:xfrm>
            <a:off x="3564731" y="2280047"/>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1205" name="Oval 5"/>
          <p:cNvSpPr>
            <a:spLocks noChangeArrowheads="1"/>
          </p:cNvSpPr>
          <p:nvPr/>
        </p:nvSpPr>
        <p:spPr bwMode="auto">
          <a:xfrm>
            <a:off x="3300413" y="2737247"/>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1206" name="Oval 6"/>
          <p:cNvSpPr>
            <a:spLocks noChangeArrowheads="1"/>
          </p:cNvSpPr>
          <p:nvPr/>
        </p:nvSpPr>
        <p:spPr bwMode="auto">
          <a:xfrm>
            <a:off x="3037285" y="3194447"/>
            <a:ext cx="210740"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1207" name="Oval 7"/>
          <p:cNvSpPr>
            <a:spLocks noChangeArrowheads="1"/>
          </p:cNvSpPr>
          <p:nvPr/>
        </p:nvSpPr>
        <p:spPr bwMode="auto">
          <a:xfrm>
            <a:off x="3881438" y="2737247"/>
            <a:ext cx="21074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1208" name="Oval 8"/>
          <p:cNvSpPr>
            <a:spLocks noChangeArrowheads="1"/>
          </p:cNvSpPr>
          <p:nvPr/>
        </p:nvSpPr>
        <p:spPr bwMode="auto">
          <a:xfrm>
            <a:off x="4144567" y="3194447"/>
            <a:ext cx="211931" cy="228600"/>
          </a:xfrm>
          <a:prstGeom prst="ellipse">
            <a:avLst/>
          </a:prstGeom>
          <a:solidFill>
            <a:srgbClr val="FF99CC"/>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1209" name="Oval 9"/>
          <p:cNvSpPr>
            <a:spLocks noChangeArrowheads="1"/>
          </p:cNvSpPr>
          <p:nvPr/>
        </p:nvSpPr>
        <p:spPr bwMode="auto">
          <a:xfrm>
            <a:off x="3617119" y="3194447"/>
            <a:ext cx="211931" cy="228600"/>
          </a:xfrm>
          <a:prstGeom prst="ellipse">
            <a:avLst/>
          </a:prstGeom>
          <a:solidFill>
            <a:schemeClr val="accent1"/>
          </a:solidFill>
          <a:ln w="22225">
            <a:solidFill>
              <a:schemeClr val="tx1"/>
            </a:solidFill>
            <a:round/>
            <a:headEnd/>
            <a:tailEnd/>
          </a:ln>
        </p:spPr>
        <p:txBody>
          <a:bodyPr wrap="none" lIns="65484" tIns="33338" rIns="65484" bIns="33338" anchor="ctr"/>
          <a:lstStyle/>
          <a:p>
            <a:pPr algn="ctr">
              <a:spcBef>
                <a:spcPct val="20000"/>
              </a:spcBef>
            </a:pPr>
            <a:endParaRPr lang="sv-SE" sz="1050" b="1">
              <a:latin typeface="Arial" charset="0"/>
              <a:cs typeface="Arial" charset="0"/>
            </a:endParaRPr>
          </a:p>
        </p:txBody>
      </p:sp>
      <p:sp>
        <p:nvSpPr>
          <p:cNvPr id="51210" name="Line 10"/>
          <p:cNvSpPr>
            <a:spLocks noChangeShapeType="1"/>
          </p:cNvSpPr>
          <p:nvPr/>
        </p:nvSpPr>
        <p:spPr bwMode="auto">
          <a:xfrm>
            <a:off x="3670698" y="2108597"/>
            <a:ext cx="1190" cy="17145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1" name="Line 11"/>
          <p:cNvSpPr>
            <a:spLocks noChangeShapeType="1"/>
          </p:cNvSpPr>
          <p:nvPr/>
        </p:nvSpPr>
        <p:spPr bwMode="auto">
          <a:xfrm flipH="1">
            <a:off x="3458766" y="2508647"/>
            <a:ext cx="158353"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2" name="Line 12"/>
          <p:cNvSpPr>
            <a:spLocks noChangeShapeType="1"/>
          </p:cNvSpPr>
          <p:nvPr/>
        </p:nvSpPr>
        <p:spPr bwMode="auto">
          <a:xfrm flipH="1">
            <a:off x="3195637" y="2965847"/>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3" name="Line 13"/>
          <p:cNvSpPr>
            <a:spLocks noChangeShapeType="1"/>
          </p:cNvSpPr>
          <p:nvPr/>
        </p:nvSpPr>
        <p:spPr bwMode="auto">
          <a:xfrm flipH="1">
            <a:off x="2931319" y="3423047"/>
            <a:ext cx="158354"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4" name="Line 14"/>
          <p:cNvSpPr>
            <a:spLocks noChangeShapeType="1"/>
          </p:cNvSpPr>
          <p:nvPr/>
        </p:nvSpPr>
        <p:spPr bwMode="auto">
          <a:xfrm>
            <a:off x="3723085" y="2508647"/>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5" name="Line 15"/>
          <p:cNvSpPr>
            <a:spLocks noChangeShapeType="1"/>
          </p:cNvSpPr>
          <p:nvPr/>
        </p:nvSpPr>
        <p:spPr bwMode="auto">
          <a:xfrm>
            <a:off x="4039792" y="2965847"/>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6" name="Line 16"/>
          <p:cNvSpPr>
            <a:spLocks noChangeShapeType="1"/>
          </p:cNvSpPr>
          <p:nvPr/>
        </p:nvSpPr>
        <p:spPr bwMode="auto">
          <a:xfrm>
            <a:off x="3458767" y="2965847"/>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7" name="Line 17"/>
          <p:cNvSpPr>
            <a:spLocks noChangeShapeType="1"/>
          </p:cNvSpPr>
          <p:nvPr/>
        </p:nvSpPr>
        <p:spPr bwMode="auto">
          <a:xfrm>
            <a:off x="3775473" y="3423047"/>
            <a:ext cx="210740"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8" name="Line 18"/>
          <p:cNvSpPr>
            <a:spLocks noChangeShapeType="1"/>
          </p:cNvSpPr>
          <p:nvPr/>
        </p:nvSpPr>
        <p:spPr bwMode="auto">
          <a:xfrm>
            <a:off x="4302919" y="3423047"/>
            <a:ext cx="211931" cy="228600"/>
          </a:xfrm>
          <a:prstGeom prst="line">
            <a:avLst/>
          </a:prstGeom>
          <a:noFill/>
          <a:ln w="222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lstStyle/>
          <a:p>
            <a:endParaRPr lang="en-GB" sz="1013"/>
          </a:p>
        </p:txBody>
      </p:sp>
      <p:sp>
        <p:nvSpPr>
          <p:cNvPr id="51219" name="Text Box 19"/>
          <p:cNvSpPr txBox="1">
            <a:spLocks noChangeArrowheads="1"/>
          </p:cNvSpPr>
          <p:nvPr/>
        </p:nvSpPr>
        <p:spPr bwMode="auto">
          <a:xfrm>
            <a:off x="3765644" y="2222897"/>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51220" name="Text Box 20"/>
          <p:cNvSpPr txBox="1">
            <a:spLocks noChangeArrowheads="1"/>
          </p:cNvSpPr>
          <p:nvPr/>
        </p:nvSpPr>
        <p:spPr bwMode="auto">
          <a:xfrm>
            <a:off x="4082351" y="2737247"/>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
        <p:nvSpPr>
          <p:cNvPr id="51221" name="Text Box 21"/>
          <p:cNvSpPr txBox="1">
            <a:spLocks noChangeArrowheads="1"/>
          </p:cNvSpPr>
          <p:nvPr/>
        </p:nvSpPr>
        <p:spPr bwMode="auto">
          <a:xfrm>
            <a:off x="4346669" y="3194447"/>
            <a:ext cx="226825" cy="251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lgn="ctr">
              <a:spcBef>
                <a:spcPct val="20000"/>
              </a:spcBef>
            </a:pPr>
            <a:r>
              <a:rPr lang="en-US" sz="1200" b="1">
                <a:latin typeface="Arial" charset="0"/>
              </a:rPr>
              <a:t>p</a:t>
            </a:r>
            <a:endParaRPr lang="sv-SE" sz="1200" b="1">
              <a:latin typeface="Arial" charset="0"/>
            </a:endParaRPr>
          </a:p>
        </p:txBody>
      </p:sp>
    </p:spTree>
    <p:extLst>
      <p:ext uri="{BB962C8B-B14F-4D97-AF65-F5344CB8AC3E}">
        <p14:creationId xmlns:p14="http://schemas.microsoft.com/office/powerpoint/2010/main" val="2585863657"/>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228851" y="171451"/>
            <a:ext cx="5974556" cy="717947"/>
          </a:xfrm>
        </p:spPr>
        <p:txBody>
          <a:bodyPr/>
          <a:lstStyle/>
          <a:p>
            <a:pPr defTabSz="548879"/>
            <a:r>
              <a:rPr lang="en-US" sz="3000">
                <a:latin typeface="Comic Sans MS" charset="0"/>
                <a:cs typeface="Arial" charset="0"/>
              </a:rPr>
              <a:t>Local Properties</a:t>
            </a:r>
          </a:p>
        </p:txBody>
      </p:sp>
      <p:sp>
        <p:nvSpPr>
          <p:cNvPr id="52227" name="Rectangle 3"/>
          <p:cNvSpPr>
            <a:spLocks noGrp="1" noChangeArrowheads="1"/>
          </p:cNvSpPr>
          <p:nvPr>
            <p:ph type="body" idx="1"/>
          </p:nvPr>
        </p:nvSpPr>
        <p:spPr>
          <a:xfrm>
            <a:off x="1925241" y="1314450"/>
            <a:ext cx="6132909" cy="3429000"/>
          </a:xfrm>
        </p:spPr>
        <p:txBody>
          <a:bodyPr/>
          <a:lstStyle/>
          <a:p>
            <a:pPr defTabSz="548879"/>
            <a:r>
              <a:rPr lang="en-US" sz="1800" b="1">
                <a:latin typeface="Courier New" charset="0"/>
                <a:cs typeface="Arial" charset="0"/>
              </a:rPr>
              <a:t>A[]p, A&lt;&gt;p, E&lt;&gt;p, E[]p, </a:t>
            </a:r>
            <a:r>
              <a:rPr lang="en-US" sz="1800">
                <a:latin typeface="Comic Sans MS" charset="0"/>
                <a:cs typeface="Arial" charset="0"/>
              </a:rPr>
              <a:t>p</a:t>
            </a:r>
            <a:r>
              <a:rPr lang="en-US" sz="1800" baseline="-25000">
                <a:latin typeface="Comic Sans MS" charset="0"/>
                <a:cs typeface="Arial" charset="0"/>
              </a:rPr>
              <a:t>1</a:t>
            </a:r>
            <a:r>
              <a:rPr lang="en-US" sz="1800">
                <a:latin typeface="Comic Sans MS" charset="0"/>
                <a:cs typeface="Arial" charset="0"/>
              </a:rPr>
              <a:t> --&gt; p</a:t>
            </a:r>
            <a:r>
              <a:rPr lang="en-US" sz="1800" baseline="-25000">
                <a:latin typeface="Comic Sans MS" charset="0"/>
                <a:cs typeface="Arial" charset="0"/>
              </a:rPr>
              <a:t>2</a:t>
            </a:r>
            <a:r>
              <a:rPr lang="en-US" sz="1800">
                <a:latin typeface="Comic Sans MS" charset="0"/>
                <a:cs typeface="Arial" charset="0"/>
              </a:rPr>
              <a:t> </a:t>
            </a:r>
          </a:p>
          <a:p>
            <a:pPr marL="534591" lvl="1" indent="-191691" defTabSz="548879"/>
            <a:r>
              <a:rPr lang="en-US" sz="1500" b="1">
                <a:latin typeface="Courier New" charset="0"/>
                <a:ea typeface="Arial" charset="0"/>
                <a:cs typeface="Arial" charset="0"/>
              </a:rPr>
              <a:t>p</a:t>
            </a:r>
            <a:r>
              <a:rPr lang="en-US" sz="1500">
                <a:latin typeface="Comic Sans MS" charset="0"/>
                <a:ea typeface="Arial" charset="0"/>
                <a:cs typeface="Arial" charset="0"/>
              </a:rPr>
              <a:t> is a local property</a:t>
            </a:r>
          </a:p>
          <a:p>
            <a:pPr defTabSz="548879"/>
            <a:r>
              <a:rPr lang="en-US" sz="1800" b="1">
                <a:latin typeface="Comic Sans MS" charset="0"/>
                <a:cs typeface="Arial" charset="0"/>
              </a:rPr>
              <a:t>Syntax:</a:t>
            </a:r>
          </a:p>
          <a:p>
            <a:pPr defTabSz="548879">
              <a:buNone/>
            </a:pPr>
            <a:endParaRPr lang="en-US" sz="1800" b="1">
              <a:latin typeface="Courier New" charset="0"/>
              <a:cs typeface="Arial" charset="0"/>
            </a:endParaRPr>
          </a:p>
          <a:p>
            <a:pPr defTabSz="548879">
              <a:buNone/>
            </a:pPr>
            <a:endParaRPr lang="en-US" sz="1800" b="1">
              <a:latin typeface="Courier New" charset="0"/>
              <a:cs typeface="Arial" charset="0"/>
            </a:endParaRPr>
          </a:p>
          <a:p>
            <a:pPr defTabSz="548879">
              <a:buNone/>
            </a:pPr>
            <a:r>
              <a:rPr lang="en-US" sz="1800" b="1">
                <a:latin typeface="Courier New" charset="0"/>
                <a:cs typeface="Arial" charset="0"/>
              </a:rPr>
              <a:t>p::= a.l | g</a:t>
            </a:r>
            <a:r>
              <a:rPr lang="en-US" sz="1350" b="1">
                <a:latin typeface="Courier New" charset="0"/>
                <a:cs typeface="Arial" charset="0"/>
              </a:rPr>
              <a:t>d</a:t>
            </a:r>
            <a:r>
              <a:rPr lang="en-US" sz="1800" b="1">
                <a:latin typeface="Courier New" charset="0"/>
                <a:cs typeface="Arial" charset="0"/>
              </a:rPr>
              <a:t> | g</a:t>
            </a:r>
            <a:r>
              <a:rPr lang="en-US" sz="1350" b="1">
                <a:latin typeface="Courier New" charset="0"/>
                <a:cs typeface="Arial" charset="0"/>
              </a:rPr>
              <a:t>c</a:t>
            </a:r>
            <a:r>
              <a:rPr lang="en-US" sz="1800" b="1">
                <a:latin typeface="Courier New" charset="0"/>
                <a:cs typeface="Arial" charset="0"/>
              </a:rPr>
              <a:t> | deadlock | </a:t>
            </a:r>
          </a:p>
          <a:p>
            <a:pPr defTabSz="548879">
              <a:buNone/>
            </a:pPr>
            <a:r>
              <a:rPr lang="en-US" sz="1800" b="1">
                <a:latin typeface="Courier New" charset="0"/>
                <a:cs typeface="Arial" charset="0"/>
              </a:rPr>
              <a:t>     p and p | p or p | not p | </a:t>
            </a:r>
          </a:p>
          <a:p>
            <a:pPr defTabSz="548879">
              <a:buNone/>
            </a:pPr>
            <a:r>
              <a:rPr lang="en-US" sz="1800" b="1">
                <a:latin typeface="Courier New" charset="0"/>
                <a:cs typeface="Arial" charset="0"/>
              </a:rPr>
              <a:t>     p imply p | ( p )</a:t>
            </a:r>
          </a:p>
        </p:txBody>
      </p:sp>
      <p:sp>
        <p:nvSpPr>
          <p:cNvPr id="52228" name="Text Box 4"/>
          <p:cNvSpPr txBox="1">
            <a:spLocks noChangeArrowheads="1"/>
          </p:cNvSpPr>
          <p:nvPr/>
        </p:nvSpPr>
        <p:spPr bwMode="auto">
          <a:xfrm>
            <a:off x="4892279" y="2456239"/>
            <a:ext cx="1103667"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clock guard</a:t>
            </a:r>
          </a:p>
        </p:txBody>
      </p:sp>
      <p:sp>
        <p:nvSpPr>
          <p:cNvPr id="52229" name="Text Box 5"/>
          <p:cNvSpPr txBox="1">
            <a:spLocks noChangeArrowheads="1"/>
          </p:cNvSpPr>
          <p:nvPr/>
        </p:nvSpPr>
        <p:spPr bwMode="auto">
          <a:xfrm>
            <a:off x="3468292" y="2399089"/>
            <a:ext cx="1017105"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data guard</a:t>
            </a:r>
          </a:p>
        </p:txBody>
      </p:sp>
      <p:sp>
        <p:nvSpPr>
          <p:cNvPr id="52230" name="Text Box 6"/>
          <p:cNvSpPr txBox="1">
            <a:spLocks noChangeArrowheads="1"/>
          </p:cNvSpPr>
          <p:nvPr/>
        </p:nvSpPr>
        <p:spPr bwMode="auto">
          <a:xfrm>
            <a:off x="1938338" y="2570539"/>
            <a:ext cx="1613422"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automata location</a:t>
            </a:r>
          </a:p>
        </p:txBody>
      </p:sp>
      <p:sp>
        <p:nvSpPr>
          <p:cNvPr id="52231" name="Line 7"/>
          <p:cNvSpPr>
            <a:spLocks noChangeShapeType="1"/>
          </p:cNvSpPr>
          <p:nvPr/>
        </p:nvSpPr>
        <p:spPr bwMode="auto">
          <a:xfrm>
            <a:off x="2730104" y="2800350"/>
            <a:ext cx="158353" cy="2286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52232" name="Line 8"/>
          <p:cNvSpPr>
            <a:spLocks noChangeShapeType="1"/>
          </p:cNvSpPr>
          <p:nvPr/>
        </p:nvSpPr>
        <p:spPr bwMode="auto">
          <a:xfrm flipH="1">
            <a:off x="3626644" y="2686050"/>
            <a:ext cx="52388" cy="3429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lIns="65484" tIns="33338" rIns="65484" bIns="33338" anchor="ctr">
            <a:spAutoFit/>
          </a:bodyPr>
          <a:lstStyle/>
          <a:p>
            <a:endParaRPr lang="en-GB" sz="1013"/>
          </a:p>
        </p:txBody>
      </p:sp>
      <p:sp>
        <p:nvSpPr>
          <p:cNvPr id="52233" name="Line 9"/>
          <p:cNvSpPr>
            <a:spLocks noChangeShapeType="1"/>
          </p:cNvSpPr>
          <p:nvPr/>
        </p:nvSpPr>
        <p:spPr bwMode="auto">
          <a:xfrm flipH="1">
            <a:off x="4206479" y="2628900"/>
            <a:ext cx="685800" cy="34290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
        <p:nvSpPr>
          <p:cNvPr id="52234" name="Text Box 10"/>
          <p:cNvSpPr txBox="1">
            <a:spLocks noChangeArrowheads="1"/>
          </p:cNvSpPr>
          <p:nvPr/>
        </p:nvSpPr>
        <p:spPr bwMode="auto">
          <a:xfrm>
            <a:off x="1569244" y="4056439"/>
            <a:ext cx="1296027" cy="2750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2225">
                <a:solidFill>
                  <a:srgbClr val="000000"/>
                </a:solidFill>
                <a:miter lim="800000"/>
                <a:headEnd/>
                <a:tailEnd/>
              </a14:hiddenLine>
            </a:ext>
          </a:extLst>
        </p:spPr>
        <p:txBody>
          <a:bodyPr wrap="none" lIns="65484" tIns="33338" rIns="65484" bIns="33338" anchor="ctr">
            <a:spAutoFit/>
          </a:bodyPr>
          <a:lstStyle>
            <a:lvl1pPr>
              <a:defRPr sz="3200">
                <a:solidFill>
                  <a:schemeClr val="tx1"/>
                </a:solidFill>
                <a:latin typeface="Comic Sans MS" charset="0"/>
                <a:ea typeface="ＭＳ Ｐゴシック" charset="0"/>
                <a:cs typeface="Arial" charset="0"/>
              </a:defRPr>
            </a:lvl1pPr>
            <a:lvl2pPr>
              <a:defRPr sz="2800">
                <a:solidFill>
                  <a:schemeClr val="tx1"/>
                </a:solidFill>
                <a:latin typeface="Comic Sans MS" charset="0"/>
                <a:ea typeface="Arial" charset="0"/>
                <a:cs typeface="Arial" charset="0"/>
              </a:defRPr>
            </a:lvl2pPr>
            <a:lvl3pPr>
              <a:defRPr sz="2400">
                <a:solidFill>
                  <a:schemeClr val="tx1"/>
                </a:solidFill>
                <a:latin typeface="Comic Sans MS" charset="0"/>
                <a:ea typeface="Arial" charset="0"/>
                <a:cs typeface="Arial" charset="0"/>
              </a:defRPr>
            </a:lvl3pPr>
            <a:lvl4pPr>
              <a:defRPr sz="2000">
                <a:solidFill>
                  <a:schemeClr val="tx1"/>
                </a:solidFill>
                <a:latin typeface="Comic Sans MS" charset="0"/>
                <a:ea typeface="Arial" charset="0"/>
                <a:cs typeface="Arial" charset="0"/>
              </a:defRPr>
            </a:lvl4pPr>
            <a:lvl5pPr>
              <a:defRPr sz="2000">
                <a:solidFill>
                  <a:schemeClr val="tx1"/>
                </a:solidFill>
                <a:latin typeface="Comic Sans MS" charset="0"/>
                <a:ea typeface="Arial" charset="0"/>
                <a:cs typeface="Arial" charset="0"/>
              </a:defRPr>
            </a:lvl5pPr>
            <a:lvl6pPr eaLnBrk="0" hangingPunct="0">
              <a:defRPr sz="2000">
                <a:solidFill>
                  <a:schemeClr val="tx1"/>
                </a:solidFill>
                <a:latin typeface="Comic Sans MS" charset="0"/>
                <a:ea typeface="Arial" charset="0"/>
                <a:cs typeface="Arial" charset="0"/>
              </a:defRPr>
            </a:lvl6pPr>
            <a:lvl7pPr eaLnBrk="0" hangingPunct="0">
              <a:defRPr sz="2000">
                <a:solidFill>
                  <a:schemeClr val="tx1"/>
                </a:solidFill>
                <a:latin typeface="Comic Sans MS" charset="0"/>
                <a:ea typeface="Arial" charset="0"/>
                <a:cs typeface="Arial" charset="0"/>
              </a:defRPr>
            </a:lvl7pPr>
            <a:lvl8pPr eaLnBrk="0" hangingPunct="0">
              <a:defRPr sz="2000">
                <a:solidFill>
                  <a:schemeClr val="tx1"/>
                </a:solidFill>
                <a:latin typeface="Comic Sans MS" charset="0"/>
                <a:ea typeface="Arial" charset="0"/>
                <a:cs typeface="Arial" charset="0"/>
              </a:defRPr>
            </a:lvl8pPr>
            <a:lvl9pPr eaLnBrk="0" hangingPunct="0">
              <a:defRPr sz="2000">
                <a:solidFill>
                  <a:schemeClr val="tx1"/>
                </a:solidFill>
                <a:latin typeface="Comic Sans MS" charset="0"/>
                <a:ea typeface="Arial" charset="0"/>
                <a:cs typeface="Arial" charset="0"/>
              </a:defRPr>
            </a:lvl9pPr>
          </a:lstStyle>
          <a:p>
            <a:pPr>
              <a:spcBef>
                <a:spcPct val="20000"/>
              </a:spcBef>
            </a:pPr>
            <a:r>
              <a:rPr lang="en-US" sz="1350" b="1">
                <a:solidFill>
                  <a:srgbClr val="000080"/>
                </a:solidFill>
                <a:latin typeface="Arial" charset="0"/>
              </a:rPr>
              <a:t>process name</a:t>
            </a:r>
          </a:p>
        </p:txBody>
      </p:sp>
      <p:sp>
        <p:nvSpPr>
          <p:cNvPr id="52235" name="Line 11"/>
          <p:cNvSpPr>
            <a:spLocks noChangeShapeType="1"/>
          </p:cNvSpPr>
          <p:nvPr/>
        </p:nvSpPr>
        <p:spPr bwMode="auto">
          <a:xfrm flipV="1">
            <a:off x="2096691" y="3200400"/>
            <a:ext cx="527447" cy="800100"/>
          </a:xfrm>
          <a:prstGeom prst="line">
            <a:avLst/>
          </a:prstGeom>
          <a:noFill/>
          <a:ln w="25400">
            <a:solidFill>
              <a:schemeClr val="tx1"/>
            </a:solidFill>
            <a:round/>
            <a:headEnd/>
            <a:tailEnd type="triangle" w="med" len="med"/>
          </a:ln>
          <a:extLst>
            <a:ext uri="{909E8E84-426E-40dd-AFC4-6F175D3DCCD1}">
              <a14:hiddenFill xmlns:a14="http://schemas.microsoft.com/office/drawing/2010/main" xmlns="">
                <a:noFill/>
              </a14:hiddenFill>
            </a:ext>
          </a:extLst>
        </p:spPr>
        <p:txBody>
          <a:bodyPr lIns="65484" tIns="33338" rIns="65484" bIns="33338" anchor="ctr">
            <a:spAutoFit/>
          </a:bodyPr>
          <a:lstStyle/>
          <a:p>
            <a:endParaRPr lang="en-GB" sz="1013"/>
          </a:p>
        </p:txBody>
      </p:sp>
    </p:spTree>
    <p:extLst>
      <p:ext uri="{BB962C8B-B14F-4D97-AF65-F5344CB8AC3E}">
        <p14:creationId xmlns:p14="http://schemas.microsoft.com/office/powerpoint/2010/main" val="407415720"/>
      </p:ext>
    </p:extLst>
  </p:cSld>
  <p:clrMapOvr>
    <a:masterClrMapping/>
  </p:clrMapOvr>
  <p:transition/>
</p:sld>
</file>

<file path=ppt/theme/theme1.xml><?xml version="1.0" encoding="utf-8"?>
<a:theme xmlns:a="http://schemas.openxmlformats.org/drawingml/2006/main" name="Office Theme">
  <a:themeElements>
    <a:clrScheme name="MDU">
      <a:dk1>
        <a:sysClr val="windowText" lastClr="000000"/>
      </a:dk1>
      <a:lt1>
        <a:sysClr val="window" lastClr="FFFFFF"/>
      </a:lt1>
      <a:dk2>
        <a:srgbClr val="44546A"/>
      </a:dk2>
      <a:lt2>
        <a:srgbClr val="E7E6E6"/>
      </a:lt2>
      <a:accent1>
        <a:srgbClr val="FF4800"/>
      </a:accent1>
      <a:accent2>
        <a:srgbClr val="00352D"/>
      </a:accent2>
      <a:accent3>
        <a:srgbClr val="FCF4EB"/>
      </a:accent3>
      <a:accent4>
        <a:srgbClr val="FEE9B3"/>
      </a:accent4>
      <a:accent5>
        <a:srgbClr val="94C3BD"/>
      </a:accent5>
      <a:accent6>
        <a:srgbClr val="EFF2F2"/>
      </a:accent6>
      <a:hlink>
        <a:srgbClr val="0563C1"/>
      </a:hlink>
      <a:folHlink>
        <a:srgbClr val="954F72"/>
      </a:folHlink>
    </a:clrScheme>
    <a:fontScheme name="MDU PPT">
      <a:majorFont>
        <a:latin typeface="Franklin Gothic Book"/>
        <a:ea typeface=""/>
        <a:cs typeface=""/>
      </a:majorFont>
      <a:minorFont>
        <a:latin typeface="Cambr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sign eng.potx" id="{76D5272B-D2FE-4EE0-AAAE-DC994BB8F211}" vid="{3BDB0AC4-7B33-4AC6-943D-6C4203EAB62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DU">
    <a:dk1>
      <a:sysClr val="windowText" lastClr="000000"/>
    </a:dk1>
    <a:lt1>
      <a:sysClr val="window" lastClr="FFFFFF"/>
    </a:lt1>
    <a:dk2>
      <a:srgbClr val="44546A"/>
    </a:dk2>
    <a:lt2>
      <a:srgbClr val="E7E6E6"/>
    </a:lt2>
    <a:accent1>
      <a:srgbClr val="FF4800"/>
    </a:accent1>
    <a:accent2>
      <a:srgbClr val="00352D"/>
    </a:accent2>
    <a:accent3>
      <a:srgbClr val="FCF4EB"/>
    </a:accent3>
    <a:accent4>
      <a:srgbClr val="FEE9B3"/>
    </a:accent4>
    <a:accent5>
      <a:srgbClr val="94C3BD"/>
    </a:accent5>
    <a:accent6>
      <a:srgbClr val="EFF2F2"/>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228</TotalTime>
  <Words>13136</Words>
  <Application>Microsoft Office PowerPoint</Application>
  <PresentationFormat>On-screen Show (16:9)</PresentationFormat>
  <Paragraphs>1226</Paragraphs>
  <Slides>96</Slides>
  <Notes>91</Notes>
  <HiddenSlides>4</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3</vt:i4>
      </vt:variant>
      <vt:variant>
        <vt:lpstr>Slide Titles</vt:lpstr>
      </vt:variant>
      <vt:variant>
        <vt:i4>96</vt:i4>
      </vt:variant>
    </vt:vector>
  </HeadingPairs>
  <TitlesOfParts>
    <vt:vector size="116" baseType="lpstr">
      <vt:lpstr>Arial</vt:lpstr>
      <vt:lpstr>Arial</vt:lpstr>
      <vt:lpstr>Arial Black</vt:lpstr>
      <vt:lpstr>Bookman Old Style</vt:lpstr>
      <vt:lpstr>Calibri</vt:lpstr>
      <vt:lpstr>Cambria</vt:lpstr>
      <vt:lpstr>Cambria Math</vt:lpstr>
      <vt:lpstr>Comic Sans MS</vt:lpstr>
      <vt:lpstr>Courier New</vt:lpstr>
      <vt:lpstr>Franklin Gothic Book</vt:lpstr>
      <vt:lpstr>Georgia</vt:lpstr>
      <vt:lpstr>Lucida Grande</vt:lpstr>
      <vt:lpstr>Tahoma</vt:lpstr>
      <vt:lpstr>Times New Roman</vt:lpstr>
      <vt:lpstr>Verdana</vt:lpstr>
      <vt:lpstr>Wingdings</vt:lpstr>
      <vt:lpstr>Office Theme</vt:lpstr>
      <vt:lpstr>Bitmap Image</vt:lpstr>
      <vt:lpstr>Equation</vt:lpstr>
      <vt:lpstr>Formel</vt:lpstr>
      <vt:lpstr>Formal Modeling and Analysis of Real-time Systems </vt:lpstr>
      <vt:lpstr>Who am I? </vt:lpstr>
      <vt:lpstr>PowerPoint Presentation</vt:lpstr>
      <vt:lpstr>Models </vt:lpstr>
      <vt:lpstr>Models </vt:lpstr>
      <vt:lpstr>Formal Models </vt:lpstr>
      <vt:lpstr>Model Analysis</vt:lpstr>
      <vt:lpstr>Formal Verification</vt:lpstr>
      <vt:lpstr>Model Checking</vt:lpstr>
      <vt:lpstr>Formal Verification</vt:lpstr>
      <vt:lpstr>Theorem Proving</vt:lpstr>
      <vt:lpstr>Model Checking</vt:lpstr>
      <vt:lpstr>Real-Time Systems</vt:lpstr>
      <vt:lpstr>Real-Time Model-Checking </vt:lpstr>
      <vt:lpstr>Formal modeling and verification</vt:lpstr>
      <vt:lpstr>Example model-based verification</vt:lpstr>
      <vt:lpstr>Example: Light Control</vt:lpstr>
      <vt:lpstr>Finite state automata</vt:lpstr>
      <vt:lpstr>Finite state automata with variables</vt:lpstr>
      <vt:lpstr>Light Control</vt:lpstr>
      <vt:lpstr>Light Control</vt:lpstr>
      <vt:lpstr>Timed Automata  Alur &amp; Dill 1990</vt:lpstr>
      <vt:lpstr>PowerPoint Presentation</vt:lpstr>
      <vt:lpstr>PowerPoint Presentation</vt:lpstr>
      <vt:lpstr>Timed Automata: Semantics</vt:lpstr>
      <vt:lpstr>Timed Automata with Invariants</vt:lpstr>
      <vt:lpstr>Clock Constraints</vt:lpstr>
      <vt:lpstr>Timed Automata: Example</vt:lpstr>
      <vt:lpstr>Timed Automata: Example</vt:lpstr>
      <vt:lpstr>Timed Automata: Example</vt:lpstr>
      <vt:lpstr>Timed Automata: Example</vt:lpstr>
      <vt:lpstr>Timed Automata: Example</vt:lpstr>
      <vt:lpstr>Timed Automata: Example</vt:lpstr>
      <vt:lpstr>Timed Automata: Example (periodic task, period 20)</vt:lpstr>
      <vt:lpstr>Timed Automata: Example  (sporadic task w min period 20)</vt:lpstr>
      <vt:lpstr>Timed Automata: Example  (aperiodic task, every 5 to 100)</vt:lpstr>
      <vt:lpstr>Timed Automata: Light Switch</vt:lpstr>
      <vt:lpstr>Demo </vt:lpstr>
      <vt:lpstr>Semantics Definition</vt:lpstr>
      <vt:lpstr>Timed Automata: Example</vt:lpstr>
      <vt:lpstr>Networks of Timed Automata</vt:lpstr>
      <vt:lpstr>Demo </vt:lpstr>
      <vt:lpstr>How to specify what to check?</vt:lpstr>
      <vt:lpstr>Specification of Requirements</vt:lpstr>
      <vt:lpstr>Quantifiers in TCTL</vt:lpstr>
      <vt:lpstr>E&lt;&gt;p – “p Reachable”</vt:lpstr>
      <vt:lpstr>A[]p – “Invariantly p”</vt:lpstr>
      <vt:lpstr>E[ ] p – “Potentially Always p”</vt:lpstr>
      <vt:lpstr>A&lt;&gt;p – “Inevitable p”</vt:lpstr>
      <vt:lpstr>A[]( g imply A&lt;&gt; p )</vt:lpstr>
      <vt:lpstr>Demo </vt:lpstr>
      <vt:lpstr>Bridge Problem</vt:lpstr>
      <vt:lpstr>Demo </vt:lpstr>
      <vt:lpstr>Train Crossing      </vt:lpstr>
      <vt:lpstr>Demo </vt:lpstr>
      <vt:lpstr>UPPAAL SMC</vt:lpstr>
      <vt:lpstr>UPPAAL SMC</vt:lpstr>
      <vt:lpstr>Demo </vt:lpstr>
      <vt:lpstr>Assignment </vt:lpstr>
      <vt:lpstr>Assignment </vt:lpstr>
      <vt:lpstr>Assignment </vt:lpstr>
      <vt:lpstr>Assignment </vt:lpstr>
      <vt:lpstr>Annex</vt:lpstr>
      <vt:lpstr>Timed Automata in UPPAAL</vt:lpstr>
      <vt:lpstr>Declarations in UPPAAL</vt:lpstr>
      <vt:lpstr>Declarations in UPPAAL (cont.)</vt:lpstr>
      <vt:lpstr>Declarations in UPPAAL (cont.)</vt:lpstr>
      <vt:lpstr>Declarations UPPAAL (const.)</vt:lpstr>
      <vt:lpstr>Timed Automata in UPPAAL</vt:lpstr>
      <vt:lpstr>Timed Automata in UPPAAL</vt:lpstr>
      <vt:lpstr>Broadcast Synchronization</vt:lpstr>
      <vt:lpstr>Urgent Channels: Example 1</vt:lpstr>
      <vt:lpstr>Urgent Channels: Example 1</vt:lpstr>
      <vt:lpstr>Urgent Channels</vt:lpstr>
      <vt:lpstr>Urgent Channel: Example 2</vt:lpstr>
      <vt:lpstr>Urgent Channel: Example 2</vt:lpstr>
      <vt:lpstr>Urgent Location: Example</vt:lpstr>
      <vt:lpstr>Urgent Location: Example</vt:lpstr>
      <vt:lpstr>Urgent Location</vt:lpstr>
      <vt:lpstr>Committed Location: Ex. 1</vt:lpstr>
      <vt:lpstr>Committed Location: Ex. 1</vt:lpstr>
      <vt:lpstr>Committed Location</vt:lpstr>
      <vt:lpstr>Committed Location: Ex. 2</vt:lpstr>
      <vt:lpstr>More Expressions</vt:lpstr>
      <vt:lpstr>More on Types</vt:lpstr>
      <vt:lpstr>Declarations</vt:lpstr>
      <vt:lpstr>Templates</vt:lpstr>
      <vt:lpstr>Extensions</vt:lpstr>
      <vt:lpstr>Modeling Formalisms</vt:lpstr>
      <vt:lpstr>Query Language</vt:lpstr>
      <vt:lpstr>Quantifiers in TCTL</vt:lpstr>
      <vt:lpstr>E&lt;&gt; p – “p Reachable”</vt:lpstr>
      <vt:lpstr>A[] p – “Invariantly p”</vt:lpstr>
      <vt:lpstr>A&lt;&gt; p – “Inevitable p”</vt:lpstr>
      <vt:lpstr>E[] p – “Potentially  Always p”</vt:lpstr>
      <vt:lpstr>Local Properties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Formal Modeling and Analysis </dc:title>
  <dc:creator>Rong Gu</dc:creator>
  <cp:lastModifiedBy>Rong Gu</cp:lastModifiedBy>
  <cp:revision>9</cp:revision>
  <dcterms:created xsi:type="dcterms:W3CDTF">2022-11-29T07:37:34Z</dcterms:created>
  <dcterms:modified xsi:type="dcterms:W3CDTF">2025-12-17T13:16:39Z</dcterms:modified>
</cp:coreProperties>
</file>