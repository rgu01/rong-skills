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is Formal Modeling and Analysis of Real-Time Systems. We teach it this year with an explicit question running through it: now that AI can build models for us, what is actually worth learning? Short answer — the concepts, and the judgement to check what the AI produces.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quick word on where I'm coming from: embedded software, a PhD and postdoc on formal modelling and analysis of embedded systems, and now formal methods at Prover.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basic idea of a model: an abstraction of reality that helps us understand it. The hook on the right is the theme of the course — an LLM is itself a model of the world, but a statistical, non-semantic one. You can't hand it to a prover and get a guarantee. We build models we CAN reason about.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perspectives — external, behavioural, structural — and two classic example families. Good discussion prompt: 'is an AI a model?' Yes, but not a verifiable one. That difference is the whole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= mathematical semantics: every symbol has a precise meaning. Emphasise the trust anchor framing — semantics is exactly what lets you check someone else's model, including one an AI generated. No semantics, no proof, no basis for trust.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spine of the course. Verification asks 'did we build the thing right?' — symbolic, exhaustive, automatable, and where AI helps most. Validation asks 'did we build the right thing?' — it connects the model to real-world intent and lives OUTSIDE the formal system, so AI can't own it. Repeat the line: AI manipulates the symbols; it cannot supply the intent or the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Formal verification checks ALL behaviours, exhaustively, against a property in logic. Contrast with an LLM, which gives a plausible answer fast but with no guarantee. Powerful is not the same as certain.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catch is state-space explosion — the number of states blows up with components, clocks and variables. Make the point clearly: this is an open problem that has nothing to do with how good LLMs get. It's the concrete rebuttal to 'why model-check at all now?'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thesis slide. Walk the three cards: AI lowers the historic cost of formal methods; that raises the stakes, because now you must verify AI's output and AI is a fallible author; so your job shifts from drawing automata to specifying, validating, and judging counterexamples. That last skill is the durable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Deductive verification proves correctness from axioms and rules — not fully automated. The Socrates syllogism is the toy example. Honest note: this is genuinely shifted by AI — LLMs plus proof assistants are pushing autoformalization. But imitating reasoning is not the same as a sound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checking takes two inputs: the model A (a network of timed automata) and the requirement F (a temporal-logic formula). The checker is the oracle — it answers with certainty and hands you a counterexample when F fails. It is where an AI-built model gets checked.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Real-time systems: correctness depends on order AND timing — the right time, not the fastest. A discrete controller drives a continuous plant. These are safety-critical, so 'probably correct' is not acceptable; timing must be proven.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working loop: model, simulate, verify, interpret, refine. Here's the reframing — the MODEL step is exactly what AI now assists. The durable human skill is the rest: read the trace, interpret it, validate against intent, decide what to fix. Outsource the drawing, not the judgement.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industrial protocol model from ABB — every box is an automaton. Engineers ask questions no one can answer by eye: is this error state reachable, what's the max response time, is this variable always under 64. At this scale an AI-generated model MUST be checked; you cannot verify it by reading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running example. The wanted behaviour is simple to state — but note the word 'quickly'. That's a timing requirement, and it's what forces us toward clocks.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Finite-state automata: nodes (states), edges (transitions), labels (actions). The minimal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Extend FSA with variables: guards decide when an edge is enabled, assignments update state on the edge. Semantics are transition systems.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to model light control with a plain FSA and it fails — nothing distinguishes a quick second press from a slow one. Every edge is just 'press'. We need to measure elapsed time, so we add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Timed automata, Alur and Dill 1990: guards are timing constraints, actions synchronise, clocks reset to zero. Say it plainly — this definition is mathematics; it's the same in 2025 as in 1990. AI changes who draws the automaton, not what it means.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light control works: clock x measures the delay between presses. A quick press (x&lt;=3) goes to Bright; a slow one (x&gt;3) returns to Off. The natural analysis question — can the light eventually become bright — is one we hand to the model checker.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Semantics: a state is a location plus real-valued clock readings. Two transition kinds — discrete (follow an edge, instantaneous) and delay (stay put, all clocks advance by the same real amount). The two example lines show each.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Invariants are upper bounds that force progress: the automaton can't delay past the bound, so it must act. Flag the risk — invariants can also cause deadlock, which is itself something to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grammar of clock constraints: comparisons, clock differences, conjunction. Guards use them freely; invariants use upper bounds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variants on one location: a lower-bound guard, a bounded window, and a guard plus an invariant that forces the action. This is where students build intuition for hand-tracing.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Modelling task arrivals: periodic fires exactly every 20 (guard x==20, invariant x&lt;=20); sporadic is at-least-20-apart (guard x&gt;=20, no invariant); aperiodic is between 5 and 100 (guard 5&lt;=x&lt;=99, invariant x&lt;=100).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fuller example, the light switch: on only after more than 2 units since off, auto-off after 9, and a re-press resets the clock (the self-loop). Good one to pause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formal rules behind it: an action transition needs its guard satisfied and the target invariant to hold after the reset; a delay transition keeps the invariant true throughout. The trace at the bottom is exactly the kind of hand-tracing the assignment will ask for.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Compose several automata into a network; they synchronise on channels — a! sends, a? receives, and both edges fire together atomically. Shared bounded integers too. This is how we model interacting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Now: how do we say what to check? Requirements become temporal-logic formulae — invariant, reachability, liveness. Stress that choosing the RIGHT property is validation: AI can draft a formula, but only you know which requirement it has to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TCTL is a branching-time logic over the model's computation tree: state formulae describe one state, path formulae quantify over traces, and a trace with timing is a timed path. UPPAAL checks a decidable subset.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quantifiers: E/A over paths, [] and &lt;&gt; over states along a path, and the four combinations we actually use. The right box gives the plain-English reading.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five patterns students will use in the lab. E&lt;&gt; for sanity/reachability, A[] for safety, A&lt;&gt; for liveness, E[] for potentially-always, and leads-to for response properties. Point out leads-to is just A[](p imply A&lt;&gt; 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we turn to using AI for the modelling itself. Left column: what it's good at — drafting models, syntax, candidate properties, fast iteration. Right: what it's bad at — guarantees, hallucinated traces, missed edge cases, and the intent you didn't state. It maps straight onto verification versus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practical recipe for prompting: precise requirement with units and edge cases, name the formalism, list components and channels, ask for a single runnable .xml with queries embedded, and iterate on counterexamples. Point them at a UPPAAL skill — which they build in the next slide — so the AI emits models that actually load and verify.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twist: we do NOT give you a ready-made UPPAAL skill — if you want one, you build it, and that's the point. Explain what an Agent Skill is: a small folder your AI loads on demand, with a SKILL.md that says when to use it and how, plus reference docs it opens only when needed. Walk the four build steps on the right: ground it in the official UPPAAL docs, write a thin SKILL.md with the workflow and correctness rules, add a reference with the concrete .xml format and an example, then validate by generating a model and checking it verifies in UPPAAL. Land the message: to make an AI produce correct models you must understand UPPAAL yourself — which is exactly what the assignment rewards.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Worked example — the bridge problem. Read the prompt on the slide out loud, and make the point: it's plain English — it states the puzzle and the question, but says nothing about locations, clocks, or guards. That's what a good prompt looks like. The UPPAAL skill supplies the modelling, and UPPAAL confirms a 60-minute schedule exists. The AI built it fast; the model checker made it trustworthy.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train crossing: several trains, one shared bridge, mutual exclusion under timing constraints and a controller. Exactly the concurrent, timed coordination where a hand argument is hopeless and model checking earns its keep.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behaviour is genuinely random, UPPAAL SMC handles stochastic timed automata and answers probabilistic questions — estimate a probability, test it against a threshold, compare two. Different question, same discipline. Keep this brief.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Reflection before the assignment. Left: what the AI can do for you. Right: what only you can do — decide what to model, choose the right property, validate against reality, and judge whether a counterexample means the model or the requirement is wrong. That right-hand column is what we grade.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assignment: a pedestrian crossing controller. It's deliberately under-specified — 'not too long', 'long enough' — so you must fix the numbers and justify them. Everyone gets an assigned parameter set or twist. Explain why that makes it AI-resistant: the AI never received the intent, so it can't defend your thresholds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seven graded deliverables. The load-bearing ones are the threshold justification, the emergent-failure hunt with real counterexample traces, and especially the hand-traced counterexample — locations and clock valuations, step by step — which an AI hallucinates.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Submission is a single runnable .xml with queries embedded. Using AI is allowed and expected — the grade is what you add on top of its output. End on the design test: if you paste the whole brief into any tool, what's left for you to do? The parts that show you learned.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48840"/>
            <a:ext cx="100584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Formal Modeling and Analysis of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mbria"/>
              </a:rPr>
              <a:t>Real-Time Systems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8FB9C7"/>
                </a:solidFill>
                <a:latin typeface="Cambria"/>
              </a:rPr>
              <a:t>…in the age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4128" y="4892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700" b="1" i="0">
                <a:solidFill>
                  <a:srgbClr val="FFFFFF"/>
                </a:solidFill>
                <a:latin typeface="Calibri"/>
              </a:rPr>
              <a:t>Rong Gu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00"/>
              </a:spcAft>
            </a:pPr>
            <a:r>
              <a:rPr sz="1400" b="0" i="0">
                <a:solidFill>
                  <a:srgbClr val="9FA8C4"/>
                </a:solidFill>
                <a:latin typeface="Calibri"/>
              </a:rPr>
              <a:t>rong.gu@prover.se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FA8C4"/>
                </a:solidFill>
                <a:latin typeface="Calibri"/>
              </a:rPr>
              <a:t>Dec 16,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57784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96112" y="457200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Who am 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1600200"/>
            <a:ext cx="10789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20"/>
              </a:spcAft>
            </a:pPr>
            <a:r>
              <a:rPr sz="25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550" b="1" i="0">
                <a:solidFill>
                  <a:srgbClr val="202433"/>
                </a:solidFill>
                <a:latin typeface="Calibri"/>
              </a:rPr>
              <a:t>Rong Gu — Formal Methods Developer at Prover (2025 – now)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0"/>
              </a:spcAft>
            </a:pPr>
            <a:r>
              <a:rPr sz="23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00" b="0" i="0">
                <a:solidFill>
                  <a:srgbClr val="555E6E"/>
                </a:solidFill>
                <a:latin typeface="Calibri"/>
              </a:rPr>
              <a:t>2010 / 2013: BSc &amp; MSc in Software Engineering, Xi'an Jiaotong University, China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0"/>
              </a:spcAft>
            </a:pPr>
            <a:r>
              <a:rPr sz="23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00" b="0" i="0">
                <a:solidFill>
                  <a:srgbClr val="555E6E"/>
                </a:solidFill>
                <a:latin typeface="Calibri"/>
              </a:rPr>
              <a:t>2013–2017: Embedded software engineer, China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0"/>
              </a:spcAft>
            </a:pPr>
            <a:r>
              <a:rPr sz="23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00" b="0" i="0">
                <a:solidFill>
                  <a:srgbClr val="555E6E"/>
                </a:solidFill>
                <a:latin typeface="Calibri"/>
              </a:rPr>
              <a:t>2022: PhD in Computer Science, Mälardalen University (Seceleanu, Enoiu, Lundqvist)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0"/>
              </a:spcAft>
            </a:pPr>
            <a:r>
              <a:rPr sz="23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00" b="0" i="0">
                <a:solidFill>
                  <a:srgbClr val="555E6E"/>
                </a:solidFill>
                <a:latin typeface="Calibri"/>
              </a:rPr>
              <a:t>2022–2025: Postdoc, Mälardalen University (IDT) — formal modelling &amp; analysis of embedded systems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520"/>
              </a:spcAft>
            </a:pPr>
            <a:r>
              <a:rPr sz="25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550" b="1" i="0">
                <a:solidFill>
                  <a:srgbClr val="202433"/>
                </a:solidFill>
                <a:latin typeface="Calibri"/>
              </a:rPr>
              <a:t>Contact:  rong.gu@prover.se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What is a model?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73736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84"/>
              </a:spcAft>
            </a:pPr>
            <a:r>
              <a:rPr sz="23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00" b="1" i="0">
                <a:solidFill>
                  <a:srgbClr val="202433"/>
                </a:solidFill>
                <a:latin typeface="Calibri"/>
              </a:rPr>
              <a:t>Model — an abstract representation of reality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84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leaves out detail to make the workings understandable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684"/>
              </a:spcAft>
            </a:pPr>
            <a:r>
              <a:rPr sz="23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00" b="1" i="0">
                <a:solidFill>
                  <a:srgbClr val="202433"/>
                </a:solidFill>
                <a:latin typeface="Calibri"/>
              </a:rPr>
              <a:t>A system model helps you…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84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understand the functionality of the system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84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communicate with customers and colleagues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84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…and, if given precise semantics, reason about it rigorously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737360"/>
            <a:ext cx="3977639" cy="320040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737360"/>
            <a:ext cx="100584" cy="320040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1883664"/>
            <a:ext cx="3520439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AI is a model too — but a different kind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 large language model is itself a model of reality — but a statistical, non-semantic one you cannot feed to a prover for a guarantee.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This course is about models you can reason about, and about checking the ones an AI builds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Models: perspectives &amp; examples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603504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72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Three perspectives on a system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2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External — its context / environment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2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Behavioural — what the system does over time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2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Structural — its architecture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72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Examples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2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Data-flow models — how data is processed as it moves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2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State-machine models — response to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54480"/>
            <a:ext cx="4297680" cy="228600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0" y="1554480"/>
            <a:ext cx="100584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71231" y="1700784"/>
            <a:ext cx="384048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Is it a model?  Is an AI a model?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Both describe a system's behaviour.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difference is verifiability: a state machine has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semantics you can check; an AI's internal 'model'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does not. Keep that distinction in mind all lecture.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FOUNDATIONS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Formal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755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A formal model has mathematical semantics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655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every symbol and transition has a precise, unambiguous meaning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755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That precision is what makes rigorous analysis possible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655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you can prove properties, not just inspect diagrams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4114800" cy="274320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737360"/>
            <a:ext cx="100584" cy="274320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1" y="1883664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The trust anchor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Formal semantics is exactly what lets you check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someone else's model — including one produced by AI.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No semantics → no proof → no basis for trust.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This is why we still model formally when AI can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generate artifacts in seconds.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THE SPINE OF THIS COURSE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Model analysis: Verification vs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539496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29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Analysis needs two inputs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29"/>
              </a:spcAft>
            </a:pPr>
            <a:r>
              <a:rPr sz="19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50" b="0" i="0">
                <a:solidFill>
                  <a:srgbClr val="555E6E"/>
                </a:solidFill>
                <a:latin typeface="Calibri"/>
              </a:rPr>
              <a:t>a system model, and a system requirement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Verification — “did we build the thing right?”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29"/>
              </a:spcAft>
            </a:pPr>
            <a:r>
              <a:rPr sz="19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50" b="0" i="0">
                <a:solidFill>
                  <a:srgbClr val="555E6E"/>
                </a:solidFill>
                <a:latin typeface="Calibri"/>
              </a:rPr>
              <a:t>formal verification, simulation, testing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Validation — “did we build the right thing?”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29"/>
              </a:spcAft>
            </a:pPr>
            <a:r>
              <a:rPr sz="19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50" b="0" i="0">
                <a:solidFill>
                  <a:srgbClr val="555E6E"/>
                </a:solidFill>
                <a:latin typeface="Calibri"/>
              </a:rPr>
              <a:t>user validation, test scenarios, judgement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17320"/>
            <a:ext cx="5074920" cy="384048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417320"/>
            <a:ext cx="100584" cy="384048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563624"/>
            <a:ext cx="4617720" cy="3566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Where AI fits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VERIFICATION is symbolic and automatable —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AI helps most here: draft models, TCTL properties,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run tools.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VALIDATION connects the model to real-world intent.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It lives OUTSIDE the formal system, so AI cannot own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it — the AI only has what you typed, not the intent.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AI manipulates the symbols; it cannot supply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intent or the guarantee.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Formal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640080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65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Check ALL system behaviours — exhaustive, not sampled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465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The property to check is stated in a logic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465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Algorithmic verification (model checking)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65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explore the state space, check it against logic properties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65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scalability is still a genuine challenge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4114800" cy="210312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79" y="1737360"/>
            <a:ext cx="100584" cy="210312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54111" y="1883664"/>
            <a:ext cx="3657600" cy="182879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Exhaustive ≠ probabilistic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An LLM gives a plausible answer, fast, with no guarantee. Model checking gives certainty over every reachable behaviour.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Powerful ≠ certain.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Model checking: the state-space explosion</a:t>
            </a:r>
          </a:p>
        </p:txBody>
      </p:sp>
      <p:pic>
        <p:nvPicPr>
          <p:cNvPr id="5" name="Picture 4" descr="state-explo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554480"/>
            <a:ext cx="6309360" cy="1878787"/>
          </a:xfrm>
          <a:prstGeom prst="rect">
            <a:avLst/>
          </a:prstGeom>
          <a:ln w="12700">
            <a:solidFill>
              <a:srgbClr val="CFD6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7498079" y="1554480"/>
            <a:ext cx="4114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29"/>
              </a:spcAft>
            </a:pPr>
            <a:r>
              <a:rPr sz="23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50" b="1" i="0">
                <a:solidFill>
                  <a:srgbClr val="202433"/>
                </a:solidFill>
                <a:latin typeface="Calibri"/>
              </a:rPr>
              <a:t>The number of states grows explosively with components, clocks and variables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529"/>
              </a:spcAft>
            </a:pPr>
            <a:r>
              <a:rPr sz="23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50" b="1" i="0">
                <a:solidFill>
                  <a:srgbClr val="202433"/>
                </a:solidFill>
                <a:latin typeface="Calibri"/>
              </a:rPr>
              <a:t>This is an open research challenge…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9"/>
              </a:spcAft>
            </a:pPr>
            <a:r>
              <a:rPr sz="21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00" b="0" i="0">
                <a:solidFill>
                  <a:srgbClr val="555E6E"/>
                </a:solidFill>
                <a:latin typeface="Calibri"/>
              </a:rPr>
              <a:t>…orthogonal to how capable LLMs become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29"/>
              </a:spcAft>
            </a:pPr>
            <a:r>
              <a:rPr sz="2050" b="0" i="1">
                <a:solidFill>
                  <a:srgbClr val="555E6E"/>
                </a:solidFill>
                <a:latin typeface="Calibri"/>
              </a:rPr>
              <a:t>AI does not dissolve state explosion — the reason model checking is still hard is not a reason AI can replace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WHY THIS STILL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Formal methods in the age of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65960"/>
            <a:ext cx="3383280" cy="3566160"/>
          </a:xfrm>
          <a:prstGeom prst="roundRect">
            <a:avLst/>
          </a:prstGeom>
          <a:solidFill>
            <a:srgbClr val="222A52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94560"/>
            <a:ext cx="2834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AI lowers the cost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Building models and drafting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properties — historically the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barrier to formal methods —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is now fast and assisted.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07408" y="1965960"/>
            <a:ext cx="3383280" cy="3566160"/>
          </a:xfrm>
          <a:prstGeom prst="roundRect">
            <a:avLst/>
          </a:prstGeom>
          <a:solidFill>
            <a:srgbClr val="222A52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81728" y="2194560"/>
            <a:ext cx="2834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…and raises the stakes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If AI authors the artifact, you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must verify it. The verifier is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the trust anchor, and AI is 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fallible author.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36992" y="1965960"/>
            <a:ext cx="3383280" cy="3566160"/>
          </a:xfrm>
          <a:prstGeom prst="roundRect">
            <a:avLst/>
          </a:prstGeom>
          <a:solidFill>
            <a:srgbClr val="222A52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1312" y="2194560"/>
            <a:ext cx="28346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FFFFFF"/>
                </a:solidFill>
                <a:latin typeface="Cambria"/>
              </a:rPr>
              <a:t>Your job shifts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From drawing automata to: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specify precisely, validate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against intent, and judge the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C7D2E8"/>
                </a:solidFill>
                <a:latin typeface="Calibri"/>
              </a:rPr>
              <a:t>counterexample. That is durable.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A8C4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VERIFICATION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Deductive verification (theorem proving)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612648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342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Prove correctness from axioms and inference rules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24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not fully automated — needs human guidance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342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Classic syllogism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24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All men are mortal;  Socrates is a man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24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∴ Socrates is mortal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554480"/>
            <a:ext cx="4389120" cy="310896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554480"/>
            <a:ext cx="100584" cy="310896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700784"/>
            <a:ext cx="3931920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Plausible reasoning vs sound proof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An LLM can imitate this reasoning — and often gets 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right — but offers no guarantee of soundness.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 proof does.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Genuinely shifted by AI: LLMs + proof assistants are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pushing autoformalization, making deductive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verification more automatable than before.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MODEL CHECKING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Model checking = model (A) + requirement (F)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5836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58"/>
              </a:spcAft>
            </a:pPr>
            <a:r>
              <a:rPr sz="23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00" b="1" i="0">
                <a:solidFill>
                  <a:srgbClr val="202433"/>
                </a:solidFill>
                <a:latin typeface="Calibri"/>
              </a:rPr>
              <a:t>A — the model: a network of timed automata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558"/>
              </a:spcAft>
            </a:pPr>
            <a:r>
              <a:rPr sz="23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300" b="1" i="0">
                <a:solidFill>
                  <a:srgbClr val="202433"/>
                </a:solidFill>
                <a:latin typeface="Calibri"/>
              </a:rPr>
              <a:t>F — the requirement: a temporal-logic formula, e.g.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58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Invariant — something bad never happens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58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Reachability — something can eventually happen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58"/>
              </a:spcAft>
            </a:pPr>
            <a:r>
              <a:rPr sz="20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50" b="0" i="0">
                <a:solidFill>
                  <a:srgbClr val="555E6E"/>
                </a:solidFill>
                <a:latin typeface="Calibri"/>
              </a:rPr>
              <a:t>Liveness — something always eventually happens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58"/>
              </a:spcAft>
            </a:pPr>
            <a:r>
              <a:rPr sz="2000" b="0" i="1">
                <a:solidFill>
                  <a:srgbClr val="555E6E"/>
                </a:solidFill>
                <a:latin typeface="Calibri"/>
              </a:rPr>
              <a:t>Tool: UPPAAL (Uppsala University &amp; Aalborg University)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91640"/>
            <a:ext cx="3931920" cy="237744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691640"/>
            <a:ext cx="100584" cy="23774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1837944"/>
            <a:ext cx="347472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The oracle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model checker is the oracle of truth: given A and F it answers with certainty, and hands you a counterexample when F fails.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It is where an AI-built model gets checked.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REAL-TIME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Real-time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658368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67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Correctness depends on the logical order of events AND their timing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67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not the fastest time — the right time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667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A controller (discrete) drives a plant (continuous)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667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Everyday examples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67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airbags, cruise control, production lines, robots, protocols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554480"/>
            <a:ext cx="4160520" cy="246888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52360" y="1554480"/>
            <a:ext cx="100584" cy="246888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08392" y="1700784"/>
            <a:ext cx="370332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Why proof, not vibes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These are safety-critical: “probably correct” is not acceptable when an airbag must fire within milliseconds.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Timing correctness must be proven, and that is exactly what real-time model checking does.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REAL-TIME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Real-time model checking: the working loop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554480"/>
            <a:ext cx="1828800" cy="640080"/>
          </a:xfrm>
          <a:prstGeom prst="roundRect">
            <a:avLst/>
          </a:prstGeom>
          <a:solidFill>
            <a:srgbClr val="ECF0F6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96112" y="1554480"/>
            <a:ext cx="1828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1700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Model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24912" y="1874519"/>
            <a:ext cx="384048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108960" y="1554480"/>
            <a:ext cx="1828800" cy="640080"/>
          </a:xfrm>
          <a:prstGeom prst="roundRect">
            <a:avLst/>
          </a:prstGeom>
          <a:solidFill>
            <a:srgbClr val="ECF0F6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108960" y="1554480"/>
            <a:ext cx="1828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08960" y="1700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Simulate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937760" y="1874519"/>
            <a:ext cx="384048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321808" y="1554480"/>
            <a:ext cx="1828800" cy="640080"/>
          </a:xfrm>
          <a:prstGeom prst="roundRect">
            <a:avLst/>
          </a:prstGeom>
          <a:solidFill>
            <a:srgbClr val="D9ECEF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321808" y="1554480"/>
            <a:ext cx="1828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700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Verify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150608" y="1874519"/>
            <a:ext cx="384048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534656" y="1554480"/>
            <a:ext cx="1828800" cy="640080"/>
          </a:xfrm>
          <a:prstGeom prst="roundRect">
            <a:avLst/>
          </a:prstGeom>
          <a:solidFill>
            <a:srgbClr val="ECF0F6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534656" y="1554480"/>
            <a:ext cx="1828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34656" y="1700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Interpret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363456" y="1874519"/>
            <a:ext cx="384048" cy="0"/>
          </a:xfrm>
          <a:prstGeom prst="line">
            <a:avLst/>
          </a:prstGeom>
          <a:ln w="17780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747504" y="1554480"/>
            <a:ext cx="1828800" cy="640080"/>
          </a:xfrm>
          <a:prstGeom prst="roundRect">
            <a:avLst/>
          </a:prstGeom>
          <a:solidFill>
            <a:srgbClr val="ECF0F6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747504" y="1554480"/>
            <a:ext cx="1828800" cy="64008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47504" y="1700784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Refine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2514600"/>
            <a:ext cx="6492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420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Model the tasks and the environment as automata, then verify the resulting network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420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A counterexample sends you back into the simulator to see why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98079" y="2514600"/>
            <a:ext cx="4114800" cy="274320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98079" y="2514600"/>
            <a:ext cx="100584" cy="274320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54111" y="2660904"/>
            <a:ext cx="365760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Reframed for the AI era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MODEL step is exactly what AI can now assist.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/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durable human skill is the rest of the loop: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read the trace, interpret it, validate against intent,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and decide what to refine. Don't outsource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judgement — only the drawing.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REAL-TIME SYSTEMS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…at industrial scale</a:t>
            </a:r>
          </a:p>
        </p:txBody>
      </p:sp>
      <p:pic>
        <p:nvPicPr>
          <p:cNvPr id="5" name="Picture 4" descr="abb-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2057400"/>
            <a:ext cx="4114800" cy="3159578"/>
          </a:xfrm>
          <a:prstGeom prst="rect">
            <a:avLst/>
          </a:prstGeom>
          <a:ln w="12700">
            <a:solidFill>
              <a:srgbClr val="CFD6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5257800" y="1554480"/>
            <a:ext cx="6355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75"/>
              </a:spcAft>
            </a:pPr>
            <a:r>
              <a:rPr sz="21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50" b="1" i="0">
                <a:solidFill>
                  <a:srgbClr val="202433"/>
                </a:solidFill>
                <a:latin typeface="Calibri"/>
              </a:rPr>
              <a:t>A real protocol model (ABB): every box is an automaton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75"/>
              </a:spcAft>
            </a:pPr>
            <a:r>
              <a:rPr sz="21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50" b="1" i="0">
                <a:solidFill>
                  <a:srgbClr val="202433"/>
                </a:solidFill>
                <a:latin typeface="Calibri"/>
              </a:rPr>
              <a:t>Engineers ask questions no one can eyeball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5"/>
              </a:spcAft>
            </a:pPr>
            <a:r>
              <a:rPr sz="19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00" b="0" i="0">
                <a:solidFill>
                  <a:srgbClr val="555E6E"/>
                </a:solidFill>
                <a:latin typeface="Calibri"/>
              </a:rPr>
              <a:t>is this error state reachable?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5"/>
              </a:spcAft>
            </a:pPr>
            <a:r>
              <a:rPr sz="19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00" b="0" i="0">
                <a:solidFill>
                  <a:srgbClr val="555E6E"/>
                </a:solidFill>
                <a:latin typeface="Calibri"/>
              </a:rPr>
              <a:t>max response time between two states?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5"/>
              </a:spcAft>
            </a:pPr>
            <a:r>
              <a:rPr sz="19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00" b="0" i="0">
                <a:solidFill>
                  <a:srgbClr val="555E6E"/>
                </a:solidFill>
                <a:latin typeface="Calibri"/>
              </a:rPr>
              <a:t>is this variable always &lt; 64?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75"/>
              </a:spcAft>
            </a:pPr>
            <a:r>
              <a:rPr sz="19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900" b="0" i="0">
                <a:solidFill>
                  <a:srgbClr val="555E6E"/>
                </a:solidFill>
                <a:latin typeface="Calibri"/>
              </a:rPr>
              <a:t>is the system guaranteed to reach this state?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75"/>
              </a:spcAft>
            </a:pPr>
            <a:r>
              <a:rPr sz="21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50" b="1" i="0">
                <a:solidFill>
                  <a:srgbClr val="202433"/>
                </a:solidFill>
                <a:latin typeface="Calibri"/>
              </a:rPr>
              <a:t>At this scale an AI-generated model MUST be checked — you cannot verify it by reading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Example: light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103120"/>
            <a:ext cx="10058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994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Wanted behaviour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89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pressed once  →  light 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89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pressed twice quickly  →  light gets brighter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89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pressed again  →  light off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994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The word “quickly” is about timing — hold that thought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Finite-state automata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420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A finite state graph with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320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 set of nodes (states / locations)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320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 set of edges (transitions)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320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 set of labels (actions)</a:t>
            </a:r>
          </a:p>
        </p:txBody>
      </p:sp>
      <p:sp>
        <p:nvSpPr>
          <p:cNvPr id="6" name="Oval 5"/>
          <p:cNvSpPr/>
          <p:nvPr/>
        </p:nvSpPr>
        <p:spPr>
          <a:xfrm>
            <a:off x="7845552" y="29077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Off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42631" y="3291840"/>
            <a:ext cx="502921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222992" y="29077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531213" y="3054096"/>
            <a:ext cx="1774213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0" y="2724911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531213" y="3529584"/>
            <a:ext cx="1774213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046720" y="3200400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2976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A two-state light: a turns it on, b turns it off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Finite-state automata with variables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539496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420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Extend FSA with variables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320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guards — conditions on variables to enable a transition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4320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assignments — updates / resets on a transition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4420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Semantics: transition systems</a:t>
            </a:r>
          </a:p>
        </p:txBody>
      </p:sp>
      <p:sp>
        <p:nvSpPr>
          <p:cNvPr id="6" name="Oval 5"/>
          <p:cNvSpPr/>
          <p:nvPr/>
        </p:nvSpPr>
        <p:spPr>
          <a:xfrm>
            <a:off x="7571231" y="29077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Off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068312" y="3291840"/>
            <a:ext cx="502919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131552" y="29077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224057" y="3017520"/>
            <a:ext cx="2022765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863840" y="221284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Flag==1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Flag:=2</a:t>
            </a:r>
          </a:p>
        </p:txBody>
      </p:sp>
      <p:cxnSp>
        <p:nvCxnSpPr>
          <p:cNvPr id="11" name="Connector 10"/>
          <p:cNvCxnSpPr/>
          <p:nvPr/>
        </p:nvCxnSpPr>
        <p:spPr>
          <a:xfrm flipH="1">
            <a:off x="8224057" y="3566160"/>
            <a:ext cx="2022765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63840" y="365760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Flag==2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b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Flag:=1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6560" y="46177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Guards gate edges; assignments update 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Light control without time — it doesn't work</a:t>
            </a:r>
          </a:p>
        </p:txBody>
      </p:sp>
      <p:sp>
        <p:nvSpPr>
          <p:cNvPr id="5" name="Oval 4"/>
          <p:cNvSpPr/>
          <p:nvPr/>
        </p:nvSpPr>
        <p:spPr>
          <a:xfrm>
            <a:off x="181051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07592" y="310896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73659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Light</a:t>
            </a:r>
          </a:p>
        </p:txBody>
      </p:sp>
      <p:sp>
        <p:nvSpPr>
          <p:cNvPr id="8" name="Oval 7"/>
          <p:cNvSpPr/>
          <p:nvPr/>
        </p:nvSpPr>
        <p:spPr>
          <a:xfrm>
            <a:off x="766267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78608" y="3108960"/>
            <a:ext cx="215798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504688" y="3108960"/>
            <a:ext cx="215798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Freeform 10"/>
          <p:cNvSpPr/>
          <p:nvPr/>
        </p:nvSpPr>
        <p:spPr>
          <a:xfrm>
            <a:off x="2084831" y="3493008"/>
            <a:ext cx="3035809" cy="777240"/>
          </a:xfrm>
          <a:custGeom>
            <a:avLst/>
            <a:gdLst/>
            <a:ahLst/>
            <a:cxnLst/>
            <a:rect l="l" t="t" r="r" b="b"/>
            <a:pathLst>
              <a:path w="3035809" h="777240">
                <a:moveTo>
                  <a:pt x="3035809" y="0"/>
                </a:moveTo>
                <a:lnTo>
                  <a:pt x="3035809" y="777240"/>
                </a:lnTo>
                <a:lnTo>
                  <a:pt x="0" y="777240"/>
                </a:lnTo>
                <a:lnTo>
                  <a:pt x="0" y="9143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2304288" y="3493008"/>
            <a:ext cx="5742432" cy="1371600"/>
          </a:xfrm>
          <a:custGeom>
            <a:avLst/>
            <a:gdLst/>
            <a:ahLst/>
            <a:cxnLst/>
            <a:rect l="l" t="t" r="r" b="b"/>
            <a:pathLst>
              <a:path w="5742432" h="1371600">
                <a:moveTo>
                  <a:pt x="5742432" y="0"/>
                </a:moveTo>
                <a:lnTo>
                  <a:pt x="5742432" y="1371600"/>
                </a:lnTo>
                <a:lnTo>
                  <a:pt x="0" y="1371600"/>
                </a:lnTo>
                <a:lnTo>
                  <a:pt x="0" y="9143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Every transition is a single button press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64040" y="2286000"/>
            <a:ext cx="2286000" cy="228600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64040" y="2286000"/>
            <a:ext cx="100584" cy="2286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2432304"/>
            <a:ext cx="1828800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The gap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Nothing here distinguishes a quick second press from a slow one.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We need to measure elapsed time → add a clock.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Timed automata  (Alur &amp; Dill, 1990)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52120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82"/>
              </a:spcAft>
            </a:pPr>
            <a:r>
              <a:rPr sz="19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202433"/>
                </a:solidFill>
                <a:latin typeface="Calibri"/>
              </a:rPr>
              <a:t>Guard — a timing constraint, e.g.  x &gt; 10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82"/>
              </a:spcAft>
            </a:pPr>
            <a:r>
              <a:rPr sz="19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202433"/>
                </a:solidFill>
                <a:latin typeface="Calibri"/>
              </a:rPr>
              <a:t>Action — a synchronisation label, e.g.  a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82"/>
              </a:spcAft>
            </a:pPr>
            <a:r>
              <a:rPr sz="19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900" b="1" i="0">
                <a:solidFill>
                  <a:srgbClr val="202433"/>
                </a:solidFill>
                <a:latin typeface="Calibri"/>
              </a:rPr>
              <a:t>Clock reset — set a clock to 0, e.g.  x := 0</a:t>
            </a:r>
          </a:p>
        </p:txBody>
      </p:sp>
      <p:sp>
        <p:nvSpPr>
          <p:cNvPr id="6" name="Oval 5"/>
          <p:cNvSpPr/>
          <p:nvPr/>
        </p:nvSpPr>
        <p:spPr>
          <a:xfrm>
            <a:off x="7662672" y="28163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159752" y="320040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222992" y="28163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8430768" y="3200400"/>
            <a:ext cx="179222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955279" y="23957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x&gt;10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023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4023360"/>
            <a:ext cx="5486400" cy="155448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96112" y="4023360"/>
            <a:ext cx="100584" cy="155448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52144" y="4169664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AI doesn't change this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definition of a timed automaton is mathematics — it 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exactly the same in 2025 as in 1990. What AI changes is who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draws the automaton, not what it means.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Light control, with a clock</a:t>
            </a:r>
          </a:p>
        </p:txBody>
      </p:sp>
      <p:sp>
        <p:nvSpPr>
          <p:cNvPr id="5" name="Oval 4"/>
          <p:cNvSpPr/>
          <p:nvPr/>
        </p:nvSpPr>
        <p:spPr>
          <a:xfrm>
            <a:off x="199339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90472" y="310896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10235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Light</a:t>
            </a:r>
          </a:p>
        </p:txBody>
      </p:sp>
      <p:sp>
        <p:nvSpPr>
          <p:cNvPr id="8" name="Oval 7"/>
          <p:cNvSpPr/>
          <p:nvPr/>
        </p:nvSpPr>
        <p:spPr>
          <a:xfrm>
            <a:off x="8211312" y="272491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Bright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61488" y="3108960"/>
            <a:ext cx="234086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560320" y="27797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870448" y="3108960"/>
            <a:ext cx="234086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0" y="2779776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x&lt;=3</a:t>
            </a:r>
          </a:p>
        </p:txBody>
      </p:sp>
      <p:sp>
        <p:nvSpPr>
          <p:cNvPr id="13" name="Freeform 12"/>
          <p:cNvSpPr/>
          <p:nvPr/>
        </p:nvSpPr>
        <p:spPr>
          <a:xfrm>
            <a:off x="2267712" y="3493008"/>
            <a:ext cx="3218688" cy="868680"/>
          </a:xfrm>
          <a:custGeom>
            <a:avLst/>
            <a:gdLst/>
            <a:ahLst/>
            <a:cxnLst/>
            <a:rect l="l" t="t" r="r" b="b"/>
            <a:pathLst>
              <a:path w="3218688" h="868680">
                <a:moveTo>
                  <a:pt x="3218688" y="0"/>
                </a:moveTo>
                <a:lnTo>
                  <a:pt x="3218688" y="868680"/>
                </a:lnTo>
                <a:lnTo>
                  <a:pt x="0" y="868680"/>
                </a:lnTo>
                <a:lnTo>
                  <a:pt x="0" y="9143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05456" y="4032504"/>
            <a:ext cx="27432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x&gt;3</a:t>
            </a:r>
          </a:p>
        </p:txBody>
      </p:sp>
      <p:sp>
        <p:nvSpPr>
          <p:cNvPr id="15" name="Freeform 14"/>
          <p:cNvSpPr/>
          <p:nvPr/>
        </p:nvSpPr>
        <p:spPr>
          <a:xfrm>
            <a:off x="2487168" y="3493008"/>
            <a:ext cx="6108192" cy="1463040"/>
          </a:xfrm>
          <a:custGeom>
            <a:avLst/>
            <a:gdLst/>
            <a:ahLst/>
            <a:cxnLst/>
            <a:rect l="l" t="t" r="r" b="b"/>
            <a:pathLst>
              <a:path w="6108192" h="1463040">
                <a:moveTo>
                  <a:pt x="6108192" y="0"/>
                </a:moveTo>
                <a:lnTo>
                  <a:pt x="6108192" y="1463040"/>
                </a:lnTo>
                <a:lnTo>
                  <a:pt x="0" y="1463040"/>
                </a:lnTo>
                <a:lnTo>
                  <a:pt x="0" y="9143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5257800"/>
            <a:ext cx="8595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Presses are the events; clock x separates a quick press (x≤3 → Bright) from a slow one (x&gt;3 → Off)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966960" y="2286000"/>
            <a:ext cx="1920240" cy="201168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966960" y="2286000"/>
            <a:ext cx="100584" cy="20116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22992" y="2432304"/>
            <a:ext cx="146304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Analysis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Can the light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eventually become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bright?  Ask the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model checker.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Timed automata: semantics</a:t>
            </a:r>
          </a:p>
        </p:txBody>
      </p:sp>
      <p:sp>
        <p:nvSpPr>
          <p:cNvPr id="5" name="Oval 4"/>
          <p:cNvSpPr/>
          <p:nvPr/>
        </p:nvSpPr>
        <p:spPr>
          <a:xfrm>
            <a:off x="1993392" y="26334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490472" y="301752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828032" y="26334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61488" y="3017520"/>
            <a:ext cx="206654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2423160" y="221284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x&lt;=5 &amp; y&gt;3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5212080" cy="4709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912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State = ( location, clock values 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clocks x, y take real values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912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Two kinds of transition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discrete — follow an edge (instantaneous)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2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delay — stay put; all clocks advance by the same real amount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4160520"/>
            <a:ext cx="694944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0" i="0">
                <a:solidFill>
                  <a:srgbClr val="202433"/>
                </a:solidFill>
                <a:latin typeface="Consolas"/>
              </a:rPr>
              <a:t>( n, x=2.4, y=3.14 ) —a→ ( m, x=0, y=3.14 )   discrete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02433"/>
                </a:solidFill>
                <a:latin typeface="Consolas"/>
              </a:rPr>
              <a:t>( n, x=2.4, y=3.14 ) —1.1→ ( n, x=3.5, y=4.24 )   delay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Invariants force progress</a:t>
            </a:r>
          </a:p>
        </p:txBody>
      </p:sp>
      <p:sp>
        <p:nvSpPr>
          <p:cNvPr id="5" name="Oval 4"/>
          <p:cNvSpPr/>
          <p:nvPr/>
        </p:nvSpPr>
        <p:spPr>
          <a:xfrm>
            <a:off x="2359152" y="28163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9152" y="2560320"/>
            <a:ext cx="7680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x&lt;=5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856232" y="320040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68112" y="28163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68112" y="2560320"/>
            <a:ext cx="7680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y&lt;=10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27248" y="3200400"/>
            <a:ext cx="234086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926080" y="3291840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x&lt;=5 &amp; y&gt;3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554480"/>
            <a:ext cx="4892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97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An invariant bounds how long you may stay in a location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997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upper bounds only, e.g. x&lt;=5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097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It cannot delay past x=5, so it must act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997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risk: it can also get stuck (deadlock) — a design smell to 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89204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Without the invariant the automaton could delay forever in 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Clock constraints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011680"/>
            <a:ext cx="105156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574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For clocks x, y and an integer constant c, a constraint is built from: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47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comparisons:  x &lt; c,  x &lt;= c,  x &gt;= c,  x &gt; c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47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clock differences:  x - y &lt;= c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2474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conjunction:  g1 &amp; g2   (and, via negation, disjunction)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2574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Guards use these freely; invariants use upper bounds only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Timed automata: guards &amp; invariants</a:t>
            </a:r>
          </a:p>
        </p:txBody>
      </p:sp>
      <p:sp>
        <p:nvSpPr>
          <p:cNvPr id="5" name="Oval 4"/>
          <p:cNvSpPr/>
          <p:nvPr/>
        </p:nvSpPr>
        <p:spPr>
          <a:xfrm>
            <a:off x="217627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673351" y="3703320"/>
            <a:ext cx="502921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Freeform 6"/>
          <p:cNvSpPr/>
          <p:nvPr/>
        </p:nvSpPr>
        <p:spPr>
          <a:xfrm>
            <a:off x="219656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6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19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x&gt;=2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19" y="1600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Lower bound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fires once x≥2, may wait longer</a:t>
            </a:r>
          </a:p>
        </p:txBody>
      </p:sp>
      <p:sp>
        <p:nvSpPr>
          <p:cNvPr id="11" name="Oval 10"/>
          <p:cNvSpPr/>
          <p:nvPr/>
        </p:nvSpPr>
        <p:spPr>
          <a:xfrm>
            <a:off x="574243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239512" y="370332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Freeform 12"/>
          <p:cNvSpPr/>
          <p:nvPr/>
        </p:nvSpPr>
        <p:spPr>
          <a:xfrm>
            <a:off x="576272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7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2&lt;=x&lt;=3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1600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Bounded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fires only while 2≤x≤3</a:t>
            </a:r>
          </a:p>
        </p:txBody>
      </p:sp>
      <p:sp>
        <p:nvSpPr>
          <p:cNvPr id="17" name="Oval 16"/>
          <p:cNvSpPr/>
          <p:nvPr/>
        </p:nvSpPr>
        <p:spPr>
          <a:xfrm>
            <a:off x="930859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358444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x&lt;=3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805672" y="370332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Freeform 19"/>
          <p:cNvSpPr/>
          <p:nvPr/>
        </p:nvSpPr>
        <p:spPr>
          <a:xfrm>
            <a:off x="932888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7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x&gt;=2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6002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With invariant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5262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invariant x≤3 forces the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Modelling tasks: periodic, sporadic, aperiodic</a:t>
            </a:r>
          </a:p>
        </p:txBody>
      </p:sp>
      <p:sp>
        <p:nvSpPr>
          <p:cNvPr id="5" name="Oval 4"/>
          <p:cNvSpPr/>
          <p:nvPr/>
        </p:nvSpPr>
        <p:spPr>
          <a:xfrm>
            <a:off x="217627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17520" y="358444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x&lt;=20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73351" y="3703320"/>
            <a:ext cx="502921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219656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6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19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x==20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79" y="1600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Periodic (20)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39" y="4526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exactly every 20 time units</a:t>
            </a:r>
          </a:p>
        </p:txBody>
      </p:sp>
      <p:sp>
        <p:nvSpPr>
          <p:cNvPr id="12" name="Oval 11"/>
          <p:cNvSpPr/>
          <p:nvPr/>
        </p:nvSpPr>
        <p:spPr>
          <a:xfrm>
            <a:off x="574243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239512" y="370332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Freeform 13"/>
          <p:cNvSpPr/>
          <p:nvPr/>
        </p:nvSpPr>
        <p:spPr>
          <a:xfrm>
            <a:off x="576272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7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54880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x&gt;=20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1600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Sporadic (≥20)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26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at least 20 apart, may wait</a:t>
            </a:r>
          </a:p>
        </p:txBody>
      </p:sp>
      <p:sp>
        <p:nvSpPr>
          <p:cNvPr id="18" name="Oval 17"/>
          <p:cNvSpPr/>
          <p:nvPr/>
        </p:nvSpPr>
        <p:spPr>
          <a:xfrm>
            <a:off x="9308592" y="331927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49840" y="358444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x&lt;=100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8805672" y="370332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Freeform 20"/>
          <p:cNvSpPr/>
          <p:nvPr/>
        </p:nvSpPr>
        <p:spPr>
          <a:xfrm>
            <a:off x="9328883" y="280720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79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79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7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22402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5&lt;=x&lt;=99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60020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alibri"/>
              </a:rPr>
              <a:t>Aperiodic (5–100)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4526280"/>
            <a:ext cx="3108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between 5 and 100 apart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382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Timed automata: a light switch</a:t>
            </a:r>
          </a:p>
        </p:txBody>
      </p:sp>
      <p:sp>
        <p:nvSpPr>
          <p:cNvPr id="5" name="Oval 4"/>
          <p:cNvSpPr/>
          <p:nvPr/>
        </p:nvSpPr>
        <p:spPr>
          <a:xfrm>
            <a:off x="2724912" y="32735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221991" y="3657600"/>
            <a:ext cx="502921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6382512" y="327355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23760" y="3538728"/>
            <a:ext cx="10058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28090"/>
                </a:solidFill>
                <a:latin typeface="Calibri"/>
              </a:rPr>
              <a:t>x&lt;=9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493008" y="3657600"/>
            <a:ext cx="288950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285292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x&gt;2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push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1" name="Freeform 10"/>
          <p:cNvSpPr/>
          <p:nvPr/>
        </p:nvSpPr>
        <p:spPr>
          <a:xfrm>
            <a:off x="3108960" y="4041648"/>
            <a:ext cx="3657600" cy="868680"/>
          </a:xfrm>
          <a:custGeom>
            <a:avLst/>
            <a:gdLst/>
            <a:ahLst/>
            <a:cxnLst/>
            <a:rect l="l" t="t" r="r" b="b"/>
            <a:pathLst>
              <a:path w="3657600" h="868680">
                <a:moveTo>
                  <a:pt x="3657600" y="0"/>
                </a:moveTo>
                <a:lnTo>
                  <a:pt x="3657600" y="868680"/>
                </a:lnTo>
                <a:lnTo>
                  <a:pt x="0" y="868680"/>
                </a:lnTo>
                <a:lnTo>
                  <a:pt x="0" y="9143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4983480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x==9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3" name="Freeform 12"/>
          <p:cNvSpPr/>
          <p:nvPr/>
        </p:nvSpPr>
        <p:spPr>
          <a:xfrm>
            <a:off x="6402803" y="2761488"/>
            <a:ext cx="727513" cy="530352"/>
          </a:xfrm>
          <a:custGeom>
            <a:avLst/>
            <a:gdLst/>
            <a:ahLst/>
            <a:cxnLst/>
            <a:rect l="l" t="t" r="r" b="b"/>
            <a:pathLst>
              <a:path w="727513" h="530352">
                <a:moveTo>
                  <a:pt x="226597" y="530352"/>
                </a:moveTo>
                <a:lnTo>
                  <a:pt x="15898" y="478786"/>
                </a:lnTo>
                <a:lnTo>
                  <a:pt x="0" y="403992"/>
                </a:lnTo>
                <a:lnTo>
                  <a:pt x="0" y="327527"/>
                </a:lnTo>
                <a:lnTo>
                  <a:pt x="15898" y="252733"/>
                </a:lnTo>
                <a:lnTo>
                  <a:pt x="46999" y="182880"/>
                </a:lnTo>
                <a:lnTo>
                  <a:pt x="91944" y="121018"/>
                </a:lnTo>
                <a:lnTo>
                  <a:pt x="148768" y="69853"/>
                </a:lnTo>
                <a:lnTo>
                  <a:pt x="214989" y="31621"/>
                </a:lnTo>
                <a:lnTo>
                  <a:pt x="287711" y="7992"/>
                </a:lnTo>
                <a:lnTo>
                  <a:pt x="363757" y="0"/>
                </a:lnTo>
                <a:lnTo>
                  <a:pt x="439802" y="7992"/>
                </a:lnTo>
                <a:lnTo>
                  <a:pt x="512524" y="31621"/>
                </a:lnTo>
                <a:lnTo>
                  <a:pt x="578745" y="69853"/>
                </a:lnTo>
                <a:lnTo>
                  <a:pt x="635569" y="121018"/>
                </a:lnTo>
                <a:lnTo>
                  <a:pt x="680514" y="182880"/>
                </a:lnTo>
                <a:lnTo>
                  <a:pt x="711615" y="252733"/>
                </a:lnTo>
                <a:lnTo>
                  <a:pt x="727513" y="327527"/>
                </a:lnTo>
                <a:lnTo>
                  <a:pt x="727513" y="403992"/>
                </a:lnTo>
                <a:lnTo>
                  <a:pt x="711615" y="478786"/>
                </a:lnTo>
                <a:lnTo>
                  <a:pt x="500917" y="530352"/>
                </a:lnTo>
              </a:path>
            </a:pathLst>
          </a:custGeom>
          <a:noFill/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94960" y="2194560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push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x:=0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011680"/>
            <a:ext cx="27432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711"/>
              </a:spcAft>
            </a:pPr>
            <a:r>
              <a:rPr sz="25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202433"/>
                </a:solidFill>
                <a:latin typeface="Calibri"/>
              </a:rPr>
              <a:t>On only after &gt;2 units since off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711"/>
              </a:spcAft>
            </a:pPr>
            <a:r>
              <a:rPr sz="25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500" b="1" i="0">
                <a:solidFill>
                  <a:srgbClr val="202433"/>
                </a:solidFill>
                <a:latin typeface="Calibri"/>
              </a:rPr>
              <a:t>Auto-off after 9 units, unless pressed again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5029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Semantics: action &amp; delay transitions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58521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642"/>
              </a:spcAft>
            </a:pPr>
            <a:r>
              <a:rPr sz="19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950" b="1" i="0">
                <a:solidFill>
                  <a:srgbClr val="202433"/>
                </a:solidFill>
                <a:latin typeface="Calibri"/>
              </a:rPr>
              <a:t>Action transition  (l, v) —a→ (l', v')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42"/>
              </a:spcAft>
            </a:pPr>
            <a:r>
              <a:rPr sz="17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700" b="0" i="0">
                <a:solidFill>
                  <a:srgbClr val="555E6E"/>
                </a:solidFill>
                <a:latin typeface="Calibri"/>
              </a:rPr>
              <a:t>guard g holds in v; apply reset r; invariant of l' holds in v'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642"/>
              </a:spcAft>
            </a:pPr>
            <a:r>
              <a:rPr sz="19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950" b="1" i="0">
                <a:solidFill>
                  <a:srgbClr val="202433"/>
                </a:solidFill>
                <a:latin typeface="Calibri"/>
              </a:rPr>
              <a:t>Delay transition  (l, v) —d→ (l, v+d)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542"/>
              </a:spcAft>
            </a:pPr>
            <a:r>
              <a:rPr sz="17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700" b="0" i="0">
                <a:solidFill>
                  <a:srgbClr val="555E6E"/>
                </a:solidFill>
                <a:latin typeface="Calibri"/>
              </a:rPr>
              <a:t>invariant of l must hold throughout the delay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931920"/>
            <a:ext cx="731520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250" b="0" i="1">
                <a:solidFill>
                  <a:srgbClr val="555E6E"/>
                </a:solidFill>
                <a:latin typeface="Calibri"/>
              </a:rPr>
              <a:t>Example trace (light switch, clocks x, y):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33"/>
                </a:solidFill>
                <a:latin typeface="Consolas"/>
              </a:rPr>
              <a:t>(off, 0, 0) —3.5→ (off, 3.5, 3.5)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33"/>
                </a:solidFill>
                <a:latin typeface="Consolas"/>
              </a:rPr>
              <a:t>        —push→ (on, 0, 0)   [both reset]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202433"/>
                </a:solidFill>
                <a:latin typeface="Consolas"/>
              </a:rPr>
              <a:t>        —π→ (on, π, π)  —push→ (on, 0, π)  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TIMED AUTOMATA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Networks of timed automata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49377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782"/>
              </a:spcAft>
            </a:pPr>
            <a:r>
              <a:rPr sz="22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50" b="1" i="0">
                <a:solidFill>
                  <a:srgbClr val="202433"/>
                </a:solidFill>
                <a:latin typeface="Calibri"/>
              </a:rPr>
              <a:t>Several automata run in parallel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782"/>
              </a:spcAft>
            </a:pPr>
            <a:r>
              <a:rPr sz="22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50" b="1" i="0">
                <a:solidFill>
                  <a:srgbClr val="202433"/>
                </a:solidFill>
                <a:latin typeface="Calibri"/>
              </a:rPr>
              <a:t>They synchronise on channels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682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a!  — send   /   a?  — receive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682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both edges are taken together, atomically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782"/>
              </a:spcAft>
            </a:pPr>
            <a:r>
              <a:rPr sz="22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50" b="1" i="0">
                <a:solidFill>
                  <a:srgbClr val="202433"/>
                </a:solidFill>
                <a:latin typeface="Calibri"/>
              </a:rPr>
              <a:t>Shared (bounded) integer variables too</a:t>
            </a:r>
          </a:p>
        </p:txBody>
      </p:sp>
      <p:sp>
        <p:nvSpPr>
          <p:cNvPr id="6" name="Oval 5"/>
          <p:cNvSpPr/>
          <p:nvPr/>
        </p:nvSpPr>
        <p:spPr>
          <a:xfrm>
            <a:off x="7296912" y="208483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l1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793992" y="246888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10040112" y="208483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l2</a:t>
            </a:r>
          </a:p>
        </p:txBody>
      </p:sp>
      <p:sp>
        <p:nvSpPr>
          <p:cNvPr id="9" name="Oval 8"/>
          <p:cNvSpPr/>
          <p:nvPr/>
        </p:nvSpPr>
        <p:spPr>
          <a:xfrm>
            <a:off x="7296912" y="42793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793992" y="4663440"/>
            <a:ext cx="502920" cy="0"/>
          </a:xfrm>
          <a:prstGeom prst="line">
            <a:avLst/>
          </a:prstGeom>
          <a:ln w="22225">
            <a:solidFill>
              <a:srgbClr val="1E276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10040112" y="4279392"/>
            <a:ext cx="768096" cy="768096"/>
          </a:xfrm>
          <a:prstGeom prst="ellipse">
            <a:avLst/>
          </a:prstGeom>
          <a:solidFill>
            <a:srgbClr val="E7EEF8"/>
          </a:solidFill>
          <a:ln w="22225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8100" rIns="38100" tIns="25400" bIns="2540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alibri"/>
              </a:rPr>
              <a:t>m2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065008" y="2468880"/>
            <a:ext cx="197510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680960" y="1664208"/>
            <a:ext cx="27432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5865A"/>
                </a:solidFill>
                <a:latin typeface="Consolas"/>
              </a:rPr>
              <a:t>x&gt;=2 &amp; i==3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a!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y:=0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65008" y="4663440"/>
            <a:ext cx="1975104" cy="0"/>
          </a:xfrm>
          <a:prstGeom prst="line">
            <a:avLst/>
          </a:prstGeom>
          <a:ln w="19050">
            <a:solidFill>
              <a:srgbClr val="1E2761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680960" y="4754879"/>
            <a:ext cx="274320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761"/>
                </a:solidFill>
                <a:latin typeface="Consolas"/>
              </a:rPr>
              <a:t>a?</a:t>
            </a:r>
          </a:p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B0550A"/>
                </a:solidFill>
                <a:latin typeface="Consolas"/>
              </a:rPr>
              <a:t>i:=i+1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544068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555E6E"/>
                </a:solidFill>
                <a:latin typeface="Calibri"/>
              </a:rPr>
              <a:t>a! and a? fire together — a two-way rendezvous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6692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555E6E"/>
                </a:solidFill>
                <a:latin typeface="Calibri"/>
              </a:rPr>
              <a:t>labels:  </a:t>
            </a:r>
            <a:r>
              <a:rPr sz="1200" b="0" i="0">
                <a:solidFill>
                  <a:srgbClr val="15865A"/>
                </a:solidFill>
                <a:latin typeface="Consolas"/>
              </a:rPr>
              <a:t>guard    </a:t>
            </a:r>
            <a:r>
              <a:rPr sz="1200" b="1" i="0">
                <a:solidFill>
                  <a:srgbClr val="1E2761"/>
                </a:solidFill>
                <a:latin typeface="Consolas"/>
              </a:rPr>
              <a:t>action    </a:t>
            </a:r>
            <a:r>
              <a:rPr sz="1200" b="0" i="0">
                <a:solidFill>
                  <a:srgbClr val="B0550A"/>
                </a:solidFill>
                <a:latin typeface="Consolas"/>
              </a:rPr>
              <a:t>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Specifying requirements</a:t>
            </a:r>
          </a:p>
        </p:txBody>
      </p:sp>
      <p:pic>
        <p:nvPicPr>
          <p:cNvPr id="5" name="Picture 4" descr="tctl-t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554480"/>
            <a:ext cx="4206240" cy="2494818"/>
          </a:xfrm>
          <a:prstGeom prst="rect">
            <a:avLst/>
          </a:prstGeom>
          <a:ln w="12700">
            <a:solidFill>
              <a:srgbClr val="CFD6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896112" y="1554480"/>
            <a:ext cx="6035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916"/>
              </a:spcAft>
            </a:pPr>
            <a:r>
              <a:rPr sz="22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50" b="1" i="0">
                <a:solidFill>
                  <a:srgbClr val="202433"/>
                </a:solidFill>
                <a:latin typeface="Calibri"/>
              </a:rPr>
              <a:t>Requirements become temporal-logic formulae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6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Invariant — something bad never happens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6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Reachability — something may happen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6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Liveness — something eventually happens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916"/>
              </a:spcAft>
            </a:pPr>
            <a:r>
              <a:rPr sz="22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50" b="1" i="0">
                <a:solidFill>
                  <a:srgbClr val="202433"/>
                </a:solidFill>
                <a:latin typeface="Calibri"/>
              </a:rPr>
              <a:t>Choosing the RIGHT property is validation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16"/>
              </a:spcAft>
            </a:pPr>
            <a:r>
              <a:rPr sz="20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000" b="0" i="0">
                <a:solidFill>
                  <a:srgbClr val="555E6E"/>
                </a:solidFill>
                <a:latin typeface="Calibri"/>
              </a:rPr>
              <a:t>AI can draft a formula; only you know which requirement it must capture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TCTL — Timed Computation Tree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4008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752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A branching-time logic over the model's computation tree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652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state formulae describe a single state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652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path formulae quantify over paths (traces)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752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A path carrying timing is a timed path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752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Path formulae: reachability, safety, liveness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0" y="1737360"/>
            <a:ext cx="3840480" cy="192024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1737360"/>
            <a:ext cx="100584" cy="19202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28431" y="1883664"/>
            <a:ext cx="33832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UPPAAL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UPPAAL verifies a decidable subset of TCTL — expressive enough for the real-time properties engineers actually need to check.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Quantifiers in TCTL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566928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79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Path quantifiers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79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E — there exists a path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79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A — for all paths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479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State quantifiers along a path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79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[]  — all states  (G)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79"/>
              </a:spcAft>
            </a:pPr>
            <a:r>
              <a:rPr sz="23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350" b="0" i="0">
                <a:solidFill>
                  <a:srgbClr val="555E6E"/>
                </a:solidFill>
                <a:latin typeface="Calibri"/>
              </a:rPr>
              <a:t>&lt;&gt; — some state  (F)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479"/>
              </a:spcAft>
            </a:pPr>
            <a:r>
              <a:rPr sz="26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600" b="1" i="0">
                <a:solidFill>
                  <a:srgbClr val="202433"/>
                </a:solidFill>
                <a:latin typeface="Calibri"/>
              </a:rPr>
              <a:t>Combinations we use:  A[], A&lt;&gt;, E&lt;&gt;, E[]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23760" y="1737360"/>
            <a:ext cx="4389120" cy="219456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23760" y="1737360"/>
            <a:ext cx="100584" cy="219456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883664"/>
            <a:ext cx="3931920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In words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A[] p   — invariantly p   (always)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E&lt;&gt; p   — p is reachable   (possibly)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A&lt;&gt; p   — p is inevitable  (unavoidable)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E[] p   — potentially always 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SPECIFICATION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The property patterns you'll use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600200"/>
            <a:ext cx="1828800" cy="658368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783080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onsolas"/>
              </a:rPr>
              <a:t>E&lt;&gt; 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655064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Reachable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0" y="1655064"/>
            <a:ext cx="5852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6E"/>
                </a:solidFill>
                <a:latin typeface="Calibri"/>
              </a:rPr>
              <a:t>p holds in at least one reachable state — sanity checks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386584"/>
            <a:ext cx="1828800" cy="658368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569464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onsolas"/>
              </a:rPr>
              <a:t>A[] 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441448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Invariant /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2441448"/>
            <a:ext cx="5852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6E"/>
                </a:solidFill>
                <a:latin typeface="Calibri"/>
              </a:rPr>
              <a:t>p holds in all reachable states — “bad never happens”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" y="3172968"/>
            <a:ext cx="1828800" cy="658368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3355848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onsolas"/>
              </a:rPr>
              <a:t>E[]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22783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Potentially always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3227832"/>
            <a:ext cx="5852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6E"/>
                </a:solidFill>
                <a:latin typeface="Calibri"/>
              </a:rPr>
              <a:t>some path keeps p true forever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" y="3959352"/>
            <a:ext cx="1828800" cy="658368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4142232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onsolas"/>
              </a:rPr>
              <a:t>A&lt;&gt; 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014215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Inevitable / liveness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4014215"/>
            <a:ext cx="5852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6E"/>
                </a:solidFill>
                <a:latin typeface="Calibri"/>
              </a:rPr>
              <a:t>every path eventually reaches a p-state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6112" y="4745736"/>
            <a:ext cx="1828800" cy="658368"/>
          </a:xfrm>
          <a:prstGeom prst="roundRect">
            <a:avLst/>
          </a:prstGeom>
          <a:solidFill>
            <a:srgbClr val="ECF0F6"/>
          </a:solidFill>
          <a:ln w="1270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4928616"/>
            <a:ext cx="175564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E2761"/>
                </a:solidFill>
                <a:latin typeface="Consolas"/>
              </a:rPr>
              <a:t>p --&gt; 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6080" y="4800600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E2761"/>
                </a:solidFill>
                <a:latin typeface="Calibri"/>
              </a:rPr>
              <a:t>Leads-to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60720" y="4800600"/>
            <a:ext cx="5852160" cy="60350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55E6E"/>
                </a:solidFill>
                <a:latin typeface="Calibri"/>
              </a:rPr>
              <a:t>A[](p imply A&lt;&gt; q) — whenever p, eventually 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AI FOR FORMAL MODELLING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Using AI to build formal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6112" y="1554480"/>
            <a:ext cx="5212080" cy="3383280"/>
          </a:xfrm>
          <a:prstGeom prst="roundRect">
            <a:avLst/>
          </a:prstGeom>
          <a:solidFill>
            <a:srgbClr val="E8F3EC"/>
          </a:solidFill>
          <a:ln w="1524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7373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AI is good 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drafting a model from a description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boilerplate and UPPAAL syntax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candidate TCTL properties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quick iterations on your feedback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46520" y="1554480"/>
            <a:ext cx="5212080" cy="3383280"/>
          </a:xfrm>
          <a:prstGeom prst="roundRect">
            <a:avLst/>
          </a:prstGeom>
          <a:solidFill>
            <a:srgbClr val="FBF1DE"/>
          </a:solidFill>
          <a:ln w="15240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93408" y="1737360"/>
            <a:ext cx="475488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C97A12"/>
                </a:solidFill>
                <a:latin typeface="Calibri"/>
              </a:rPr>
              <a:t>AI is bad at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guarantees — it gives plausible, not proven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hallucinated counterexample traces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missing subtle timing edge cases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•  the intent you didn't state (validation)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5120640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1">
                <a:solidFill>
                  <a:srgbClr val="1E2761"/>
                </a:solidFill>
                <a:latin typeface="Calibri"/>
              </a:rPr>
              <a:t>Maps straight onto verification (AI helps) vs validation (yours). AI manipulates the symbols; you supply the intent and demand the guarantee.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AI FOR FORMAL MODELLING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How to prompt for a UPPAAL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64922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83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State the requirement precisely — units, bounds, edge cases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83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Name the formalism: a network of timed automata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83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Enumerate the components and their shared events (channels)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83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Ask for a single runnable .xml with the queries embedded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83"/>
              </a:spcAft>
            </a:pPr>
            <a:r>
              <a:rPr sz="22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200" b="1" i="0">
                <a:solidFill>
                  <a:srgbClr val="202433"/>
                </a:solidFill>
                <a:latin typeface="Calibri"/>
              </a:rPr>
              <a:t>Iterate on the counterexamples the tool returns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00200"/>
            <a:ext cx="3977639" cy="329184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600200"/>
            <a:ext cx="100584" cy="329184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1746504"/>
            <a:ext cx="3520439" cy="3017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Point your AI at a UPPAAL skill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 UPPAAL skill (one you build — next slide) encodes the modelling language and the exact .xml file format, so the AI emits models that actually load and verify rather than plausible-looking guesswork.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Good prompt + skill → a correct model. You still own the question: is it the RIGHT model?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AI FOR FORMAL MODELLING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Build your own skill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63040"/>
            <a:ext cx="55778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A bare LLM drifts on UPPAAL's exact syntax and file format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00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capture the know-how in a skill → models that load and verify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00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An Agent Skill = a small folder your AI loads on demand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00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a SKILL.md: when to use it, and the procedure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00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reference docs it opens only when needed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00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portable across AI tools (Claude Code, Codex, …)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37960" y="1463040"/>
            <a:ext cx="5074920" cy="3429000"/>
          </a:xfrm>
          <a:prstGeom prst="roundRect">
            <a:avLst/>
          </a:prstGeom>
          <a:solidFill>
            <a:srgbClr val="ECF0F6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37960" y="1463040"/>
            <a:ext cx="100584" cy="34290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84848" y="1645920"/>
            <a:ext cx="47091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200" b="1" i="0">
                <a:solidFill>
                  <a:srgbClr val="028090"/>
                </a:solidFill>
                <a:latin typeface="Calibri"/>
              </a:rPr>
              <a:t>BUILD A UPPAAL SKILL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2433"/>
                </a:solidFill>
                <a:latin typeface="Calibri"/>
              </a:rPr>
              <a:t/>
            </a:r>
            <a:r>
              <a:rPr sz="1250" b="1" i="0">
                <a:solidFill>
                  <a:srgbClr val="028090"/>
                </a:solidFill>
                <a:latin typeface="Calibri"/>
              </a:rPr>
              <a:t>1.  </a:t>
            </a:r>
            <a:r>
              <a:rPr sz="1250" b="0" i="0">
                <a:solidFill>
                  <a:srgbClr val="202433"/>
                </a:solidFill>
                <a:latin typeface="Calibri"/>
              </a:rPr>
              <a:t>Ground it in the official docs (docs.uppaal.org): the modelling language and the .xml format.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2433"/>
                </a:solidFill>
                <a:latin typeface="Calibri"/>
              </a:rPr>
              <a:t/>
            </a:r>
            <a:r>
              <a:rPr sz="1250" b="1" i="0">
                <a:solidFill>
                  <a:srgbClr val="028090"/>
                </a:solidFill>
                <a:latin typeface="Calibri"/>
              </a:rPr>
              <a:t>2.  </a:t>
            </a:r>
            <a:r>
              <a:rPr sz="1250" b="0" i="0">
                <a:solidFill>
                  <a:srgbClr val="202433"/>
                </a:solidFill>
                <a:latin typeface="Calibri"/>
              </a:rPr>
              <a:t>Write a thin SKILL.md: the modelling workflow + correctness rules (escaping, upper-bound invariants, embedded queries).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2433"/>
                </a:solidFill>
                <a:latin typeface="Calibri"/>
              </a:rPr>
              <a:t/>
            </a:r>
            <a:r>
              <a:rPr sz="1250" b="1" i="0">
                <a:solidFill>
                  <a:srgbClr val="028090"/>
                </a:solidFill>
                <a:latin typeface="Calibri"/>
              </a:rPr>
              <a:t>3.  </a:t>
            </a:r>
            <a:r>
              <a:rPr sz="1250" b="0" i="0">
                <a:solidFill>
                  <a:srgbClr val="202433"/>
                </a:solidFill>
                <a:latin typeface="Calibri"/>
              </a:rPr>
              <a:t>Add a reference doc: the concrete .xml structure and a small worked example.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202433"/>
                </a:solidFill>
                <a:latin typeface="Calibri"/>
              </a:rPr>
              <a:t/>
            </a:r>
            <a:r>
              <a:rPr sz="1250" b="1" i="0">
                <a:solidFill>
                  <a:srgbClr val="028090"/>
                </a:solidFill>
                <a:latin typeface="Calibri"/>
              </a:rPr>
              <a:t>4.  </a:t>
            </a:r>
            <a:r>
              <a:rPr sz="1250" b="0" i="0">
                <a:solidFill>
                  <a:srgbClr val="202433"/>
                </a:solidFill>
                <a:latin typeface="Calibri"/>
              </a:rPr>
              <a:t>Validate: generate a model, load it in UPPAAL, confirm it verifies.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5074920"/>
            <a:ext cx="10716768" cy="109728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96112" y="5074920"/>
            <a:ext cx="100584" cy="109728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52144" y="5221224"/>
            <a:ext cx="10259568" cy="82295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We don't hand you the skill — building it is the point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To make an AI produce correct UPPAAL models you must understand UPPAAL yourself — and be able to check its output.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That understanding is exactly what the assignment rewards.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AI FOR FORMAL MODELLING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Worked example: the bridge problem</a:t>
            </a:r>
          </a:p>
        </p:txBody>
      </p:sp>
      <p:pic>
        <p:nvPicPr>
          <p:cNvPr id="5" name="Picture 4" descr="bri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463040"/>
            <a:ext cx="4206240" cy="1767380"/>
          </a:xfrm>
          <a:prstGeom prst="rect">
            <a:avLst/>
          </a:prstGeom>
          <a:ln w="12700">
            <a:solidFill>
              <a:srgbClr val="CFD6E2"/>
            </a:solidFill>
          </a:ln>
        </p:spPr>
      </p:pic>
      <p:sp>
        <p:nvSpPr>
          <p:cNvPr id="6" name="Rounded Rectangle 5"/>
          <p:cNvSpPr/>
          <p:nvPr/>
        </p:nvSpPr>
        <p:spPr>
          <a:xfrm>
            <a:off x="896112" y="3429000"/>
            <a:ext cx="5257800" cy="2697480"/>
          </a:xfrm>
          <a:prstGeom prst="roundRect">
            <a:avLst/>
          </a:prstGeom>
          <a:solidFill>
            <a:srgbClr val="ECF0F6"/>
          </a:solidFill>
          <a:ln w="1524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3429000"/>
            <a:ext cx="100584" cy="269748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" y="3566160"/>
            <a:ext cx="4892040" cy="2468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28090"/>
                </a:solidFill>
                <a:latin typeface="Calibri"/>
              </a:rPr>
              <a:t>A GOOD PROMPT — PLAIN ENGLISH + THE QUESTION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“Using your UPPAAL skill, build a model for the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bridge-crossing puzzle. Four people cross a narrow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bridge at night with one torch; it holds two at a time,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so someone must carry the torch back; a pair moves 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the slower one's pace. Crossing times: 5, 10, 20, 25 min.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Can all four cross within 60 minutes? Add a query that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0" i="0">
                <a:solidFill>
                  <a:srgbClr val="202433"/>
                </a:solidFill>
                <a:latin typeface="Consolas"/>
              </a:rPr>
              <a:t>answers this, verify it, and check it cannot deadlock.”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1463040"/>
            <a:ext cx="5120640" cy="4663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17"/>
              </a:spcAft>
            </a:pPr>
            <a:r>
              <a:rPr sz="21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202433"/>
                </a:solidFill>
                <a:latin typeface="Calibri"/>
              </a:rPr>
              <a:t>The prompt gives the problem and the question — not the automaton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17"/>
              </a:spcAft>
            </a:pPr>
            <a:r>
              <a:rPr sz="21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202433"/>
                </a:solidFill>
                <a:latin typeface="Calibri"/>
              </a:rPr>
              <a:t>Your UPPAAL skill supplies the modelling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117"/>
              </a:spcAft>
            </a:pPr>
            <a:r>
              <a:rPr sz="18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850" b="0" i="0">
                <a:solidFill>
                  <a:srgbClr val="555E6E"/>
                </a:solidFill>
                <a:latin typeface="Calibri"/>
              </a:rPr>
              <a:t>locations, a clock, the guards, and the TCTL query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17"/>
              </a:spcAft>
            </a:pPr>
            <a:r>
              <a:rPr sz="21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202433"/>
                </a:solidFill>
                <a:latin typeface="Calibri"/>
              </a:rPr>
              <a:t>UPPAAL then confirms a schedule exists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117"/>
              </a:spcAft>
            </a:pPr>
            <a:r>
              <a:rPr sz="18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850" b="0" i="0">
                <a:solidFill>
                  <a:srgbClr val="555E6E"/>
                </a:solidFill>
                <a:latin typeface="Consolas"/>
              </a:rPr>
              <a:t>E&lt;&gt; (all safe &amp;&amp; total &lt;= 60)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17"/>
              </a:spcAft>
            </a:pPr>
            <a:r>
              <a:rPr sz="21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100" b="1" i="0">
                <a:solidFill>
                  <a:srgbClr val="202433"/>
                </a:solidFill>
                <a:latin typeface="Calibri"/>
              </a:rPr>
              <a:t>AI built it fast; the model checker made it trustworthy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Another classic: the train crossing</a:t>
            </a:r>
          </a:p>
        </p:txBody>
      </p:sp>
      <p:pic>
        <p:nvPicPr>
          <p:cNvPr id="5" name="Picture 4" descr="train-cros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112" y="1600200"/>
            <a:ext cx="4937760" cy="3579569"/>
          </a:xfrm>
          <a:prstGeom prst="rect">
            <a:avLst/>
          </a:prstGeom>
          <a:ln w="12700">
            <a:solidFill>
              <a:srgbClr val="CFD6E2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172200" y="1645920"/>
            <a:ext cx="539496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547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Several trains, one shared bridge — mutual exclusion under timing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47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approach signal, a 10-unit window to stop, then the crossing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447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a controller issues stop / go as trains leave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547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Exactly the kind of concurrent, timed coordination where a hand argument is hopeless and model checking shines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WORKED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When behaviour is stochastic: UPPAAL SMC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492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997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Statistical model checking for stochastic timed automata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97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probabilistic choice between enabled transitions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97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distributions over delays; ODEs for continuous variables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997"/>
              </a:spcAft>
            </a:pPr>
            <a:r>
              <a:rPr sz="245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50" b="1" i="0">
                <a:solidFill>
                  <a:srgbClr val="202433"/>
                </a:solidFill>
                <a:latin typeface="Calibri"/>
              </a:rPr>
              <a:t>Queries answer probabilistic questions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897"/>
              </a:spcAft>
            </a:pPr>
            <a:r>
              <a:rPr sz="220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200" b="0" i="0">
                <a:solidFill>
                  <a:srgbClr val="555E6E"/>
                </a:solidFill>
                <a:latin typeface="Calibri"/>
              </a:rPr>
              <a:t>estimate Pr[&lt;=T](&lt;&gt; p);  test Pr &gt;= p0;  compare two probabilities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80960" y="1691640"/>
            <a:ext cx="3931920" cy="1828800"/>
          </a:xfrm>
          <a:prstGeom prst="roundRect">
            <a:avLst/>
          </a:prstGeom>
          <a:solidFill>
            <a:srgbClr val="ECF0F6"/>
          </a:solidFill>
          <a:ln w="15875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80960" y="1691640"/>
            <a:ext cx="100584" cy="1828800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36992" y="1837944"/>
            <a:ext cx="347472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Use when the requirement is probabilistic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Classic TCTL proves deterministic timing;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SMC estimates likelihoods when the system itself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is random. Different question, same discipline.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BEFORE THE 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FFFFFF"/>
                </a:solidFill>
                <a:latin typeface="Cambria"/>
              </a:rPr>
              <a:t>What's yours vs. what's the AI's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920240"/>
            <a:ext cx="5212080" cy="3566160"/>
          </a:xfrm>
          <a:prstGeom prst="roundRect">
            <a:avLst/>
          </a:prstGeom>
          <a:solidFill>
            <a:srgbClr val="222A52"/>
          </a:solidFill>
          <a:ln w="15240">
            <a:solidFill>
              <a:srgbClr val="3E9A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148840"/>
            <a:ext cx="466344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86D6C9"/>
                </a:solidFill>
                <a:latin typeface="Cambria"/>
              </a:rPr>
              <a:t>The AI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2E8"/>
                </a:solidFill>
                <a:latin typeface="Calibri"/>
              </a:rPr>
              <a:t>•  draft the automata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2E8"/>
                </a:solidFill>
                <a:latin typeface="Calibri"/>
              </a:rPr>
              <a:t>•  write UPPAAL syntax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2E8"/>
                </a:solidFill>
                <a:latin typeface="Calibri"/>
              </a:rPr>
              <a:t>•  suggest properties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C7D2E8"/>
                </a:solidFill>
                <a:latin typeface="Calibri"/>
              </a:rPr>
              <a:t>•  run the tool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920240"/>
            <a:ext cx="5029200" cy="3566160"/>
          </a:xfrm>
          <a:prstGeom prst="roundRect">
            <a:avLst/>
          </a:prstGeom>
          <a:solidFill>
            <a:srgbClr val="2A2418"/>
          </a:solidFill>
          <a:ln w="15240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48840"/>
            <a:ext cx="4480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600" b="1" i="0">
                <a:solidFill>
                  <a:srgbClr val="E7B66A"/>
                </a:solidFill>
                <a:latin typeface="Cambria"/>
              </a:rPr>
              <a:t>Only you can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D3C2"/>
                </a:solidFill>
                <a:latin typeface="Calibri"/>
              </a:rPr>
              <a:t>•  decide what to model (intent)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D3C2"/>
                </a:solidFill>
                <a:latin typeface="Calibri"/>
              </a:rPr>
              <a:t>•  choose the right property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D3C2"/>
                </a:solidFill>
                <a:latin typeface="Calibri"/>
              </a:rPr>
              <a:t>•  validate the model against reality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DDD3C2"/>
                </a:solidFill>
                <a:latin typeface="Calibri"/>
              </a:rPr>
              <a:t>•  judge whether the counterexample means the model or the requirement is wrong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9FA8C4"/>
                </a:solidFill>
                <a:latin typeface="Calibr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Assignment: a pedestrian crossing controller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417320"/>
            <a:ext cx="106070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255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Model a signalised pedestrian crossing: vehicle lights, WALK / DON'T-WALK, a push button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55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The requirement is deliberately under-specified — you must pin down and justify the numbers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155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pedestrians “shouldn't wait too long”; WALK must last “long enough” to cross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155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cars and pedestrians must NEVER get a green at the same time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155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respond promptly to a press, but don't switch too rapidly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255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You receive an assigned parameter set / twist (crossing width, a bus-priority input, a night mode)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" y="4892040"/>
            <a:ext cx="10698480" cy="114300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2" y="4892040"/>
            <a:ext cx="100584" cy="114300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2144" y="5038344"/>
            <a:ext cx="102412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Why this is AI-resistant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The thresholds are yours to choose and defend against real-world intent — the AI never received that intent, so it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cannot justify them for you. Paste the brief into any tool and the judgement, traces and defence remain your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Assignment: what you submit (graded)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371600"/>
            <a:ext cx="10698480" cy="4754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Requirement interpretation — resolve each ambiguity; state your thresholds and justify them against intent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Formalisation — the requirements as TCTL properties, with a reason for each interpretation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Model + emergent-failure hunt — build it (AI-assisted is fine); use verification to find where it breaks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229"/>
              </a:spcAft>
            </a:pPr>
            <a:r>
              <a:rPr sz="15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1550" b="0" i="0">
                <a:solidFill>
                  <a:srgbClr val="555E6E"/>
                </a:solidFill>
                <a:latin typeface="Calibri"/>
              </a:rPr>
              <a:t>document each failure with the counterexample trace UPPAAL produces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Hand-traced counterexample — reproduce one failing trace by hand: locations and clock valuations, step by step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Fix &amp; re-prove — correct the model and show the property now holds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329"/>
              </a:spcAft>
            </a:pPr>
            <a:r>
              <a:rPr sz="18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1800" b="1" i="0">
                <a:solidFill>
                  <a:srgbClr val="202433"/>
                </a:solidFill>
                <a:latin typeface="Calibri"/>
              </a:rPr>
              <a:t>Reflection — where AI helped, where it was wrong, and how verification/validation caught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28090"/>
                </a:solidFill>
                <a:latin typeface="Calibri"/>
              </a:rPr>
              <a:t>ASSIGNMENT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13816"/>
            <a:ext cx="146304" cy="146304"/>
          </a:xfrm>
          <a:prstGeom prst="rect">
            <a:avLst/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713232"/>
            <a:ext cx="108813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E2761"/>
                </a:solidFill>
                <a:latin typeface="Cambria"/>
              </a:rPr>
              <a:t>Assignment: submission &amp; using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554480"/>
            <a:ext cx="649224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1424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Submit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24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one runnable UPPAAL model .xml with queries embedded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24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the counterexample traces and your hand trace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24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a short report covering all seven deliverables</a:t>
            </a:r>
          </a:p>
          <a:p>
            <a:pPr algn="l">
              <a:lnSpc>
                <a:spcPct val="105000"/>
              </a:lnSpc>
              <a:spcBef>
                <a:spcPts val="800"/>
              </a:spcBef>
              <a:spcAft>
                <a:spcPts val="1424"/>
              </a:spcAft>
            </a:pPr>
            <a:r>
              <a:rPr sz="2400" b="1" i="0">
                <a:solidFill>
                  <a:srgbClr val="028090"/>
                </a:solidFill>
                <a:latin typeface="Calibri"/>
              </a:rPr>
              <a:t>▸  </a:t>
            </a:r>
            <a:r>
              <a:rPr sz="2400" b="1" i="0">
                <a:solidFill>
                  <a:srgbClr val="202433"/>
                </a:solidFill>
                <a:latin typeface="Calibri"/>
              </a:rPr>
              <a:t>Using AI is allowed and expected</a:t>
            </a:r>
          </a:p>
          <a:p>
            <a:pPr algn="l">
              <a:lnSpc>
                <a:spcPct val="105000"/>
              </a:lnSpc>
              <a:spcBef>
                <a:spcPts val="100"/>
              </a:spcBef>
              <a:spcAft>
                <a:spcPts val="1324"/>
              </a:spcAft>
            </a:pPr>
            <a:r>
              <a:rPr sz="2150" b="0" i="0">
                <a:solidFill>
                  <a:srgbClr val="555E6E"/>
                </a:solidFill>
                <a:latin typeface="Calibri"/>
              </a:rPr>
              <a:t>      –  </a:t>
            </a:r>
            <a:r>
              <a:rPr sz="2150" b="0" i="0">
                <a:solidFill>
                  <a:srgbClr val="555E6E"/>
                </a:solidFill>
                <a:latin typeface="Calibri"/>
              </a:rPr>
              <a:t>the grade is what you add on top of its output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691640"/>
            <a:ext cx="3977639" cy="3108960"/>
          </a:xfrm>
          <a:prstGeom prst="roundRect">
            <a:avLst/>
          </a:prstGeom>
          <a:solidFill>
            <a:srgbClr val="FBF1DE"/>
          </a:solidFill>
          <a:ln w="15875">
            <a:solidFill>
              <a:srgbClr val="C97A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691640"/>
            <a:ext cx="100584" cy="3108960"/>
          </a:xfrm>
          <a:prstGeom prst="rect">
            <a:avLst/>
          </a:prstGeom>
          <a:solidFill>
            <a:srgbClr val="C97A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91271" y="1837944"/>
            <a:ext cx="3520439" cy="2834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C97A12"/>
                </a:solidFill>
                <a:latin typeface="Calibri"/>
              </a:rPr>
              <a:t>The test we designed against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“If you paste the whole brief into any AI tool, what is left for you to do?”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Answer: choose and defend the thresholds, hand-trace a counterexample, and validate the model against the real crossing.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 i="0">
                <a:solidFill>
                  <a:srgbClr val="202433"/>
                </a:solidFill>
                <a:latin typeface="Calibri"/>
              </a:rPr>
              <a:t>That is the part that shows you learned — and the AI cannot do it for you.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455664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55E6E"/>
                </a:solidFill>
                <a:latin typeface="Calibri"/>
              </a:rPr>
              <a:t>42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